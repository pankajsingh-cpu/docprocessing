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49" r:id="rId5"/>
  </p:sldMasterIdLst>
  <p:notesMasterIdLst>
    <p:notesMasterId r:id="rId54"/>
  </p:notesMasterIdLst>
  <p:sldIdLst>
    <p:sldId id="2147483352" r:id="rId6"/>
    <p:sldId id="2147483428" r:id="rId7"/>
    <p:sldId id="2147483427" r:id="rId8"/>
    <p:sldId id="2147483429" r:id="rId9"/>
    <p:sldId id="2147483426" r:id="rId10"/>
    <p:sldId id="2147483430" r:id="rId11"/>
    <p:sldId id="2147483431" r:id="rId12"/>
    <p:sldId id="264" r:id="rId13"/>
    <p:sldId id="318" r:id="rId14"/>
    <p:sldId id="2147483424" r:id="rId15"/>
    <p:sldId id="2147483418" r:id="rId16"/>
    <p:sldId id="297" r:id="rId17"/>
    <p:sldId id="288" r:id="rId18"/>
    <p:sldId id="298" r:id="rId19"/>
    <p:sldId id="2147483423" r:id="rId20"/>
    <p:sldId id="2147483421" r:id="rId21"/>
    <p:sldId id="285" r:id="rId22"/>
    <p:sldId id="2147483365" r:id="rId23"/>
    <p:sldId id="287" r:id="rId24"/>
    <p:sldId id="2147483403" r:id="rId25"/>
    <p:sldId id="309" r:id="rId26"/>
    <p:sldId id="259" r:id="rId27"/>
    <p:sldId id="2147483404" r:id="rId28"/>
    <p:sldId id="2147483409" r:id="rId29"/>
    <p:sldId id="2147483410" r:id="rId30"/>
    <p:sldId id="2147483407" r:id="rId31"/>
    <p:sldId id="2147483408" r:id="rId32"/>
    <p:sldId id="2147483406" r:id="rId33"/>
    <p:sldId id="2147483414" r:id="rId34"/>
    <p:sldId id="2147483411" r:id="rId35"/>
    <p:sldId id="2147483405" r:id="rId36"/>
    <p:sldId id="2147483413" r:id="rId37"/>
    <p:sldId id="2147483412" r:id="rId38"/>
    <p:sldId id="2147483419" r:id="rId39"/>
    <p:sldId id="2147483425" r:id="rId40"/>
    <p:sldId id="272" r:id="rId41"/>
    <p:sldId id="274" r:id="rId42"/>
    <p:sldId id="358" r:id="rId43"/>
    <p:sldId id="2147483417" r:id="rId44"/>
    <p:sldId id="273" r:id="rId45"/>
    <p:sldId id="258" r:id="rId46"/>
    <p:sldId id="257" r:id="rId47"/>
    <p:sldId id="355" r:id="rId48"/>
    <p:sldId id="2147483415" r:id="rId49"/>
    <p:sldId id="2147483416" r:id="rId50"/>
    <p:sldId id="2147483420" r:id="rId51"/>
    <p:sldId id="2147483422" r:id="rId52"/>
    <p:sldId id="289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8806A24-E058-4C8A-A6E1-7ABDE6DC01FA}">
          <p14:sldIdLst>
            <p14:sldId id="2147483352"/>
            <p14:sldId id="2147483428"/>
            <p14:sldId id="2147483427"/>
            <p14:sldId id="2147483429"/>
            <p14:sldId id="2147483426"/>
            <p14:sldId id="2147483430"/>
            <p14:sldId id="2147483431"/>
            <p14:sldId id="264"/>
            <p14:sldId id="318"/>
            <p14:sldId id="2147483424"/>
            <p14:sldId id="2147483418"/>
            <p14:sldId id="297"/>
            <p14:sldId id="288"/>
            <p14:sldId id="298"/>
            <p14:sldId id="2147483423"/>
            <p14:sldId id="2147483421"/>
          </p14:sldIdLst>
        </p14:section>
        <p14:section name="Tranche1_Transactions_details" id="{219FF59F-8913-43DB-A341-D41977F5C333}">
          <p14:sldIdLst>
            <p14:sldId id="285"/>
            <p14:sldId id="2147483365"/>
            <p14:sldId id="287"/>
            <p14:sldId id="2147483403"/>
            <p14:sldId id="309"/>
            <p14:sldId id="259"/>
          </p14:sldIdLst>
        </p14:section>
        <p14:section name="Preparing DOPs for LLM ingestion" id="{5FB3FCB9-1BDC-45B4-8441-D6C783B45579}">
          <p14:sldIdLst>
            <p14:sldId id="2147483404"/>
            <p14:sldId id="2147483409"/>
            <p14:sldId id="2147483410"/>
            <p14:sldId id="2147483407"/>
            <p14:sldId id="2147483408"/>
            <p14:sldId id="2147483406"/>
            <p14:sldId id="2147483414"/>
            <p14:sldId id="2147483411"/>
            <p14:sldId id="2147483405"/>
            <p14:sldId id="2147483413"/>
            <p14:sldId id="2147483412"/>
            <p14:sldId id="2147483419"/>
          </p14:sldIdLst>
        </p14:section>
        <p14:section name="Testing" id="{68E2101F-1F89-4F0B-A72A-983FC3335CFF}">
          <p14:sldIdLst>
            <p14:sldId id="2147483425"/>
          </p14:sldIdLst>
        </p14:section>
        <p14:section name="Backup" id="{66BE1384-6396-4C92-9EBF-7CFED1467841}">
          <p14:sldIdLst>
            <p14:sldId id="272"/>
            <p14:sldId id="274"/>
            <p14:sldId id="358"/>
            <p14:sldId id="2147483417"/>
            <p14:sldId id="273"/>
            <p14:sldId id="258"/>
            <p14:sldId id="257"/>
            <p14:sldId id="355"/>
            <p14:sldId id="2147483415"/>
            <p14:sldId id="2147483416"/>
            <p14:sldId id="2147483420"/>
            <p14:sldId id="2147483422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9EF"/>
    <a:srgbClr val="F9F5F8"/>
    <a:srgbClr val="51154A"/>
    <a:srgbClr val="782170"/>
    <a:srgbClr val="D86DCD"/>
    <a:srgbClr val="E49EDD"/>
    <a:srgbClr val="CDCDCD"/>
    <a:srgbClr val="E6C4E0"/>
    <a:srgbClr val="000000"/>
    <a:srgbClr val="3C17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theme" Target="theme/theme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computersharegbr.sharepoint.com/teams/VoyagerStrategy/Shared%20Documents/General/03%20AI/9.%20AI%20Use%20cases/01.%20Document%20Processing/3.%20Phase%202%20Pilot/Processing%20Workpla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Benefits Realization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Sheet1!$N$1</c:f>
              <c:strCache>
                <c:ptCount val="1"/>
                <c:pt idx="0">
                  <c:v>% of Processing Effort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Sheet1!$M$2:$M$7</c:f>
              <c:numCache>
                <c:formatCode>d\-mmm\-yy</c:formatCode>
                <c:ptCount val="6"/>
                <c:pt idx="0">
                  <c:v>46157</c:v>
                </c:pt>
                <c:pt idx="1">
                  <c:v>46188</c:v>
                </c:pt>
                <c:pt idx="2">
                  <c:v>46218</c:v>
                </c:pt>
                <c:pt idx="3">
                  <c:v>46249</c:v>
                </c:pt>
                <c:pt idx="4">
                  <c:v>46280</c:v>
                </c:pt>
                <c:pt idx="5">
                  <c:v>46310</c:v>
                </c:pt>
              </c:numCache>
            </c:numRef>
          </c:cat>
          <c:val>
            <c:numRef>
              <c:f>Sheet1!$N$2:$N$7</c:f>
              <c:numCache>
                <c:formatCode>0%</c:formatCode>
                <c:ptCount val="6"/>
                <c:pt idx="0">
                  <c:v>9.3399999999999997E-2</c:v>
                </c:pt>
                <c:pt idx="1">
                  <c:v>0.18460000000000001</c:v>
                </c:pt>
                <c:pt idx="2">
                  <c:v>0.10249999999999998</c:v>
                </c:pt>
                <c:pt idx="3">
                  <c:v>0.1048</c:v>
                </c:pt>
                <c:pt idx="4">
                  <c:v>0</c:v>
                </c:pt>
                <c:pt idx="5">
                  <c:v>0.40839999999999993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3D-4DB9-B6F9-64E331208768}"/>
            </c:ext>
          </c:extLst>
        </c:ser>
        <c:ser>
          <c:idx val="1"/>
          <c:order val="1"/>
          <c:tx>
            <c:strRef>
              <c:f>Sheet1!$O$1</c:f>
              <c:strCache>
                <c:ptCount val="1"/>
                <c:pt idx="0">
                  <c:v>Running 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Sheet1!$M$2:$M$7</c:f>
              <c:numCache>
                <c:formatCode>d\-mmm\-yy</c:formatCode>
                <c:ptCount val="6"/>
                <c:pt idx="0">
                  <c:v>46157</c:v>
                </c:pt>
                <c:pt idx="1">
                  <c:v>46188</c:v>
                </c:pt>
                <c:pt idx="2">
                  <c:v>46218</c:v>
                </c:pt>
                <c:pt idx="3">
                  <c:v>46249</c:v>
                </c:pt>
                <c:pt idx="4">
                  <c:v>46280</c:v>
                </c:pt>
                <c:pt idx="5">
                  <c:v>46310</c:v>
                </c:pt>
              </c:numCache>
            </c:numRef>
          </c:cat>
          <c:val>
            <c:numRef>
              <c:f>Sheet1!$O$2:$O$7</c:f>
              <c:numCache>
                <c:formatCode>0%</c:formatCode>
                <c:ptCount val="6"/>
                <c:pt idx="0">
                  <c:v>9.3399999999999997E-2</c:v>
                </c:pt>
                <c:pt idx="1">
                  <c:v>0.27800000000000002</c:v>
                </c:pt>
                <c:pt idx="2">
                  <c:v>0.3805</c:v>
                </c:pt>
                <c:pt idx="3">
                  <c:v>0.48530000000000001</c:v>
                </c:pt>
                <c:pt idx="4">
                  <c:v>0.49</c:v>
                </c:pt>
                <c:pt idx="5">
                  <c:v>0.89369999999999994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73D-4DB9-B6F9-64E3312087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047135680"/>
        <c:axId val="2047135200"/>
      </c:barChart>
      <c:lineChart>
        <c:grouping val="standard"/>
        <c:varyColors val="0"/>
        <c:ser>
          <c:idx val="2"/>
          <c:order val="2"/>
          <c:tx>
            <c:strRef>
              <c:f>Sheet1!$P$1</c:f>
              <c:strCache>
                <c:ptCount val="1"/>
                <c:pt idx="0">
                  <c:v>Benefit @ 50%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Sheet1!$M$2:$M$7</c:f>
              <c:numCache>
                <c:formatCode>d\-mmm\-yy</c:formatCode>
                <c:ptCount val="6"/>
                <c:pt idx="0">
                  <c:v>46157</c:v>
                </c:pt>
                <c:pt idx="1">
                  <c:v>46188</c:v>
                </c:pt>
                <c:pt idx="2">
                  <c:v>46218</c:v>
                </c:pt>
                <c:pt idx="3">
                  <c:v>46249</c:v>
                </c:pt>
                <c:pt idx="4">
                  <c:v>46280</c:v>
                </c:pt>
                <c:pt idx="5">
                  <c:v>46310</c:v>
                </c:pt>
              </c:numCache>
            </c:numRef>
          </c:cat>
          <c:val>
            <c:numRef>
              <c:f>Sheet1!$P$2:$P$7</c:f>
              <c:numCache>
                <c:formatCode>_("$"* #,##0_);_("$"* \(#,##0\);_("$"* "-"??_);_(@_)</c:formatCode>
                <c:ptCount val="6"/>
                <c:pt idx="0">
                  <c:v>177460</c:v>
                </c:pt>
                <c:pt idx="1">
                  <c:v>528200</c:v>
                </c:pt>
                <c:pt idx="2">
                  <c:v>722950</c:v>
                </c:pt>
                <c:pt idx="3">
                  <c:v>922070</c:v>
                </c:pt>
                <c:pt idx="4">
                  <c:v>931000</c:v>
                </c:pt>
                <c:pt idx="5">
                  <c:v>1966139.9999999998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73D-4DB9-B6F9-64E331208768}"/>
            </c:ext>
          </c:extLst>
        </c:ser>
        <c:ser>
          <c:idx val="3"/>
          <c:order val="3"/>
          <c:tx>
            <c:strRef>
              <c:f>Sheet1!$Q$1</c:f>
              <c:strCache>
                <c:ptCount val="1"/>
                <c:pt idx="0">
                  <c:v>Benefit @75%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Sheet1!$M$2:$M$7</c:f>
              <c:numCache>
                <c:formatCode>d\-mmm\-yy</c:formatCode>
                <c:ptCount val="6"/>
                <c:pt idx="0">
                  <c:v>46157</c:v>
                </c:pt>
                <c:pt idx="1">
                  <c:v>46188</c:v>
                </c:pt>
                <c:pt idx="2">
                  <c:v>46218</c:v>
                </c:pt>
                <c:pt idx="3">
                  <c:v>46249</c:v>
                </c:pt>
                <c:pt idx="4">
                  <c:v>46280</c:v>
                </c:pt>
                <c:pt idx="5">
                  <c:v>46310</c:v>
                </c:pt>
              </c:numCache>
            </c:numRef>
          </c:cat>
          <c:val>
            <c:numRef>
              <c:f>Sheet1!$Q$2:$Q$7</c:f>
              <c:numCache>
                <c:formatCode>_("$"* #,##0_);_("$"* \(#,##0\);_("$"* "-"??_);_(@_)</c:formatCode>
                <c:ptCount val="6"/>
                <c:pt idx="0">
                  <c:v>270860</c:v>
                </c:pt>
                <c:pt idx="1">
                  <c:v>806200.00000000012</c:v>
                </c:pt>
                <c:pt idx="2">
                  <c:v>1103450</c:v>
                </c:pt>
                <c:pt idx="3">
                  <c:v>1407370</c:v>
                </c:pt>
                <c:pt idx="4">
                  <c:v>1421000</c:v>
                </c:pt>
                <c:pt idx="5">
                  <c:v>3038580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73D-4DB9-B6F9-64E3312087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66486112"/>
        <c:axId val="1966466432"/>
      </c:lineChart>
      <c:dateAx>
        <c:axId val="2047135680"/>
        <c:scaling>
          <c:orientation val="minMax"/>
        </c:scaling>
        <c:delete val="0"/>
        <c:axPos val="b"/>
        <c:numFmt formatCode="[$-409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7135200"/>
        <c:crosses val="autoZero"/>
        <c:auto val="1"/>
        <c:lblOffset val="100"/>
        <c:baseTimeUnit val="months"/>
      </c:dateAx>
      <c:valAx>
        <c:axId val="2047135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7135680"/>
        <c:crosses val="autoZero"/>
        <c:crossBetween val="between"/>
      </c:valAx>
      <c:valAx>
        <c:axId val="1966466432"/>
        <c:scaling>
          <c:orientation val="minMax"/>
        </c:scaling>
        <c:delete val="0"/>
        <c:axPos val="r"/>
        <c:numFmt formatCode="_(&quot;$&quot;* #,##0_);_(&quot;$&quot;* \(#,##0\);_(&quot;$&quot;* &quot;-&quot;??_);_(@_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6486112"/>
        <c:crosses val="max"/>
        <c:crossBetween val="between"/>
      </c:valAx>
      <c:dateAx>
        <c:axId val="1966486112"/>
        <c:scaling>
          <c:orientation val="minMax"/>
        </c:scaling>
        <c:delete val="1"/>
        <c:axPos val="b"/>
        <c:numFmt formatCode="d\-mmm\-yy" sourceLinked="1"/>
        <c:majorTickMark val="out"/>
        <c:minorTickMark val="none"/>
        <c:tickLblPos val="nextTo"/>
        <c:crossAx val="1966466432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C09AF-5691-4EE6-8F75-B4BB09AB276F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D7EE9-CAD4-4092-88DA-7B25B78047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8248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D7EE9-CAD4-4092-88DA-7B25B780478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6196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C8E98-82E2-AA89-1440-7B273E52B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C458C1-F09B-792A-B5F2-3B22FB6354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73B5E-399D-BD61-1979-87D0F5631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E37F2-045A-B347-1A0D-C685EF8B1E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1D7EE9-CAD4-4092-88DA-7B25B780478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9155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BEE31-B4D2-357B-25E6-249C1A946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D90496-E201-A797-6E16-B3011E2A54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9C92CA-2060-80CD-08AF-FBCE03EDC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Change circles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51615-ABF0-AF6E-D105-19A01AA73D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4C7287-87B8-EC42-AB65-EA11BFDABCE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3627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B0C42-3888-2263-701F-3BD073F41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D445E-59CB-769A-1E07-B64635F07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94404C-F563-F0A0-4D16-73426D484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96111-0478-7B28-82B6-781B823332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D7EE9-CAD4-4092-88DA-7B25B780478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3948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42DFC-54E1-F481-EFB4-079D42640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E1C200-FF22-8DE6-B693-4ED037A90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1CB563-5241-908B-4C17-9D32986FEB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68CE5-959D-7C50-AFA5-5FD9349DD7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1D7EE9-CAD4-4092-88DA-7B25B780478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123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2DF26-C36B-6B81-62AB-4F33C7304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BEA9B7-329A-2C85-1946-2BDDE5303A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242E11-D28A-91FA-9355-784DB6C9F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5317C-40A8-8054-56C5-2ED9D8BA19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D7EE9-CAD4-4092-88DA-7B25B780478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3988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0A21E-2BF0-DA77-BE8D-BB49E71E9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4BE69E-29B1-9CCD-54C5-4C623C6F9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33200B-D178-C8DC-C95E-824512989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D7514-49A9-A657-031A-78643BAF1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D7EE9-CAD4-4092-88DA-7B25B7804789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28769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D7EE9-CAD4-4092-88DA-7B25B7804789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07005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D7EE9-CAD4-4092-88DA-7B25B780478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63979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D7EE9-CAD4-4092-88DA-7B25B7804789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7694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D7EE9-CAD4-4092-88DA-7B25B7804789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3373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D7EE9-CAD4-4092-88DA-7B25B7804789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52614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4841E-4D9F-F683-DE18-92E138BCD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4EA75C-E039-64BD-699F-84DF0F7A88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6913E6-29B7-40F4-27C4-3DC8A1879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E1A6E-1765-AE7C-9796-BBA985965C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D7EE9-CAD4-4092-88DA-7B25B7804789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5236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D7EE9-CAD4-4092-88DA-7B25B7804789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0675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235C9-191A-1C14-7B55-A556D75A0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F2CB4-F7C7-7070-9169-CF87F7742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96ECE-4EBA-D5B9-9959-3376F840C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52E64-5503-9CD0-7304-1549ADF187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D7EE9-CAD4-4092-88DA-7B25B7804789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6283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A4F64-22CE-DDFA-093D-D43B7E10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528A65-9DDA-A65A-E6AF-420FB6AB4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87DFC7-B2D5-639B-3BEB-53F10DEF7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775BA-F3F4-0DE4-6DE6-47B97524D6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D7EE9-CAD4-4092-88DA-7B25B7804789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04667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F0B3A-6854-81B6-1BDB-96026AF12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F942BF-584F-82CF-ED00-F98F3BBD8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A40087-6CF6-0130-5E04-61E812634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0200D-F9E0-C3F3-26D5-E201E8C25A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D7EE9-CAD4-4092-88DA-7B25B7804789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13045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D2CFF-5788-9A5C-1BC0-D3F1E6D83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CEFEED-0799-A9A8-E761-051FA7C03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DF2230-DE67-E544-3BE0-106BEB8BC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98C80-1CC6-0A2B-DFEB-B8F88DD78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D7EE9-CAD4-4092-88DA-7B25B7804789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58133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24AF2-505C-C83A-5866-05990ABE4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84FBD7-1093-0E30-21E1-7B6EC9E31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338044-9FB6-37AD-9373-CF00DD8D6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80C82-BFAC-4282-9740-62C221E14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D7EE9-CAD4-4092-88DA-7B25B7804789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90689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ED54E-BC5E-DE2A-3D5B-391CBE2F1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7DCAA3-27DA-5800-B542-1A07D900C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558B9B-226F-AA36-B70F-C3F554062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8A392-8753-06D9-2432-4881D9CE21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1D7EE9-CAD4-4092-88DA-7B25B780478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37415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D36C4-B171-732C-E947-E20895547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E51BE0-804A-CFFB-D28D-704321088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6E8775-0BF7-03CB-F983-F0C20D3665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C637C-5D29-E343-B937-4737201C72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1D7EE9-CAD4-4092-88DA-7B25B780478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3025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6F7EA-8FF7-D727-11FC-5B9035A08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8A7E96-167B-F602-C20C-81E21235C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8E9814-0701-4A2B-8D84-24880F669B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3CC00-A0A4-5A6C-5283-86CEFB6ADA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1D7EE9-CAD4-4092-88DA-7B25B780478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79105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FB090-D968-3DC7-8DF9-907DC3100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E6249A-FA67-6E1D-EDFE-EE3DC1C5E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B536B0-4439-BF2B-5BEC-A4B0A3902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BBF39D-F35C-94EB-52AB-4391B26BA0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D7EE9-CAD4-4092-88DA-7B25B7804789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0720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7883A-7ACE-1F51-6A8F-59E849832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8A69BC-ABAE-BD8C-4351-DFC32CB04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5F20F4-092D-B1EE-CDFA-BEEA2B85A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40B21-4F2A-FA29-CFCC-7C3205F589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D7EE9-CAD4-4092-88DA-7B25B7804789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2369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5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6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7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9.png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1a">
    <p:bg>
      <p:bgPr>
        <a:solidFill>
          <a:srgbClr val="9318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5439089-17EE-C123-A417-EA2AA40A799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920" y="6129118"/>
            <a:ext cx="1870484" cy="345912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CB6E0384-19A1-DBFA-1817-03806069282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920" y="330024"/>
            <a:ext cx="2744482" cy="2446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 algn="l">
              <a:buNone/>
              <a:defRPr lang="en-US" sz="1200" b="1" i="0" kern="1200" spc="100" baseline="0" dirty="0">
                <a:solidFill>
                  <a:schemeClr val="bg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AU" noProof="0"/>
              <a:t>Date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D7F8596-0EF8-2C88-0975-4BC655CE161E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502920" y="3932777"/>
            <a:ext cx="1985352" cy="750783"/>
          </a:xfrm>
          <a:prstGeom prst="rect">
            <a:avLst/>
          </a:prstGeom>
        </p:spPr>
        <p:txBody>
          <a:bodyPr vert="horz" wrap="none" lIns="45720" tIns="45720" rIns="91440" bIns="45720" rtlCol="0" anchor="t">
            <a:spAutoFit/>
          </a:bodyPr>
          <a:lstStyle>
            <a:lvl1pPr marL="0" indent="0">
              <a:lnSpc>
                <a:spcPts val="2060"/>
              </a:lnSpc>
              <a:spcAft>
                <a:spcPts val="0"/>
              </a:spcAft>
              <a:buNone/>
              <a:defRPr lang="en-US" sz="1800" b="0" i="0" spc="130" baseline="0" dirty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/>
              <a:t>Presenter </a:t>
            </a:r>
            <a:r>
              <a:rPr lang="en-AU" noProof="0"/>
              <a:t>Name</a:t>
            </a:r>
          </a:p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/>
              <a:t>Title</a:t>
            </a:r>
          </a:p>
        </p:txBody>
      </p:sp>
      <p:pic>
        <p:nvPicPr>
          <p:cNvPr id="4" name="Picture 3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49A0CE95-6BEE-BA2A-7C74-AA1744090F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920" y="6129118"/>
            <a:ext cx="1870484" cy="345912"/>
          </a:xfrm>
          <a:prstGeom prst="rect">
            <a:avLst/>
          </a:prstGeom>
        </p:spPr>
      </p:pic>
      <p:pic>
        <p:nvPicPr>
          <p:cNvPr id="3" name="圖片版面配置區 10">
            <a:extLst>
              <a:ext uri="{FF2B5EF4-FFF2-40B4-BE49-F238E27FC236}">
                <a16:creationId xmlns:a16="http://schemas.microsoft.com/office/drawing/2014/main" id="{1272BD00-8636-F853-0A59-2E02488321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00"/>
          <a:stretch/>
        </p:blipFill>
        <p:spPr>
          <a:xfrm>
            <a:off x="6554018" y="735630"/>
            <a:ext cx="5637982" cy="5115264"/>
          </a:xfrm>
          <a:custGeom>
            <a:avLst/>
            <a:gdLst>
              <a:gd name="connsiteX0" fmla="*/ 0 w 2507674"/>
              <a:gd name="connsiteY0" fmla="*/ 0 h 5477595"/>
              <a:gd name="connsiteX1" fmla="*/ 2507674 w 2507674"/>
              <a:gd name="connsiteY1" fmla="*/ 0 h 5477595"/>
              <a:gd name="connsiteX2" fmla="*/ 2507674 w 2507674"/>
              <a:gd name="connsiteY2" fmla="*/ 5477595 h 5477595"/>
              <a:gd name="connsiteX3" fmla="*/ 0 w 2507674"/>
              <a:gd name="connsiteY3" fmla="*/ 5477595 h 5477595"/>
              <a:gd name="connsiteX4" fmla="*/ 0 w 2507674"/>
              <a:gd name="connsiteY4" fmla="*/ 0 h 5477595"/>
              <a:gd name="connsiteX0" fmla="*/ 0 w 2521528"/>
              <a:gd name="connsiteY0" fmla="*/ 0 h 5505304"/>
              <a:gd name="connsiteX1" fmla="*/ 2521528 w 2521528"/>
              <a:gd name="connsiteY1" fmla="*/ 27709 h 5505304"/>
              <a:gd name="connsiteX2" fmla="*/ 2521528 w 2521528"/>
              <a:gd name="connsiteY2" fmla="*/ 5505304 h 5505304"/>
              <a:gd name="connsiteX3" fmla="*/ 13854 w 2521528"/>
              <a:gd name="connsiteY3" fmla="*/ 5505304 h 5505304"/>
              <a:gd name="connsiteX4" fmla="*/ 0 w 2521528"/>
              <a:gd name="connsiteY4" fmla="*/ 0 h 5505304"/>
              <a:gd name="connsiteX0" fmla="*/ 2039700 w 4561228"/>
              <a:gd name="connsiteY0" fmla="*/ 0 h 5505304"/>
              <a:gd name="connsiteX1" fmla="*/ 4561228 w 4561228"/>
              <a:gd name="connsiteY1" fmla="*/ 27709 h 5505304"/>
              <a:gd name="connsiteX2" fmla="*/ 4561228 w 4561228"/>
              <a:gd name="connsiteY2" fmla="*/ 5505304 h 5505304"/>
              <a:gd name="connsiteX3" fmla="*/ 2053554 w 4561228"/>
              <a:gd name="connsiteY3" fmla="*/ 5505304 h 5505304"/>
              <a:gd name="connsiteX4" fmla="*/ 2039700 w 4561228"/>
              <a:gd name="connsiteY4" fmla="*/ 0 h 5505304"/>
              <a:gd name="connsiteX0" fmla="*/ 2436894 w 4958422"/>
              <a:gd name="connsiteY0" fmla="*/ 0 h 5505304"/>
              <a:gd name="connsiteX1" fmla="*/ 4958422 w 4958422"/>
              <a:gd name="connsiteY1" fmla="*/ 27709 h 5505304"/>
              <a:gd name="connsiteX2" fmla="*/ 4958422 w 4958422"/>
              <a:gd name="connsiteY2" fmla="*/ 5505304 h 5505304"/>
              <a:gd name="connsiteX3" fmla="*/ 2450748 w 4958422"/>
              <a:gd name="connsiteY3" fmla="*/ 5505304 h 5505304"/>
              <a:gd name="connsiteX4" fmla="*/ 2436894 w 4958422"/>
              <a:gd name="connsiteY4" fmla="*/ 0 h 5505304"/>
              <a:gd name="connsiteX0" fmla="*/ 2286795 w 4808323"/>
              <a:gd name="connsiteY0" fmla="*/ 0 h 5505304"/>
              <a:gd name="connsiteX1" fmla="*/ 4808323 w 4808323"/>
              <a:gd name="connsiteY1" fmla="*/ 27709 h 5505304"/>
              <a:gd name="connsiteX2" fmla="*/ 4808323 w 4808323"/>
              <a:gd name="connsiteY2" fmla="*/ 5505304 h 5505304"/>
              <a:gd name="connsiteX3" fmla="*/ 2300649 w 4808323"/>
              <a:gd name="connsiteY3" fmla="*/ 5505304 h 5505304"/>
              <a:gd name="connsiteX4" fmla="*/ 2286795 w 4808323"/>
              <a:gd name="connsiteY4" fmla="*/ 0 h 5505304"/>
              <a:gd name="connsiteX0" fmla="*/ 2486455 w 5007983"/>
              <a:gd name="connsiteY0" fmla="*/ 0 h 5505304"/>
              <a:gd name="connsiteX1" fmla="*/ 5007983 w 5007983"/>
              <a:gd name="connsiteY1" fmla="*/ 27709 h 5505304"/>
              <a:gd name="connsiteX2" fmla="*/ 5007983 w 5007983"/>
              <a:gd name="connsiteY2" fmla="*/ 5505304 h 5505304"/>
              <a:gd name="connsiteX3" fmla="*/ 2500309 w 5007983"/>
              <a:gd name="connsiteY3" fmla="*/ 5505304 h 5505304"/>
              <a:gd name="connsiteX4" fmla="*/ 2486455 w 5007983"/>
              <a:gd name="connsiteY4" fmla="*/ 0 h 5505304"/>
              <a:gd name="connsiteX0" fmla="*/ 2341450 w 4862978"/>
              <a:gd name="connsiteY0" fmla="*/ 0 h 5505304"/>
              <a:gd name="connsiteX1" fmla="*/ 4862978 w 4862978"/>
              <a:gd name="connsiteY1" fmla="*/ 27709 h 5505304"/>
              <a:gd name="connsiteX2" fmla="*/ 4862978 w 4862978"/>
              <a:gd name="connsiteY2" fmla="*/ 5505304 h 5505304"/>
              <a:gd name="connsiteX3" fmla="*/ 2355304 w 4862978"/>
              <a:gd name="connsiteY3" fmla="*/ 5505304 h 5505304"/>
              <a:gd name="connsiteX4" fmla="*/ 2341450 w 4862978"/>
              <a:gd name="connsiteY4" fmla="*/ 0 h 5505304"/>
              <a:gd name="connsiteX0" fmla="*/ 2226567 w 4748095"/>
              <a:gd name="connsiteY0" fmla="*/ 0 h 5505304"/>
              <a:gd name="connsiteX1" fmla="*/ 4748095 w 4748095"/>
              <a:gd name="connsiteY1" fmla="*/ 27709 h 5505304"/>
              <a:gd name="connsiteX2" fmla="*/ 4748095 w 4748095"/>
              <a:gd name="connsiteY2" fmla="*/ 5505304 h 5505304"/>
              <a:gd name="connsiteX3" fmla="*/ 2240421 w 4748095"/>
              <a:gd name="connsiteY3" fmla="*/ 5505304 h 5505304"/>
              <a:gd name="connsiteX4" fmla="*/ 2226567 w 4748095"/>
              <a:gd name="connsiteY4" fmla="*/ 0 h 5505304"/>
              <a:gd name="connsiteX0" fmla="*/ 2300185 w 4821713"/>
              <a:gd name="connsiteY0" fmla="*/ 0 h 5505304"/>
              <a:gd name="connsiteX1" fmla="*/ 4821713 w 4821713"/>
              <a:gd name="connsiteY1" fmla="*/ 27709 h 5505304"/>
              <a:gd name="connsiteX2" fmla="*/ 4821713 w 4821713"/>
              <a:gd name="connsiteY2" fmla="*/ 5505304 h 5505304"/>
              <a:gd name="connsiteX3" fmla="*/ 2314039 w 4821713"/>
              <a:gd name="connsiteY3" fmla="*/ 5505304 h 5505304"/>
              <a:gd name="connsiteX4" fmla="*/ 2300185 w 4821713"/>
              <a:gd name="connsiteY4" fmla="*/ 0 h 5505304"/>
              <a:gd name="connsiteX0" fmla="*/ 2300185 w 4821713"/>
              <a:gd name="connsiteY0" fmla="*/ 0 h 5505304"/>
              <a:gd name="connsiteX1" fmla="*/ 4821713 w 4821713"/>
              <a:gd name="connsiteY1" fmla="*/ 27709 h 5505304"/>
              <a:gd name="connsiteX2" fmla="*/ 4821713 w 4821713"/>
              <a:gd name="connsiteY2" fmla="*/ 5505304 h 5505304"/>
              <a:gd name="connsiteX3" fmla="*/ 2314039 w 4821713"/>
              <a:gd name="connsiteY3" fmla="*/ 5505304 h 5505304"/>
              <a:gd name="connsiteX4" fmla="*/ 2300185 w 4821713"/>
              <a:gd name="connsiteY4" fmla="*/ 0 h 5505304"/>
              <a:gd name="connsiteX0" fmla="*/ 2312129 w 4805948"/>
              <a:gd name="connsiteY0" fmla="*/ 0 h 5505304"/>
              <a:gd name="connsiteX1" fmla="*/ 4805948 w 4805948"/>
              <a:gd name="connsiteY1" fmla="*/ 27709 h 5505304"/>
              <a:gd name="connsiteX2" fmla="*/ 4805948 w 4805948"/>
              <a:gd name="connsiteY2" fmla="*/ 5505304 h 5505304"/>
              <a:gd name="connsiteX3" fmla="*/ 2298274 w 4805948"/>
              <a:gd name="connsiteY3" fmla="*/ 5505304 h 5505304"/>
              <a:gd name="connsiteX4" fmla="*/ 2312129 w 4805948"/>
              <a:gd name="connsiteY4" fmla="*/ 0 h 5505304"/>
              <a:gd name="connsiteX0" fmla="*/ 2342372 w 4766918"/>
              <a:gd name="connsiteY0" fmla="*/ 0 h 5505304"/>
              <a:gd name="connsiteX1" fmla="*/ 4766918 w 4766918"/>
              <a:gd name="connsiteY1" fmla="*/ 27709 h 5505304"/>
              <a:gd name="connsiteX2" fmla="*/ 4766918 w 4766918"/>
              <a:gd name="connsiteY2" fmla="*/ 5505304 h 5505304"/>
              <a:gd name="connsiteX3" fmla="*/ 2259244 w 4766918"/>
              <a:gd name="connsiteY3" fmla="*/ 5505304 h 5505304"/>
              <a:gd name="connsiteX4" fmla="*/ 2342372 w 4766918"/>
              <a:gd name="connsiteY4" fmla="*/ 0 h 5505304"/>
              <a:gd name="connsiteX0" fmla="*/ 2387070 w 4811616"/>
              <a:gd name="connsiteY0" fmla="*/ 0 h 5505304"/>
              <a:gd name="connsiteX1" fmla="*/ 4811616 w 4811616"/>
              <a:gd name="connsiteY1" fmla="*/ 27709 h 5505304"/>
              <a:gd name="connsiteX2" fmla="*/ 4811616 w 4811616"/>
              <a:gd name="connsiteY2" fmla="*/ 5505304 h 5505304"/>
              <a:gd name="connsiteX3" fmla="*/ 2303942 w 4811616"/>
              <a:gd name="connsiteY3" fmla="*/ 5505304 h 5505304"/>
              <a:gd name="connsiteX4" fmla="*/ 2387070 w 4811616"/>
              <a:gd name="connsiteY4" fmla="*/ 0 h 5505304"/>
              <a:gd name="connsiteX0" fmla="*/ 2101407 w 4525953"/>
              <a:gd name="connsiteY0" fmla="*/ 0 h 5505304"/>
              <a:gd name="connsiteX1" fmla="*/ 4525953 w 4525953"/>
              <a:gd name="connsiteY1" fmla="*/ 27709 h 5505304"/>
              <a:gd name="connsiteX2" fmla="*/ 4525953 w 4525953"/>
              <a:gd name="connsiteY2" fmla="*/ 5505304 h 5505304"/>
              <a:gd name="connsiteX3" fmla="*/ 2018279 w 4525953"/>
              <a:gd name="connsiteY3" fmla="*/ 5505304 h 5505304"/>
              <a:gd name="connsiteX4" fmla="*/ 2101407 w 4525953"/>
              <a:gd name="connsiteY4" fmla="*/ 0 h 5505304"/>
              <a:gd name="connsiteX0" fmla="*/ 2360231 w 4784777"/>
              <a:gd name="connsiteY0" fmla="*/ 0 h 5505304"/>
              <a:gd name="connsiteX1" fmla="*/ 4784777 w 4784777"/>
              <a:gd name="connsiteY1" fmla="*/ 27709 h 5505304"/>
              <a:gd name="connsiteX2" fmla="*/ 4784777 w 4784777"/>
              <a:gd name="connsiteY2" fmla="*/ 5505304 h 5505304"/>
              <a:gd name="connsiteX3" fmla="*/ 2277103 w 4784777"/>
              <a:gd name="connsiteY3" fmla="*/ 5505304 h 5505304"/>
              <a:gd name="connsiteX4" fmla="*/ 2360231 w 4784777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269472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281671"/>
              <a:gd name="connsiteY0" fmla="*/ 0 h 5505304"/>
              <a:gd name="connsiteX1" fmla="*/ 4269472 w 4281671"/>
              <a:gd name="connsiteY1" fmla="*/ 27709 h 5505304"/>
              <a:gd name="connsiteX2" fmla="*/ 4281671 w 4281671"/>
              <a:gd name="connsiteY2" fmla="*/ 5491449 h 5505304"/>
              <a:gd name="connsiteX3" fmla="*/ 2237539 w 4281671"/>
              <a:gd name="connsiteY3" fmla="*/ 5505304 h 5505304"/>
              <a:gd name="connsiteX4" fmla="*/ 2403794 w 4281671"/>
              <a:gd name="connsiteY4" fmla="*/ 0 h 5505304"/>
              <a:gd name="connsiteX0" fmla="*/ 2403794 w 4281671"/>
              <a:gd name="connsiteY0" fmla="*/ 0 h 5518343"/>
              <a:gd name="connsiteX1" fmla="*/ 4269472 w 4281671"/>
              <a:gd name="connsiteY1" fmla="*/ 27709 h 5518343"/>
              <a:gd name="connsiteX2" fmla="*/ 4281671 w 4281671"/>
              <a:gd name="connsiteY2" fmla="*/ 5518343 h 5518343"/>
              <a:gd name="connsiteX3" fmla="*/ 2237539 w 4281671"/>
              <a:gd name="connsiteY3" fmla="*/ 5505304 h 5518343"/>
              <a:gd name="connsiteX4" fmla="*/ 2403794 w 4281671"/>
              <a:gd name="connsiteY4" fmla="*/ 0 h 5518343"/>
              <a:gd name="connsiteX0" fmla="*/ 2403794 w 4281671"/>
              <a:gd name="connsiteY0" fmla="*/ 0 h 5518343"/>
              <a:gd name="connsiteX1" fmla="*/ 4269472 w 4281671"/>
              <a:gd name="connsiteY1" fmla="*/ 27709 h 5518343"/>
              <a:gd name="connsiteX2" fmla="*/ 4281671 w 4281671"/>
              <a:gd name="connsiteY2" fmla="*/ 5518343 h 5518343"/>
              <a:gd name="connsiteX3" fmla="*/ 2237539 w 4281671"/>
              <a:gd name="connsiteY3" fmla="*/ 5505304 h 5518343"/>
              <a:gd name="connsiteX4" fmla="*/ 2403794 w 4281671"/>
              <a:gd name="connsiteY4" fmla="*/ 0 h 5518343"/>
              <a:gd name="connsiteX0" fmla="*/ 2403794 w 4281671"/>
              <a:gd name="connsiteY0" fmla="*/ 4793 h 5523136"/>
              <a:gd name="connsiteX1" fmla="*/ 4269472 w 4281671"/>
              <a:gd name="connsiteY1" fmla="*/ 32502 h 5523136"/>
              <a:gd name="connsiteX2" fmla="*/ 4281671 w 4281671"/>
              <a:gd name="connsiteY2" fmla="*/ 5523136 h 5523136"/>
              <a:gd name="connsiteX3" fmla="*/ 2237539 w 4281671"/>
              <a:gd name="connsiteY3" fmla="*/ 5510097 h 5523136"/>
              <a:gd name="connsiteX4" fmla="*/ 2403794 w 4281671"/>
              <a:gd name="connsiteY4" fmla="*/ 4793 h 5523136"/>
              <a:gd name="connsiteX0" fmla="*/ 2403794 w 4281671"/>
              <a:gd name="connsiteY0" fmla="*/ 10010 h 5528353"/>
              <a:gd name="connsiteX1" fmla="*/ 4257632 w 4281671"/>
              <a:gd name="connsiteY1" fmla="*/ 10825 h 5528353"/>
              <a:gd name="connsiteX2" fmla="*/ 4281671 w 4281671"/>
              <a:gd name="connsiteY2" fmla="*/ 5528353 h 5528353"/>
              <a:gd name="connsiteX3" fmla="*/ 2237539 w 4281671"/>
              <a:gd name="connsiteY3" fmla="*/ 5515314 h 5528353"/>
              <a:gd name="connsiteX4" fmla="*/ 2403794 w 4281671"/>
              <a:gd name="connsiteY4" fmla="*/ 10010 h 5528353"/>
              <a:gd name="connsiteX0" fmla="*/ 2403794 w 4281671"/>
              <a:gd name="connsiteY0" fmla="*/ 10010 h 5528353"/>
              <a:gd name="connsiteX1" fmla="*/ 4257632 w 4281671"/>
              <a:gd name="connsiteY1" fmla="*/ 10825 h 5528353"/>
              <a:gd name="connsiteX2" fmla="*/ 4281671 w 4281671"/>
              <a:gd name="connsiteY2" fmla="*/ 5528353 h 5528353"/>
              <a:gd name="connsiteX3" fmla="*/ 2237539 w 4281671"/>
              <a:gd name="connsiteY3" fmla="*/ 5515314 h 5528353"/>
              <a:gd name="connsiteX4" fmla="*/ 2403794 w 4281671"/>
              <a:gd name="connsiteY4" fmla="*/ 10010 h 5528353"/>
              <a:gd name="connsiteX0" fmla="*/ 2403794 w 4281671"/>
              <a:gd name="connsiteY0" fmla="*/ 1949 h 5520292"/>
              <a:gd name="connsiteX1" fmla="*/ 4257632 w 4281671"/>
              <a:gd name="connsiteY1" fmla="*/ 2764 h 5520292"/>
              <a:gd name="connsiteX2" fmla="*/ 4281671 w 4281671"/>
              <a:gd name="connsiteY2" fmla="*/ 5520292 h 5520292"/>
              <a:gd name="connsiteX3" fmla="*/ 2237539 w 4281671"/>
              <a:gd name="connsiteY3" fmla="*/ 5507253 h 5520292"/>
              <a:gd name="connsiteX4" fmla="*/ 2403794 w 4281671"/>
              <a:gd name="connsiteY4" fmla="*/ 1949 h 5520292"/>
              <a:gd name="connsiteX0" fmla="*/ 2403794 w 4281671"/>
              <a:gd name="connsiteY0" fmla="*/ 1949 h 5520292"/>
              <a:gd name="connsiteX1" fmla="*/ 4257632 w 4281671"/>
              <a:gd name="connsiteY1" fmla="*/ 2764 h 5520292"/>
              <a:gd name="connsiteX2" fmla="*/ 4281671 w 4281671"/>
              <a:gd name="connsiteY2" fmla="*/ 5520292 h 5520292"/>
              <a:gd name="connsiteX3" fmla="*/ 2237539 w 4281671"/>
              <a:gd name="connsiteY3" fmla="*/ 5507253 h 5520292"/>
              <a:gd name="connsiteX4" fmla="*/ 2403794 w 4281671"/>
              <a:gd name="connsiteY4" fmla="*/ 1949 h 5520292"/>
              <a:gd name="connsiteX0" fmla="*/ 2403794 w 4293511"/>
              <a:gd name="connsiteY0" fmla="*/ 1949 h 5507253"/>
              <a:gd name="connsiteX1" fmla="*/ 4257632 w 4293511"/>
              <a:gd name="connsiteY1" fmla="*/ 2764 h 5507253"/>
              <a:gd name="connsiteX2" fmla="*/ 4293511 w 4293511"/>
              <a:gd name="connsiteY2" fmla="*/ 5506845 h 5507253"/>
              <a:gd name="connsiteX3" fmla="*/ 2237539 w 4293511"/>
              <a:gd name="connsiteY3" fmla="*/ 5507253 h 5507253"/>
              <a:gd name="connsiteX4" fmla="*/ 2403794 w 4293511"/>
              <a:gd name="connsiteY4" fmla="*/ 1949 h 5507253"/>
              <a:gd name="connsiteX0" fmla="*/ 2403794 w 4423476"/>
              <a:gd name="connsiteY0" fmla="*/ 1949 h 5507253"/>
              <a:gd name="connsiteX1" fmla="*/ 4423388 w 4423476"/>
              <a:gd name="connsiteY1" fmla="*/ 2764 h 5507253"/>
              <a:gd name="connsiteX2" fmla="*/ 4293511 w 4423476"/>
              <a:gd name="connsiteY2" fmla="*/ 5506845 h 5507253"/>
              <a:gd name="connsiteX3" fmla="*/ 2237539 w 4423476"/>
              <a:gd name="connsiteY3" fmla="*/ 5507253 h 5507253"/>
              <a:gd name="connsiteX4" fmla="*/ 2403794 w 4423476"/>
              <a:gd name="connsiteY4" fmla="*/ 1949 h 5507253"/>
              <a:gd name="connsiteX0" fmla="*/ 2403794 w 4423476"/>
              <a:gd name="connsiteY0" fmla="*/ 1949 h 5507253"/>
              <a:gd name="connsiteX1" fmla="*/ 4423388 w 4423476"/>
              <a:gd name="connsiteY1" fmla="*/ 2764 h 5507253"/>
              <a:gd name="connsiteX2" fmla="*/ 4293511 w 4423476"/>
              <a:gd name="connsiteY2" fmla="*/ 5506845 h 5507253"/>
              <a:gd name="connsiteX3" fmla="*/ 2237539 w 4423476"/>
              <a:gd name="connsiteY3" fmla="*/ 5507253 h 5507253"/>
              <a:gd name="connsiteX4" fmla="*/ 2403794 w 4423476"/>
              <a:gd name="connsiteY4" fmla="*/ 1949 h 5507253"/>
              <a:gd name="connsiteX0" fmla="*/ 2403794 w 4565508"/>
              <a:gd name="connsiteY0" fmla="*/ 0 h 5505304"/>
              <a:gd name="connsiteX1" fmla="*/ 4565465 w 4565508"/>
              <a:gd name="connsiteY1" fmla="*/ 14262 h 5505304"/>
              <a:gd name="connsiteX2" fmla="*/ 4293511 w 4565508"/>
              <a:gd name="connsiteY2" fmla="*/ 5504896 h 5505304"/>
              <a:gd name="connsiteX3" fmla="*/ 2237539 w 4565508"/>
              <a:gd name="connsiteY3" fmla="*/ 5505304 h 5505304"/>
              <a:gd name="connsiteX4" fmla="*/ 2403794 w 4565508"/>
              <a:gd name="connsiteY4" fmla="*/ 0 h 5505304"/>
              <a:gd name="connsiteX0" fmla="*/ 2403794 w 4565582"/>
              <a:gd name="connsiteY0" fmla="*/ 0 h 5505304"/>
              <a:gd name="connsiteX1" fmla="*/ 4565465 w 4565582"/>
              <a:gd name="connsiteY1" fmla="*/ 14262 h 5505304"/>
              <a:gd name="connsiteX2" fmla="*/ 4471106 w 4565582"/>
              <a:gd name="connsiteY2" fmla="*/ 5491449 h 5505304"/>
              <a:gd name="connsiteX3" fmla="*/ 2237539 w 4565582"/>
              <a:gd name="connsiteY3" fmla="*/ 5505304 h 5505304"/>
              <a:gd name="connsiteX4" fmla="*/ 2403794 w 4565582"/>
              <a:gd name="connsiteY4" fmla="*/ 0 h 5505304"/>
              <a:gd name="connsiteX0" fmla="*/ 2403794 w 4565582"/>
              <a:gd name="connsiteY0" fmla="*/ 0 h 5505304"/>
              <a:gd name="connsiteX1" fmla="*/ 4565465 w 4565582"/>
              <a:gd name="connsiteY1" fmla="*/ 14262 h 5505304"/>
              <a:gd name="connsiteX2" fmla="*/ 4471106 w 4565582"/>
              <a:gd name="connsiteY2" fmla="*/ 5491449 h 5505304"/>
              <a:gd name="connsiteX3" fmla="*/ 2237539 w 4565582"/>
              <a:gd name="connsiteY3" fmla="*/ 5505304 h 5505304"/>
              <a:gd name="connsiteX4" fmla="*/ 2403794 w 4565582"/>
              <a:gd name="connsiteY4" fmla="*/ 0 h 5505304"/>
              <a:gd name="connsiteX0" fmla="*/ 2403794 w 4707901"/>
              <a:gd name="connsiteY0" fmla="*/ 0 h 5505932"/>
              <a:gd name="connsiteX1" fmla="*/ 4565465 w 4707901"/>
              <a:gd name="connsiteY1" fmla="*/ 14262 h 5505932"/>
              <a:gd name="connsiteX2" fmla="*/ 4707901 w 4707901"/>
              <a:gd name="connsiteY2" fmla="*/ 5504896 h 5505932"/>
              <a:gd name="connsiteX3" fmla="*/ 2237539 w 4707901"/>
              <a:gd name="connsiteY3" fmla="*/ 5505304 h 5505932"/>
              <a:gd name="connsiteX4" fmla="*/ 2403794 w 4707901"/>
              <a:gd name="connsiteY4" fmla="*/ 0 h 5505932"/>
              <a:gd name="connsiteX0" fmla="*/ 2403794 w 4814204"/>
              <a:gd name="connsiteY0" fmla="*/ 1948 h 5507878"/>
              <a:gd name="connsiteX1" fmla="*/ 4814099 w 4814204"/>
              <a:gd name="connsiteY1" fmla="*/ 2763 h 5507878"/>
              <a:gd name="connsiteX2" fmla="*/ 4707901 w 4814204"/>
              <a:gd name="connsiteY2" fmla="*/ 5506844 h 5507878"/>
              <a:gd name="connsiteX3" fmla="*/ 2237539 w 4814204"/>
              <a:gd name="connsiteY3" fmla="*/ 5507252 h 5507878"/>
              <a:gd name="connsiteX4" fmla="*/ 2403794 w 4814204"/>
              <a:gd name="connsiteY4" fmla="*/ 1948 h 5507878"/>
              <a:gd name="connsiteX0" fmla="*/ 2403794 w 6116475"/>
              <a:gd name="connsiteY0" fmla="*/ 14366 h 5520293"/>
              <a:gd name="connsiteX1" fmla="*/ 6116467 w 6116475"/>
              <a:gd name="connsiteY1" fmla="*/ 1734 h 5520293"/>
              <a:gd name="connsiteX2" fmla="*/ 4707901 w 6116475"/>
              <a:gd name="connsiteY2" fmla="*/ 5519262 h 5520293"/>
              <a:gd name="connsiteX3" fmla="*/ 2237539 w 6116475"/>
              <a:gd name="connsiteY3" fmla="*/ 5519670 h 5520293"/>
              <a:gd name="connsiteX4" fmla="*/ 2403794 w 6116475"/>
              <a:gd name="connsiteY4" fmla="*/ 14366 h 5520293"/>
              <a:gd name="connsiteX0" fmla="*/ 2403794 w 6117683"/>
              <a:gd name="connsiteY0" fmla="*/ 14366 h 5533738"/>
              <a:gd name="connsiteX1" fmla="*/ 6116467 w 6117683"/>
              <a:gd name="connsiteY1" fmla="*/ 1734 h 5533738"/>
              <a:gd name="connsiteX2" fmla="*/ 6116827 w 6117683"/>
              <a:gd name="connsiteY2" fmla="*/ 5532709 h 5533738"/>
              <a:gd name="connsiteX3" fmla="*/ 2237539 w 6117683"/>
              <a:gd name="connsiteY3" fmla="*/ 5519670 h 5533738"/>
              <a:gd name="connsiteX4" fmla="*/ 2403794 w 6117683"/>
              <a:gd name="connsiteY4" fmla="*/ 14366 h 5533738"/>
              <a:gd name="connsiteX0" fmla="*/ 2403794 w 6117683"/>
              <a:gd name="connsiteY0" fmla="*/ 14366 h 5533738"/>
              <a:gd name="connsiteX1" fmla="*/ 6116467 w 6117683"/>
              <a:gd name="connsiteY1" fmla="*/ 1734 h 5533738"/>
              <a:gd name="connsiteX2" fmla="*/ 6116827 w 6117683"/>
              <a:gd name="connsiteY2" fmla="*/ 5532709 h 5533738"/>
              <a:gd name="connsiteX3" fmla="*/ 2237539 w 6117683"/>
              <a:gd name="connsiteY3" fmla="*/ 5519670 h 5533738"/>
              <a:gd name="connsiteX4" fmla="*/ 2403794 w 6117683"/>
              <a:gd name="connsiteY4" fmla="*/ 14366 h 5533738"/>
              <a:gd name="connsiteX0" fmla="*/ 2403794 w 6643352"/>
              <a:gd name="connsiteY0" fmla="*/ 14366 h 5548321"/>
              <a:gd name="connsiteX1" fmla="*/ 6116467 w 6643352"/>
              <a:gd name="connsiteY1" fmla="*/ 1734 h 5548321"/>
              <a:gd name="connsiteX2" fmla="*/ 6643352 w 6643352"/>
              <a:gd name="connsiteY2" fmla="*/ 5547295 h 5548321"/>
              <a:gd name="connsiteX3" fmla="*/ 2237539 w 6643352"/>
              <a:gd name="connsiteY3" fmla="*/ 5519670 h 5548321"/>
              <a:gd name="connsiteX4" fmla="*/ 2403794 w 6643352"/>
              <a:gd name="connsiteY4" fmla="*/ 14366 h 5548321"/>
              <a:gd name="connsiteX0" fmla="*/ 2403794 w 6644208"/>
              <a:gd name="connsiteY0" fmla="*/ 14366 h 5548321"/>
              <a:gd name="connsiteX1" fmla="*/ 6642992 w 6644208"/>
              <a:gd name="connsiteY1" fmla="*/ 1734 h 5548321"/>
              <a:gd name="connsiteX2" fmla="*/ 6643352 w 6644208"/>
              <a:gd name="connsiteY2" fmla="*/ 5547295 h 5548321"/>
              <a:gd name="connsiteX3" fmla="*/ 2237539 w 6644208"/>
              <a:gd name="connsiteY3" fmla="*/ 5519670 h 5548321"/>
              <a:gd name="connsiteX4" fmla="*/ 2403794 w 6644208"/>
              <a:gd name="connsiteY4" fmla="*/ 14366 h 554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44208" h="5548321">
                <a:moveTo>
                  <a:pt x="2403794" y="14366"/>
                </a:moveTo>
                <a:cubicBezTo>
                  <a:pt x="2421861" y="23602"/>
                  <a:pt x="6021099" y="-7502"/>
                  <a:pt x="6642992" y="1734"/>
                </a:cubicBezTo>
                <a:cubicBezTo>
                  <a:pt x="6647058" y="7628"/>
                  <a:pt x="6639286" y="5635530"/>
                  <a:pt x="6643352" y="5547295"/>
                </a:cubicBezTo>
                <a:lnTo>
                  <a:pt x="2237539" y="5519670"/>
                </a:lnTo>
                <a:cubicBezTo>
                  <a:pt x="-925915" y="5070024"/>
                  <a:pt x="-611878" y="200776"/>
                  <a:pt x="2403794" y="14366"/>
                </a:cubicBezTo>
                <a:close/>
              </a:path>
            </a:pathLst>
          </a:cu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8997" r="42384" b="9201"/>
            </a:stretch>
          </a:blipFill>
          <a:ln>
            <a:noFill/>
          </a:ln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C8E270-2DF2-56D8-74B1-4AF47EFBCA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7302" r="314"/>
          <a:stretch/>
        </p:blipFill>
        <p:spPr>
          <a:xfrm>
            <a:off x="0" y="591734"/>
            <a:ext cx="9391650" cy="5413314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DE4ADE2E-588C-FE06-85F7-12FB73F29B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1" y="1909136"/>
            <a:ext cx="5947575" cy="148175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>
              <a:lnSpc>
                <a:spcPts val="5400"/>
              </a:lnSpc>
              <a:defRPr sz="5000" b="0" i="0" spc="-8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AU" noProof="0"/>
              <a:t>Presentation</a:t>
            </a:r>
            <a:r>
              <a:rPr lang="en-US"/>
              <a:t> title goes in this space</a:t>
            </a:r>
          </a:p>
        </p:txBody>
      </p:sp>
    </p:spTree>
    <p:extLst>
      <p:ext uri="{BB962C8B-B14F-4D97-AF65-F5344CB8AC3E}">
        <p14:creationId xmlns:p14="http://schemas.microsoft.com/office/powerpoint/2010/main" val="2364015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b">
    <p:bg>
      <p:bgPr>
        <a:gradFill>
          <a:gsLst>
            <a:gs pos="0">
              <a:srgbClr val="B922F3"/>
            </a:gs>
            <a:gs pos="38000">
              <a:srgbClr val="93186C"/>
            </a:gs>
            <a:gs pos="63000">
              <a:srgbClr val="93186C"/>
            </a:gs>
            <a:gs pos="100000">
              <a:schemeClr val="accent2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5439089-17EE-C123-A417-EA2AA40A799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920" y="6129118"/>
            <a:ext cx="1870484" cy="345912"/>
          </a:xfrm>
          <a:prstGeom prst="rect">
            <a:avLst/>
          </a:prstGeom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D7F8596-0EF8-2C88-0975-4BC655CE161E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502920" y="3932777"/>
            <a:ext cx="1985352" cy="750783"/>
          </a:xfrm>
          <a:prstGeom prst="rect">
            <a:avLst/>
          </a:prstGeom>
        </p:spPr>
        <p:txBody>
          <a:bodyPr vert="horz" wrap="none" lIns="45720" tIns="45720" rIns="91440" bIns="45720" rtlCol="0" anchor="t">
            <a:sp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lang="en-US" sz="1800" b="0" i="0" spc="130" baseline="0" dirty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Presenter Name</a:t>
            </a:r>
          </a:p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Title</a:t>
            </a:r>
          </a:p>
        </p:txBody>
      </p:sp>
      <p:pic>
        <p:nvPicPr>
          <p:cNvPr id="4" name="Picture 3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49A0CE95-6BEE-BA2A-7C74-AA1744090F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920" y="6129118"/>
            <a:ext cx="1870484" cy="345912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47165044-E6E0-0CB3-AB2C-6F7E5041AB8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920" y="330024"/>
            <a:ext cx="2744482" cy="2446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 algn="l">
              <a:buNone/>
              <a:defRPr lang="en-US" sz="1200" b="1" i="0" kern="1200" spc="100" baseline="0" dirty="0">
                <a:solidFill>
                  <a:schemeClr val="bg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AU" noProof="0"/>
              <a:t>Date</a:t>
            </a:r>
          </a:p>
        </p:txBody>
      </p:sp>
      <p:pic>
        <p:nvPicPr>
          <p:cNvPr id="7" name="圖片版面配置區 10">
            <a:extLst>
              <a:ext uri="{FF2B5EF4-FFF2-40B4-BE49-F238E27FC236}">
                <a16:creationId xmlns:a16="http://schemas.microsoft.com/office/drawing/2014/main" id="{59D0C190-C27D-962C-BAB5-7FCBD47896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00"/>
          <a:stretch/>
        </p:blipFill>
        <p:spPr>
          <a:xfrm>
            <a:off x="6554018" y="735630"/>
            <a:ext cx="5637982" cy="5115264"/>
          </a:xfrm>
          <a:custGeom>
            <a:avLst/>
            <a:gdLst>
              <a:gd name="connsiteX0" fmla="*/ 0 w 2507674"/>
              <a:gd name="connsiteY0" fmla="*/ 0 h 5477595"/>
              <a:gd name="connsiteX1" fmla="*/ 2507674 w 2507674"/>
              <a:gd name="connsiteY1" fmla="*/ 0 h 5477595"/>
              <a:gd name="connsiteX2" fmla="*/ 2507674 w 2507674"/>
              <a:gd name="connsiteY2" fmla="*/ 5477595 h 5477595"/>
              <a:gd name="connsiteX3" fmla="*/ 0 w 2507674"/>
              <a:gd name="connsiteY3" fmla="*/ 5477595 h 5477595"/>
              <a:gd name="connsiteX4" fmla="*/ 0 w 2507674"/>
              <a:gd name="connsiteY4" fmla="*/ 0 h 5477595"/>
              <a:gd name="connsiteX0" fmla="*/ 0 w 2521528"/>
              <a:gd name="connsiteY0" fmla="*/ 0 h 5505304"/>
              <a:gd name="connsiteX1" fmla="*/ 2521528 w 2521528"/>
              <a:gd name="connsiteY1" fmla="*/ 27709 h 5505304"/>
              <a:gd name="connsiteX2" fmla="*/ 2521528 w 2521528"/>
              <a:gd name="connsiteY2" fmla="*/ 5505304 h 5505304"/>
              <a:gd name="connsiteX3" fmla="*/ 13854 w 2521528"/>
              <a:gd name="connsiteY3" fmla="*/ 5505304 h 5505304"/>
              <a:gd name="connsiteX4" fmla="*/ 0 w 2521528"/>
              <a:gd name="connsiteY4" fmla="*/ 0 h 5505304"/>
              <a:gd name="connsiteX0" fmla="*/ 2039700 w 4561228"/>
              <a:gd name="connsiteY0" fmla="*/ 0 h 5505304"/>
              <a:gd name="connsiteX1" fmla="*/ 4561228 w 4561228"/>
              <a:gd name="connsiteY1" fmla="*/ 27709 h 5505304"/>
              <a:gd name="connsiteX2" fmla="*/ 4561228 w 4561228"/>
              <a:gd name="connsiteY2" fmla="*/ 5505304 h 5505304"/>
              <a:gd name="connsiteX3" fmla="*/ 2053554 w 4561228"/>
              <a:gd name="connsiteY3" fmla="*/ 5505304 h 5505304"/>
              <a:gd name="connsiteX4" fmla="*/ 2039700 w 4561228"/>
              <a:gd name="connsiteY4" fmla="*/ 0 h 5505304"/>
              <a:gd name="connsiteX0" fmla="*/ 2436894 w 4958422"/>
              <a:gd name="connsiteY0" fmla="*/ 0 h 5505304"/>
              <a:gd name="connsiteX1" fmla="*/ 4958422 w 4958422"/>
              <a:gd name="connsiteY1" fmla="*/ 27709 h 5505304"/>
              <a:gd name="connsiteX2" fmla="*/ 4958422 w 4958422"/>
              <a:gd name="connsiteY2" fmla="*/ 5505304 h 5505304"/>
              <a:gd name="connsiteX3" fmla="*/ 2450748 w 4958422"/>
              <a:gd name="connsiteY3" fmla="*/ 5505304 h 5505304"/>
              <a:gd name="connsiteX4" fmla="*/ 2436894 w 4958422"/>
              <a:gd name="connsiteY4" fmla="*/ 0 h 5505304"/>
              <a:gd name="connsiteX0" fmla="*/ 2286795 w 4808323"/>
              <a:gd name="connsiteY0" fmla="*/ 0 h 5505304"/>
              <a:gd name="connsiteX1" fmla="*/ 4808323 w 4808323"/>
              <a:gd name="connsiteY1" fmla="*/ 27709 h 5505304"/>
              <a:gd name="connsiteX2" fmla="*/ 4808323 w 4808323"/>
              <a:gd name="connsiteY2" fmla="*/ 5505304 h 5505304"/>
              <a:gd name="connsiteX3" fmla="*/ 2300649 w 4808323"/>
              <a:gd name="connsiteY3" fmla="*/ 5505304 h 5505304"/>
              <a:gd name="connsiteX4" fmla="*/ 2286795 w 4808323"/>
              <a:gd name="connsiteY4" fmla="*/ 0 h 5505304"/>
              <a:gd name="connsiteX0" fmla="*/ 2486455 w 5007983"/>
              <a:gd name="connsiteY0" fmla="*/ 0 h 5505304"/>
              <a:gd name="connsiteX1" fmla="*/ 5007983 w 5007983"/>
              <a:gd name="connsiteY1" fmla="*/ 27709 h 5505304"/>
              <a:gd name="connsiteX2" fmla="*/ 5007983 w 5007983"/>
              <a:gd name="connsiteY2" fmla="*/ 5505304 h 5505304"/>
              <a:gd name="connsiteX3" fmla="*/ 2500309 w 5007983"/>
              <a:gd name="connsiteY3" fmla="*/ 5505304 h 5505304"/>
              <a:gd name="connsiteX4" fmla="*/ 2486455 w 5007983"/>
              <a:gd name="connsiteY4" fmla="*/ 0 h 5505304"/>
              <a:gd name="connsiteX0" fmla="*/ 2341450 w 4862978"/>
              <a:gd name="connsiteY0" fmla="*/ 0 h 5505304"/>
              <a:gd name="connsiteX1" fmla="*/ 4862978 w 4862978"/>
              <a:gd name="connsiteY1" fmla="*/ 27709 h 5505304"/>
              <a:gd name="connsiteX2" fmla="*/ 4862978 w 4862978"/>
              <a:gd name="connsiteY2" fmla="*/ 5505304 h 5505304"/>
              <a:gd name="connsiteX3" fmla="*/ 2355304 w 4862978"/>
              <a:gd name="connsiteY3" fmla="*/ 5505304 h 5505304"/>
              <a:gd name="connsiteX4" fmla="*/ 2341450 w 4862978"/>
              <a:gd name="connsiteY4" fmla="*/ 0 h 5505304"/>
              <a:gd name="connsiteX0" fmla="*/ 2226567 w 4748095"/>
              <a:gd name="connsiteY0" fmla="*/ 0 h 5505304"/>
              <a:gd name="connsiteX1" fmla="*/ 4748095 w 4748095"/>
              <a:gd name="connsiteY1" fmla="*/ 27709 h 5505304"/>
              <a:gd name="connsiteX2" fmla="*/ 4748095 w 4748095"/>
              <a:gd name="connsiteY2" fmla="*/ 5505304 h 5505304"/>
              <a:gd name="connsiteX3" fmla="*/ 2240421 w 4748095"/>
              <a:gd name="connsiteY3" fmla="*/ 5505304 h 5505304"/>
              <a:gd name="connsiteX4" fmla="*/ 2226567 w 4748095"/>
              <a:gd name="connsiteY4" fmla="*/ 0 h 5505304"/>
              <a:gd name="connsiteX0" fmla="*/ 2300185 w 4821713"/>
              <a:gd name="connsiteY0" fmla="*/ 0 h 5505304"/>
              <a:gd name="connsiteX1" fmla="*/ 4821713 w 4821713"/>
              <a:gd name="connsiteY1" fmla="*/ 27709 h 5505304"/>
              <a:gd name="connsiteX2" fmla="*/ 4821713 w 4821713"/>
              <a:gd name="connsiteY2" fmla="*/ 5505304 h 5505304"/>
              <a:gd name="connsiteX3" fmla="*/ 2314039 w 4821713"/>
              <a:gd name="connsiteY3" fmla="*/ 5505304 h 5505304"/>
              <a:gd name="connsiteX4" fmla="*/ 2300185 w 4821713"/>
              <a:gd name="connsiteY4" fmla="*/ 0 h 5505304"/>
              <a:gd name="connsiteX0" fmla="*/ 2300185 w 4821713"/>
              <a:gd name="connsiteY0" fmla="*/ 0 h 5505304"/>
              <a:gd name="connsiteX1" fmla="*/ 4821713 w 4821713"/>
              <a:gd name="connsiteY1" fmla="*/ 27709 h 5505304"/>
              <a:gd name="connsiteX2" fmla="*/ 4821713 w 4821713"/>
              <a:gd name="connsiteY2" fmla="*/ 5505304 h 5505304"/>
              <a:gd name="connsiteX3" fmla="*/ 2314039 w 4821713"/>
              <a:gd name="connsiteY3" fmla="*/ 5505304 h 5505304"/>
              <a:gd name="connsiteX4" fmla="*/ 2300185 w 4821713"/>
              <a:gd name="connsiteY4" fmla="*/ 0 h 5505304"/>
              <a:gd name="connsiteX0" fmla="*/ 2312129 w 4805948"/>
              <a:gd name="connsiteY0" fmla="*/ 0 h 5505304"/>
              <a:gd name="connsiteX1" fmla="*/ 4805948 w 4805948"/>
              <a:gd name="connsiteY1" fmla="*/ 27709 h 5505304"/>
              <a:gd name="connsiteX2" fmla="*/ 4805948 w 4805948"/>
              <a:gd name="connsiteY2" fmla="*/ 5505304 h 5505304"/>
              <a:gd name="connsiteX3" fmla="*/ 2298274 w 4805948"/>
              <a:gd name="connsiteY3" fmla="*/ 5505304 h 5505304"/>
              <a:gd name="connsiteX4" fmla="*/ 2312129 w 4805948"/>
              <a:gd name="connsiteY4" fmla="*/ 0 h 5505304"/>
              <a:gd name="connsiteX0" fmla="*/ 2342372 w 4766918"/>
              <a:gd name="connsiteY0" fmla="*/ 0 h 5505304"/>
              <a:gd name="connsiteX1" fmla="*/ 4766918 w 4766918"/>
              <a:gd name="connsiteY1" fmla="*/ 27709 h 5505304"/>
              <a:gd name="connsiteX2" fmla="*/ 4766918 w 4766918"/>
              <a:gd name="connsiteY2" fmla="*/ 5505304 h 5505304"/>
              <a:gd name="connsiteX3" fmla="*/ 2259244 w 4766918"/>
              <a:gd name="connsiteY3" fmla="*/ 5505304 h 5505304"/>
              <a:gd name="connsiteX4" fmla="*/ 2342372 w 4766918"/>
              <a:gd name="connsiteY4" fmla="*/ 0 h 5505304"/>
              <a:gd name="connsiteX0" fmla="*/ 2387070 w 4811616"/>
              <a:gd name="connsiteY0" fmla="*/ 0 h 5505304"/>
              <a:gd name="connsiteX1" fmla="*/ 4811616 w 4811616"/>
              <a:gd name="connsiteY1" fmla="*/ 27709 h 5505304"/>
              <a:gd name="connsiteX2" fmla="*/ 4811616 w 4811616"/>
              <a:gd name="connsiteY2" fmla="*/ 5505304 h 5505304"/>
              <a:gd name="connsiteX3" fmla="*/ 2303942 w 4811616"/>
              <a:gd name="connsiteY3" fmla="*/ 5505304 h 5505304"/>
              <a:gd name="connsiteX4" fmla="*/ 2387070 w 4811616"/>
              <a:gd name="connsiteY4" fmla="*/ 0 h 5505304"/>
              <a:gd name="connsiteX0" fmla="*/ 2101407 w 4525953"/>
              <a:gd name="connsiteY0" fmla="*/ 0 h 5505304"/>
              <a:gd name="connsiteX1" fmla="*/ 4525953 w 4525953"/>
              <a:gd name="connsiteY1" fmla="*/ 27709 h 5505304"/>
              <a:gd name="connsiteX2" fmla="*/ 4525953 w 4525953"/>
              <a:gd name="connsiteY2" fmla="*/ 5505304 h 5505304"/>
              <a:gd name="connsiteX3" fmla="*/ 2018279 w 4525953"/>
              <a:gd name="connsiteY3" fmla="*/ 5505304 h 5505304"/>
              <a:gd name="connsiteX4" fmla="*/ 2101407 w 4525953"/>
              <a:gd name="connsiteY4" fmla="*/ 0 h 5505304"/>
              <a:gd name="connsiteX0" fmla="*/ 2360231 w 4784777"/>
              <a:gd name="connsiteY0" fmla="*/ 0 h 5505304"/>
              <a:gd name="connsiteX1" fmla="*/ 4784777 w 4784777"/>
              <a:gd name="connsiteY1" fmla="*/ 27709 h 5505304"/>
              <a:gd name="connsiteX2" fmla="*/ 4784777 w 4784777"/>
              <a:gd name="connsiteY2" fmla="*/ 5505304 h 5505304"/>
              <a:gd name="connsiteX3" fmla="*/ 2277103 w 4784777"/>
              <a:gd name="connsiteY3" fmla="*/ 5505304 h 5505304"/>
              <a:gd name="connsiteX4" fmla="*/ 2360231 w 4784777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269472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281671"/>
              <a:gd name="connsiteY0" fmla="*/ 0 h 5505304"/>
              <a:gd name="connsiteX1" fmla="*/ 4269472 w 4281671"/>
              <a:gd name="connsiteY1" fmla="*/ 27709 h 5505304"/>
              <a:gd name="connsiteX2" fmla="*/ 4281671 w 4281671"/>
              <a:gd name="connsiteY2" fmla="*/ 5491449 h 5505304"/>
              <a:gd name="connsiteX3" fmla="*/ 2237539 w 4281671"/>
              <a:gd name="connsiteY3" fmla="*/ 5505304 h 5505304"/>
              <a:gd name="connsiteX4" fmla="*/ 2403794 w 4281671"/>
              <a:gd name="connsiteY4" fmla="*/ 0 h 5505304"/>
              <a:gd name="connsiteX0" fmla="*/ 2403794 w 4281671"/>
              <a:gd name="connsiteY0" fmla="*/ 0 h 5518343"/>
              <a:gd name="connsiteX1" fmla="*/ 4269472 w 4281671"/>
              <a:gd name="connsiteY1" fmla="*/ 27709 h 5518343"/>
              <a:gd name="connsiteX2" fmla="*/ 4281671 w 4281671"/>
              <a:gd name="connsiteY2" fmla="*/ 5518343 h 5518343"/>
              <a:gd name="connsiteX3" fmla="*/ 2237539 w 4281671"/>
              <a:gd name="connsiteY3" fmla="*/ 5505304 h 5518343"/>
              <a:gd name="connsiteX4" fmla="*/ 2403794 w 4281671"/>
              <a:gd name="connsiteY4" fmla="*/ 0 h 5518343"/>
              <a:gd name="connsiteX0" fmla="*/ 2403794 w 4281671"/>
              <a:gd name="connsiteY0" fmla="*/ 0 h 5518343"/>
              <a:gd name="connsiteX1" fmla="*/ 4269472 w 4281671"/>
              <a:gd name="connsiteY1" fmla="*/ 27709 h 5518343"/>
              <a:gd name="connsiteX2" fmla="*/ 4281671 w 4281671"/>
              <a:gd name="connsiteY2" fmla="*/ 5518343 h 5518343"/>
              <a:gd name="connsiteX3" fmla="*/ 2237539 w 4281671"/>
              <a:gd name="connsiteY3" fmla="*/ 5505304 h 5518343"/>
              <a:gd name="connsiteX4" fmla="*/ 2403794 w 4281671"/>
              <a:gd name="connsiteY4" fmla="*/ 0 h 5518343"/>
              <a:gd name="connsiteX0" fmla="*/ 2403794 w 4281671"/>
              <a:gd name="connsiteY0" fmla="*/ 4793 h 5523136"/>
              <a:gd name="connsiteX1" fmla="*/ 4269472 w 4281671"/>
              <a:gd name="connsiteY1" fmla="*/ 32502 h 5523136"/>
              <a:gd name="connsiteX2" fmla="*/ 4281671 w 4281671"/>
              <a:gd name="connsiteY2" fmla="*/ 5523136 h 5523136"/>
              <a:gd name="connsiteX3" fmla="*/ 2237539 w 4281671"/>
              <a:gd name="connsiteY3" fmla="*/ 5510097 h 5523136"/>
              <a:gd name="connsiteX4" fmla="*/ 2403794 w 4281671"/>
              <a:gd name="connsiteY4" fmla="*/ 4793 h 5523136"/>
              <a:gd name="connsiteX0" fmla="*/ 2403794 w 4281671"/>
              <a:gd name="connsiteY0" fmla="*/ 10010 h 5528353"/>
              <a:gd name="connsiteX1" fmla="*/ 4257632 w 4281671"/>
              <a:gd name="connsiteY1" fmla="*/ 10825 h 5528353"/>
              <a:gd name="connsiteX2" fmla="*/ 4281671 w 4281671"/>
              <a:gd name="connsiteY2" fmla="*/ 5528353 h 5528353"/>
              <a:gd name="connsiteX3" fmla="*/ 2237539 w 4281671"/>
              <a:gd name="connsiteY3" fmla="*/ 5515314 h 5528353"/>
              <a:gd name="connsiteX4" fmla="*/ 2403794 w 4281671"/>
              <a:gd name="connsiteY4" fmla="*/ 10010 h 5528353"/>
              <a:gd name="connsiteX0" fmla="*/ 2403794 w 4281671"/>
              <a:gd name="connsiteY0" fmla="*/ 10010 h 5528353"/>
              <a:gd name="connsiteX1" fmla="*/ 4257632 w 4281671"/>
              <a:gd name="connsiteY1" fmla="*/ 10825 h 5528353"/>
              <a:gd name="connsiteX2" fmla="*/ 4281671 w 4281671"/>
              <a:gd name="connsiteY2" fmla="*/ 5528353 h 5528353"/>
              <a:gd name="connsiteX3" fmla="*/ 2237539 w 4281671"/>
              <a:gd name="connsiteY3" fmla="*/ 5515314 h 5528353"/>
              <a:gd name="connsiteX4" fmla="*/ 2403794 w 4281671"/>
              <a:gd name="connsiteY4" fmla="*/ 10010 h 5528353"/>
              <a:gd name="connsiteX0" fmla="*/ 2403794 w 4281671"/>
              <a:gd name="connsiteY0" fmla="*/ 1949 h 5520292"/>
              <a:gd name="connsiteX1" fmla="*/ 4257632 w 4281671"/>
              <a:gd name="connsiteY1" fmla="*/ 2764 h 5520292"/>
              <a:gd name="connsiteX2" fmla="*/ 4281671 w 4281671"/>
              <a:gd name="connsiteY2" fmla="*/ 5520292 h 5520292"/>
              <a:gd name="connsiteX3" fmla="*/ 2237539 w 4281671"/>
              <a:gd name="connsiteY3" fmla="*/ 5507253 h 5520292"/>
              <a:gd name="connsiteX4" fmla="*/ 2403794 w 4281671"/>
              <a:gd name="connsiteY4" fmla="*/ 1949 h 5520292"/>
              <a:gd name="connsiteX0" fmla="*/ 2403794 w 4281671"/>
              <a:gd name="connsiteY0" fmla="*/ 1949 h 5520292"/>
              <a:gd name="connsiteX1" fmla="*/ 4257632 w 4281671"/>
              <a:gd name="connsiteY1" fmla="*/ 2764 h 5520292"/>
              <a:gd name="connsiteX2" fmla="*/ 4281671 w 4281671"/>
              <a:gd name="connsiteY2" fmla="*/ 5520292 h 5520292"/>
              <a:gd name="connsiteX3" fmla="*/ 2237539 w 4281671"/>
              <a:gd name="connsiteY3" fmla="*/ 5507253 h 5520292"/>
              <a:gd name="connsiteX4" fmla="*/ 2403794 w 4281671"/>
              <a:gd name="connsiteY4" fmla="*/ 1949 h 5520292"/>
              <a:gd name="connsiteX0" fmla="*/ 2403794 w 4293511"/>
              <a:gd name="connsiteY0" fmla="*/ 1949 h 5507253"/>
              <a:gd name="connsiteX1" fmla="*/ 4257632 w 4293511"/>
              <a:gd name="connsiteY1" fmla="*/ 2764 h 5507253"/>
              <a:gd name="connsiteX2" fmla="*/ 4293511 w 4293511"/>
              <a:gd name="connsiteY2" fmla="*/ 5506845 h 5507253"/>
              <a:gd name="connsiteX3" fmla="*/ 2237539 w 4293511"/>
              <a:gd name="connsiteY3" fmla="*/ 5507253 h 5507253"/>
              <a:gd name="connsiteX4" fmla="*/ 2403794 w 4293511"/>
              <a:gd name="connsiteY4" fmla="*/ 1949 h 5507253"/>
              <a:gd name="connsiteX0" fmla="*/ 2403794 w 4423476"/>
              <a:gd name="connsiteY0" fmla="*/ 1949 h 5507253"/>
              <a:gd name="connsiteX1" fmla="*/ 4423388 w 4423476"/>
              <a:gd name="connsiteY1" fmla="*/ 2764 h 5507253"/>
              <a:gd name="connsiteX2" fmla="*/ 4293511 w 4423476"/>
              <a:gd name="connsiteY2" fmla="*/ 5506845 h 5507253"/>
              <a:gd name="connsiteX3" fmla="*/ 2237539 w 4423476"/>
              <a:gd name="connsiteY3" fmla="*/ 5507253 h 5507253"/>
              <a:gd name="connsiteX4" fmla="*/ 2403794 w 4423476"/>
              <a:gd name="connsiteY4" fmla="*/ 1949 h 5507253"/>
              <a:gd name="connsiteX0" fmla="*/ 2403794 w 4423476"/>
              <a:gd name="connsiteY0" fmla="*/ 1949 h 5507253"/>
              <a:gd name="connsiteX1" fmla="*/ 4423388 w 4423476"/>
              <a:gd name="connsiteY1" fmla="*/ 2764 h 5507253"/>
              <a:gd name="connsiteX2" fmla="*/ 4293511 w 4423476"/>
              <a:gd name="connsiteY2" fmla="*/ 5506845 h 5507253"/>
              <a:gd name="connsiteX3" fmla="*/ 2237539 w 4423476"/>
              <a:gd name="connsiteY3" fmla="*/ 5507253 h 5507253"/>
              <a:gd name="connsiteX4" fmla="*/ 2403794 w 4423476"/>
              <a:gd name="connsiteY4" fmla="*/ 1949 h 5507253"/>
              <a:gd name="connsiteX0" fmla="*/ 2403794 w 4565508"/>
              <a:gd name="connsiteY0" fmla="*/ 0 h 5505304"/>
              <a:gd name="connsiteX1" fmla="*/ 4565465 w 4565508"/>
              <a:gd name="connsiteY1" fmla="*/ 14262 h 5505304"/>
              <a:gd name="connsiteX2" fmla="*/ 4293511 w 4565508"/>
              <a:gd name="connsiteY2" fmla="*/ 5504896 h 5505304"/>
              <a:gd name="connsiteX3" fmla="*/ 2237539 w 4565508"/>
              <a:gd name="connsiteY3" fmla="*/ 5505304 h 5505304"/>
              <a:gd name="connsiteX4" fmla="*/ 2403794 w 4565508"/>
              <a:gd name="connsiteY4" fmla="*/ 0 h 5505304"/>
              <a:gd name="connsiteX0" fmla="*/ 2403794 w 4565582"/>
              <a:gd name="connsiteY0" fmla="*/ 0 h 5505304"/>
              <a:gd name="connsiteX1" fmla="*/ 4565465 w 4565582"/>
              <a:gd name="connsiteY1" fmla="*/ 14262 h 5505304"/>
              <a:gd name="connsiteX2" fmla="*/ 4471106 w 4565582"/>
              <a:gd name="connsiteY2" fmla="*/ 5491449 h 5505304"/>
              <a:gd name="connsiteX3" fmla="*/ 2237539 w 4565582"/>
              <a:gd name="connsiteY3" fmla="*/ 5505304 h 5505304"/>
              <a:gd name="connsiteX4" fmla="*/ 2403794 w 4565582"/>
              <a:gd name="connsiteY4" fmla="*/ 0 h 5505304"/>
              <a:gd name="connsiteX0" fmla="*/ 2403794 w 4565582"/>
              <a:gd name="connsiteY0" fmla="*/ 0 h 5505304"/>
              <a:gd name="connsiteX1" fmla="*/ 4565465 w 4565582"/>
              <a:gd name="connsiteY1" fmla="*/ 14262 h 5505304"/>
              <a:gd name="connsiteX2" fmla="*/ 4471106 w 4565582"/>
              <a:gd name="connsiteY2" fmla="*/ 5491449 h 5505304"/>
              <a:gd name="connsiteX3" fmla="*/ 2237539 w 4565582"/>
              <a:gd name="connsiteY3" fmla="*/ 5505304 h 5505304"/>
              <a:gd name="connsiteX4" fmla="*/ 2403794 w 4565582"/>
              <a:gd name="connsiteY4" fmla="*/ 0 h 5505304"/>
              <a:gd name="connsiteX0" fmla="*/ 2403794 w 4707901"/>
              <a:gd name="connsiteY0" fmla="*/ 0 h 5505932"/>
              <a:gd name="connsiteX1" fmla="*/ 4565465 w 4707901"/>
              <a:gd name="connsiteY1" fmla="*/ 14262 h 5505932"/>
              <a:gd name="connsiteX2" fmla="*/ 4707901 w 4707901"/>
              <a:gd name="connsiteY2" fmla="*/ 5504896 h 5505932"/>
              <a:gd name="connsiteX3" fmla="*/ 2237539 w 4707901"/>
              <a:gd name="connsiteY3" fmla="*/ 5505304 h 5505932"/>
              <a:gd name="connsiteX4" fmla="*/ 2403794 w 4707901"/>
              <a:gd name="connsiteY4" fmla="*/ 0 h 5505932"/>
              <a:gd name="connsiteX0" fmla="*/ 2403794 w 4814204"/>
              <a:gd name="connsiteY0" fmla="*/ 1948 h 5507878"/>
              <a:gd name="connsiteX1" fmla="*/ 4814099 w 4814204"/>
              <a:gd name="connsiteY1" fmla="*/ 2763 h 5507878"/>
              <a:gd name="connsiteX2" fmla="*/ 4707901 w 4814204"/>
              <a:gd name="connsiteY2" fmla="*/ 5506844 h 5507878"/>
              <a:gd name="connsiteX3" fmla="*/ 2237539 w 4814204"/>
              <a:gd name="connsiteY3" fmla="*/ 5507252 h 5507878"/>
              <a:gd name="connsiteX4" fmla="*/ 2403794 w 4814204"/>
              <a:gd name="connsiteY4" fmla="*/ 1948 h 5507878"/>
              <a:gd name="connsiteX0" fmla="*/ 2403794 w 6116475"/>
              <a:gd name="connsiteY0" fmla="*/ 14366 h 5520293"/>
              <a:gd name="connsiteX1" fmla="*/ 6116467 w 6116475"/>
              <a:gd name="connsiteY1" fmla="*/ 1734 h 5520293"/>
              <a:gd name="connsiteX2" fmla="*/ 4707901 w 6116475"/>
              <a:gd name="connsiteY2" fmla="*/ 5519262 h 5520293"/>
              <a:gd name="connsiteX3" fmla="*/ 2237539 w 6116475"/>
              <a:gd name="connsiteY3" fmla="*/ 5519670 h 5520293"/>
              <a:gd name="connsiteX4" fmla="*/ 2403794 w 6116475"/>
              <a:gd name="connsiteY4" fmla="*/ 14366 h 5520293"/>
              <a:gd name="connsiteX0" fmla="*/ 2403794 w 6117683"/>
              <a:gd name="connsiteY0" fmla="*/ 14366 h 5533738"/>
              <a:gd name="connsiteX1" fmla="*/ 6116467 w 6117683"/>
              <a:gd name="connsiteY1" fmla="*/ 1734 h 5533738"/>
              <a:gd name="connsiteX2" fmla="*/ 6116827 w 6117683"/>
              <a:gd name="connsiteY2" fmla="*/ 5532709 h 5533738"/>
              <a:gd name="connsiteX3" fmla="*/ 2237539 w 6117683"/>
              <a:gd name="connsiteY3" fmla="*/ 5519670 h 5533738"/>
              <a:gd name="connsiteX4" fmla="*/ 2403794 w 6117683"/>
              <a:gd name="connsiteY4" fmla="*/ 14366 h 5533738"/>
              <a:gd name="connsiteX0" fmla="*/ 2403794 w 6117683"/>
              <a:gd name="connsiteY0" fmla="*/ 14366 h 5533738"/>
              <a:gd name="connsiteX1" fmla="*/ 6116467 w 6117683"/>
              <a:gd name="connsiteY1" fmla="*/ 1734 h 5533738"/>
              <a:gd name="connsiteX2" fmla="*/ 6116827 w 6117683"/>
              <a:gd name="connsiteY2" fmla="*/ 5532709 h 5533738"/>
              <a:gd name="connsiteX3" fmla="*/ 2237539 w 6117683"/>
              <a:gd name="connsiteY3" fmla="*/ 5519670 h 5533738"/>
              <a:gd name="connsiteX4" fmla="*/ 2403794 w 6117683"/>
              <a:gd name="connsiteY4" fmla="*/ 14366 h 5533738"/>
              <a:gd name="connsiteX0" fmla="*/ 2403794 w 6643352"/>
              <a:gd name="connsiteY0" fmla="*/ 14366 h 5548321"/>
              <a:gd name="connsiteX1" fmla="*/ 6116467 w 6643352"/>
              <a:gd name="connsiteY1" fmla="*/ 1734 h 5548321"/>
              <a:gd name="connsiteX2" fmla="*/ 6643352 w 6643352"/>
              <a:gd name="connsiteY2" fmla="*/ 5547295 h 5548321"/>
              <a:gd name="connsiteX3" fmla="*/ 2237539 w 6643352"/>
              <a:gd name="connsiteY3" fmla="*/ 5519670 h 5548321"/>
              <a:gd name="connsiteX4" fmla="*/ 2403794 w 6643352"/>
              <a:gd name="connsiteY4" fmla="*/ 14366 h 5548321"/>
              <a:gd name="connsiteX0" fmla="*/ 2403794 w 6644208"/>
              <a:gd name="connsiteY0" fmla="*/ 14366 h 5548321"/>
              <a:gd name="connsiteX1" fmla="*/ 6642992 w 6644208"/>
              <a:gd name="connsiteY1" fmla="*/ 1734 h 5548321"/>
              <a:gd name="connsiteX2" fmla="*/ 6643352 w 6644208"/>
              <a:gd name="connsiteY2" fmla="*/ 5547295 h 5548321"/>
              <a:gd name="connsiteX3" fmla="*/ 2237539 w 6644208"/>
              <a:gd name="connsiteY3" fmla="*/ 5519670 h 5548321"/>
              <a:gd name="connsiteX4" fmla="*/ 2403794 w 6644208"/>
              <a:gd name="connsiteY4" fmla="*/ 14366 h 554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44208" h="5548321">
                <a:moveTo>
                  <a:pt x="2403794" y="14366"/>
                </a:moveTo>
                <a:cubicBezTo>
                  <a:pt x="2421861" y="23602"/>
                  <a:pt x="6021099" y="-7502"/>
                  <a:pt x="6642992" y="1734"/>
                </a:cubicBezTo>
                <a:cubicBezTo>
                  <a:pt x="6647058" y="7628"/>
                  <a:pt x="6639286" y="5635530"/>
                  <a:pt x="6643352" y="5547295"/>
                </a:cubicBezTo>
                <a:lnTo>
                  <a:pt x="2237539" y="5519670"/>
                </a:lnTo>
                <a:cubicBezTo>
                  <a:pt x="-925915" y="5070024"/>
                  <a:pt x="-611878" y="200776"/>
                  <a:pt x="2403794" y="14366"/>
                </a:cubicBez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8997" r="42384" b="9201"/>
            </a:stretch>
          </a:blipFill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C470939-05C4-8678-44A6-434408E6AC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7302" r="314"/>
          <a:stretch/>
        </p:blipFill>
        <p:spPr>
          <a:xfrm>
            <a:off x="0" y="591734"/>
            <a:ext cx="9391650" cy="541331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43E76F8-B35D-536E-9CD2-98E05E495C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1" y="1909136"/>
            <a:ext cx="5947575" cy="148175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>
              <a:lnSpc>
                <a:spcPts val="5400"/>
              </a:lnSpc>
              <a:defRPr sz="5000" b="0" i="0" spc="-8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AU" noProof="0"/>
              <a:t>Presentation title goes in this space</a:t>
            </a:r>
          </a:p>
        </p:txBody>
      </p:sp>
    </p:spTree>
    <p:extLst>
      <p:ext uri="{BB962C8B-B14F-4D97-AF65-F5344CB8AC3E}">
        <p14:creationId xmlns:p14="http://schemas.microsoft.com/office/powerpoint/2010/main" val="321075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CD5875-6FD8-FE17-9F51-656B9A8AEBF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379" y="6129118"/>
            <a:ext cx="1870484" cy="3459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891E04-3D0E-757C-E77F-EF270D0FE2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379" y="6129118"/>
            <a:ext cx="1870484" cy="345911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6E78BAB-59C4-BCB5-9B40-C5375BCFCB0C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502920" y="3932777"/>
            <a:ext cx="1985352" cy="750783"/>
          </a:xfrm>
          <a:prstGeom prst="rect">
            <a:avLst/>
          </a:prstGeom>
        </p:spPr>
        <p:txBody>
          <a:bodyPr vert="horz" wrap="none" lIns="45720" tIns="45720" rIns="91440" bIns="45720" rtlCol="0" anchor="t">
            <a:sp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lang="en-US" sz="1800" b="0" i="0" spc="130" baseline="0" dirty="0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Presenter Name</a:t>
            </a:r>
          </a:p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Title</a:t>
            </a:r>
          </a:p>
        </p:txBody>
      </p:sp>
      <p:pic>
        <p:nvPicPr>
          <p:cNvPr id="10" name="圖片版面配置區 10">
            <a:extLst>
              <a:ext uri="{FF2B5EF4-FFF2-40B4-BE49-F238E27FC236}">
                <a16:creationId xmlns:a16="http://schemas.microsoft.com/office/drawing/2014/main" id="{AE0B0507-0155-2042-4D4C-2F884EFD4A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54017" y="735630"/>
            <a:ext cx="5637983" cy="5115264"/>
          </a:xfrm>
          <a:custGeom>
            <a:avLst/>
            <a:gdLst>
              <a:gd name="connsiteX0" fmla="*/ 0 w 2507674"/>
              <a:gd name="connsiteY0" fmla="*/ 0 h 5477595"/>
              <a:gd name="connsiteX1" fmla="*/ 2507674 w 2507674"/>
              <a:gd name="connsiteY1" fmla="*/ 0 h 5477595"/>
              <a:gd name="connsiteX2" fmla="*/ 2507674 w 2507674"/>
              <a:gd name="connsiteY2" fmla="*/ 5477595 h 5477595"/>
              <a:gd name="connsiteX3" fmla="*/ 0 w 2507674"/>
              <a:gd name="connsiteY3" fmla="*/ 5477595 h 5477595"/>
              <a:gd name="connsiteX4" fmla="*/ 0 w 2507674"/>
              <a:gd name="connsiteY4" fmla="*/ 0 h 5477595"/>
              <a:gd name="connsiteX0" fmla="*/ 0 w 2521528"/>
              <a:gd name="connsiteY0" fmla="*/ 0 h 5505304"/>
              <a:gd name="connsiteX1" fmla="*/ 2521528 w 2521528"/>
              <a:gd name="connsiteY1" fmla="*/ 27709 h 5505304"/>
              <a:gd name="connsiteX2" fmla="*/ 2521528 w 2521528"/>
              <a:gd name="connsiteY2" fmla="*/ 5505304 h 5505304"/>
              <a:gd name="connsiteX3" fmla="*/ 13854 w 2521528"/>
              <a:gd name="connsiteY3" fmla="*/ 5505304 h 5505304"/>
              <a:gd name="connsiteX4" fmla="*/ 0 w 2521528"/>
              <a:gd name="connsiteY4" fmla="*/ 0 h 5505304"/>
              <a:gd name="connsiteX0" fmla="*/ 2039700 w 4561228"/>
              <a:gd name="connsiteY0" fmla="*/ 0 h 5505304"/>
              <a:gd name="connsiteX1" fmla="*/ 4561228 w 4561228"/>
              <a:gd name="connsiteY1" fmla="*/ 27709 h 5505304"/>
              <a:gd name="connsiteX2" fmla="*/ 4561228 w 4561228"/>
              <a:gd name="connsiteY2" fmla="*/ 5505304 h 5505304"/>
              <a:gd name="connsiteX3" fmla="*/ 2053554 w 4561228"/>
              <a:gd name="connsiteY3" fmla="*/ 5505304 h 5505304"/>
              <a:gd name="connsiteX4" fmla="*/ 2039700 w 4561228"/>
              <a:gd name="connsiteY4" fmla="*/ 0 h 5505304"/>
              <a:gd name="connsiteX0" fmla="*/ 2436894 w 4958422"/>
              <a:gd name="connsiteY0" fmla="*/ 0 h 5505304"/>
              <a:gd name="connsiteX1" fmla="*/ 4958422 w 4958422"/>
              <a:gd name="connsiteY1" fmla="*/ 27709 h 5505304"/>
              <a:gd name="connsiteX2" fmla="*/ 4958422 w 4958422"/>
              <a:gd name="connsiteY2" fmla="*/ 5505304 h 5505304"/>
              <a:gd name="connsiteX3" fmla="*/ 2450748 w 4958422"/>
              <a:gd name="connsiteY3" fmla="*/ 5505304 h 5505304"/>
              <a:gd name="connsiteX4" fmla="*/ 2436894 w 4958422"/>
              <a:gd name="connsiteY4" fmla="*/ 0 h 5505304"/>
              <a:gd name="connsiteX0" fmla="*/ 2286795 w 4808323"/>
              <a:gd name="connsiteY0" fmla="*/ 0 h 5505304"/>
              <a:gd name="connsiteX1" fmla="*/ 4808323 w 4808323"/>
              <a:gd name="connsiteY1" fmla="*/ 27709 h 5505304"/>
              <a:gd name="connsiteX2" fmla="*/ 4808323 w 4808323"/>
              <a:gd name="connsiteY2" fmla="*/ 5505304 h 5505304"/>
              <a:gd name="connsiteX3" fmla="*/ 2300649 w 4808323"/>
              <a:gd name="connsiteY3" fmla="*/ 5505304 h 5505304"/>
              <a:gd name="connsiteX4" fmla="*/ 2286795 w 4808323"/>
              <a:gd name="connsiteY4" fmla="*/ 0 h 5505304"/>
              <a:gd name="connsiteX0" fmla="*/ 2486455 w 5007983"/>
              <a:gd name="connsiteY0" fmla="*/ 0 h 5505304"/>
              <a:gd name="connsiteX1" fmla="*/ 5007983 w 5007983"/>
              <a:gd name="connsiteY1" fmla="*/ 27709 h 5505304"/>
              <a:gd name="connsiteX2" fmla="*/ 5007983 w 5007983"/>
              <a:gd name="connsiteY2" fmla="*/ 5505304 h 5505304"/>
              <a:gd name="connsiteX3" fmla="*/ 2500309 w 5007983"/>
              <a:gd name="connsiteY3" fmla="*/ 5505304 h 5505304"/>
              <a:gd name="connsiteX4" fmla="*/ 2486455 w 5007983"/>
              <a:gd name="connsiteY4" fmla="*/ 0 h 5505304"/>
              <a:gd name="connsiteX0" fmla="*/ 2341450 w 4862978"/>
              <a:gd name="connsiteY0" fmla="*/ 0 h 5505304"/>
              <a:gd name="connsiteX1" fmla="*/ 4862978 w 4862978"/>
              <a:gd name="connsiteY1" fmla="*/ 27709 h 5505304"/>
              <a:gd name="connsiteX2" fmla="*/ 4862978 w 4862978"/>
              <a:gd name="connsiteY2" fmla="*/ 5505304 h 5505304"/>
              <a:gd name="connsiteX3" fmla="*/ 2355304 w 4862978"/>
              <a:gd name="connsiteY3" fmla="*/ 5505304 h 5505304"/>
              <a:gd name="connsiteX4" fmla="*/ 2341450 w 4862978"/>
              <a:gd name="connsiteY4" fmla="*/ 0 h 5505304"/>
              <a:gd name="connsiteX0" fmla="*/ 2226567 w 4748095"/>
              <a:gd name="connsiteY0" fmla="*/ 0 h 5505304"/>
              <a:gd name="connsiteX1" fmla="*/ 4748095 w 4748095"/>
              <a:gd name="connsiteY1" fmla="*/ 27709 h 5505304"/>
              <a:gd name="connsiteX2" fmla="*/ 4748095 w 4748095"/>
              <a:gd name="connsiteY2" fmla="*/ 5505304 h 5505304"/>
              <a:gd name="connsiteX3" fmla="*/ 2240421 w 4748095"/>
              <a:gd name="connsiteY3" fmla="*/ 5505304 h 5505304"/>
              <a:gd name="connsiteX4" fmla="*/ 2226567 w 4748095"/>
              <a:gd name="connsiteY4" fmla="*/ 0 h 5505304"/>
              <a:gd name="connsiteX0" fmla="*/ 2300185 w 4821713"/>
              <a:gd name="connsiteY0" fmla="*/ 0 h 5505304"/>
              <a:gd name="connsiteX1" fmla="*/ 4821713 w 4821713"/>
              <a:gd name="connsiteY1" fmla="*/ 27709 h 5505304"/>
              <a:gd name="connsiteX2" fmla="*/ 4821713 w 4821713"/>
              <a:gd name="connsiteY2" fmla="*/ 5505304 h 5505304"/>
              <a:gd name="connsiteX3" fmla="*/ 2314039 w 4821713"/>
              <a:gd name="connsiteY3" fmla="*/ 5505304 h 5505304"/>
              <a:gd name="connsiteX4" fmla="*/ 2300185 w 4821713"/>
              <a:gd name="connsiteY4" fmla="*/ 0 h 5505304"/>
              <a:gd name="connsiteX0" fmla="*/ 2300185 w 4821713"/>
              <a:gd name="connsiteY0" fmla="*/ 0 h 5505304"/>
              <a:gd name="connsiteX1" fmla="*/ 4821713 w 4821713"/>
              <a:gd name="connsiteY1" fmla="*/ 27709 h 5505304"/>
              <a:gd name="connsiteX2" fmla="*/ 4821713 w 4821713"/>
              <a:gd name="connsiteY2" fmla="*/ 5505304 h 5505304"/>
              <a:gd name="connsiteX3" fmla="*/ 2314039 w 4821713"/>
              <a:gd name="connsiteY3" fmla="*/ 5505304 h 5505304"/>
              <a:gd name="connsiteX4" fmla="*/ 2300185 w 4821713"/>
              <a:gd name="connsiteY4" fmla="*/ 0 h 5505304"/>
              <a:gd name="connsiteX0" fmla="*/ 2312129 w 4805948"/>
              <a:gd name="connsiteY0" fmla="*/ 0 h 5505304"/>
              <a:gd name="connsiteX1" fmla="*/ 4805948 w 4805948"/>
              <a:gd name="connsiteY1" fmla="*/ 27709 h 5505304"/>
              <a:gd name="connsiteX2" fmla="*/ 4805948 w 4805948"/>
              <a:gd name="connsiteY2" fmla="*/ 5505304 h 5505304"/>
              <a:gd name="connsiteX3" fmla="*/ 2298274 w 4805948"/>
              <a:gd name="connsiteY3" fmla="*/ 5505304 h 5505304"/>
              <a:gd name="connsiteX4" fmla="*/ 2312129 w 4805948"/>
              <a:gd name="connsiteY4" fmla="*/ 0 h 5505304"/>
              <a:gd name="connsiteX0" fmla="*/ 2342372 w 4766918"/>
              <a:gd name="connsiteY0" fmla="*/ 0 h 5505304"/>
              <a:gd name="connsiteX1" fmla="*/ 4766918 w 4766918"/>
              <a:gd name="connsiteY1" fmla="*/ 27709 h 5505304"/>
              <a:gd name="connsiteX2" fmla="*/ 4766918 w 4766918"/>
              <a:gd name="connsiteY2" fmla="*/ 5505304 h 5505304"/>
              <a:gd name="connsiteX3" fmla="*/ 2259244 w 4766918"/>
              <a:gd name="connsiteY3" fmla="*/ 5505304 h 5505304"/>
              <a:gd name="connsiteX4" fmla="*/ 2342372 w 4766918"/>
              <a:gd name="connsiteY4" fmla="*/ 0 h 5505304"/>
              <a:gd name="connsiteX0" fmla="*/ 2387070 w 4811616"/>
              <a:gd name="connsiteY0" fmla="*/ 0 h 5505304"/>
              <a:gd name="connsiteX1" fmla="*/ 4811616 w 4811616"/>
              <a:gd name="connsiteY1" fmla="*/ 27709 h 5505304"/>
              <a:gd name="connsiteX2" fmla="*/ 4811616 w 4811616"/>
              <a:gd name="connsiteY2" fmla="*/ 5505304 h 5505304"/>
              <a:gd name="connsiteX3" fmla="*/ 2303942 w 4811616"/>
              <a:gd name="connsiteY3" fmla="*/ 5505304 h 5505304"/>
              <a:gd name="connsiteX4" fmla="*/ 2387070 w 4811616"/>
              <a:gd name="connsiteY4" fmla="*/ 0 h 5505304"/>
              <a:gd name="connsiteX0" fmla="*/ 2101407 w 4525953"/>
              <a:gd name="connsiteY0" fmla="*/ 0 h 5505304"/>
              <a:gd name="connsiteX1" fmla="*/ 4525953 w 4525953"/>
              <a:gd name="connsiteY1" fmla="*/ 27709 h 5505304"/>
              <a:gd name="connsiteX2" fmla="*/ 4525953 w 4525953"/>
              <a:gd name="connsiteY2" fmla="*/ 5505304 h 5505304"/>
              <a:gd name="connsiteX3" fmla="*/ 2018279 w 4525953"/>
              <a:gd name="connsiteY3" fmla="*/ 5505304 h 5505304"/>
              <a:gd name="connsiteX4" fmla="*/ 2101407 w 4525953"/>
              <a:gd name="connsiteY4" fmla="*/ 0 h 5505304"/>
              <a:gd name="connsiteX0" fmla="*/ 2360231 w 4784777"/>
              <a:gd name="connsiteY0" fmla="*/ 0 h 5505304"/>
              <a:gd name="connsiteX1" fmla="*/ 4784777 w 4784777"/>
              <a:gd name="connsiteY1" fmla="*/ 27709 h 5505304"/>
              <a:gd name="connsiteX2" fmla="*/ 4784777 w 4784777"/>
              <a:gd name="connsiteY2" fmla="*/ 5505304 h 5505304"/>
              <a:gd name="connsiteX3" fmla="*/ 2277103 w 4784777"/>
              <a:gd name="connsiteY3" fmla="*/ 5505304 h 5505304"/>
              <a:gd name="connsiteX4" fmla="*/ 2360231 w 4784777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269472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281671"/>
              <a:gd name="connsiteY0" fmla="*/ 0 h 5505304"/>
              <a:gd name="connsiteX1" fmla="*/ 4269472 w 4281671"/>
              <a:gd name="connsiteY1" fmla="*/ 27709 h 5505304"/>
              <a:gd name="connsiteX2" fmla="*/ 4281671 w 4281671"/>
              <a:gd name="connsiteY2" fmla="*/ 5491449 h 5505304"/>
              <a:gd name="connsiteX3" fmla="*/ 2237539 w 4281671"/>
              <a:gd name="connsiteY3" fmla="*/ 5505304 h 5505304"/>
              <a:gd name="connsiteX4" fmla="*/ 2403794 w 4281671"/>
              <a:gd name="connsiteY4" fmla="*/ 0 h 5505304"/>
              <a:gd name="connsiteX0" fmla="*/ 2403794 w 4281671"/>
              <a:gd name="connsiteY0" fmla="*/ 0 h 5518343"/>
              <a:gd name="connsiteX1" fmla="*/ 4269472 w 4281671"/>
              <a:gd name="connsiteY1" fmla="*/ 27709 h 5518343"/>
              <a:gd name="connsiteX2" fmla="*/ 4281671 w 4281671"/>
              <a:gd name="connsiteY2" fmla="*/ 5518343 h 5518343"/>
              <a:gd name="connsiteX3" fmla="*/ 2237539 w 4281671"/>
              <a:gd name="connsiteY3" fmla="*/ 5505304 h 5518343"/>
              <a:gd name="connsiteX4" fmla="*/ 2403794 w 4281671"/>
              <a:gd name="connsiteY4" fmla="*/ 0 h 5518343"/>
              <a:gd name="connsiteX0" fmla="*/ 2403794 w 4281671"/>
              <a:gd name="connsiteY0" fmla="*/ 0 h 5518343"/>
              <a:gd name="connsiteX1" fmla="*/ 4269472 w 4281671"/>
              <a:gd name="connsiteY1" fmla="*/ 27709 h 5518343"/>
              <a:gd name="connsiteX2" fmla="*/ 4281671 w 4281671"/>
              <a:gd name="connsiteY2" fmla="*/ 5518343 h 5518343"/>
              <a:gd name="connsiteX3" fmla="*/ 2237539 w 4281671"/>
              <a:gd name="connsiteY3" fmla="*/ 5505304 h 5518343"/>
              <a:gd name="connsiteX4" fmla="*/ 2403794 w 4281671"/>
              <a:gd name="connsiteY4" fmla="*/ 0 h 5518343"/>
              <a:gd name="connsiteX0" fmla="*/ 2403794 w 4281671"/>
              <a:gd name="connsiteY0" fmla="*/ 4793 h 5523136"/>
              <a:gd name="connsiteX1" fmla="*/ 4269472 w 4281671"/>
              <a:gd name="connsiteY1" fmla="*/ 32502 h 5523136"/>
              <a:gd name="connsiteX2" fmla="*/ 4281671 w 4281671"/>
              <a:gd name="connsiteY2" fmla="*/ 5523136 h 5523136"/>
              <a:gd name="connsiteX3" fmla="*/ 2237539 w 4281671"/>
              <a:gd name="connsiteY3" fmla="*/ 5510097 h 5523136"/>
              <a:gd name="connsiteX4" fmla="*/ 2403794 w 4281671"/>
              <a:gd name="connsiteY4" fmla="*/ 4793 h 5523136"/>
              <a:gd name="connsiteX0" fmla="*/ 2403794 w 4281671"/>
              <a:gd name="connsiteY0" fmla="*/ 10010 h 5528353"/>
              <a:gd name="connsiteX1" fmla="*/ 4257632 w 4281671"/>
              <a:gd name="connsiteY1" fmla="*/ 10825 h 5528353"/>
              <a:gd name="connsiteX2" fmla="*/ 4281671 w 4281671"/>
              <a:gd name="connsiteY2" fmla="*/ 5528353 h 5528353"/>
              <a:gd name="connsiteX3" fmla="*/ 2237539 w 4281671"/>
              <a:gd name="connsiteY3" fmla="*/ 5515314 h 5528353"/>
              <a:gd name="connsiteX4" fmla="*/ 2403794 w 4281671"/>
              <a:gd name="connsiteY4" fmla="*/ 10010 h 5528353"/>
              <a:gd name="connsiteX0" fmla="*/ 2403794 w 4281671"/>
              <a:gd name="connsiteY0" fmla="*/ 10010 h 5528353"/>
              <a:gd name="connsiteX1" fmla="*/ 4257632 w 4281671"/>
              <a:gd name="connsiteY1" fmla="*/ 10825 h 5528353"/>
              <a:gd name="connsiteX2" fmla="*/ 4281671 w 4281671"/>
              <a:gd name="connsiteY2" fmla="*/ 5528353 h 5528353"/>
              <a:gd name="connsiteX3" fmla="*/ 2237539 w 4281671"/>
              <a:gd name="connsiteY3" fmla="*/ 5515314 h 5528353"/>
              <a:gd name="connsiteX4" fmla="*/ 2403794 w 4281671"/>
              <a:gd name="connsiteY4" fmla="*/ 10010 h 5528353"/>
              <a:gd name="connsiteX0" fmla="*/ 2403794 w 4281671"/>
              <a:gd name="connsiteY0" fmla="*/ 1949 h 5520292"/>
              <a:gd name="connsiteX1" fmla="*/ 4257632 w 4281671"/>
              <a:gd name="connsiteY1" fmla="*/ 2764 h 5520292"/>
              <a:gd name="connsiteX2" fmla="*/ 4281671 w 4281671"/>
              <a:gd name="connsiteY2" fmla="*/ 5520292 h 5520292"/>
              <a:gd name="connsiteX3" fmla="*/ 2237539 w 4281671"/>
              <a:gd name="connsiteY3" fmla="*/ 5507253 h 5520292"/>
              <a:gd name="connsiteX4" fmla="*/ 2403794 w 4281671"/>
              <a:gd name="connsiteY4" fmla="*/ 1949 h 5520292"/>
              <a:gd name="connsiteX0" fmla="*/ 2403794 w 4281671"/>
              <a:gd name="connsiteY0" fmla="*/ 1949 h 5520292"/>
              <a:gd name="connsiteX1" fmla="*/ 4257632 w 4281671"/>
              <a:gd name="connsiteY1" fmla="*/ 2764 h 5520292"/>
              <a:gd name="connsiteX2" fmla="*/ 4281671 w 4281671"/>
              <a:gd name="connsiteY2" fmla="*/ 5520292 h 5520292"/>
              <a:gd name="connsiteX3" fmla="*/ 2237539 w 4281671"/>
              <a:gd name="connsiteY3" fmla="*/ 5507253 h 5520292"/>
              <a:gd name="connsiteX4" fmla="*/ 2403794 w 4281671"/>
              <a:gd name="connsiteY4" fmla="*/ 1949 h 5520292"/>
              <a:gd name="connsiteX0" fmla="*/ 2403794 w 4293511"/>
              <a:gd name="connsiteY0" fmla="*/ 1949 h 5507253"/>
              <a:gd name="connsiteX1" fmla="*/ 4257632 w 4293511"/>
              <a:gd name="connsiteY1" fmla="*/ 2764 h 5507253"/>
              <a:gd name="connsiteX2" fmla="*/ 4293511 w 4293511"/>
              <a:gd name="connsiteY2" fmla="*/ 5506845 h 5507253"/>
              <a:gd name="connsiteX3" fmla="*/ 2237539 w 4293511"/>
              <a:gd name="connsiteY3" fmla="*/ 5507253 h 5507253"/>
              <a:gd name="connsiteX4" fmla="*/ 2403794 w 4293511"/>
              <a:gd name="connsiteY4" fmla="*/ 1949 h 5507253"/>
              <a:gd name="connsiteX0" fmla="*/ 2403794 w 4423476"/>
              <a:gd name="connsiteY0" fmla="*/ 1949 h 5507253"/>
              <a:gd name="connsiteX1" fmla="*/ 4423388 w 4423476"/>
              <a:gd name="connsiteY1" fmla="*/ 2764 h 5507253"/>
              <a:gd name="connsiteX2" fmla="*/ 4293511 w 4423476"/>
              <a:gd name="connsiteY2" fmla="*/ 5506845 h 5507253"/>
              <a:gd name="connsiteX3" fmla="*/ 2237539 w 4423476"/>
              <a:gd name="connsiteY3" fmla="*/ 5507253 h 5507253"/>
              <a:gd name="connsiteX4" fmla="*/ 2403794 w 4423476"/>
              <a:gd name="connsiteY4" fmla="*/ 1949 h 5507253"/>
              <a:gd name="connsiteX0" fmla="*/ 2403794 w 4423476"/>
              <a:gd name="connsiteY0" fmla="*/ 1949 h 5507253"/>
              <a:gd name="connsiteX1" fmla="*/ 4423388 w 4423476"/>
              <a:gd name="connsiteY1" fmla="*/ 2764 h 5507253"/>
              <a:gd name="connsiteX2" fmla="*/ 4293511 w 4423476"/>
              <a:gd name="connsiteY2" fmla="*/ 5506845 h 5507253"/>
              <a:gd name="connsiteX3" fmla="*/ 2237539 w 4423476"/>
              <a:gd name="connsiteY3" fmla="*/ 5507253 h 5507253"/>
              <a:gd name="connsiteX4" fmla="*/ 2403794 w 4423476"/>
              <a:gd name="connsiteY4" fmla="*/ 1949 h 5507253"/>
              <a:gd name="connsiteX0" fmla="*/ 2403794 w 4565508"/>
              <a:gd name="connsiteY0" fmla="*/ 0 h 5505304"/>
              <a:gd name="connsiteX1" fmla="*/ 4565465 w 4565508"/>
              <a:gd name="connsiteY1" fmla="*/ 14262 h 5505304"/>
              <a:gd name="connsiteX2" fmla="*/ 4293511 w 4565508"/>
              <a:gd name="connsiteY2" fmla="*/ 5504896 h 5505304"/>
              <a:gd name="connsiteX3" fmla="*/ 2237539 w 4565508"/>
              <a:gd name="connsiteY3" fmla="*/ 5505304 h 5505304"/>
              <a:gd name="connsiteX4" fmla="*/ 2403794 w 4565508"/>
              <a:gd name="connsiteY4" fmla="*/ 0 h 5505304"/>
              <a:gd name="connsiteX0" fmla="*/ 2403794 w 4565582"/>
              <a:gd name="connsiteY0" fmla="*/ 0 h 5505304"/>
              <a:gd name="connsiteX1" fmla="*/ 4565465 w 4565582"/>
              <a:gd name="connsiteY1" fmla="*/ 14262 h 5505304"/>
              <a:gd name="connsiteX2" fmla="*/ 4471106 w 4565582"/>
              <a:gd name="connsiteY2" fmla="*/ 5491449 h 5505304"/>
              <a:gd name="connsiteX3" fmla="*/ 2237539 w 4565582"/>
              <a:gd name="connsiteY3" fmla="*/ 5505304 h 5505304"/>
              <a:gd name="connsiteX4" fmla="*/ 2403794 w 4565582"/>
              <a:gd name="connsiteY4" fmla="*/ 0 h 5505304"/>
              <a:gd name="connsiteX0" fmla="*/ 2403794 w 4565582"/>
              <a:gd name="connsiteY0" fmla="*/ 0 h 5505304"/>
              <a:gd name="connsiteX1" fmla="*/ 4565465 w 4565582"/>
              <a:gd name="connsiteY1" fmla="*/ 14262 h 5505304"/>
              <a:gd name="connsiteX2" fmla="*/ 4471106 w 4565582"/>
              <a:gd name="connsiteY2" fmla="*/ 5491449 h 5505304"/>
              <a:gd name="connsiteX3" fmla="*/ 2237539 w 4565582"/>
              <a:gd name="connsiteY3" fmla="*/ 5505304 h 5505304"/>
              <a:gd name="connsiteX4" fmla="*/ 2403794 w 4565582"/>
              <a:gd name="connsiteY4" fmla="*/ 0 h 5505304"/>
              <a:gd name="connsiteX0" fmla="*/ 2403794 w 4707901"/>
              <a:gd name="connsiteY0" fmla="*/ 0 h 5505932"/>
              <a:gd name="connsiteX1" fmla="*/ 4565465 w 4707901"/>
              <a:gd name="connsiteY1" fmla="*/ 14262 h 5505932"/>
              <a:gd name="connsiteX2" fmla="*/ 4707901 w 4707901"/>
              <a:gd name="connsiteY2" fmla="*/ 5504896 h 5505932"/>
              <a:gd name="connsiteX3" fmla="*/ 2237539 w 4707901"/>
              <a:gd name="connsiteY3" fmla="*/ 5505304 h 5505932"/>
              <a:gd name="connsiteX4" fmla="*/ 2403794 w 4707901"/>
              <a:gd name="connsiteY4" fmla="*/ 0 h 5505932"/>
              <a:gd name="connsiteX0" fmla="*/ 2403794 w 4814204"/>
              <a:gd name="connsiteY0" fmla="*/ 1948 h 5507878"/>
              <a:gd name="connsiteX1" fmla="*/ 4814099 w 4814204"/>
              <a:gd name="connsiteY1" fmla="*/ 2763 h 5507878"/>
              <a:gd name="connsiteX2" fmla="*/ 4707901 w 4814204"/>
              <a:gd name="connsiteY2" fmla="*/ 5506844 h 5507878"/>
              <a:gd name="connsiteX3" fmla="*/ 2237539 w 4814204"/>
              <a:gd name="connsiteY3" fmla="*/ 5507252 h 5507878"/>
              <a:gd name="connsiteX4" fmla="*/ 2403794 w 4814204"/>
              <a:gd name="connsiteY4" fmla="*/ 1948 h 5507878"/>
              <a:gd name="connsiteX0" fmla="*/ 2403794 w 6116475"/>
              <a:gd name="connsiteY0" fmla="*/ 14366 h 5520293"/>
              <a:gd name="connsiteX1" fmla="*/ 6116467 w 6116475"/>
              <a:gd name="connsiteY1" fmla="*/ 1734 h 5520293"/>
              <a:gd name="connsiteX2" fmla="*/ 4707901 w 6116475"/>
              <a:gd name="connsiteY2" fmla="*/ 5519262 h 5520293"/>
              <a:gd name="connsiteX3" fmla="*/ 2237539 w 6116475"/>
              <a:gd name="connsiteY3" fmla="*/ 5519670 h 5520293"/>
              <a:gd name="connsiteX4" fmla="*/ 2403794 w 6116475"/>
              <a:gd name="connsiteY4" fmla="*/ 14366 h 5520293"/>
              <a:gd name="connsiteX0" fmla="*/ 2403794 w 6117683"/>
              <a:gd name="connsiteY0" fmla="*/ 14366 h 5533738"/>
              <a:gd name="connsiteX1" fmla="*/ 6116467 w 6117683"/>
              <a:gd name="connsiteY1" fmla="*/ 1734 h 5533738"/>
              <a:gd name="connsiteX2" fmla="*/ 6116827 w 6117683"/>
              <a:gd name="connsiteY2" fmla="*/ 5532709 h 5533738"/>
              <a:gd name="connsiteX3" fmla="*/ 2237539 w 6117683"/>
              <a:gd name="connsiteY3" fmla="*/ 5519670 h 5533738"/>
              <a:gd name="connsiteX4" fmla="*/ 2403794 w 6117683"/>
              <a:gd name="connsiteY4" fmla="*/ 14366 h 5533738"/>
              <a:gd name="connsiteX0" fmla="*/ 2403794 w 6117683"/>
              <a:gd name="connsiteY0" fmla="*/ 14366 h 5533738"/>
              <a:gd name="connsiteX1" fmla="*/ 6116467 w 6117683"/>
              <a:gd name="connsiteY1" fmla="*/ 1734 h 5533738"/>
              <a:gd name="connsiteX2" fmla="*/ 6116827 w 6117683"/>
              <a:gd name="connsiteY2" fmla="*/ 5532709 h 5533738"/>
              <a:gd name="connsiteX3" fmla="*/ 2237539 w 6117683"/>
              <a:gd name="connsiteY3" fmla="*/ 5519670 h 5533738"/>
              <a:gd name="connsiteX4" fmla="*/ 2403794 w 6117683"/>
              <a:gd name="connsiteY4" fmla="*/ 14366 h 5533738"/>
              <a:gd name="connsiteX0" fmla="*/ 2403794 w 6643352"/>
              <a:gd name="connsiteY0" fmla="*/ 14366 h 5548321"/>
              <a:gd name="connsiteX1" fmla="*/ 6116467 w 6643352"/>
              <a:gd name="connsiteY1" fmla="*/ 1734 h 5548321"/>
              <a:gd name="connsiteX2" fmla="*/ 6643352 w 6643352"/>
              <a:gd name="connsiteY2" fmla="*/ 5547295 h 5548321"/>
              <a:gd name="connsiteX3" fmla="*/ 2237539 w 6643352"/>
              <a:gd name="connsiteY3" fmla="*/ 5519670 h 5548321"/>
              <a:gd name="connsiteX4" fmla="*/ 2403794 w 6643352"/>
              <a:gd name="connsiteY4" fmla="*/ 14366 h 5548321"/>
              <a:gd name="connsiteX0" fmla="*/ 2403794 w 6644208"/>
              <a:gd name="connsiteY0" fmla="*/ 14366 h 5548321"/>
              <a:gd name="connsiteX1" fmla="*/ 6642992 w 6644208"/>
              <a:gd name="connsiteY1" fmla="*/ 1734 h 5548321"/>
              <a:gd name="connsiteX2" fmla="*/ 6643352 w 6644208"/>
              <a:gd name="connsiteY2" fmla="*/ 5547295 h 5548321"/>
              <a:gd name="connsiteX3" fmla="*/ 2237539 w 6644208"/>
              <a:gd name="connsiteY3" fmla="*/ 5519670 h 5548321"/>
              <a:gd name="connsiteX4" fmla="*/ 2403794 w 6644208"/>
              <a:gd name="connsiteY4" fmla="*/ 14366 h 554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44208" h="5548321">
                <a:moveTo>
                  <a:pt x="2403794" y="14366"/>
                </a:moveTo>
                <a:cubicBezTo>
                  <a:pt x="2421861" y="23602"/>
                  <a:pt x="6021099" y="-7502"/>
                  <a:pt x="6642992" y="1734"/>
                </a:cubicBezTo>
                <a:cubicBezTo>
                  <a:pt x="6647058" y="7628"/>
                  <a:pt x="6639286" y="5635530"/>
                  <a:pt x="6643352" y="5547295"/>
                </a:cubicBezTo>
                <a:lnTo>
                  <a:pt x="2237539" y="5519670"/>
                </a:lnTo>
                <a:cubicBezTo>
                  <a:pt x="-925915" y="5070024"/>
                  <a:pt x="-611878" y="200776"/>
                  <a:pt x="2403794" y="14366"/>
                </a:cubicBez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8997" r="42384" b="9201"/>
            </a:stretch>
          </a:blipFill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905DC68-70E4-A882-9C69-5322E908A9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7407" r="209"/>
          <a:stretch/>
        </p:blipFill>
        <p:spPr>
          <a:xfrm>
            <a:off x="0" y="591734"/>
            <a:ext cx="9266100" cy="5413314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0563D00-F6A5-B9EE-F857-1C262BE82D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920" y="330024"/>
            <a:ext cx="2744482" cy="2446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 algn="l">
              <a:buNone/>
              <a:defRPr lang="en-US" sz="1200" b="1" i="0" kern="1200" spc="10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AU" noProof="0"/>
              <a:t>Date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FFC4F5-97DC-EAF9-425C-0F76D988E2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1" y="1909136"/>
            <a:ext cx="5947575" cy="148175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>
              <a:lnSpc>
                <a:spcPts val="5400"/>
              </a:lnSpc>
              <a:defRPr sz="5000" b="0" i="0" spc="-80" baseline="0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r>
              <a:rPr lang="en-AU" noProof="0"/>
              <a:t>Presentation title goes in this space</a:t>
            </a:r>
          </a:p>
        </p:txBody>
      </p:sp>
    </p:spTree>
    <p:extLst>
      <p:ext uri="{BB962C8B-B14F-4D97-AF65-F5344CB8AC3E}">
        <p14:creationId xmlns:p14="http://schemas.microsoft.com/office/powerpoint/2010/main" val="1261399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2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版面配置區 11">
            <a:extLst>
              <a:ext uri="{FF2B5EF4-FFF2-40B4-BE49-F238E27FC236}">
                <a16:creationId xmlns:a16="http://schemas.microsoft.com/office/drawing/2014/main" id="{5A81185C-1420-689C-351E-B5E098C227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71433" y="735630"/>
            <a:ext cx="5620568" cy="5115264"/>
          </a:xfrm>
          <a:custGeom>
            <a:avLst/>
            <a:gdLst>
              <a:gd name="connsiteX0" fmla="*/ 0 w 2507674"/>
              <a:gd name="connsiteY0" fmla="*/ 0 h 5477595"/>
              <a:gd name="connsiteX1" fmla="*/ 2507674 w 2507674"/>
              <a:gd name="connsiteY1" fmla="*/ 0 h 5477595"/>
              <a:gd name="connsiteX2" fmla="*/ 2507674 w 2507674"/>
              <a:gd name="connsiteY2" fmla="*/ 5477595 h 5477595"/>
              <a:gd name="connsiteX3" fmla="*/ 0 w 2507674"/>
              <a:gd name="connsiteY3" fmla="*/ 5477595 h 5477595"/>
              <a:gd name="connsiteX4" fmla="*/ 0 w 2507674"/>
              <a:gd name="connsiteY4" fmla="*/ 0 h 5477595"/>
              <a:gd name="connsiteX0" fmla="*/ 0 w 2521528"/>
              <a:gd name="connsiteY0" fmla="*/ 0 h 5505304"/>
              <a:gd name="connsiteX1" fmla="*/ 2521528 w 2521528"/>
              <a:gd name="connsiteY1" fmla="*/ 27709 h 5505304"/>
              <a:gd name="connsiteX2" fmla="*/ 2521528 w 2521528"/>
              <a:gd name="connsiteY2" fmla="*/ 5505304 h 5505304"/>
              <a:gd name="connsiteX3" fmla="*/ 13854 w 2521528"/>
              <a:gd name="connsiteY3" fmla="*/ 5505304 h 5505304"/>
              <a:gd name="connsiteX4" fmla="*/ 0 w 2521528"/>
              <a:gd name="connsiteY4" fmla="*/ 0 h 5505304"/>
              <a:gd name="connsiteX0" fmla="*/ 2039700 w 4561228"/>
              <a:gd name="connsiteY0" fmla="*/ 0 h 5505304"/>
              <a:gd name="connsiteX1" fmla="*/ 4561228 w 4561228"/>
              <a:gd name="connsiteY1" fmla="*/ 27709 h 5505304"/>
              <a:gd name="connsiteX2" fmla="*/ 4561228 w 4561228"/>
              <a:gd name="connsiteY2" fmla="*/ 5505304 h 5505304"/>
              <a:gd name="connsiteX3" fmla="*/ 2053554 w 4561228"/>
              <a:gd name="connsiteY3" fmla="*/ 5505304 h 5505304"/>
              <a:gd name="connsiteX4" fmla="*/ 2039700 w 4561228"/>
              <a:gd name="connsiteY4" fmla="*/ 0 h 5505304"/>
              <a:gd name="connsiteX0" fmla="*/ 2436894 w 4958422"/>
              <a:gd name="connsiteY0" fmla="*/ 0 h 5505304"/>
              <a:gd name="connsiteX1" fmla="*/ 4958422 w 4958422"/>
              <a:gd name="connsiteY1" fmla="*/ 27709 h 5505304"/>
              <a:gd name="connsiteX2" fmla="*/ 4958422 w 4958422"/>
              <a:gd name="connsiteY2" fmla="*/ 5505304 h 5505304"/>
              <a:gd name="connsiteX3" fmla="*/ 2450748 w 4958422"/>
              <a:gd name="connsiteY3" fmla="*/ 5505304 h 5505304"/>
              <a:gd name="connsiteX4" fmla="*/ 2436894 w 4958422"/>
              <a:gd name="connsiteY4" fmla="*/ 0 h 5505304"/>
              <a:gd name="connsiteX0" fmla="*/ 2286795 w 4808323"/>
              <a:gd name="connsiteY0" fmla="*/ 0 h 5505304"/>
              <a:gd name="connsiteX1" fmla="*/ 4808323 w 4808323"/>
              <a:gd name="connsiteY1" fmla="*/ 27709 h 5505304"/>
              <a:gd name="connsiteX2" fmla="*/ 4808323 w 4808323"/>
              <a:gd name="connsiteY2" fmla="*/ 5505304 h 5505304"/>
              <a:gd name="connsiteX3" fmla="*/ 2300649 w 4808323"/>
              <a:gd name="connsiteY3" fmla="*/ 5505304 h 5505304"/>
              <a:gd name="connsiteX4" fmla="*/ 2286795 w 4808323"/>
              <a:gd name="connsiteY4" fmla="*/ 0 h 5505304"/>
              <a:gd name="connsiteX0" fmla="*/ 2486455 w 5007983"/>
              <a:gd name="connsiteY0" fmla="*/ 0 h 5505304"/>
              <a:gd name="connsiteX1" fmla="*/ 5007983 w 5007983"/>
              <a:gd name="connsiteY1" fmla="*/ 27709 h 5505304"/>
              <a:gd name="connsiteX2" fmla="*/ 5007983 w 5007983"/>
              <a:gd name="connsiteY2" fmla="*/ 5505304 h 5505304"/>
              <a:gd name="connsiteX3" fmla="*/ 2500309 w 5007983"/>
              <a:gd name="connsiteY3" fmla="*/ 5505304 h 5505304"/>
              <a:gd name="connsiteX4" fmla="*/ 2486455 w 5007983"/>
              <a:gd name="connsiteY4" fmla="*/ 0 h 5505304"/>
              <a:gd name="connsiteX0" fmla="*/ 2341450 w 4862978"/>
              <a:gd name="connsiteY0" fmla="*/ 0 h 5505304"/>
              <a:gd name="connsiteX1" fmla="*/ 4862978 w 4862978"/>
              <a:gd name="connsiteY1" fmla="*/ 27709 h 5505304"/>
              <a:gd name="connsiteX2" fmla="*/ 4862978 w 4862978"/>
              <a:gd name="connsiteY2" fmla="*/ 5505304 h 5505304"/>
              <a:gd name="connsiteX3" fmla="*/ 2355304 w 4862978"/>
              <a:gd name="connsiteY3" fmla="*/ 5505304 h 5505304"/>
              <a:gd name="connsiteX4" fmla="*/ 2341450 w 4862978"/>
              <a:gd name="connsiteY4" fmla="*/ 0 h 5505304"/>
              <a:gd name="connsiteX0" fmla="*/ 2226567 w 4748095"/>
              <a:gd name="connsiteY0" fmla="*/ 0 h 5505304"/>
              <a:gd name="connsiteX1" fmla="*/ 4748095 w 4748095"/>
              <a:gd name="connsiteY1" fmla="*/ 27709 h 5505304"/>
              <a:gd name="connsiteX2" fmla="*/ 4748095 w 4748095"/>
              <a:gd name="connsiteY2" fmla="*/ 5505304 h 5505304"/>
              <a:gd name="connsiteX3" fmla="*/ 2240421 w 4748095"/>
              <a:gd name="connsiteY3" fmla="*/ 5505304 h 5505304"/>
              <a:gd name="connsiteX4" fmla="*/ 2226567 w 4748095"/>
              <a:gd name="connsiteY4" fmla="*/ 0 h 5505304"/>
              <a:gd name="connsiteX0" fmla="*/ 2300185 w 4821713"/>
              <a:gd name="connsiteY0" fmla="*/ 0 h 5505304"/>
              <a:gd name="connsiteX1" fmla="*/ 4821713 w 4821713"/>
              <a:gd name="connsiteY1" fmla="*/ 27709 h 5505304"/>
              <a:gd name="connsiteX2" fmla="*/ 4821713 w 4821713"/>
              <a:gd name="connsiteY2" fmla="*/ 5505304 h 5505304"/>
              <a:gd name="connsiteX3" fmla="*/ 2314039 w 4821713"/>
              <a:gd name="connsiteY3" fmla="*/ 5505304 h 5505304"/>
              <a:gd name="connsiteX4" fmla="*/ 2300185 w 4821713"/>
              <a:gd name="connsiteY4" fmla="*/ 0 h 5505304"/>
              <a:gd name="connsiteX0" fmla="*/ 2300185 w 4821713"/>
              <a:gd name="connsiteY0" fmla="*/ 0 h 5505304"/>
              <a:gd name="connsiteX1" fmla="*/ 4821713 w 4821713"/>
              <a:gd name="connsiteY1" fmla="*/ 27709 h 5505304"/>
              <a:gd name="connsiteX2" fmla="*/ 4821713 w 4821713"/>
              <a:gd name="connsiteY2" fmla="*/ 5505304 h 5505304"/>
              <a:gd name="connsiteX3" fmla="*/ 2314039 w 4821713"/>
              <a:gd name="connsiteY3" fmla="*/ 5505304 h 5505304"/>
              <a:gd name="connsiteX4" fmla="*/ 2300185 w 4821713"/>
              <a:gd name="connsiteY4" fmla="*/ 0 h 5505304"/>
              <a:gd name="connsiteX0" fmla="*/ 2312129 w 4805948"/>
              <a:gd name="connsiteY0" fmla="*/ 0 h 5505304"/>
              <a:gd name="connsiteX1" fmla="*/ 4805948 w 4805948"/>
              <a:gd name="connsiteY1" fmla="*/ 27709 h 5505304"/>
              <a:gd name="connsiteX2" fmla="*/ 4805948 w 4805948"/>
              <a:gd name="connsiteY2" fmla="*/ 5505304 h 5505304"/>
              <a:gd name="connsiteX3" fmla="*/ 2298274 w 4805948"/>
              <a:gd name="connsiteY3" fmla="*/ 5505304 h 5505304"/>
              <a:gd name="connsiteX4" fmla="*/ 2312129 w 4805948"/>
              <a:gd name="connsiteY4" fmla="*/ 0 h 5505304"/>
              <a:gd name="connsiteX0" fmla="*/ 2342372 w 4766918"/>
              <a:gd name="connsiteY0" fmla="*/ 0 h 5505304"/>
              <a:gd name="connsiteX1" fmla="*/ 4766918 w 4766918"/>
              <a:gd name="connsiteY1" fmla="*/ 27709 h 5505304"/>
              <a:gd name="connsiteX2" fmla="*/ 4766918 w 4766918"/>
              <a:gd name="connsiteY2" fmla="*/ 5505304 h 5505304"/>
              <a:gd name="connsiteX3" fmla="*/ 2259244 w 4766918"/>
              <a:gd name="connsiteY3" fmla="*/ 5505304 h 5505304"/>
              <a:gd name="connsiteX4" fmla="*/ 2342372 w 4766918"/>
              <a:gd name="connsiteY4" fmla="*/ 0 h 5505304"/>
              <a:gd name="connsiteX0" fmla="*/ 2387070 w 4811616"/>
              <a:gd name="connsiteY0" fmla="*/ 0 h 5505304"/>
              <a:gd name="connsiteX1" fmla="*/ 4811616 w 4811616"/>
              <a:gd name="connsiteY1" fmla="*/ 27709 h 5505304"/>
              <a:gd name="connsiteX2" fmla="*/ 4811616 w 4811616"/>
              <a:gd name="connsiteY2" fmla="*/ 5505304 h 5505304"/>
              <a:gd name="connsiteX3" fmla="*/ 2303942 w 4811616"/>
              <a:gd name="connsiteY3" fmla="*/ 5505304 h 5505304"/>
              <a:gd name="connsiteX4" fmla="*/ 2387070 w 4811616"/>
              <a:gd name="connsiteY4" fmla="*/ 0 h 5505304"/>
              <a:gd name="connsiteX0" fmla="*/ 2101407 w 4525953"/>
              <a:gd name="connsiteY0" fmla="*/ 0 h 5505304"/>
              <a:gd name="connsiteX1" fmla="*/ 4525953 w 4525953"/>
              <a:gd name="connsiteY1" fmla="*/ 27709 h 5505304"/>
              <a:gd name="connsiteX2" fmla="*/ 4525953 w 4525953"/>
              <a:gd name="connsiteY2" fmla="*/ 5505304 h 5505304"/>
              <a:gd name="connsiteX3" fmla="*/ 2018279 w 4525953"/>
              <a:gd name="connsiteY3" fmla="*/ 5505304 h 5505304"/>
              <a:gd name="connsiteX4" fmla="*/ 2101407 w 4525953"/>
              <a:gd name="connsiteY4" fmla="*/ 0 h 5505304"/>
              <a:gd name="connsiteX0" fmla="*/ 2360231 w 4784777"/>
              <a:gd name="connsiteY0" fmla="*/ 0 h 5505304"/>
              <a:gd name="connsiteX1" fmla="*/ 4784777 w 4784777"/>
              <a:gd name="connsiteY1" fmla="*/ 27709 h 5505304"/>
              <a:gd name="connsiteX2" fmla="*/ 4784777 w 4784777"/>
              <a:gd name="connsiteY2" fmla="*/ 5505304 h 5505304"/>
              <a:gd name="connsiteX3" fmla="*/ 2277103 w 4784777"/>
              <a:gd name="connsiteY3" fmla="*/ 5505304 h 5505304"/>
              <a:gd name="connsiteX4" fmla="*/ 2360231 w 4784777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269472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281671"/>
              <a:gd name="connsiteY0" fmla="*/ 0 h 5505304"/>
              <a:gd name="connsiteX1" fmla="*/ 4269472 w 4281671"/>
              <a:gd name="connsiteY1" fmla="*/ 27709 h 5505304"/>
              <a:gd name="connsiteX2" fmla="*/ 4281671 w 4281671"/>
              <a:gd name="connsiteY2" fmla="*/ 5491449 h 5505304"/>
              <a:gd name="connsiteX3" fmla="*/ 2237539 w 4281671"/>
              <a:gd name="connsiteY3" fmla="*/ 5505304 h 5505304"/>
              <a:gd name="connsiteX4" fmla="*/ 2403794 w 4281671"/>
              <a:gd name="connsiteY4" fmla="*/ 0 h 5505304"/>
              <a:gd name="connsiteX0" fmla="*/ 2403794 w 4281671"/>
              <a:gd name="connsiteY0" fmla="*/ 0 h 5518343"/>
              <a:gd name="connsiteX1" fmla="*/ 4269472 w 4281671"/>
              <a:gd name="connsiteY1" fmla="*/ 27709 h 5518343"/>
              <a:gd name="connsiteX2" fmla="*/ 4281671 w 4281671"/>
              <a:gd name="connsiteY2" fmla="*/ 5518343 h 5518343"/>
              <a:gd name="connsiteX3" fmla="*/ 2237539 w 4281671"/>
              <a:gd name="connsiteY3" fmla="*/ 5505304 h 5518343"/>
              <a:gd name="connsiteX4" fmla="*/ 2403794 w 4281671"/>
              <a:gd name="connsiteY4" fmla="*/ 0 h 5518343"/>
              <a:gd name="connsiteX0" fmla="*/ 2403794 w 4281671"/>
              <a:gd name="connsiteY0" fmla="*/ 0 h 5518343"/>
              <a:gd name="connsiteX1" fmla="*/ 4269472 w 4281671"/>
              <a:gd name="connsiteY1" fmla="*/ 27709 h 5518343"/>
              <a:gd name="connsiteX2" fmla="*/ 4281671 w 4281671"/>
              <a:gd name="connsiteY2" fmla="*/ 5518343 h 5518343"/>
              <a:gd name="connsiteX3" fmla="*/ 2237539 w 4281671"/>
              <a:gd name="connsiteY3" fmla="*/ 5505304 h 5518343"/>
              <a:gd name="connsiteX4" fmla="*/ 2403794 w 4281671"/>
              <a:gd name="connsiteY4" fmla="*/ 0 h 5518343"/>
              <a:gd name="connsiteX0" fmla="*/ 2403794 w 4281671"/>
              <a:gd name="connsiteY0" fmla="*/ 4793 h 5523136"/>
              <a:gd name="connsiteX1" fmla="*/ 4269472 w 4281671"/>
              <a:gd name="connsiteY1" fmla="*/ 32502 h 5523136"/>
              <a:gd name="connsiteX2" fmla="*/ 4281671 w 4281671"/>
              <a:gd name="connsiteY2" fmla="*/ 5523136 h 5523136"/>
              <a:gd name="connsiteX3" fmla="*/ 2237539 w 4281671"/>
              <a:gd name="connsiteY3" fmla="*/ 5510097 h 5523136"/>
              <a:gd name="connsiteX4" fmla="*/ 2403794 w 4281671"/>
              <a:gd name="connsiteY4" fmla="*/ 4793 h 5523136"/>
              <a:gd name="connsiteX0" fmla="*/ 2403794 w 4281671"/>
              <a:gd name="connsiteY0" fmla="*/ 10010 h 5528353"/>
              <a:gd name="connsiteX1" fmla="*/ 4257632 w 4281671"/>
              <a:gd name="connsiteY1" fmla="*/ 10825 h 5528353"/>
              <a:gd name="connsiteX2" fmla="*/ 4281671 w 4281671"/>
              <a:gd name="connsiteY2" fmla="*/ 5528353 h 5528353"/>
              <a:gd name="connsiteX3" fmla="*/ 2237539 w 4281671"/>
              <a:gd name="connsiteY3" fmla="*/ 5515314 h 5528353"/>
              <a:gd name="connsiteX4" fmla="*/ 2403794 w 4281671"/>
              <a:gd name="connsiteY4" fmla="*/ 10010 h 5528353"/>
              <a:gd name="connsiteX0" fmla="*/ 2403794 w 4281671"/>
              <a:gd name="connsiteY0" fmla="*/ 10010 h 5528353"/>
              <a:gd name="connsiteX1" fmla="*/ 4257632 w 4281671"/>
              <a:gd name="connsiteY1" fmla="*/ 10825 h 5528353"/>
              <a:gd name="connsiteX2" fmla="*/ 4281671 w 4281671"/>
              <a:gd name="connsiteY2" fmla="*/ 5528353 h 5528353"/>
              <a:gd name="connsiteX3" fmla="*/ 2237539 w 4281671"/>
              <a:gd name="connsiteY3" fmla="*/ 5515314 h 5528353"/>
              <a:gd name="connsiteX4" fmla="*/ 2403794 w 4281671"/>
              <a:gd name="connsiteY4" fmla="*/ 10010 h 5528353"/>
              <a:gd name="connsiteX0" fmla="*/ 2403794 w 4281671"/>
              <a:gd name="connsiteY0" fmla="*/ 1949 h 5520292"/>
              <a:gd name="connsiteX1" fmla="*/ 4257632 w 4281671"/>
              <a:gd name="connsiteY1" fmla="*/ 2764 h 5520292"/>
              <a:gd name="connsiteX2" fmla="*/ 4281671 w 4281671"/>
              <a:gd name="connsiteY2" fmla="*/ 5520292 h 5520292"/>
              <a:gd name="connsiteX3" fmla="*/ 2237539 w 4281671"/>
              <a:gd name="connsiteY3" fmla="*/ 5507253 h 5520292"/>
              <a:gd name="connsiteX4" fmla="*/ 2403794 w 4281671"/>
              <a:gd name="connsiteY4" fmla="*/ 1949 h 5520292"/>
              <a:gd name="connsiteX0" fmla="*/ 2403794 w 4281671"/>
              <a:gd name="connsiteY0" fmla="*/ 1949 h 5520292"/>
              <a:gd name="connsiteX1" fmla="*/ 4257632 w 4281671"/>
              <a:gd name="connsiteY1" fmla="*/ 2764 h 5520292"/>
              <a:gd name="connsiteX2" fmla="*/ 4281671 w 4281671"/>
              <a:gd name="connsiteY2" fmla="*/ 5520292 h 5520292"/>
              <a:gd name="connsiteX3" fmla="*/ 2237539 w 4281671"/>
              <a:gd name="connsiteY3" fmla="*/ 5507253 h 5520292"/>
              <a:gd name="connsiteX4" fmla="*/ 2403794 w 4281671"/>
              <a:gd name="connsiteY4" fmla="*/ 1949 h 5520292"/>
              <a:gd name="connsiteX0" fmla="*/ 2403794 w 4293511"/>
              <a:gd name="connsiteY0" fmla="*/ 1949 h 5507253"/>
              <a:gd name="connsiteX1" fmla="*/ 4257632 w 4293511"/>
              <a:gd name="connsiteY1" fmla="*/ 2764 h 5507253"/>
              <a:gd name="connsiteX2" fmla="*/ 4293511 w 4293511"/>
              <a:gd name="connsiteY2" fmla="*/ 5506845 h 5507253"/>
              <a:gd name="connsiteX3" fmla="*/ 2237539 w 4293511"/>
              <a:gd name="connsiteY3" fmla="*/ 5507253 h 5507253"/>
              <a:gd name="connsiteX4" fmla="*/ 2403794 w 4293511"/>
              <a:gd name="connsiteY4" fmla="*/ 1949 h 5507253"/>
              <a:gd name="connsiteX0" fmla="*/ 2403794 w 4423476"/>
              <a:gd name="connsiteY0" fmla="*/ 1949 h 5507253"/>
              <a:gd name="connsiteX1" fmla="*/ 4423388 w 4423476"/>
              <a:gd name="connsiteY1" fmla="*/ 2764 h 5507253"/>
              <a:gd name="connsiteX2" fmla="*/ 4293511 w 4423476"/>
              <a:gd name="connsiteY2" fmla="*/ 5506845 h 5507253"/>
              <a:gd name="connsiteX3" fmla="*/ 2237539 w 4423476"/>
              <a:gd name="connsiteY3" fmla="*/ 5507253 h 5507253"/>
              <a:gd name="connsiteX4" fmla="*/ 2403794 w 4423476"/>
              <a:gd name="connsiteY4" fmla="*/ 1949 h 5507253"/>
              <a:gd name="connsiteX0" fmla="*/ 2403794 w 4423476"/>
              <a:gd name="connsiteY0" fmla="*/ 1949 h 5507253"/>
              <a:gd name="connsiteX1" fmla="*/ 4423388 w 4423476"/>
              <a:gd name="connsiteY1" fmla="*/ 2764 h 5507253"/>
              <a:gd name="connsiteX2" fmla="*/ 4293511 w 4423476"/>
              <a:gd name="connsiteY2" fmla="*/ 5506845 h 5507253"/>
              <a:gd name="connsiteX3" fmla="*/ 2237539 w 4423476"/>
              <a:gd name="connsiteY3" fmla="*/ 5507253 h 5507253"/>
              <a:gd name="connsiteX4" fmla="*/ 2403794 w 4423476"/>
              <a:gd name="connsiteY4" fmla="*/ 1949 h 5507253"/>
              <a:gd name="connsiteX0" fmla="*/ 2403794 w 4565508"/>
              <a:gd name="connsiteY0" fmla="*/ 0 h 5505304"/>
              <a:gd name="connsiteX1" fmla="*/ 4565465 w 4565508"/>
              <a:gd name="connsiteY1" fmla="*/ 14262 h 5505304"/>
              <a:gd name="connsiteX2" fmla="*/ 4293511 w 4565508"/>
              <a:gd name="connsiteY2" fmla="*/ 5504896 h 5505304"/>
              <a:gd name="connsiteX3" fmla="*/ 2237539 w 4565508"/>
              <a:gd name="connsiteY3" fmla="*/ 5505304 h 5505304"/>
              <a:gd name="connsiteX4" fmla="*/ 2403794 w 4565508"/>
              <a:gd name="connsiteY4" fmla="*/ 0 h 5505304"/>
              <a:gd name="connsiteX0" fmla="*/ 2403794 w 4565582"/>
              <a:gd name="connsiteY0" fmla="*/ 0 h 5505304"/>
              <a:gd name="connsiteX1" fmla="*/ 4565465 w 4565582"/>
              <a:gd name="connsiteY1" fmla="*/ 14262 h 5505304"/>
              <a:gd name="connsiteX2" fmla="*/ 4471106 w 4565582"/>
              <a:gd name="connsiteY2" fmla="*/ 5491449 h 5505304"/>
              <a:gd name="connsiteX3" fmla="*/ 2237539 w 4565582"/>
              <a:gd name="connsiteY3" fmla="*/ 5505304 h 5505304"/>
              <a:gd name="connsiteX4" fmla="*/ 2403794 w 4565582"/>
              <a:gd name="connsiteY4" fmla="*/ 0 h 5505304"/>
              <a:gd name="connsiteX0" fmla="*/ 2403794 w 4565582"/>
              <a:gd name="connsiteY0" fmla="*/ 0 h 5505304"/>
              <a:gd name="connsiteX1" fmla="*/ 4565465 w 4565582"/>
              <a:gd name="connsiteY1" fmla="*/ 14262 h 5505304"/>
              <a:gd name="connsiteX2" fmla="*/ 4471106 w 4565582"/>
              <a:gd name="connsiteY2" fmla="*/ 5491449 h 5505304"/>
              <a:gd name="connsiteX3" fmla="*/ 2237539 w 4565582"/>
              <a:gd name="connsiteY3" fmla="*/ 5505304 h 5505304"/>
              <a:gd name="connsiteX4" fmla="*/ 2403794 w 4565582"/>
              <a:gd name="connsiteY4" fmla="*/ 0 h 5505304"/>
              <a:gd name="connsiteX0" fmla="*/ 2403794 w 4707901"/>
              <a:gd name="connsiteY0" fmla="*/ 0 h 5505932"/>
              <a:gd name="connsiteX1" fmla="*/ 4565465 w 4707901"/>
              <a:gd name="connsiteY1" fmla="*/ 14262 h 5505932"/>
              <a:gd name="connsiteX2" fmla="*/ 4707901 w 4707901"/>
              <a:gd name="connsiteY2" fmla="*/ 5504896 h 5505932"/>
              <a:gd name="connsiteX3" fmla="*/ 2237539 w 4707901"/>
              <a:gd name="connsiteY3" fmla="*/ 5505304 h 5505932"/>
              <a:gd name="connsiteX4" fmla="*/ 2403794 w 4707901"/>
              <a:gd name="connsiteY4" fmla="*/ 0 h 5505932"/>
              <a:gd name="connsiteX0" fmla="*/ 2403794 w 4814204"/>
              <a:gd name="connsiteY0" fmla="*/ 1948 h 5507878"/>
              <a:gd name="connsiteX1" fmla="*/ 4814099 w 4814204"/>
              <a:gd name="connsiteY1" fmla="*/ 2763 h 5507878"/>
              <a:gd name="connsiteX2" fmla="*/ 4707901 w 4814204"/>
              <a:gd name="connsiteY2" fmla="*/ 5506844 h 5507878"/>
              <a:gd name="connsiteX3" fmla="*/ 2237539 w 4814204"/>
              <a:gd name="connsiteY3" fmla="*/ 5507252 h 5507878"/>
              <a:gd name="connsiteX4" fmla="*/ 2403794 w 4814204"/>
              <a:gd name="connsiteY4" fmla="*/ 1948 h 5507878"/>
              <a:gd name="connsiteX0" fmla="*/ 2403794 w 6116475"/>
              <a:gd name="connsiteY0" fmla="*/ 14366 h 5520293"/>
              <a:gd name="connsiteX1" fmla="*/ 6116467 w 6116475"/>
              <a:gd name="connsiteY1" fmla="*/ 1734 h 5520293"/>
              <a:gd name="connsiteX2" fmla="*/ 4707901 w 6116475"/>
              <a:gd name="connsiteY2" fmla="*/ 5519262 h 5520293"/>
              <a:gd name="connsiteX3" fmla="*/ 2237539 w 6116475"/>
              <a:gd name="connsiteY3" fmla="*/ 5519670 h 5520293"/>
              <a:gd name="connsiteX4" fmla="*/ 2403794 w 6116475"/>
              <a:gd name="connsiteY4" fmla="*/ 14366 h 5520293"/>
              <a:gd name="connsiteX0" fmla="*/ 2403794 w 6117683"/>
              <a:gd name="connsiteY0" fmla="*/ 14366 h 5533738"/>
              <a:gd name="connsiteX1" fmla="*/ 6116467 w 6117683"/>
              <a:gd name="connsiteY1" fmla="*/ 1734 h 5533738"/>
              <a:gd name="connsiteX2" fmla="*/ 6116827 w 6117683"/>
              <a:gd name="connsiteY2" fmla="*/ 5532709 h 5533738"/>
              <a:gd name="connsiteX3" fmla="*/ 2237539 w 6117683"/>
              <a:gd name="connsiteY3" fmla="*/ 5519670 h 5533738"/>
              <a:gd name="connsiteX4" fmla="*/ 2403794 w 6117683"/>
              <a:gd name="connsiteY4" fmla="*/ 14366 h 5533738"/>
              <a:gd name="connsiteX0" fmla="*/ 2403794 w 6117683"/>
              <a:gd name="connsiteY0" fmla="*/ 14366 h 5533738"/>
              <a:gd name="connsiteX1" fmla="*/ 6116467 w 6117683"/>
              <a:gd name="connsiteY1" fmla="*/ 1734 h 5533738"/>
              <a:gd name="connsiteX2" fmla="*/ 6116827 w 6117683"/>
              <a:gd name="connsiteY2" fmla="*/ 5532709 h 5533738"/>
              <a:gd name="connsiteX3" fmla="*/ 2237539 w 6117683"/>
              <a:gd name="connsiteY3" fmla="*/ 5519670 h 5533738"/>
              <a:gd name="connsiteX4" fmla="*/ 2403794 w 6117683"/>
              <a:gd name="connsiteY4" fmla="*/ 14366 h 5533738"/>
              <a:gd name="connsiteX0" fmla="*/ 2403794 w 6643352"/>
              <a:gd name="connsiteY0" fmla="*/ 14366 h 5548321"/>
              <a:gd name="connsiteX1" fmla="*/ 6116467 w 6643352"/>
              <a:gd name="connsiteY1" fmla="*/ 1734 h 5548321"/>
              <a:gd name="connsiteX2" fmla="*/ 6643352 w 6643352"/>
              <a:gd name="connsiteY2" fmla="*/ 5547295 h 5548321"/>
              <a:gd name="connsiteX3" fmla="*/ 2237539 w 6643352"/>
              <a:gd name="connsiteY3" fmla="*/ 5519670 h 5548321"/>
              <a:gd name="connsiteX4" fmla="*/ 2403794 w 6643352"/>
              <a:gd name="connsiteY4" fmla="*/ 14366 h 5548321"/>
              <a:gd name="connsiteX0" fmla="*/ 2403794 w 6644208"/>
              <a:gd name="connsiteY0" fmla="*/ 14366 h 5548321"/>
              <a:gd name="connsiteX1" fmla="*/ 6642992 w 6644208"/>
              <a:gd name="connsiteY1" fmla="*/ 1734 h 5548321"/>
              <a:gd name="connsiteX2" fmla="*/ 6643352 w 6644208"/>
              <a:gd name="connsiteY2" fmla="*/ 5547295 h 5548321"/>
              <a:gd name="connsiteX3" fmla="*/ 2237539 w 6644208"/>
              <a:gd name="connsiteY3" fmla="*/ 5519670 h 5548321"/>
              <a:gd name="connsiteX4" fmla="*/ 2403794 w 6644208"/>
              <a:gd name="connsiteY4" fmla="*/ 14366 h 554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44208" h="5548321">
                <a:moveTo>
                  <a:pt x="2403794" y="14366"/>
                </a:moveTo>
                <a:cubicBezTo>
                  <a:pt x="2421861" y="23602"/>
                  <a:pt x="6021099" y="-7502"/>
                  <a:pt x="6642992" y="1734"/>
                </a:cubicBezTo>
                <a:cubicBezTo>
                  <a:pt x="6647058" y="7628"/>
                  <a:pt x="6639286" y="5635530"/>
                  <a:pt x="6643352" y="5547295"/>
                </a:cubicBezTo>
                <a:lnTo>
                  <a:pt x="2237539" y="5519670"/>
                </a:lnTo>
                <a:cubicBezTo>
                  <a:pt x="-925915" y="5070024"/>
                  <a:pt x="-611878" y="200776"/>
                  <a:pt x="2403794" y="14366"/>
                </a:cubicBez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8997" r="42384" b="9201"/>
            </a:stretch>
          </a:blipFill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CD5875-6FD8-FE17-9F51-656B9A8AEBF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379" y="6129118"/>
            <a:ext cx="1870484" cy="345911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6E78BAB-59C4-BCB5-9B40-C5375BCFCB0C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502920" y="3932777"/>
            <a:ext cx="1985352" cy="750783"/>
          </a:xfrm>
          <a:prstGeom prst="rect">
            <a:avLst/>
          </a:prstGeom>
        </p:spPr>
        <p:txBody>
          <a:bodyPr vert="horz" wrap="none" lIns="45720" tIns="45720" rIns="91440" bIns="45720" rtlCol="0" anchor="t">
            <a:sp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lang="en-US" sz="1800" b="0" i="0" spc="130" baseline="0" dirty="0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Presenter Name</a:t>
            </a:r>
          </a:p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Title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C905DC68-70E4-A882-9C69-5322E908A9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7407" r="209"/>
          <a:stretch/>
        </p:blipFill>
        <p:spPr>
          <a:xfrm>
            <a:off x="0" y="591734"/>
            <a:ext cx="9266100" cy="5413314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0563D00-F6A5-B9EE-F857-1C262BE82D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920" y="330024"/>
            <a:ext cx="2744482" cy="2446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 algn="l">
              <a:buNone/>
              <a:defRPr lang="en-US" sz="1200" b="1" i="0" kern="1200" spc="10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AU" noProof="0"/>
              <a:t>Date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FFC4F5-97DC-EAF9-425C-0F76D988E2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1" y="1909136"/>
            <a:ext cx="5947575" cy="148175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>
              <a:lnSpc>
                <a:spcPts val="5400"/>
              </a:lnSpc>
              <a:defRPr sz="5000" b="0" i="0" spc="-80" baseline="0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r>
              <a:rPr lang="en-AU" noProof="0"/>
              <a:t>Presentation title goes in this space</a:t>
            </a:r>
          </a:p>
        </p:txBody>
      </p:sp>
    </p:spTree>
    <p:extLst>
      <p:ext uri="{BB962C8B-B14F-4D97-AF65-F5344CB8AC3E}">
        <p14:creationId xmlns:p14="http://schemas.microsoft.com/office/powerpoint/2010/main" val="2467777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b">
    <p:bg>
      <p:bgPr>
        <a:solidFill>
          <a:srgbClr val="9318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AC6D68D-1B96-1DA8-75B6-C27595C2700F}"/>
              </a:ext>
            </a:extLst>
          </p:cNvPr>
          <p:cNvSpPr/>
          <p:nvPr userDrawn="1"/>
        </p:nvSpPr>
        <p:spPr>
          <a:xfrm rot="18900000">
            <a:off x="8420458" y="388832"/>
            <a:ext cx="6084000" cy="6100655"/>
          </a:xfrm>
          <a:prstGeom prst="roundRect">
            <a:avLst>
              <a:gd name="adj" fmla="val 4356"/>
            </a:avLst>
          </a:prstGeom>
          <a:blipFill dpi="0" rotWithShape="0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9000" r="41000" b="9000"/>
            </a:stretch>
          </a:blip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5" name="Picture 1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5439089-17EE-C123-A417-EA2AA40A799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920" y="6129118"/>
            <a:ext cx="1870484" cy="345912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6BE9A2BC-62C9-9E4A-D518-F0E5CEB344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920" y="330024"/>
            <a:ext cx="2744482" cy="2446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 algn="l">
              <a:buNone/>
              <a:defRPr lang="en-US" sz="1200" b="1" i="0" kern="1200" spc="100" baseline="0" dirty="0">
                <a:solidFill>
                  <a:schemeClr val="bg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AU" noProof="0"/>
              <a:t>Date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075337-4018-A25E-8724-7700E7BA655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5108222" y="2730"/>
            <a:ext cx="5322213" cy="685917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4074513-4A86-D139-12F3-16C66B2EF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1" y="2688124"/>
            <a:ext cx="5947575" cy="148175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>
              <a:lnSpc>
                <a:spcPts val="5400"/>
              </a:lnSpc>
              <a:defRPr sz="5000" b="0" i="0" spc="-8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AU" noProof="0"/>
              <a:t>Presentation title goes in this space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C62D4E2-85F8-84EE-457E-4D31DD14AAC0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502920" y="4481014"/>
            <a:ext cx="1985352" cy="750783"/>
          </a:xfrm>
          <a:prstGeom prst="rect">
            <a:avLst/>
          </a:prstGeom>
        </p:spPr>
        <p:txBody>
          <a:bodyPr vert="horz" wrap="none" lIns="45720" tIns="45720" rIns="91440" bIns="45720" rtlCol="0" anchor="t">
            <a:sp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lang="en-US" sz="1800" b="0" i="0" spc="130" baseline="0" dirty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/>
              <a:t>Presenter Name</a:t>
            </a:r>
          </a:p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614925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2b">
    <p:bg>
      <p:bgPr>
        <a:solidFill>
          <a:srgbClr val="9318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AC6D68D-1B96-1DA8-75B6-C27595C2700F}"/>
              </a:ext>
            </a:extLst>
          </p:cNvPr>
          <p:cNvSpPr/>
          <p:nvPr userDrawn="1"/>
        </p:nvSpPr>
        <p:spPr>
          <a:xfrm rot="18900000">
            <a:off x="8420458" y="388832"/>
            <a:ext cx="6084000" cy="6100655"/>
          </a:xfrm>
          <a:prstGeom prst="roundRect">
            <a:avLst>
              <a:gd name="adj" fmla="val 4356"/>
            </a:avLst>
          </a:prstGeom>
          <a:blipFill dpi="0" rotWithShape="0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9000" r="41000" b="9000"/>
            </a:stretch>
          </a:blip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5" name="Picture 1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5439089-17EE-C123-A417-EA2AA40A799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920" y="6129118"/>
            <a:ext cx="1870484" cy="345912"/>
          </a:xfrm>
          <a:prstGeom prst="rect">
            <a:avLst/>
          </a:prstGeom>
        </p:spPr>
      </p:pic>
      <p:pic>
        <p:nvPicPr>
          <p:cNvPr id="4" name="Picture 3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49A0CE95-6BEE-BA2A-7C74-AA1744090F8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920" y="6129118"/>
            <a:ext cx="1870484" cy="345912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6BE9A2BC-62C9-9E4A-D518-F0E5CEB344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920" y="330024"/>
            <a:ext cx="2744482" cy="2446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 algn="l">
              <a:buNone/>
              <a:defRPr lang="en-US" sz="1200" b="1" i="0" kern="1200" spc="100" baseline="0" dirty="0">
                <a:solidFill>
                  <a:schemeClr val="bg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AU" noProof="0"/>
              <a:t>Date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075337-4018-A25E-8724-7700E7BA655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5108222" y="2730"/>
            <a:ext cx="5322213" cy="685917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4074513-4A86-D139-12F3-16C66B2EF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1" y="2688124"/>
            <a:ext cx="5947575" cy="148175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>
              <a:lnSpc>
                <a:spcPts val="5400"/>
              </a:lnSpc>
              <a:defRPr sz="5000" b="0" i="0" spc="-8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AU" noProof="0"/>
              <a:t>Presentation title goes in this space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C62D4E2-85F8-84EE-457E-4D31DD14AAC0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502920" y="4481014"/>
            <a:ext cx="1985352" cy="750783"/>
          </a:xfrm>
          <a:prstGeom prst="rect">
            <a:avLst/>
          </a:prstGeom>
        </p:spPr>
        <p:txBody>
          <a:bodyPr vert="horz" wrap="none" lIns="45720" tIns="45720" rIns="91440" bIns="45720" rtlCol="0" anchor="t">
            <a:sp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lang="en-US" sz="1800" b="0" i="0" spc="130" baseline="0" dirty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/>
              <a:t>Presenter Name</a:t>
            </a:r>
          </a:p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873527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c">
    <p:bg>
      <p:bgPr>
        <a:gradFill>
          <a:gsLst>
            <a:gs pos="0">
              <a:srgbClr val="B922F3"/>
            </a:gs>
            <a:gs pos="38000">
              <a:srgbClr val="93186C"/>
            </a:gs>
            <a:gs pos="63000">
              <a:srgbClr val="93186C"/>
            </a:gs>
            <a:gs pos="100000">
              <a:schemeClr val="accent2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139A740-847F-613E-3258-D7793C5DFA72}"/>
              </a:ext>
            </a:extLst>
          </p:cNvPr>
          <p:cNvSpPr/>
          <p:nvPr userDrawn="1"/>
        </p:nvSpPr>
        <p:spPr>
          <a:xfrm rot="18900000">
            <a:off x="8420458" y="388832"/>
            <a:ext cx="6084000" cy="6100655"/>
          </a:xfrm>
          <a:prstGeom prst="roundRect">
            <a:avLst>
              <a:gd name="adj" fmla="val 4356"/>
            </a:avLst>
          </a:prstGeom>
          <a:blipFill dpi="0" rotWithShape="0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8958" r="41261" b="9278"/>
            </a:stretch>
          </a:blip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5" name="Picture 1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5439089-17EE-C123-A417-EA2AA40A799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920" y="6129118"/>
            <a:ext cx="1870484" cy="345912"/>
          </a:xfrm>
          <a:prstGeom prst="rect">
            <a:avLst/>
          </a:prstGeom>
        </p:spPr>
      </p:pic>
      <p:pic>
        <p:nvPicPr>
          <p:cNvPr id="6" name="Picture 12">
            <a:extLst>
              <a:ext uri="{FF2B5EF4-FFF2-40B4-BE49-F238E27FC236}">
                <a16:creationId xmlns:a16="http://schemas.microsoft.com/office/drawing/2014/main" id="{923B4603-74E0-F9C9-B71C-9201F36885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5108222" y="2731"/>
            <a:ext cx="5322212" cy="6859175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7A8E030C-F537-EE96-2018-5D9A761BF6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920" y="330024"/>
            <a:ext cx="2744482" cy="2446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 algn="l">
              <a:buNone/>
              <a:defRPr lang="en-US" sz="1200" b="1" i="0" kern="1200" spc="100" baseline="0" dirty="0">
                <a:solidFill>
                  <a:schemeClr val="bg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CC3273D-8371-6AED-47AA-EA81E7D3F61D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502920" y="4481014"/>
            <a:ext cx="1985352" cy="750783"/>
          </a:xfrm>
          <a:prstGeom prst="rect">
            <a:avLst/>
          </a:prstGeom>
        </p:spPr>
        <p:txBody>
          <a:bodyPr vert="horz" wrap="none" lIns="45720" tIns="45720" rIns="91440" bIns="45720" rtlCol="0" anchor="t">
            <a:sp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lang="en-US" sz="1800" b="0" i="0" spc="130" baseline="0" dirty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/>
              <a:t>Presenter Name</a:t>
            </a:r>
          </a:p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/>
              <a:t>Title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7D2CB2F-AE1E-440F-06B6-DADA71D658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1" y="2688124"/>
            <a:ext cx="5947575" cy="148175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>
              <a:lnSpc>
                <a:spcPts val="5400"/>
              </a:lnSpc>
              <a:defRPr sz="5000" b="0" i="0" spc="-8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Presentation title goes in this space</a:t>
            </a:r>
          </a:p>
        </p:txBody>
      </p:sp>
    </p:spTree>
    <p:extLst>
      <p:ext uri="{BB962C8B-B14F-4D97-AF65-F5344CB8AC3E}">
        <p14:creationId xmlns:p14="http://schemas.microsoft.com/office/powerpoint/2010/main" val="1079017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4970C73-2F27-7840-9AC2-1C1DF12B3FF2}"/>
              </a:ext>
            </a:extLst>
          </p:cNvPr>
          <p:cNvSpPr/>
          <p:nvPr userDrawn="1"/>
        </p:nvSpPr>
        <p:spPr>
          <a:xfrm rot="18900000">
            <a:off x="8420459" y="378672"/>
            <a:ext cx="6084000" cy="6100655"/>
          </a:xfrm>
          <a:prstGeom prst="roundRect">
            <a:avLst>
              <a:gd name="adj" fmla="val 4356"/>
            </a:avLst>
          </a:prstGeom>
          <a:blipFill dpi="0" rotWithShape="0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8958" r="41261" b="9278"/>
            </a:stretch>
          </a:blip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5439089-17EE-C123-A417-EA2AA40A799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379" y="6129118"/>
            <a:ext cx="1870484" cy="345911"/>
          </a:xfrm>
          <a:prstGeom prst="rect">
            <a:avLst/>
          </a:prstGeom>
        </p:spPr>
      </p:pic>
      <p:pic>
        <p:nvPicPr>
          <p:cNvPr id="4" name="Picture 12">
            <a:extLst>
              <a:ext uri="{FF2B5EF4-FFF2-40B4-BE49-F238E27FC236}">
                <a16:creationId xmlns:a16="http://schemas.microsoft.com/office/drawing/2014/main" id="{821908BA-CEAE-49B2-A011-64770B522B1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5108222" y="2731"/>
            <a:ext cx="5322212" cy="6859175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000D5EDA-88A4-9089-9CE4-140AFD06AE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920" y="330024"/>
            <a:ext cx="2744482" cy="2446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 algn="l">
              <a:buNone/>
              <a:defRPr lang="en-US" sz="1200" b="1" i="0" kern="1200" spc="10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AU" noProof="0"/>
              <a:t>Date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5F65F8DD-C716-19E9-4519-7D380780421C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502920" y="4481014"/>
            <a:ext cx="1985352" cy="750783"/>
          </a:xfrm>
          <a:prstGeom prst="rect">
            <a:avLst/>
          </a:prstGeom>
        </p:spPr>
        <p:txBody>
          <a:bodyPr vert="horz" wrap="none" lIns="45720" tIns="45720" rIns="91440" bIns="45720" rtlCol="0" anchor="t">
            <a:sp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lang="en-US" sz="1800" b="0" i="0" spc="130" baseline="0" dirty="0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Presenter Name</a:t>
            </a:r>
          </a:p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Title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E2A096C-6F99-8220-35D4-943639B8F7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1" y="2688124"/>
            <a:ext cx="5947575" cy="148175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>
              <a:lnSpc>
                <a:spcPts val="5400"/>
              </a:lnSpc>
              <a:defRPr sz="5000" b="0" i="0" spc="-80" baseline="0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r>
              <a:rPr lang="en-AU" noProof="0"/>
              <a:t>Presentation title goes in this space</a:t>
            </a:r>
          </a:p>
        </p:txBody>
      </p:sp>
    </p:spTree>
    <p:extLst>
      <p:ext uri="{BB962C8B-B14F-4D97-AF65-F5344CB8AC3E}">
        <p14:creationId xmlns:p14="http://schemas.microsoft.com/office/powerpoint/2010/main" val="3661410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5306571-96EC-B6F0-B4E6-75847ACE1A72}"/>
              </a:ext>
            </a:extLst>
          </p:cNvPr>
          <p:cNvSpPr/>
          <p:nvPr userDrawn="1"/>
        </p:nvSpPr>
        <p:spPr>
          <a:xfrm rot="18900000">
            <a:off x="8517288" y="389188"/>
            <a:ext cx="6072059" cy="6100655"/>
          </a:xfrm>
          <a:prstGeom prst="roundRect">
            <a:avLst>
              <a:gd name="adj" fmla="val 4356"/>
            </a:avLst>
          </a:prstGeom>
          <a:blipFill dpi="0" rotWithShape="0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8997" r="42384" b="9201"/>
            </a:stretch>
          </a:blip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CD5875-6FD8-FE17-9F51-656B9A8AEBF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379" y="6129118"/>
            <a:ext cx="1870484" cy="345911"/>
          </a:xfrm>
          <a:prstGeom prst="rect">
            <a:avLst/>
          </a:prstGeom>
        </p:spPr>
      </p:pic>
      <p:pic>
        <p:nvPicPr>
          <p:cNvPr id="2" name="Picture 12">
            <a:extLst>
              <a:ext uri="{FF2B5EF4-FFF2-40B4-BE49-F238E27FC236}">
                <a16:creationId xmlns:a16="http://schemas.microsoft.com/office/drawing/2014/main" id="{F360B378-582F-B9C9-42E9-DAD50354449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5108222" y="2731"/>
            <a:ext cx="5322212" cy="6859175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E578CBB8-6A7D-DD54-B896-D5C13F5FD9A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920" y="330024"/>
            <a:ext cx="2744482" cy="2446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 algn="l">
              <a:buNone/>
              <a:defRPr lang="en-US" sz="1200" b="1" i="0" kern="1200" spc="10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AU" noProof="0"/>
              <a:t>Date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317051C-C831-68A0-C46A-9D0276291B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1" y="2688124"/>
            <a:ext cx="5947575" cy="148175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>
              <a:lnSpc>
                <a:spcPts val="5400"/>
              </a:lnSpc>
              <a:defRPr sz="5000" b="0" i="0" spc="-80" baseline="0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r>
              <a:rPr lang="en-AU" noProof="0"/>
              <a:t>Presentation title goes in this space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207EB99-FC02-A4CF-7326-995BEF78E34A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502920" y="4481014"/>
            <a:ext cx="1985352" cy="750783"/>
          </a:xfrm>
          <a:prstGeom prst="rect">
            <a:avLst/>
          </a:prstGeom>
        </p:spPr>
        <p:txBody>
          <a:bodyPr vert="horz" wrap="none" lIns="45720" tIns="45720" rIns="91440" bIns="45720" rtlCol="0" anchor="t">
            <a:sp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lang="en-US" sz="1800" b="0" i="0" spc="130" baseline="0" dirty="0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Presenter Name</a:t>
            </a:r>
          </a:p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39C86A-42A5-6830-8FF5-29D6D4D7B75F}"/>
              </a:ext>
            </a:extLst>
          </p:cNvPr>
          <p:cNvSpPr txBox="1"/>
          <p:nvPr userDrawn="1"/>
        </p:nvSpPr>
        <p:spPr>
          <a:xfrm>
            <a:off x="13391909" y="-1134319"/>
            <a:ext cx="184731" cy="307777"/>
          </a:xfrm>
          <a:prstGeom prst="rect">
            <a:avLst/>
          </a:prstGeom>
          <a:noFill/>
          <a:ln w="25400">
            <a:gradFill flip="none" rotWithShape="1">
              <a:gsLst>
                <a:gs pos="5000">
                  <a:schemeClr val="accent1"/>
                </a:gs>
                <a:gs pos="100000">
                  <a:schemeClr val="accent4"/>
                </a:gs>
              </a:gsLst>
              <a:lin ang="2700000" scaled="1"/>
              <a:tileRect/>
            </a:gradFill>
          </a:ln>
        </p:spPr>
        <p:txBody>
          <a:bodyPr wrap="none" rtlCol="0">
            <a:spAutoFit/>
          </a:bodyPr>
          <a:lstStyle/>
          <a:p>
            <a:pPr algn="l"/>
            <a:endParaRPr lang="en-US" sz="14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60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DE4ADE2E-588C-FE06-85F7-12FB73F29B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3974" y="2664688"/>
            <a:ext cx="9534525" cy="1528624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ts val="5600"/>
              </a:lnSpc>
              <a:defRPr sz="5000" b="0" i="0" spc="-8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AU" noProof="0"/>
              <a:t>Divider slide title</a:t>
            </a:r>
            <a:br>
              <a:rPr lang="en-AU" noProof="0"/>
            </a:br>
            <a:r>
              <a:rPr lang="en-AU" noProof="0"/>
              <a:t>goes here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4221C3-BED3-BBFC-AB86-7EF2D9E0F397}"/>
              </a:ext>
            </a:extLst>
          </p:cNvPr>
          <p:cNvSpPr/>
          <p:nvPr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chemeClr val="bg1">
              <a:alpha val="199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B8C03F-F965-34DF-DA7D-2E41732F9784}"/>
              </a:ext>
            </a:extLst>
          </p:cNvPr>
          <p:cNvSpPr/>
          <p:nvPr userDrawn="1"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chemeClr val="bg1">
              <a:alpha val="199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5" name="Picture 12">
            <a:extLst>
              <a:ext uri="{FF2B5EF4-FFF2-40B4-BE49-F238E27FC236}">
                <a16:creationId xmlns:a16="http://schemas.microsoft.com/office/drawing/2014/main" id="{36A163C9-D8B9-E20E-32D2-1B5FE29989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6869787" y="2730"/>
            <a:ext cx="5322213" cy="685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933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4221C3-BED3-BBFC-AB86-7EF2D9E0F397}"/>
              </a:ext>
            </a:extLst>
          </p:cNvPr>
          <p:cNvSpPr/>
          <p:nvPr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chemeClr val="bg1">
              <a:alpha val="199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B8C03F-F965-34DF-DA7D-2E41732F9784}"/>
              </a:ext>
            </a:extLst>
          </p:cNvPr>
          <p:cNvSpPr/>
          <p:nvPr userDrawn="1"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chemeClr val="bg1">
              <a:alpha val="199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5" name="Picture 12">
            <a:extLst>
              <a:ext uri="{FF2B5EF4-FFF2-40B4-BE49-F238E27FC236}">
                <a16:creationId xmlns:a16="http://schemas.microsoft.com/office/drawing/2014/main" id="{36A163C9-D8B9-E20E-32D2-1B5FE29989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6869787" y="2730"/>
            <a:ext cx="5322213" cy="685917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E3FBF1A-2922-4EEC-E793-6B8A9D3CD6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3974" y="2664688"/>
            <a:ext cx="9534525" cy="1528624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ts val="5600"/>
              </a:lnSpc>
              <a:defRPr sz="5000" b="0" i="0" spc="-8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AU" noProof="0"/>
              <a:t>Divider slide title</a:t>
            </a:r>
            <a:br>
              <a:rPr lang="en-AU" noProof="0"/>
            </a:br>
            <a:r>
              <a:rPr lang="en-AU" noProof="0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1700905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04FE79-385D-A946-946E-1B69EF675584}"/>
              </a:ext>
            </a:extLst>
          </p:cNvPr>
          <p:cNvSpPr/>
          <p:nvPr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4221C3-BED3-BBFC-AB86-7EF2D9E0F397}"/>
              </a:ext>
            </a:extLst>
          </p:cNvPr>
          <p:cNvSpPr/>
          <p:nvPr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2107ED-2846-98EE-7DF3-8242EA14C73C}"/>
              </a:ext>
            </a:extLst>
          </p:cNvPr>
          <p:cNvSpPr/>
          <p:nvPr userDrawn="1"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8222F-5BE9-121C-DBAA-B2F5E2DCFEF9}"/>
              </a:ext>
            </a:extLst>
          </p:cNvPr>
          <p:cNvSpPr/>
          <p:nvPr userDrawn="1"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3" name="Picture 12">
            <a:extLst>
              <a:ext uri="{FF2B5EF4-FFF2-40B4-BE49-F238E27FC236}">
                <a16:creationId xmlns:a16="http://schemas.microsoft.com/office/drawing/2014/main" id="{3D5F8678-5593-58FF-6EF3-FE4C5C0405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6869787" y="2731"/>
            <a:ext cx="5322212" cy="685917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7FC4FAB-64B5-C327-C0FA-C905FA7F2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3974" y="2664688"/>
            <a:ext cx="9534525" cy="1528624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ts val="5600"/>
              </a:lnSpc>
              <a:defRPr sz="5000" b="0" i="0" spc="-80" baseline="0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r>
              <a:rPr lang="en-AU" noProof="0"/>
              <a:t>Divider slide title</a:t>
            </a:r>
            <a:br>
              <a:rPr lang="en-AU" noProof="0"/>
            </a:br>
            <a:r>
              <a:rPr lang="en-AU" noProof="0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2665764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5">
    <p:bg>
      <p:bgPr>
        <a:gradFill>
          <a:gsLst>
            <a:gs pos="0">
              <a:schemeClr val="tx2"/>
            </a:gs>
            <a:gs pos="38000">
              <a:srgbClr val="93186C"/>
            </a:gs>
            <a:gs pos="63000">
              <a:srgbClr val="93186C"/>
            </a:gs>
            <a:gs pos="100000">
              <a:srgbClr val="432063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3A54A3-F3A9-529C-37DF-5DDBA98C8D04}"/>
              </a:ext>
            </a:extLst>
          </p:cNvPr>
          <p:cNvSpPr/>
          <p:nvPr userDrawn="1"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8285BA-D29B-021D-79DF-D03593CB8E40}"/>
              </a:ext>
            </a:extLst>
          </p:cNvPr>
          <p:cNvSpPr/>
          <p:nvPr userDrawn="1"/>
        </p:nvSpPr>
        <p:spPr>
          <a:xfrm>
            <a:off x="-1" y="6369080"/>
            <a:ext cx="12192000" cy="4928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EA30CF-96F5-E35E-64D8-EC7CCFE163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3974" y="2664688"/>
            <a:ext cx="9534525" cy="1528624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ts val="5600"/>
              </a:lnSpc>
              <a:defRPr sz="5000" b="0" i="0" spc="-8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AU" noProof="0"/>
              <a:t>Divider slide title</a:t>
            </a:r>
            <a:br>
              <a:rPr lang="en-AU" noProof="0"/>
            </a:br>
            <a:r>
              <a:rPr lang="en-AU" noProof="0"/>
              <a:t>goes here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7BA6CA-A92D-16D2-5C95-0BE2167BD201}"/>
              </a:ext>
            </a:extLst>
          </p:cNvPr>
          <p:cNvSpPr/>
          <p:nvPr userDrawn="1"/>
        </p:nvSpPr>
        <p:spPr>
          <a:xfrm>
            <a:off x="-1" y="6369080"/>
            <a:ext cx="12192000" cy="4928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3" name="Picture 12">
            <a:extLst>
              <a:ext uri="{FF2B5EF4-FFF2-40B4-BE49-F238E27FC236}">
                <a16:creationId xmlns:a16="http://schemas.microsoft.com/office/drawing/2014/main" id="{3D5F8678-5593-58FF-6EF3-FE4C5C0405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6869787" y="2731"/>
            <a:ext cx="5322212" cy="685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65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04FE79-385D-A946-946E-1B69EF675584}"/>
              </a:ext>
            </a:extLst>
          </p:cNvPr>
          <p:cNvSpPr/>
          <p:nvPr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rgbClr val="4320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6E2562-7832-1C6D-0B4B-9D854B9CBE89}"/>
              </a:ext>
            </a:extLst>
          </p:cNvPr>
          <p:cNvSpPr/>
          <p:nvPr userDrawn="1"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rgbClr val="4320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3" name="Picture 12">
            <a:extLst>
              <a:ext uri="{FF2B5EF4-FFF2-40B4-BE49-F238E27FC236}">
                <a16:creationId xmlns:a16="http://schemas.microsoft.com/office/drawing/2014/main" id="{AD7A75EB-9B64-0499-09C3-2D1F8B0C68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6869787" y="2731"/>
            <a:ext cx="5322212" cy="685917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92033FF-4696-4E68-9CC3-24046F7BA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3974" y="2664688"/>
            <a:ext cx="9534525" cy="1528624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ts val="5600"/>
              </a:lnSpc>
              <a:defRPr sz="5000" b="0" i="0" spc="-80" baseline="0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r>
              <a:rPr lang="en-AU" noProof="0"/>
              <a:t>Divider slide title</a:t>
            </a:r>
            <a:br>
              <a:rPr lang="en-AU" noProof="0"/>
            </a:br>
            <a:r>
              <a:rPr lang="en-AU" noProof="0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33270717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04FE79-385D-A946-946E-1B69EF675584}"/>
              </a:ext>
            </a:extLst>
          </p:cNvPr>
          <p:cNvSpPr/>
          <p:nvPr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rgbClr val="4320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774C77-038B-EDAB-7808-FD6511D0788A}"/>
              </a:ext>
            </a:extLst>
          </p:cNvPr>
          <p:cNvSpPr/>
          <p:nvPr userDrawn="1"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rgbClr val="4320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12">
            <a:extLst>
              <a:ext uri="{FF2B5EF4-FFF2-40B4-BE49-F238E27FC236}">
                <a16:creationId xmlns:a16="http://schemas.microsoft.com/office/drawing/2014/main" id="{787D35F4-29B1-B203-DEBB-4E3E2A68FD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6869787" y="2731"/>
            <a:ext cx="5322212" cy="685917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B2A1C40-BA47-A1AA-DD35-28F724294B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3974" y="2664688"/>
            <a:ext cx="9534525" cy="1528624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ts val="5600"/>
              </a:lnSpc>
              <a:defRPr sz="5000" b="0" i="0" spc="-80" baseline="0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r>
              <a:rPr lang="en-AU" noProof="0"/>
              <a:t>Divider slide title</a:t>
            </a:r>
            <a:br>
              <a:rPr lang="en-AU" noProof="0"/>
            </a:br>
            <a:r>
              <a:rPr lang="en-AU" noProof="0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17643302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FD8D5FF-3E84-ECDF-9100-D10ACAFA5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89" y="239394"/>
            <a:ext cx="11555038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endParaRPr lang="en-AU" noProof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FF1446C-686C-8385-EFE1-58BE2B144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F5BDF66-DD90-8663-B6CA-62EC25E3CCA3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20777" y="817325"/>
            <a:ext cx="11549550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72A194-099A-98B4-DA5D-3C2143BEE87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00F264C-F4A1-6313-C311-CC993AC76E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50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F7BEFA-35EE-41DF-AF9F-F5258A5E9E3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BFB3AA-C27B-FFC4-2696-359D688CAF17}"/>
              </a:ext>
            </a:extLst>
          </p:cNvPr>
          <p:cNvSpPr>
            <a:spLocks noGrp="1"/>
          </p:cNvSpPr>
          <p:nvPr>
            <p:ph type="body" sz="half" idx="28" hasCustomPrompt="1"/>
          </p:nvPr>
        </p:nvSpPr>
        <p:spPr>
          <a:xfrm>
            <a:off x="398875" y="2182570"/>
            <a:ext cx="3087275" cy="33598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lang="en-US" sz="16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Section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7A01AB-0068-866B-E540-10C36FD30B44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94289" y="2587877"/>
            <a:ext cx="3087947" cy="234376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 b="0" i="0">
                <a:latin typeface="Aptos Light" panose="020B0004020202020204" pitchFamily="34" charset="0"/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54A9FF7-2688-1C94-2155-D235598BD98C}"/>
              </a:ext>
            </a:extLst>
          </p:cNvPr>
          <p:cNvSpPr>
            <a:spLocks noGrp="1"/>
          </p:cNvSpPr>
          <p:nvPr>
            <p:ph type="body" sz="half" idx="29" hasCustomPrompt="1"/>
          </p:nvPr>
        </p:nvSpPr>
        <p:spPr>
          <a:xfrm>
            <a:off x="4548172" y="2182570"/>
            <a:ext cx="3087275" cy="33598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lang="en-US" sz="16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Section title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8F1697F-05F6-3599-6C65-15E4BF042072}"/>
              </a:ext>
            </a:extLst>
          </p:cNvPr>
          <p:cNvSpPr>
            <a:spLocks noGrp="1"/>
          </p:cNvSpPr>
          <p:nvPr>
            <p:ph type="body" sz="half" idx="30" hasCustomPrompt="1"/>
          </p:nvPr>
        </p:nvSpPr>
        <p:spPr>
          <a:xfrm>
            <a:off x="8697469" y="2182570"/>
            <a:ext cx="3087275" cy="33598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lang="en-US" sz="16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979C23-02D1-DE86-A69C-00A3F9B8E5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17EB7BB-995F-DFDF-7A3C-FAB461D2675F}"/>
              </a:ext>
            </a:extLst>
          </p:cNvPr>
          <p:cNvSpPr>
            <a:spLocks noGrp="1"/>
          </p:cNvSpPr>
          <p:nvPr>
            <p:ph idx="31"/>
          </p:nvPr>
        </p:nvSpPr>
        <p:spPr>
          <a:xfrm>
            <a:off x="8705178" y="2587877"/>
            <a:ext cx="3087947" cy="234376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latin typeface="+mn-lt"/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EEA220F-E029-F613-24B3-BA34B4D16D21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4549734" y="2587877"/>
            <a:ext cx="3087947" cy="234376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latin typeface="+mn-lt"/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DD70191-9E0B-A3C8-BD42-A6448BF4FA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9" y="239394"/>
            <a:ext cx="11555037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DA629-06F2-0A52-32E7-1D330CB24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13909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F2B7CDF-4CAF-7A29-FA23-452F2800E6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0" y="239394"/>
            <a:ext cx="11549548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9B472B-B027-D192-1CB8-DCBF2A8E47C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23BFBA-9E8C-BC61-760E-D3DFED8E22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AC98A1E-50DA-3AB8-2031-7ACE349A3AEF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20778" y="816646"/>
            <a:ext cx="11549548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 baseline="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4C945E8-DD62-B09A-2956-80A85BDDD3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EE706CB-E515-17CB-5E3A-2B080B2CD9C1}"/>
              </a:ext>
            </a:extLst>
          </p:cNvPr>
          <p:cNvSpPr>
            <a:spLocks noGrp="1"/>
          </p:cNvSpPr>
          <p:nvPr>
            <p:ph type="body" sz="half" idx="28" hasCustomPrompt="1"/>
          </p:nvPr>
        </p:nvSpPr>
        <p:spPr>
          <a:xfrm>
            <a:off x="398875" y="2182570"/>
            <a:ext cx="3087275" cy="33598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lang="en-US" sz="16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Section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F7AE030-D5FB-66D0-2C5D-E7EE5F085D78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94289" y="2587877"/>
            <a:ext cx="3087947" cy="234376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 b="0" i="0">
                <a:latin typeface="Aptos Light" panose="020B0004020202020204" pitchFamily="34" charset="0"/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BF2C73E5-A454-C4D9-58B8-72379598969D}"/>
              </a:ext>
            </a:extLst>
          </p:cNvPr>
          <p:cNvSpPr>
            <a:spLocks noGrp="1"/>
          </p:cNvSpPr>
          <p:nvPr>
            <p:ph type="body" sz="half" idx="29" hasCustomPrompt="1"/>
          </p:nvPr>
        </p:nvSpPr>
        <p:spPr>
          <a:xfrm>
            <a:off x="4548172" y="2182570"/>
            <a:ext cx="3087275" cy="33598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lang="en-US" sz="16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Section title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35FFD7B2-494F-D645-130B-49D9E0348BF6}"/>
              </a:ext>
            </a:extLst>
          </p:cNvPr>
          <p:cNvSpPr>
            <a:spLocks noGrp="1"/>
          </p:cNvSpPr>
          <p:nvPr>
            <p:ph type="body" sz="half" idx="30" hasCustomPrompt="1"/>
          </p:nvPr>
        </p:nvSpPr>
        <p:spPr>
          <a:xfrm>
            <a:off x="8697469" y="2182570"/>
            <a:ext cx="3087275" cy="33598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lang="en-US" sz="16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Section title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1BF5CAA-51D2-39E1-F82C-D600C4BA70BD}"/>
              </a:ext>
            </a:extLst>
          </p:cNvPr>
          <p:cNvSpPr>
            <a:spLocks noGrp="1"/>
          </p:cNvSpPr>
          <p:nvPr>
            <p:ph idx="31"/>
          </p:nvPr>
        </p:nvSpPr>
        <p:spPr>
          <a:xfrm>
            <a:off x="8705178" y="2587877"/>
            <a:ext cx="3087947" cy="234376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latin typeface="+mn-lt"/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4180A25-3240-8178-9F15-E216EB52F691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4549734" y="2587877"/>
            <a:ext cx="3087947" cy="234376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latin typeface="+mn-lt"/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38975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F65FD0-31B1-93DF-F70B-31949D86D27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2736CE-5D5C-5F9F-8223-C6CD09AED2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5F5FD75-16CE-37A1-5D34-696391DCB41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5924" y="1571626"/>
            <a:ext cx="11549547" cy="4743450"/>
          </a:xfrm>
          <a:prstGeom prst="rect">
            <a:avLst/>
          </a:prstGeom>
        </p:spPr>
        <p:txBody>
          <a:bodyPr/>
          <a:lstStyle>
            <a:lvl1pPr>
              <a:lnSpc>
                <a:spcPts val="2020"/>
              </a:lnSpc>
              <a:spcBef>
                <a:spcPts val="600"/>
              </a:spcBef>
              <a:spcAft>
                <a:spcPts val="600"/>
              </a:spcAft>
              <a:defRPr b="0" i="0">
                <a:solidFill>
                  <a:schemeClr val="tx1"/>
                </a:solidFill>
                <a:latin typeface="+mn-lt"/>
              </a:defRPr>
            </a:lvl1pPr>
            <a:lvl2pPr>
              <a:lnSpc>
                <a:spcPts val="2020"/>
              </a:lnSpc>
              <a:spcBef>
                <a:spcPts val="600"/>
              </a:spcBef>
              <a:spcAft>
                <a:spcPts val="600"/>
              </a:spcAft>
              <a:defRPr b="0" i="0">
                <a:solidFill>
                  <a:schemeClr val="tx1"/>
                </a:solidFill>
                <a:latin typeface="+mn-lt"/>
              </a:defRPr>
            </a:lvl2pPr>
            <a:lvl3pPr>
              <a:lnSpc>
                <a:spcPts val="2020"/>
              </a:lnSpc>
              <a:spcBef>
                <a:spcPts val="600"/>
              </a:spcBef>
              <a:spcAft>
                <a:spcPts val="600"/>
              </a:spcAft>
              <a:defRPr b="0" i="0">
                <a:solidFill>
                  <a:schemeClr val="tx1"/>
                </a:solidFill>
                <a:latin typeface="+mn-lt"/>
              </a:defRPr>
            </a:lvl3pPr>
            <a:lvl4pPr marL="1371600" indent="0">
              <a:lnSpc>
                <a:spcPct val="110000"/>
              </a:lnSpc>
              <a:spcAft>
                <a:spcPts val="600"/>
              </a:spcAft>
              <a:buNone/>
              <a:defRPr sz="1100" b="0" i="0">
                <a:latin typeface="Aptos Light" panose="020B0004020202020204" pitchFamily="34" charset="0"/>
              </a:defRPr>
            </a:lvl4pPr>
            <a:lvl5pPr>
              <a:lnSpc>
                <a:spcPct val="110000"/>
              </a:lnSpc>
              <a:spcAft>
                <a:spcPts val="600"/>
              </a:spcAft>
              <a:defRPr b="0" i="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17613E-A34B-E13B-33C8-9CE58199A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9" y="239394"/>
            <a:ext cx="11555037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3C0513-D595-8A47-F133-7A4D4E96B9DF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20778" y="816646"/>
            <a:ext cx="11549548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EFF088-60AE-DBE6-A3BB-D1E258E83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7106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F65FD0-31B1-93DF-F70B-31949D86D27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2736CE-5D5C-5F9F-8223-C6CD09AED2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917613E-A34B-E13B-33C8-9CE58199A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9" y="239394"/>
            <a:ext cx="11549063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3C0513-D595-8A47-F133-7A4D4E96B9DF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20778" y="816646"/>
            <a:ext cx="11549548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EFF088-60AE-DBE6-A3BB-D1E258E83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21126A49-0D03-BD33-67B1-0C511E31616F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415925" y="1457325"/>
            <a:ext cx="11549063" cy="4800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4042507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A5C49-5CC5-D692-16C8-6A41E0E22A45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394289" y="2043303"/>
            <a:ext cx="5425486" cy="4306598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1100"/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72A194-099A-98B4-DA5D-3C2143BEE87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E0E0A0-AC6D-D0D8-96B5-5B17482E97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024796-1884-132D-5659-56CD695F3ACF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6451600" y="2043303"/>
            <a:ext cx="5424172" cy="4306598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1100"/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75BD93-918F-0E74-C824-8AEF9D8371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9" y="239394"/>
            <a:ext cx="11555038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7AEE852-6E90-E4F7-14E5-F9E0F92DDE7F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20778" y="816646"/>
            <a:ext cx="11549549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11955-2208-DE83-5A7D-DFB7BF36FE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9436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ob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69194-ADEE-841C-40EC-37FED59C220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94287" y="3442764"/>
            <a:ext cx="5458968" cy="1721727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/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35A5EA9C-DEC7-052E-DC2B-49E2C5C27E65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398873" y="3018773"/>
            <a:ext cx="5458968" cy="40556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lang="en-US" sz="18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Section title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F362F8A6-20F6-F892-B684-7F48AF6DA9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7" y="239394"/>
            <a:ext cx="5465007" cy="92416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F7A08DC-46E6-5D61-E190-5742713F60AD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20779" y="1229555"/>
            <a:ext cx="5459516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8B5547-9F41-075C-B200-2C539CDF33C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C5A970C-941B-C4F4-27D6-CE9EB65AA6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DF84E31-83BA-D9CF-4FEB-5FBEBEDE2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B499638-2C31-EBBF-5930-6A80E6227EE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239394"/>
            <a:ext cx="5785262" cy="6113781"/>
          </a:xfrm>
          <a:prstGeom prst="roundRect">
            <a:avLst>
              <a:gd name="adj" fmla="val 2816"/>
            </a:avLst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AU"/>
              <a:t>Click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4248114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B2EDDCD-93E8-75CE-1146-92A48BE65CB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088064" y="239394"/>
            <a:ext cx="5882264" cy="6104256"/>
          </a:xfrm>
          <a:prstGeom prst="roundRect">
            <a:avLst>
              <a:gd name="adj" fmla="val 296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444444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7F6982-69EE-44F8-E513-16052392519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E543EB-BE1D-7BEB-8791-1D5C4821A9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AD386-5DEE-6697-E7C7-97457258197F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415289" y="2052225"/>
            <a:ext cx="5458967" cy="4306598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1100"/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D9B766-DFFD-0591-BCF8-7A92EC2B4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7" y="239394"/>
            <a:ext cx="5465007" cy="92416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B939475-CA88-36FC-65EA-451FE815DAEF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20779" y="1229555"/>
            <a:ext cx="5459516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5766A38-7567-FD4B-30F2-F8447B4CED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76998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B2EDDCD-93E8-75CE-1146-92A48BE65CB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096000" y="1582607"/>
            <a:ext cx="5874327" cy="4767294"/>
          </a:xfrm>
          <a:prstGeom prst="roundRect">
            <a:avLst>
              <a:gd name="adj" fmla="val 296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444444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7F6982-69EE-44F8-E513-16052392519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E543EB-BE1D-7BEB-8791-1D5C4821A9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2970B-3B4D-64BB-02FD-2626AAF859AA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415289" y="1576356"/>
            <a:ext cx="5325111" cy="477354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/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26B3A2-46E1-81F2-FC09-EB25EBD14F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0" y="239394"/>
            <a:ext cx="11555037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72F30EF-BEA6-3AEF-328F-C32CD420C371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20778" y="816646"/>
            <a:ext cx="11549549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555AF66-3094-617E-D6DE-AE2B4713B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9256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/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C25C3A7-85EB-7667-97E4-49C1EDC4EAE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059C3B-D593-01D5-6FBB-4DA8F66477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C638C5-1392-6597-68F6-407D06FCCEEE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6606439" y="1576354"/>
            <a:ext cx="5346111" cy="477354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/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24D457B-C824-ACCD-6011-130418F957C9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415289" y="1576354"/>
            <a:ext cx="5325111" cy="477354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/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CF529CE-4FB7-DFEC-49F2-5EF84F21C4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9" y="239394"/>
            <a:ext cx="11555037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D3BE8F0-63DC-CC36-F9F0-6C00B6E6873A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20778" y="816646"/>
            <a:ext cx="11549548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C03C579-32DE-2E30-2C68-70AB67CA5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3946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object 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4EFD80E-6933-B8EB-03CA-A282504C14BA}"/>
              </a:ext>
            </a:extLst>
          </p:cNvPr>
          <p:cNvSpPr/>
          <p:nvPr/>
        </p:nvSpPr>
        <p:spPr>
          <a:xfrm>
            <a:off x="8429624" y="0"/>
            <a:ext cx="376237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42591E7-A882-228B-F58B-A03F4CA6495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771769" y="1153288"/>
            <a:ext cx="3095232" cy="4821627"/>
          </a:xfrm>
          <a:prstGeom prst="rect">
            <a:avLst/>
          </a:prstGeom>
        </p:spPr>
        <p:txBody>
          <a:bodyPr>
            <a:noAutofit/>
          </a:bodyPr>
          <a:lstStyle>
            <a:lvl1pPr marL="176213" indent="-176213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Char char="&gt;"/>
              <a:tabLst/>
              <a:defRPr sz="1400">
                <a:solidFill>
                  <a:schemeClr val="tx1"/>
                </a:solidFill>
              </a:defRPr>
            </a:lvl1pPr>
            <a:lvl2pPr marL="517525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chemeClr val="tx1"/>
                </a:solidFill>
              </a:defRPr>
            </a:lvl2pPr>
            <a:lvl3pPr marL="973138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tx1"/>
                </a:solidFill>
              </a:defRPr>
            </a:lvl3pPr>
            <a:lvl4pPr marL="142875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4pPr>
            <a:lvl5pPr marL="1890713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33818F-5D70-F85B-0A7E-C775688916F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04F79E-A8C8-8095-FDF0-86AF996A9D9B}"/>
              </a:ext>
            </a:extLst>
          </p:cNvPr>
          <p:cNvSpPr/>
          <p:nvPr userDrawn="1"/>
        </p:nvSpPr>
        <p:spPr>
          <a:xfrm>
            <a:off x="8429624" y="0"/>
            <a:ext cx="376237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b="0" i="0" noProof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74898D-EE6F-7F83-CCCE-FC7AC363F1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2F67A3-5853-C686-F435-EE90F8E8A8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EEF5E21-A1DF-ADF0-AE59-C147B1B2F5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1" y="239395"/>
            <a:ext cx="7605094" cy="51206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19A1525-B93D-37BA-CD41-37E317FCE34F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15289" y="818876"/>
            <a:ext cx="7605095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D856BEB-1FB1-51E9-20CF-F4BC4B817A2A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15289" y="1546790"/>
            <a:ext cx="7605094" cy="4796860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71B5AE5-DA2E-41E6-F2DF-0DF2335FE1AE}"/>
              </a:ext>
            </a:extLst>
          </p:cNvPr>
          <p:cNvSpPr>
            <a:spLocks noGrp="1"/>
          </p:cNvSpPr>
          <p:nvPr>
            <p:ph idx="31"/>
          </p:nvPr>
        </p:nvSpPr>
        <p:spPr>
          <a:xfrm>
            <a:off x="8763195" y="1546790"/>
            <a:ext cx="3095232" cy="4177676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tx2"/>
                </a:solidFill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9E43415-747C-2D93-D9F2-4AA92DFF2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9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7826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with object 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04F79E-A8C8-8095-FDF0-86AF996A9D9B}"/>
              </a:ext>
            </a:extLst>
          </p:cNvPr>
          <p:cNvSpPr/>
          <p:nvPr userDrawn="1"/>
        </p:nvSpPr>
        <p:spPr>
          <a:xfrm>
            <a:off x="-2987" y="-8114"/>
            <a:ext cx="3762375" cy="68661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b="0" i="0" noProof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EEF5E21-A1DF-ADF0-AE59-C147B1B2F5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00" y="239395"/>
            <a:ext cx="7605094" cy="51206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19A1525-B93D-37BA-CD41-37E317FCE34F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152798" y="818876"/>
            <a:ext cx="7605095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D856BEB-1FB1-51E9-20CF-F4BC4B817A2A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152798" y="1546790"/>
            <a:ext cx="7605094" cy="4796860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9E43415-747C-2D93-D9F2-4AA92DFF2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9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D3A76C-223D-B864-D89F-5FF6FE7C31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FF3603D-A29C-0B2E-2234-5ABC2D5073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08762" y="6344586"/>
            <a:ext cx="1446236" cy="51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284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with object m">
    <p:bg>
      <p:bgPr>
        <a:gradFill>
          <a:gsLst>
            <a:gs pos="0">
              <a:schemeClr val="tx2"/>
            </a:gs>
            <a:gs pos="65000">
              <a:schemeClr val="accent1"/>
            </a:gs>
            <a:gs pos="100000">
              <a:schemeClr val="accent3"/>
            </a:gs>
          </a:gsLst>
          <a:lin ang="9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04F79E-A8C8-8095-FDF0-86AF996A9D9B}"/>
              </a:ext>
            </a:extLst>
          </p:cNvPr>
          <p:cNvSpPr/>
          <p:nvPr userDrawn="1"/>
        </p:nvSpPr>
        <p:spPr>
          <a:xfrm>
            <a:off x="-2987" y="-8114"/>
            <a:ext cx="3762375" cy="68661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b="0" i="0" noProof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EEF5E21-A1DF-ADF0-AE59-C147B1B2F5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00" y="239395"/>
            <a:ext cx="7605094" cy="51206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19A1525-B93D-37BA-CD41-37E317FCE34F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152798" y="818876"/>
            <a:ext cx="7605095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D856BEB-1FB1-51E9-20CF-F4BC4B817A2A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152798" y="1546790"/>
            <a:ext cx="7605094" cy="4796860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9E43415-747C-2D93-D9F2-4AA92DFF2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9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D3A76C-223D-B864-D89F-5FF6FE7C31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FF3603D-A29C-0B2E-2234-5ABC2D5073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08762" y="6344586"/>
            <a:ext cx="1446236" cy="51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582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object g">
    <p:bg>
      <p:bgPr>
        <a:gradFill>
          <a:gsLst>
            <a:gs pos="98000">
              <a:schemeClr val="tx2"/>
            </a:gs>
            <a:gs pos="36000">
              <a:srgbClr val="93186C"/>
            </a:gs>
            <a:gs pos="0">
              <a:srgbClr val="B922F3"/>
            </a:gs>
          </a:gsLst>
          <a:lin ang="9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42591E7-A882-228B-F58B-A03F4CA6495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771769" y="1153288"/>
            <a:ext cx="3095232" cy="4821627"/>
          </a:xfrm>
          <a:prstGeom prst="rect">
            <a:avLst/>
          </a:prstGeom>
        </p:spPr>
        <p:txBody>
          <a:bodyPr>
            <a:noAutofit/>
          </a:bodyPr>
          <a:lstStyle>
            <a:lvl1pPr marL="176213" indent="-176213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1pPr>
            <a:lvl2pPr marL="517525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chemeClr val="tx1"/>
                </a:solidFill>
              </a:defRPr>
            </a:lvl2pPr>
            <a:lvl3pPr marL="973138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tx1"/>
                </a:solidFill>
              </a:defRPr>
            </a:lvl3pPr>
            <a:lvl4pPr marL="142875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4pPr>
            <a:lvl5pPr marL="1890713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F79289-F9B6-F054-728B-6081000E9E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E168827-979E-946D-4CC8-954233C509A0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15289" y="818876"/>
            <a:ext cx="7605095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A5D1263-4A0A-2DD0-1E78-26E4991DE67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15289" y="1546790"/>
            <a:ext cx="7605094" cy="4796860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F90FF24-2630-F276-D08C-1A20F4029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1" y="239395"/>
            <a:ext cx="7605094" cy="51206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85D5383-779B-6745-F4BC-969F8A8465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9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3D1366-2864-CEF6-B4B7-76100E94CEA5}"/>
              </a:ext>
            </a:extLst>
          </p:cNvPr>
          <p:cNvSpPr/>
          <p:nvPr userDrawn="1"/>
        </p:nvSpPr>
        <p:spPr>
          <a:xfrm>
            <a:off x="8429624" y="0"/>
            <a:ext cx="376237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7F38BC8-3FD6-A0EA-6774-6C0A5B0B3C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122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object m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4EFD80E-6933-B8EB-03CA-A282504C14BA}"/>
              </a:ext>
            </a:extLst>
          </p:cNvPr>
          <p:cNvSpPr/>
          <p:nvPr/>
        </p:nvSpPr>
        <p:spPr>
          <a:xfrm>
            <a:off x="8429624" y="0"/>
            <a:ext cx="376237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42591E7-A882-228B-F58B-A03F4CA6495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771769" y="1153288"/>
            <a:ext cx="3095232" cy="4821627"/>
          </a:xfrm>
          <a:prstGeom prst="rect">
            <a:avLst/>
          </a:prstGeom>
        </p:spPr>
        <p:txBody>
          <a:bodyPr>
            <a:noAutofit/>
          </a:bodyPr>
          <a:lstStyle>
            <a:lvl1pPr marL="176213" indent="-176213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Char char="&gt;"/>
              <a:tabLst/>
              <a:defRPr sz="1400">
                <a:solidFill>
                  <a:schemeClr val="tx1"/>
                </a:solidFill>
              </a:defRPr>
            </a:lvl1pPr>
            <a:lvl2pPr marL="517525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chemeClr val="tx1"/>
                </a:solidFill>
              </a:defRPr>
            </a:lvl2pPr>
            <a:lvl3pPr marL="973138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tx1"/>
                </a:solidFill>
              </a:defRPr>
            </a:lvl3pPr>
            <a:lvl4pPr marL="142875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4pPr>
            <a:lvl5pPr marL="1890713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33818F-5D70-F85B-0A7E-C775688916F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04F79E-A8C8-8095-FDF0-86AF996A9D9B}"/>
              </a:ext>
            </a:extLst>
          </p:cNvPr>
          <p:cNvSpPr/>
          <p:nvPr userDrawn="1"/>
        </p:nvSpPr>
        <p:spPr>
          <a:xfrm>
            <a:off x="8429624" y="0"/>
            <a:ext cx="376237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74898D-EE6F-7F83-CCCE-FC7AC363F1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2F67A3-5853-C686-F435-EE90F8E8A8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E0383D2-F365-D62F-257B-B8A5D7F0E10F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15289" y="818876"/>
            <a:ext cx="7605095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90DDA6B-EF9D-D95E-7AFF-FB798D9EBD68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15289" y="1546790"/>
            <a:ext cx="7605094" cy="4796860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D4087EC-1FFD-DDDA-F72C-877FFECA86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1" y="239395"/>
            <a:ext cx="7605094" cy="51206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EAA27-E6C8-8F9A-7DFA-9EF9BD278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9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0452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object m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4EFD80E-6933-B8EB-03CA-A282504C14BA}"/>
              </a:ext>
            </a:extLst>
          </p:cNvPr>
          <p:cNvSpPr/>
          <p:nvPr/>
        </p:nvSpPr>
        <p:spPr>
          <a:xfrm>
            <a:off x="8429624" y="0"/>
            <a:ext cx="376237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42591E7-A882-228B-F58B-A03F4CA6495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771769" y="1153288"/>
            <a:ext cx="3095232" cy="4821627"/>
          </a:xfrm>
          <a:prstGeom prst="rect">
            <a:avLst/>
          </a:prstGeom>
        </p:spPr>
        <p:txBody>
          <a:bodyPr>
            <a:noAutofit/>
          </a:bodyPr>
          <a:lstStyle>
            <a:lvl1pPr marL="176213" indent="-176213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Char char="&gt;"/>
              <a:tabLst/>
              <a:defRPr sz="1400">
                <a:solidFill>
                  <a:schemeClr val="tx1"/>
                </a:solidFill>
              </a:defRPr>
            </a:lvl1pPr>
            <a:lvl2pPr marL="517525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chemeClr val="tx1"/>
                </a:solidFill>
              </a:defRPr>
            </a:lvl2pPr>
            <a:lvl3pPr marL="973138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tx1"/>
                </a:solidFill>
              </a:defRPr>
            </a:lvl3pPr>
            <a:lvl4pPr marL="142875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4pPr>
            <a:lvl5pPr marL="1890713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33818F-5D70-F85B-0A7E-C775688916F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04F79E-A8C8-8095-FDF0-86AF996A9D9B}"/>
              </a:ext>
            </a:extLst>
          </p:cNvPr>
          <p:cNvSpPr/>
          <p:nvPr userDrawn="1"/>
        </p:nvSpPr>
        <p:spPr>
          <a:xfrm>
            <a:off x="8429624" y="0"/>
            <a:ext cx="376237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74898D-EE6F-7F83-CCCE-FC7AC363F1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2F67A3-5853-C686-F435-EE90F8E8A8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E0383D2-F365-D62F-257B-B8A5D7F0E10F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15289" y="818876"/>
            <a:ext cx="7605095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90DDA6B-EF9D-D95E-7AFF-FB798D9EBD68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15289" y="1546790"/>
            <a:ext cx="7605094" cy="4796860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D4087EC-1FFD-DDDA-F72C-877FFECA86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1" y="239395"/>
            <a:ext cx="7605094" cy="51206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EAA27-E6C8-8F9A-7DFA-9EF9BD278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9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0177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object m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4EFD80E-6933-B8EB-03CA-A282504C14BA}"/>
              </a:ext>
            </a:extLst>
          </p:cNvPr>
          <p:cNvSpPr/>
          <p:nvPr/>
        </p:nvSpPr>
        <p:spPr>
          <a:xfrm>
            <a:off x="8429624" y="0"/>
            <a:ext cx="376237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42591E7-A882-228B-F58B-A03F4CA6495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771769" y="1153288"/>
            <a:ext cx="3095232" cy="4821627"/>
          </a:xfrm>
          <a:prstGeom prst="rect">
            <a:avLst/>
          </a:prstGeom>
        </p:spPr>
        <p:txBody>
          <a:bodyPr>
            <a:noAutofit/>
          </a:bodyPr>
          <a:lstStyle>
            <a:lvl1pPr marL="176213" indent="-176213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Char char="&gt;"/>
              <a:tabLst/>
              <a:defRPr sz="1400">
                <a:solidFill>
                  <a:schemeClr val="tx1"/>
                </a:solidFill>
              </a:defRPr>
            </a:lvl1pPr>
            <a:lvl2pPr marL="517525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chemeClr val="tx1"/>
                </a:solidFill>
              </a:defRPr>
            </a:lvl2pPr>
            <a:lvl3pPr marL="973138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tx1"/>
                </a:solidFill>
              </a:defRPr>
            </a:lvl3pPr>
            <a:lvl4pPr marL="142875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4pPr>
            <a:lvl5pPr marL="1890713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33818F-5D70-F85B-0A7E-C775688916F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04F79E-A8C8-8095-FDF0-86AF996A9D9B}"/>
              </a:ext>
            </a:extLst>
          </p:cNvPr>
          <p:cNvSpPr/>
          <p:nvPr userDrawn="1"/>
        </p:nvSpPr>
        <p:spPr>
          <a:xfrm>
            <a:off x="8429624" y="0"/>
            <a:ext cx="376237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74898D-EE6F-7F83-CCCE-FC7AC363F1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2F67A3-5853-C686-F435-EE90F8E8A8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E0383D2-F365-D62F-257B-B8A5D7F0E10F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15289" y="818876"/>
            <a:ext cx="7605095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90DDA6B-EF9D-D95E-7AFF-FB798D9EBD68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15289" y="1546790"/>
            <a:ext cx="7605094" cy="4796860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D4087EC-1FFD-DDDA-F72C-877FFECA86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1" y="239395"/>
            <a:ext cx="7605094" cy="51206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EAA27-E6C8-8F9A-7DFA-9EF9BD278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9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3311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object g1">
    <p:bg>
      <p:bgPr>
        <a:gradFill>
          <a:gsLst>
            <a:gs pos="98000">
              <a:schemeClr val="tx2"/>
            </a:gs>
            <a:gs pos="64000">
              <a:srgbClr val="93186C"/>
            </a:gs>
            <a:gs pos="0">
              <a:srgbClr val="B922F3"/>
            </a:gs>
          </a:gsLst>
          <a:lin ang="9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42591E7-A882-228B-F58B-A03F4CA6495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771769" y="1153288"/>
            <a:ext cx="3095232" cy="4821627"/>
          </a:xfrm>
          <a:prstGeom prst="rect">
            <a:avLst/>
          </a:prstGeom>
        </p:spPr>
        <p:txBody>
          <a:bodyPr>
            <a:noAutofit/>
          </a:bodyPr>
          <a:lstStyle>
            <a:lvl1pPr marL="176213" indent="-176213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1pPr>
            <a:lvl2pPr marL="517525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chemeClr val="tx1"/>
                </a:solidFill>
              </a:defRPr>
            </a:lvl2pPr>
            <a:lvl3pPr marL="973138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tx1"/>
                </a:solidFill>
              </a:defRPr>
            </a:lvl3pPr>
            <a:lvl4pPr marL="142875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4pPr>
            <a:lvl5pPr marL="1890713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5D533D-D0D7-9F61-28FD-E19F6D6440C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22C71CF-45BD-7A97-EDAA-84DEAE91962E}"/>
              </a:ext>
            </a:extLst>
          </p:cNvPr>
          <p:cNvSpPr/>
          <p:nvPr/>
        </p:nvSpPr>
        <p:spPr>
          <a:xfrm>
            <a:off x="6015038" y="0"/>
            <a:ext cx="617696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F79289-F9B6-F054-728B-6081000E9E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D97029-B9CB-9668-5CE0-E499B157D9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4B1A5E9-2690-47AA-B8AC-EB74D9735786}"/>
              </a:ext>
            </a:extLst>
          </p:cNvPr>
          <p:cNvSpPr/>
          <p:nvPr userDrawn="1"/>
        </p:nvSpPr>
        <p:spPr>
          <a:xfrm>
            <a:off x="6015038" y="0"/>
            <a:ext cx="617696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50B8AD-5096-4040-7261-AA045E0F60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69114BE-C451-4DDF-0492-2B3733442E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0" y="239395"/>
            <a:ext cx="5404397" cy="92354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963570B-B4BD-8B31-9D30-C2586FB92960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15288" y="1546790"/>
            <a:ext cx="5404397" cy="4927448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579C37C-A07B-0B24-9603-4E9019E3AC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2042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object g2">
    <p:bg>
      <p:bgPr>
        <a:gradFill>
          <a:gsLst>
            <a:gs pos="98000">
              <a:srgbClr val="432063"/>
            </a:gs>
            <a:gs pos="64000">
              <a:srgbClr val="93186C"/>
            </a:gs>
            <a:gs pos="0">
              <a:srgbClr val="B922F3"/>
            </a:gs>
          </a:gsLst>
          <a:lin ang="9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42591E7-A882-228B-F58B-A03F4CA6495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771769" y="1153288"/>
            <a:ext cx="3095232" cy="4821627"/>
          </a:xfrm>
          <a:prstGeom prst="rect">
            <a:avLst/>
          </a:prstGeom>
        </p:spPr>
        <p:txBody>
          <a:bodyPr>
            <a:noAutofit/>
          </a:bodyPr>
          <a:lstStyle>
            <a:lvl1pPr marL="176213" indent="-176213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1pPr>
            <a:lvl2pPr marL="517525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chemeClr val="tx1"/>
                </a:solidFill>
              </a:defRPr>
            </a:lvl2pPr>
            <a:lvl3pPr marL="973138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tx1"/>
                </a:solidFill>
              </a:defRPr>
            </a:lvl3pPr>
            <a:lvl4pPr marL="142875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4pPr>
            <a:lvl5pPr marL="1890713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5D533D-D0D7-9F61-28FD-E19F6D6440C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22C71CF-45BD-7A97-EDAA-84DEAE91962E}"/>
              </a:ext>
            </a:extLst>
          </p:cNvPr>
          <p:cNvSpPr/>
          <p:nvPr/>
        </p:nvSpPr>
        <p:spPr>
          <a:xfrm>
            <a:off x="6015038" y="0"/>
            <a:ext cx="617696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F79289-F9B6-F054-728B-6081000E9E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D97029-B9CB-9668-5CE0-E499B157D9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31DF34A-7B19-9CB4-C590-91A3B1B45B8B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15289" y="1231356"/>
            <a:ext cx="5399077" cy="40556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E58F8FB-C43A-5227-F064-73C30E09CCCC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15288" y="1906469"/>
            <a:ext cx="5404397" cy="4567768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72B7206-4846-25CD-32C6-C46E9062E7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0" y="239395"/>
            <a:ext cx="5404397" cy="92354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1F99628-1064-A39F-AFB9-5E5469F4C4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4816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object m6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21514D8-DB77-663E-8DDF-BA55CC4388FF}"/>
              </a:ext>
            </a:extLst>
          </p:cNvPr>
          <p:cNvSpPr/>
          <p:nvPr/>
        </p:nvSpPr>
        <p:spPr>
          <a:xfrm>
            <a:off x="6015038" y="0"/>
            <a:ext cx="617696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64EF03-6B71-D6B1-B9D0-2CC0E7D6B7F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256284-C765-B428-5B94-9EFE8C8335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BD6EF6-3EEA-4F98-C184-7D181F21793F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15289" y="1231356"/>
            <a:ext cx="5399077" cy="40556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FAFD510-52EF-E595-714C-8E05B6DFF74B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15288" y="1906469"/>
            <a:ext cx="5404397" cy="4567768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786AF8B-1814-A8A8-20AA-ACBFEF5440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0" y="239395"/>
            <a:ext cx="5404397" cy="92354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2325802-3371-3086-D03F-16C4F1CFD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4265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object m7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739F3AB-ED1A-5992-2981-F46FEF80393C}"/>
              </a:ext>
            </a:extLst>
          </p:cNvPr>
          <p:cNvSpPr/>
          <p:nvPr/>
        </p:nvSpPr>
        <p:spPr>
          <a:xfrm>
            <a:off x="6031252" y="0"/>
            <a:ext cx="616074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76A01F-EB75-9084-E8DC-F915B482F8E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BB07D0-2DE2-568E-FEC5-4C15030DE9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9611476-4379-88D8-1AFA-A979198109A8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15289" y="1231356"/>
            <a:ext cx="5399077" cy="40556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A40DB7D-A025-7BCC-5DBC-B81871D39D9E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15288" y="1906469"/>
            <a:ext cx="5404397" cy="4567768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FC5263E-4950-6833-9FF2-19368A912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0" y="239395"/>
            <a:ext cx="5404397" cy="92354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6EB147F-AA7C-D750-B788-E1AE743524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9338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685D7E4A-08B9-0BE9-BC9A-B3AC55E8C2A2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088063" y="1231926"/>
            <a:ext cx="5915025" cy="5064100"/>
          </a:xfrm>
          <a:prstGeom prst="roundRect">
            <a:avLst>
              <a:gd name="adj" fmla="val 296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444444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9B5176-F966-DDC5-A0A4-BF45D694E3B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5D5E3F-FD9C-485B-3507-7442B22DF1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DD06534-64C4-E300-FCCD-EB77AFD61B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9" y="239395"/>
            <a:ext cx="11555037" cy="92354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84C07A5-74C4-8869-DE4E-53DEC60C15A8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415290" y="1231926"/>
            <a:ext cx="5458968" cy="5092674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/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163F1E0-877E-A432-9978-3988F391E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2900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5BDCA951-FC46-3C4A-A078-00FE1306F8C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088063" y="239394"/>
            <a:ext cx="5915025" cy="6085206"/>
          </a:xfrm>
          <a:prstGeom prst="roundRect">
            <a:avLst>
              <a:gd name="adj" fmla="val 296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444444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3D3219-16E5-467A-4C40-1EA72D3F308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A246E1-9BAF-BD33-DFE1-276763A421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CD8153B-164F-600F-B4A7-6352023499FB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415290" y="1231926"/>
            <a:ext cx="5458968" cy="5092674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/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360CAF4-D1AA-EEAD-CA97-BB1930D8AC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8" y="239394"/>
            <a:ext cx="5458968" cy="92416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E8ADA9B-FB43-D130-8D45-F68B29A95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482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 m">
    <p:bg>
      <p:bgPr>
        <a:solidFill>
          <a:srgbClr val="4320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08C39909-D30F-8F76-1C9D-F68AA6988A1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088063" y="1231926"/>
            <a:ext cx="5915025" cy="5083150"/>
          </a:xfrm>
          <a:prstGeom prst="roundRect">
            <a:avLst>
              <a:gd name="adj" fmla="val 296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1049B5D-8AFC-7AE6-ED37-93C226A41A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08762" y="6344586"/>
            <a:ext cx="1446236" cy="51341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48754E5-F634-0564-0FCC-413D7A7D44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0859E16-4A41-5307-77A3-BBDEE7D6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0" y="239395"/>
            <a:ext cx="11587798" cy="92354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CD3CAAB-0715-D122-D1F4-8E925470C520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415290" y="1231926"/>
            <a:ext cx="5458968" cy="5092674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/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6A991-502B-7067-7D83-F8E3A19DDC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9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209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m">
    <p:bg>
      <p:bgPr>
        <a:solidFill>
          <a:srgbClr val="4320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535CB054-03AB-8D09-6D54-EA035E89BFF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088063" y="239394"/>
            <a:ext cx="5915025" cy="6105192"/>
          </a:xfrm>
          <a:prstGeom prst="roundRect">
            <a:avLst>
              <a:gd name="adj" fmla="val 296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9320B6B-0B8D-F9E9-C0A5-DAE6E102F6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08762" y="6344586"/>
            <a:ext cx="1446236" cy="5134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CDB0C6-7043-6267-7E1F-955E00433C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F8E3BC6-233B-5DA2-03F6-A62A385684F7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415290" y="1231926"/>
            <a:ext cx="5458968" cy="5092674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/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E6888A7-959D-05A8-5D17-ADE674BDA7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8" y="239394"/>
            <a:ext cx="5458968" cy="92416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0788586-CB0B-829F-9EE0-074F0612A9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9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4576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C0E9490-0E1A-1345-4596-F09329A5C4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9571" y="1798064"/>
            <a:ext cx="1142227" cy="1126359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5"/>
                </a:gs>
                <a:gs pos="99000">
                  <a:schemeClr val="accent3"/>
                </a:gs>
              </a:gsLst>
              <a:lin ang="5400000" scaled="1"/>
            </a:gradFill>
          </a:ln>
        </p:spPr>
        <p:txBody>
          <a:bodyPr lIns="0" r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AU" noProof="0"/>
              <a:t>Headshot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AB3EE2E9-F0EB-3209-4A7E-77BFDC2BF507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60369" y="5482097"/>
            <a:ext cx="1335494" cy="181268"/>
          </a:xfrm>
          <a:prstGeom prst="rect">
            <a:avLst/>
          </a:prstGeom>
        </p:spPr>
        <p:txBody>
          <a:bodyPr vert="horz" wrap="none" lIns="91440" tIns="0" rIns="91440" bIns="0" rtlCol="0" anchor="ctr">
            <a:spAutoFit/>
          </a:bodyPr>
          <a:lstStyle>
            <a:lvl1pPr marL="0" indent="0">
              <a:buNone/>
              <a:defRPr lang="en-US" sz="13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First Last Name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41D37730-1675-E2D7-5EFE-B40D3FBE6FAD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660369" y="3369906"/>
            <a:ext cx="420308" cy="161583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50" b="0" i="0" spc="0" baseline="0" dirty="0">
                <a:solidFill>
                  <a:srgbClr val="444444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Title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B04C53A-3C43-8BAE-A053-5A638A73D503}"/>
              </a:ext>
            </a:extLst>
          </p:cNvPr>
          <p:cNvSpPr>
            <a:spLocks noGrp="1"/>
          </p:cNvSpPr>
          <p:nvPr>
            <p:ph type="body" sz="half" idx="27" hasCustomPrompt="1"/>
          </p:nvPr>
        </p:nvSpPr>
        <p:spPr>
          <a:xfrm>
            <a:off x="660369" y="3137003"/>
            <a:ext cx="1335494" cy="181268"/>
          </a:xfrm>
          <a:prstGeom prst="rect">
            <a:avLst/>
          </a:prstGeom>
        </p:spPr>
        <p:txBody>
          <a:bodyPr vert="horz" wrap="none" lIns="91440" tIns="0" rIns="91440" bIns="0" rtlCol="0" anchor="ctr">
            <a:spAutoFit/>
          </a:bodyPr>
          <a:lstStyle>
            <a:lvl1pPr marL="0" indent="0">
              <a:buNone/>
              <a:defRPr lang="en-US" sz="13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First Last Name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3CD9D7E-E0D4-E3C1-BF28-2E2789924255}"/>
              </a:ext>
            </a:extLst>
          </p:cNvPr>
          <p:cNvSpPr>
            <a:spLocks noGrp="1"/>
          </p:cNvSpPr>
          <p:nvPr>
            <p:ph type="body" sz="half" idx="29" hasCustomPrompt="1"/>
          </p:nvPr>
        </p:nvSpPr>
        <p:spPr>
          <a:xfrm>
            <a:off x="2955700" y="5482097"/>
            <a:ext cx="1335494" cy="181268"/>
          </a:xfrm>
          <a:prstGeom prst="rect">
            <a:avLst/>
          </a:prstGeom>
        </p:spPr>
        <p:txBody>
          <a:bodyPr vert="horz" wrap="none" lIns="91440" tIns="0" rIns="91440" bIns="0" rtlCol="0" anchor="ctr">
            <a:spAutoFit/>
          </a:bodyPr>
          <a:lstStyle>
            <a:lvl1pPr marL="0" indent="0">
              <a:buNone/>
              <a:defRPr lang="en-US" sz="13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First Last Name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6E53AD26-C7A0-A745-1DB1-F14C1D345F54}"/>
              </a:ext>
            </a:extLst>
          </p:cNvPr>
          <p:cNvSpPr>
            <a:spLocks noGrp="1"/>
          </p:cNvSpPr>
          <p:nvPr>
            <p:ph type="body" sz="half" idx="31" hasCustomPrompt="1"/>
          </p:nvPr>
        </p:nvSpPr>
        <p:spPr>
          <a:xfrm>
            <a:off x="2955700" y="3137003"/>
            <a:ext cx="1335494" cy="181268"/>
          </a:xfrm>
          <a:prstGeom prst="rect">
            <a:avLst/>
          </a:prstGeom>
        </p:spPr>
        <p:txBody>
          <a:bodyPr vert="horz" wrap="none" lIns="91440" tIns="0" rIns="91440" bIns="0" rtlCol="0" anchor="ctr">
            <a:spAutoFit/>
          </a:bodyPr>
          <a:lstStyle>
            <a:lvl1pPr marL="0" indent="0">
              <a:buNone/>
              <a:defRPr lang="en-US" sz="13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First Last Name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68741090-03AB-05B3-5854-A32F47F1F822}"/>
              </a:ext>
            </a:extLst>
          </p:cNvPr>
          <p:cNvSpPr>
            <a:spLocks noGrp="1"/>
          </p:cNvSpPr>
          <p:nvPr>
            <p:ph type="body" sz="half" idx="33" hasCustomPrompt="1"/>
          </p:nvPr>
        </p:nvSpPr>
        <p:spPr>
          <a:xfrm>
            <a:off x="5245179" y="5482097"/>
            <a:ext cx="1335494" cy="181268"/>
          </a:xfrm>
          <a:prstGeom prst="rect">
            <a:avLst/>
          </a:prstGeom>
        </p:spPr>
        <p:txBody>
          <a:bodyPr vert="horz" wrap="none" lIns="91440" tIns="0" rIns="91440" bIns="0" rtlCol="0" anchor="ctr">
            <a:spAutoFit/>
          </a:bodyPr>
          <a:lstStyle>
            <a:lvl1pPr marL="0" indent="0">
              <a:buNone/>
              <a:defRPr lang="en-US" sz="13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First Last Name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4E83987F-213A-4F10-1B6F-64C605F1D5A6}"/>
              </a:ext>
            </a:extLst>
          </p:cNvPr>
          <p:cNvSpPr>
            <a:spLocks noGrp="1"/>
          </p:cNvSpPr>
          <p:nvPr>
            <p:ph type="body" sz="half" idx="35" hasCustomPrompt="1"/>
          </p:nvPr>
        </p:nvSpPr>
        <p:spPr>
          <a:xfrm>
            <a:off x="5245179" y="3137003"/>
            <a:ext cx="1335494" cy="181268"/>
          </a:xfrm>
          <a:prstGeom prst="rect">
            <a:avLst/>
          </a:prstGeom>
        </p:spPr>
        <p:txBody>
          <a:bodyPr vert="horz" wrap="none" lIns="91440" tIns="0" rIns="91440" bIns="0" rtlCol="0" anchor="ctr">
            <a:spAutoFit/>
          </a:bodyPr>
          <a:lstStyle>
            <a:lvl1pPr marL="0" indent="0">
              <a:buNone/>
              <a:defRPr lang="en-US" sz="13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First Last Name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3D9E151F-E7E0-5163-1284-A1C2F6E1C546}"/>
              </a:ext>
            </a:extLst>
          </p:cNvPr>
          <p:cNvSpPr>
            <a:spLocks noGrp="1"/>
          </p:cNvSpPr>
          <p:nvPr>
            <p:ph type="body" sz="half" idx="37" hasCustomPrompt="1"/>
          </p:nvPr>
        </p:nvSpPr>
        <p:spPr>
          <a:xfrm>
            <a:off x="7540510" y="5482097"/>
            <a:ext cx="1335494" cy="181268"/>
          </a:xfrm>
          <a:prstGeom prst="rect">
            <a:avLst/>
          </a:prstGeom>
        </p:spPr>
        <p:txBody>
          <a:bodyPr vert="horz" wrap="none" lIns="91440" tIns="0" rIns="91440" bIns="0" rtlCol="0" anchor="ctr">
            <a:spAutoFit/>
          </a:bodyPr>
          <a:lstStyle>
            <a:lvl1pPr marL="0" indent="0">
              <a:buNone/>
              <a:defRPr lang="en-US" sz="13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First Last Name</a:t>
            </a:r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9040A3B1-2D15-45D1-C6EA-7D8790FBFF94}"/>
              </a:ext>
            </a:extLst>
          </p:cNvPr>
          <p:cNvSpPr>
            <a:spLocks noGrp="1"/>
          </p:cNvSpPr>
          <p:nvPr>
            <p:ph type="body" sz="half" idx="39" hasCustomPrompt="1"/>
          </p:nvPr>
        </p:nvSpPr>
        <p:spPr>
          <a:xfrm>
            <a:off x="7540510" y="3137003"/>
            <a:ext cx="1335494" cy="181268"/>
          </a:xfrm>
          <a:prstGeom prst="rect">
            <a:avLst/>
          </a:prstGeom>
        </p:spPr>
        <p:txBody>
          <a:bodyPr vert="horz" wrap="none" lIns="91440" tIns="0" rIns="91440" bIns="0" rtlCol="0" anchor="ctr">
            <a:spAutoFit/>
          </a:bodyPr>
          <a:lstStyle>
            <a:lvl1pPr marL="0" indent="0">
              <a:buNone/>
              <a:defRPr lang="en-US" sz="13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First Last Name</a:t>
            </a:r>
          </a:p>
        </p:txBody>
      </p:sp>
      <p:sp>
        <p:nvSpPr>
          <p:cNvPr id="48" name="Text Placeholder 3">
            <a:extLst>
              <a:ext uri="{FF2B5EF4-FFF2-40B4-BE49-F238E27FC236}">
                <a16:creationId xmlns:a16="http://schemas.microsoft.com/office/drawing/2014/main" id="{9C7D0A7E-2DB9-B698-7B02-21BE3C26B0B9}"/>
              </a:ext>
            </a:extLst>
          </p:cNvPr>
          <p:cNvSpPr>
            <a:spLocks noGrp="1"/>
          </p:cNvSpPr>
          <p:nvPr>
            <p:ph type="body" sz="half" idx="41" hasCustomPrompt="1"/>
          </p:nvPr>
        </p:nvSpPr>
        <p:spPr>
          <a:xfrm>
            <a:off x="9816782" y="5482097"/>
            <a:ext cx="1335494" cy="181268"/>
          </a:xfrm>
          <a:prstGeom prst="rect">
            <a:avLst/>
          </a:prstGeom>
        </p:spPr>
        <p:txBody>
          <a:bodyPr vert="horz" wrap="none" lIns="91440" tIns="0" rIns="91440" bIns="0" rtlCol="0" anchor="ctr">
            <a:spAutoFit/>
          </a:bodyPr>
          <a:lstStyle>
            <a:lvl1pPr marL="0" indent="0">
              <a:buNone/>
              <a:defRPr lang="en-US" sz="13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First Last Name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B599ED84-6CC7-F435-108C-459322247C9A}"/>
              </a:ext>
            </a:extLst>
          </p:cNvPr>
          <p:cNvSpPr>
            <a:spLocks noGrp="1"/>
          </p:cNvSpPr>
          <p:nvPr>
            <p:ph type="body" sz="half" idx="43" hasCustomPrompt="1"/>
          </p:nvPr>
        </p:nvSpPr>
        <p:spPr>
          <a:xfrm>
            <a:off x="9816782" y="3137003"/>
            <a:ext cx="1335494" cy="181268"/>
          </a:xfrm>
          <a:prstGeom prst="rect">
            <a:avLst/>
          </a:prstGeom>
        </p:spPr>
        <p:txBody>
          <a:bodyPr vert="horz" wrap="none" lIns="91440" tIns="0" rIns="91440" bIns="0" rtlCol="0" anchor="ctr">
            <a:spAutoFit/>
          </a:bodyPr>
          <a:lstStyle>
            <a:lvl1pPr marL="0" indent="0">
              <a:buNone/>
              <a:defRPr lang="en-US" sz="13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First Last Name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5A4058C8-00FB-9FB2-CEAC-C297D47A1E76}"/>
              </a:ext>
            </a:extLst>
          </p:cNvPr>
          <p:cNvSpPr>
            <a:spLocks noGrp="1"/>
          </p:cNvSpPr>
          <p:nvPr>
            <p:ph type="body" sz="half" idx="44" hasCustomPrompt="1"/>
          </p:nvPr>
        </p:nvSpPr>
        <p:spPr>
          <a:xfrm>
            <a:off x="660369" y="5715000"/>
            <a:ext cx="420308" cy="161583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50" b="0" i="0" spc="0" baseline="0" dirty="0">
                <a:solidFill>
                  <a:srgbClr val="444444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Title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2BF566EA-36B9-0E41-5FCF-65098E40C676}"/>
              </a:ext>
            </a:extLst>
          </p:cNvPr>
          <p:cNvSpPr>
            <a:spLocks noGrp="1"/>
          </p:cNvSpPr>
          <p:nvPr>
            <p:ph type="body" sz="half" idx="45" hasCustomPrompt="1"/>
          </p:nvPr>
        </p:nvSpPr>
        <p:spPr>
          <a:xfrm>
            <a:off x="2955700" y="3369906"/>
            <a:ext cx="420308" cy="161583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50" b="0" i="0" spc="0" baseline="0" dirty="0">
                <a:solidFill>
                  <a:srgbClr val="444444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Title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3158BEB9-5068-3552-AEFC-BDDDCCE72E29}"/>
              </a:ext>
            </a:extLst>
          </p:cNvPr>
          <p:cNvSpPr>
            <a:spLocks noGrp="1"/>
          </p:cNvSpPr>
          <p:nvPr>
            <p:ph type="body" sz="half" idx="46" hasCustomPrompt="1"/>
          </p:nvPr>
        </p:nvSpPr>
        <p:spPr>
          <a:xfrm>
            <a:off x="2955700" y="5715000"/>
            <a:ext cx="420308" cy="161583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50" b="0" i="0" spc="0" baseline="0" dirty="0">
                <a:solidFill>
                  <a:srgbClr val="444444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Title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A0C55AA8-2650-F058-97A0-47CC2835C257}"/>
              </a:ext>
            </a:extLst>
          </p:cNvPr>
          <p:cNvSpPr>
            <a:spLocks noGrp="1"/>
          </p:cNvSpPr>
          <p:nvPr>
            <p:ph type="body" sz="half" idx="47" hasCustomPrompt="1"/>
          </p:nvPr>
        </p:nvSpPr>
        <p:spPr>
          <a:xfrm>
            <a:off x="5245179" y="3369906"/>
            <a:ext cx="420308" cy="161583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50" b="0" i="0" spc="0" baseline="0" dirty="0">
                <a:solidFill>
                  <a:srgbClr val="444444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Title</a:t>
            </a:r>
          </a:p>
        </p:txBody>
      </p:sp>
      <p:sp>
        <p:nvSpPr>
          <p:cNvPr id="55" name="Text Placeholder 3">
            <a:extLst>
              <a:ext uri="{FF2B5EF4-FFF2-40B4-BE49-F238E27FC236}">
                <a16:creationId xmlns:a16="http://schemas.microsoft.com/office/drawing/2014/main" id="{238B812C-1ED0-E923-129C-132B769151AE}"/>
              </a:ext>
            </a:extLst>
          </p:cNvPr>
          <p:cNvSpPr>
            <a:spLocks noGrp="1"/>
          </p:cNvSpPr>
          <p:nvPr>
            <p:ph type="body" sz="half" idx="48" hasCustomPrompt="1"/>
          </p:nvPr>
        </p:nvSpPr>
        <p:spPr>
          <a:xfrm>
            <a:off x="5245179" y="5715000"/>
            <a:ext cx="420308" cy="161583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50" b="0" i="0" spc="0" baseline="0" dirty="0">
                <a:solidFill>
                  <a:srgbClr val="444444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Title</a:t>
            </a:r>
          </a:p>
        </p:txBody>
      </p:sp>
      <p:sp>
        <p:nvSpPr>
          <p:cNvPr id="56" name="Text Placeholder 3">
            <a:extLst>
              <a:ext uri="{FF2B5EF4-FFF2-40B4-BE49-F238E27FC236}">
                <a16:creationId xmlns:a16="http://schemas.microsoft.com/office/drawing/2014/main" id="{40115234-1199-A52C-44BC-022303B9DCD2}"/>
              </a:ext>
            </a:extLst>
          </p:cNvPr>
          <p:cNvSpPr>
            <a:spLocks noGrp="1"/>
          </p:cNvSpPr>
          <p:nvPr>
            <p:ph type="body" sz="half" idx="49" hasCustomPrompt="1"/>
          </p:nvPr>
        </p:nvSpPr>
        <p:spPr>
          <a:xfrm>
            <a:off x="9829800" y="3369906"/>
            <a:ext cx="420308" cy="161583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50" b="0" i="0" spc="0" baseline="0" dirty="0">
                <a:solidFill>
                  <a:srgbClr val="444444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Title</a:t>
            </a:r>
          </a:p>
        </p:txBody>
      </p:sp>
      <p:sp>
        <p:nvSpPr>
          <p:cNvPr id="57" name="Text Placeholder 3">
            <a:extLst>
              <a:ext uri="{FF2B5EF4-FFF2-40B4-BE49-F238E27FC236}">
                <a16:creationId xmlns:a16="http://schemas.microsoft.com/office/drawing/2014/main" id="{CEBFD8C7-FC60-E799-6B9B-ECFDC7E8A826}"/>
              </a:ext>
            </a:extLst>
          </p:cNvPr>
          <p:cNvSpPr>
            <a:spLocks noGrp="1"/>
          </p:cNvSpPr>
          <p:nvPr>
            <p:ph type="body" sz="half" idx="50" hasCustomPrompt="1"/>
          </p:nvPr>
        </p:nvSpPr>
        <p:spPr>
          <a:xfrm>
            <a:off x="9829800" y="5715000"/>
            <a:ext cx="420308" cy="161583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50" b="0" i="0" spc="0" baseline="0" dirty="0">
                <a:solidFill>
                  <a:srgbClr val="444444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Title</a:t>
            </a:r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D8E1894E-87AD-BE0D-3815-B13B533FB79E}"/>
              </a:ext>
            </a:extLst>
          </p:cNvPr>
          <p:cNvSpPr>
            <a:spLocks noGrp="1"/>
          </p:cNvSpPr>
          <p:nvPr>
            <p:ph type="body" sz="half" idx="51" hasCustomPrompt="1"/>
          </p:nvPr>
        </p:nvSpPr>
        <p:spPr>
          <a:xfrm>
            <a:off x="7540510" y="3369906"/>
            <a:ext cx="420308" cy="161583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50" b="0" i="0" spc="0" baseline="0" dirty="0">
                <a:solidFill>
                  <a:srgbClr val="444444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Title</a:t>
            </a:r>
          </a:p>
        </p:txBody>
      </p:sp>
      <p:sp>
        <p:nvSpPr>
          <p:cNvPr id="59" name="Text Placeholder 3">
            <a:extLst>
              <a:ext uri="{FF2B5EF4-FFF2-40B4-BE49-F238E27FC236}">
                <a16:creationId xmlns:a16="http://schemas.microsoft.com/office/drawing/2014/main" id="{2940E2EB-EA3C-5E55-56C9-D70A3BD46E9C}"/>
              </a:ext>
            </a:extLst>
          </p:cNvPr>
          <p:cNvSpPr>
            <a:spLocks noGrp="1"/>
          </p:cNvSpPr>
          <p:nvPr>
            <p:ph type="body" sz="half" idx="52" hasCustomPrompt="1"/>
          </p:nvPr>
        </p:nvSpPr>
        <p:spPr>
          <a:xfrm>
            <a:off x="7540510" y="5715000"/>
            <a:ext cx="420308" cy="161583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50" b="0" i="0" spc="0" baseline="0" dirty="0">
                <a:solidFill>
                  <a:srgbClr val="444444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3B5F72-DB95-6682-6DC4-D696EF6A6F0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0062D3-96BC-8A2A-2CC5-8C34B9A448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688471E-B0E7-B958-BEC3-3DDCD9566CDD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3048639" y="1798064"/>
            <a:ext cx="1142227" cy="1126359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5"/>
                </a:gs>
                <a:gs pos="99000">
                  <a:schemeClr val="accent3"/>
                </a:gs>
              </a:gsLst>
              <a:lin ang="5400000" scaled="1"/>
            </a:gradFill>
          </a:ln>
        </p:spPr>
        <p:txBody>
          <a:bodyPr lIns="0" r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AU" noProof="0"/>
              <a:t>Headshot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A51A72F-2C1C-F4F1-D6DC-8B3C2094B723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5319297" y="1798064"/>
            <a:ext cx="1142227" cy="1126359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5"/>
                </a:gs>
                <a:gs pos="99000">
                  <a:schemeClr val="accent3"/>
                </a:gs>
              </a:gsLst>
              <a:lin ang="5400000" scaled="1"/>
            </a:gradFill>
          </a:ln>
        </p:spPr>
        <p:txBody>
          <a:bodyPr lIns="0" r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AU" noProof="0"/>
              <a:t>Headshot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BBF7EE4A-8961-D5AF-B987-46A19BD3910F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7639050" y="1798064"/>
            <a:ext cx="1142227" cy="1126359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5"/>
                </a:gs>
                <a:gs pos="99000">
                  <a:schemeClr val="accent3"/>
                </a:gs>
              </a:gsLst>
              <a:lin ang="5400000" scaled="1"/>
            </a:gradFill>
          </a:ln>
        </p:spPr>
        <p:txBody>
          <a:bodyPr lIns="0" r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AU" noProof="0"/>
              <a:t>Headshot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3BAFD101-6826-9D37-5618-409B724F56C0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9860613" y="1798064"/>
            <a:ext cx="1142227" cy="1126359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5"/>
                </a:gs>
                <a:gs pos="99000">
                  <a:schemeClr val="accent3"/>
                </a:gs>
              </a:gsLst>
              <a:lin ang="5400000" scaled="1"/>
            </a:gradFill>
          </a:ln>
        </p:spPr>
        <p:txBody>
          <a:bodyPr lIns="0" r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AU" noProof="0"/>
              <a:t>Headshot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D0F56565-F18D-96E4-39EE-886E2795AF0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759571" y="4136228"/>
            <a:ext cx="1142227" cy="1126359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5"/>
                </a:gs>
                <a:gs pos="99000">
                  <a:schemeClr val="accent3"/>
                </a:gs>
              </a:gsLst>
              <a:lin ang="5400000" scaled="1"/>
            </a:gradFill>
          </a:ln>
        </p:spPr>
        <p:txBody>
          <a:bodyPr lIns="0" r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AU" noProof="0"/>
              <a:t>Headshot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4ECC89E7-F4BA-3AAF-1549-2EA59343F79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048639" y="4136228"/>
            <a:ext cx="1142227" cy="1126359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5"/>
                </a:gs>
                <a:gs pos="99000">
                  <a:schemeClr val="accent3"/>
                </a:gs>
              </a:gsLst>
              <a:lin ang="5400000" scaled="1"/>
            </a:gradFill>
          </a:ln>
        </p:spPr>
        <p:txBody>
          <a:bodyPr lIns="0" r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AU" noProof="0"/>
              <a:t>Headshot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C61B459A-00BD-7E44-628B-AE6AAF4D171D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5319297" y="4136228"/>
            <a:ext cx="1142227" cy="1126359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5"/>
                </a:gs>
                <a:gs pos="99000">
                  <a:schemeClr val="accent3"/>
                </a:gs>
              </a:gsLst>
              <a:lin ang="5400000" scaled="1"/>
            </a:gradFill>
          </a:ln>
        </p:spPr>
        <p:txBody>
          <a:bodyPr lIns="0" r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AU" noProof="0"/>
              <a:t>Headshot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237306C5-EC76-F42A-00C3-B7056E9436F3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7639050" y="4136228"/>
            <a:ext cx="1142227" cy="1126359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5"/>
                </a:gs>
                <a:gs pos="99000">
                  <a:schemeClr val="accent3"/>
                </a:gs>
              </a:gsLst>
              <a:lin ang="5400000" scaled="1"/>
            </a:gradFill>
          </a:ln>
        </p:spPr>
        <p:txBody>
          <a:bodyPr lIns="0" r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AU" noProof="0"/>
              <a:t>Headshot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4340BC6F-1A3C-064B-DA63-6EC36F4C5FFF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860613" y="4136228"/>
            <a:ext cx="1142227" cy="1126359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5"/>
                </a:gs>
                <a:gs pos="99000">
                  <a:schemeClr val="accent3"/>
                </a:gs>
              </a:gsLst>
              <a:lin ang="5400000" scaled="1"/>
            </a:gradFill>
          </a:ln>
        </p:spPr>
        <p:txBody>
          <a:bodyPr lIns="0" r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AU" noProof="0"/>
              <a:t>Headshot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6FBB92E-A5AF-5B6B-C632-FD22C58623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9" y="239394"/>
            <a:ext cx="11555037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Team page headline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341C508-60AB-5612-21B7-B50072EB18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3585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s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41D37730-1675-E2D7-5EFE-B40D3FBE6FAD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5883277" y="2639535"/>
            <a:ext cx="420307" cy="161583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050" b="0" i="0" spc="0" baseline="0" dirty="0">
                <a:solidFill>
                  <a:srgbClr val="444444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Title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B04C53A-3C43-8BAE-A053-5A638A73D503}"/>
              </a:ext>
            </a:extLst>
          </p:cNvPr>
          <p:cNvSpPr>
            <a:spLocks noGrp="1"/>
          </p:cNvSpPr>
          <p:nvPr>
            <p:ph type="body" sz="half" idx="27" hasCustomPrompt="1"/>
          </p:nvPr>
        </p:nvSpPr>
        <p:spPr>
          <a:xfrm>
            <a:off x="5425684" y="2406632"/>
            <a:ext cx="1335494" cy="181268"/>
          </a:xfrm>
          <a:prstGeom prst="rect">
            <a:avLst/>
          </a:prstGeom>
        </p:spPr>
        <p:txBody>
          <a:bodyPr vert="horz" wrap="none" lIns="91440" tIns="0" rIns="91440" bIns="0" rtlCol="0" anchor="ctr">
            <a:spAutoFit/>
          </a:bodyPr>
          <a:lstStyle>
            <a:lvl1pPr marL="0" indent="0" algn="ctr">
              <a:buNone/>
              <a:defRPr lang="en-US" sz="13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First Last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3B5F72-DB95-6682-6DC4-D696EF6A6F0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33F04C-E235-7351-1017-B92337ABBF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3D832484-844E-236E-58CA-E73E1D6948F1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5522316" y="1067693"/>
            <a:ext cx="1142227" cy="1126359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5"/>
                </a:gs>
                <a:gs pos="99000">
                  <a:schemeClr val="accent3"/>
                </a:gs>
              </a:gsLst>
              <a:lin ang="5400000" scaled="1"/>
            </a:gradFill>
          </a:ln>
        </p:spPr>
        <p:txBody>
          <a:bodyPr lIns="0" r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AU" noProof="0"/>
              <a:t>Headshot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4C2158-8DF3-F0AB-F6E7-564990364D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9" y="239394"/>
            <a:ext cx="11555037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Organisation chart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EDAD5EF-110E-668F-7892-46BCD78395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4651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3B5F72-DB95-6682-6DC4-D696EF6A6F0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33F04C-E235-7351-1017-B92337ABBF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EDAD5EF-110E-668F-7892-46BCD78395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3848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C25C3A7-85EB-7667-97E4-49C1EDC4EA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3D572F1-653C-021D-49A9-8447FF8A969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088063" y="239394"/>
            <a:ext cx="5915025" cy="6104256"/>
          </a:xfrm>
          <a:prstGeom prst="roundRect">
            <a:avLst>
              <a:gd name="adj" fmla="val 296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444444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B72E602-CD2B-B774-08EE-7766DCA3B94C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415289" y="1786071"/>
            <a:ext cx="5458967" cy="4572752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1100"/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0728339-AB5B-D192-504A-45B4D9B72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7" y="239394"/>
            <a:ext cx="5465007" cy="92416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26A6ADC3-5519-CD0E-6FED-30F47EE4ED4D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20779" y="1229555"/>
            <a:ext cx="5459516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4112C36-4E16-44E0-3906-F22F67E51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34488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26A57D64-D6E6-BB8E-286D-72AD2183E91A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1229085" y="2719997"/>
            <a:ext cx="1303099" cy="184666"/>
          </a:xfrm>
          <a:prstGeom prst="rect">
            <a:avLst/>
          </a:prstGeom>
        </p:spPr>
        <p:txBody>
          <a:bodyPr vert="horz" wrap="square" lIns="91440" tIns="0" rIns="9144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baseline="0" dirty="0">
                <a:solidFill>
                  <a:schemeClr val="tx2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Text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9C0030F2-9BE5-DB73-3A44-31D03AF391C1}"/>
              </a:ext>
            </a:extLst>
          </p:cNvPr>
          <p:cNvSpPr>
            <a:spLocks noGrp="1"/>
          </p:cNvSpPr>
          <p:nvPr>
            <p:ph type="body" sz="half" idx="27" hasCustomPrompt="1"/>
          </p:nvPr>
        </p:nvSpPr>
        <p:spPr>
          <a:xfrm>
            <a:off x="1234109" y="2458224"/>
            <a:ext cx="1313148" cy="167225"/>
          </a:xfrm>
          <a:prstGeom prst="rect">
            <a:avLst/>
          </a:prstGeom>
        </p:spPr>
        <p:txBody>
          <a:bodyPr vert="horz" wrap="square" lIns="91440" tIns="0" rIns="91440" bIns="0" rtlCol="0" anchor="b">
            <a:spAutoFit/>
          </a:bodyPr>
          <a:lstStyle>
            <a:lvl1pPr marL="0" indent="0">
              <a:buNone/>
              <a:defRPr lang="en-US" sz="12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2DDAD5-22C5-421D-39FD-758E58C67A3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812C943-1B9D-B5F1-C38E-F10B0368CA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C983DE-3D2A-98D6-A633-84A263B384D9}"/>
              </a:ext>
            </a:extLst>
          </p:cNvPr>
          <p:cNvCxnSpPr>
            <a:cxnSpLocks/>
          </p:cNvCxnSpPr>
          <p:nvPr userDrawn="1"/>
        </p:nvCxnSpPr>
        <p:spPr>
          <a:xfrm>
            <a:off x="558845" y="4067485"/>
            <a:ext cx="11074310" cy="0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4D3F0845-FE51-E487-FD49-05FC3E2F05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9" y="239394"/>
            <a:ext cx="11555037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Timeline slide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D3683DB-B0E8-B232-F34B-3E13963BF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2402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1a">
    <p:bg>
      <p:bgPr>
        <a:solidFill>
          <a:srgbClr val="9318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5439089-17EE-C123-A417-EA2AA40A799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920" y="6129118"/>
            <a:ext cx="1870484" cy="345912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CB6E0384-19A1-DBFA-1817-03806069282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920" y="330024"/>
            <a:ext cx="2744482" cy="2446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 algn="l">
              <a:buNone/>
              <a:defRPr lang="en-US" sz="1200" b="1" i="0" kern="1200" spc="100" baseline="0" dirty="0">
                <a:solidFill>
                  <a:schemeClr val="bg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AU" noProof="0"/>
              <a:t>Date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D7F8596-0EF8-2C88-0975-4BC655CE161E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502920" y="3932777"/>
            <a:ext cx="1985352" cy="750783"/>
          </a:xfrm>
          <a:prstGeom prst="rect">
            <a:avLst/>
          </a:prstGeom>
        </p:spPr>
        <p:txBody>
          <a:bodyPr vert="horz" wrap="none" lIns="45720" tIns="45720" rIns="91440" bIns="45720" rtlCol="0" anchor="t">
            <a:spAutoFit/>
          </a:bodyPr>
          <a:lstStyle>
            <a:lvl1pPr marL="0" indent="0">
              <a:lnSpc>
                <a:spcPts val="2060"/>
              </a:lnSpc>
              <a:spcAft>
                <a:spcPts val="0"/>
              </a:spcAft>
              <a:buNone/>
              <a:defRPr lang="en-US" sz="1800" b="0" i="0" spc="130" baseline="0" dirty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/>
              <a:t>Presenter </a:t>
            </a:r>
            <a:r>
              <a:rPr lang="en-AU" noProof="0"/>
              <a:t>Name</a:t>
            </a:r>
          </a:p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/>
              <a:t>Title</a:t>
            </a:r>
          </a:p>
        </p:txBody>
      </p:sp>
      <p:pic>
        <p:nvPicPr>
          <p:cNvPr id="4" name="Picture 3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49A0CE95-6BEE-BA2A-7C74-AA1744090F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920" y="6129118"/>
            <a:ext cx="1870484" cy="345912"/>
          </a:xfrm>
          <a:prstGeom prst="rect">
            <a:avLst/>
          </a:prstGeom>
        </p:spPr>
      </p:pic>
      <p:pic>
        <p:nvPicPr>
          <p:cNvPr id="3" name="圖片版面配置區 10">
            <a:extLst>
              <a:ext uri="{FF2B5EF4-FFF2-40B4-BE49-F238E27FC236}">
                <a16:creationId xmlns:a16="http://schemas.microsoft.com/office/drawing/2014/main" id="{1272BD00-8636-F853-0A59-2E02488321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00"/>
          <a:stretch/>
        </p:blipFill>
        <p:spPr>
          <a:xfrm>
            <a:off x="6554018" y="735630"/>
            <a:ext cx="5637982" cy="5115264"/>
          </a:xfrm>
          <a:custGeom>
            <a:avLst/>
            <a:gdLst>
              <a:gd name="connsiteX0" fmla="*/ 0 w 2507674"/>
              <a:gd name="connsiteY0" fmla="*/ 0 h 5477595"/>
              <a:gd name="connsiteX1" fmla="*/ 2507674 w 2507674"/>
              <a:gd name="connsiteY1" fmla="*/ 0 h 5477595"/>
              <a:gd name="connsiteX2" fmla="*/ 2507674 w 2507674"/>
              <a:gd name="connsiteY2" fmla="*/ 5477595 h 5477595"/>
              <a:gd name="connsiteX3" fmla="*/ 0 w 2507674"/>
              <a:gd name="connsiteY3" fmla="*/ 5477595 h 5477595"/>
              <a:gd name="connsiteX4" fmla="*/ 0 w 2507674"/>
              <a:gd name="connsiteY4" fmla="*/ 0 h 5477595"/>
              <a:gd name="connsiteX0" fmla="*/ 0 w 2521528"/>
              <a:gd name="connsiteY0" fmla="*/ 0 h 5505304"/>
              <a:gd name="connsiteX1" fmla="*/ 2521528 w 2521528"/>
              <a:gd name="connsiteY1" fmla="*/ 27709 h 5505304"/>
              <a:gd name="connsiteX2" fmla="*/ 2521528 w 2521528"/>
              <a:gd name="connsiteY2" fmla="*/ 5505304 h 5505304"/>
              <a:gd name="connsiteX3" fmla="*/ 13854 w 2521528"/>
              <a:gd name="connsiteY3" fmla="*/ 5505304 h 5505304"/>
              <a:gd name="connsiteX4" fmla="*/ 0 w 2521528"/>
              <a:gd name="connsiteY4" fmla="*/ 0 h 5505304"/>
              <a:gd name="connsiteX0" fmla="*/ 2039700 w 4561228"/>
              <a:gd name="connsiteY0" fmla="*/ 0 h 5505304"/>
              <a:gd name="connsiteX1" fmla="*/ 4561228 w 4561228"/>
              <a:gd name="connsiteY1" fmla="*/ 27709 h 5505304"/>
              <a:gd name="connsiteX2" fmla="*/ 4561228 w 4561228"/>
              <a:gd name="connsiteY2" fmla="*/ 5505304 h 5505304"/>
              <a:gd name="connsiteX3" fmla="*/ 2053554 w 4561228"/>
              <a:gd name="connsiteY3" fmla="*/ 5505304 h 5505304"/>
              <a:gd name="connsiteX4" fmla="*/ 2039700 w 4561228"/>
              <a:gd name="connsiteY4" fmla="*/ 0 h 5505304"/>
              <a:gd name="connsiteX0" fmla="*/ 2436894 w 4958422"/>
              <a:gd name="connsiteY0" fmla="*/ 0 h 5505304"/>
              <a:gd name="connsiteX1" fmla="*/ 4958422 w 4958422"/>
              <a:gd name="connsiteY1" fmla="*/ 27709 h 5505304"/>
              <a:gd name="connsiteX2" fmla="*/ 4958422 w 4958422"/>
              <a:gd name="connsiteY2" fmla="*/ 5505304 h 5505304"/>
              <a:gd name="connsiteX3" fmla="*/ 2450748 w 4958422"/>
              <a:gd name="connsiteY3" fmla="*/ 5505304 h 5505304"/>
              <a:gd name="connsiteX4" fmla="*/ 2436894 w 4958422"/>
              <a:gd name="connsiteY4" fmla="*/ 0 h 5505304"/>
              <a:gd name="connsiteX0" fmla="*/ 2286795 w 4808323"/>
              <a:gd name="connsiteY0" fmla="*/ 0 h 5505304"/>
              <a:gd name="connsiteX1" fmla="*/ 4808323 w 4808323"/>
              <a:gd name="connsiteY1" fmla="*/ 27709 h 5505304"/>
              <a:gd name="connsiteX2" fmla="*/ 4808323 w 4808323"/>
              <a:gd name="connsiteY2" fmla="*/ 5505304 h 5505304"/>
              <a:gd name="connsiteX3" fmla="*/ 2300649 w 4808323"/>
              <a:gd name="connsiteY3" fmla="*/ 5505304 h 5505304"/>
              <a:gd name="connsiteX4" fmla="*/ 2286795 w 4808323"/>
              <a:gd name="connsiteY4" fmla="*/ 0 h 5505304"/>
              <a:gd name="connsiteX0" fmla="*/ 2486455 w 5007983"/>
              <a:gd name="connsiteY0" fmla="*/ 0 h 5505304"/>
              <a:gd name="connsiteX1" fmla="*/ 5007983 w 5007983"/>
              <a:gd name="connsiteY1" fmla="*/ 27709 h 5505304"/>
              <a:gd name="connsiteX2" fmla="*/ 5007983 w 5007983"/>
              <a:gd name="connsiteY2" fmla="*/ 5505304 h 5505304"/>
              <a:gd name="connsiteX3" fmla="*/ 2500309 w 5007983"/>
              <a:gd name="connsiteY3" fmla="*/ 5505304 h 5505304"/>
              <a:gd name="connsiteX4" fmla="*/ 2486455 w 5007983"/>
              <a:gd name="connsiteY4" fmla="*/ 0 h 5505304"/>
              <a:gd name="connsiteX0" fmla="*/ 2341450 w 4862978"/>
              <a:gd name="connsiteY0" fmla="*/ 0 h 5505304"/>
              <a:gd name="connsiteX1" fmla="*/ 4862978 w 4862978"/>
              <a:gd name="connsiteY1" fmla="*/ 27709 h 5505304"/>
              <a:gd name="connsiteX2" fmla="*/ 4862978 w 4862978"/>
              <a:gd name="connsiteY2" fmla="*/ 5505304 h 5505304"/>
              <a:gd name="connsiteX3" fmla="*/ 2355304 w 4862978"/>
              <a:gd name="connsiteY3" fmla="*/ 5505304 h 5505304"/>
              <a:gd name="connsiteX4" fmla="*/ 2341450 w 4862978"/>
              <a:gd name="connsiteY4" fmla="*/ 0 h 5505304"/>
              <a:gd name="connsiteX0" fmla="*/ 2226567 w 4748095"/>
              <a:gd name="connsiteY0" fmla="*/ 0 h 5505304"/>
              <a:gd name="connsiteX1" fmla="*/ 4748095 w 4748095"/>
              <a:gd name="connsiteY1" fmla="*/ 27709 h 5505304"/>
              <a:gd name="connsiteX2" fmla="*/ 4748095 w 4748095"/>
              <a:gd name="connsiteY2" fmla="*/ 5505304 h 5505304"/>
              <a:gd name="connsiteX3" fmla="*/ 2240421 w 4748095"/>
              <a:gd name="connsiteY3" fmla="*/ 5505304 h 5505304"/>
              <a:gd name="connsiteX4" fmla="*/ 2226567 w 4748095"/>
              <a:gd name="connsiteY4" fmla="*/ 0 h 5505304"/>
              <a:gd name="connsiteX0" fmla="*/ 2300185 w 4821713"/>
              <a:gd name="connsiteY0" fmla="*/ 0 h 5505304"/>
              <a:gd name="connsiteX1" fmla="*/ 4821713 w 4821713"/>
              <a:gd name="connsiteY1" fmla="*/ 27709 h 5505304"/>
              <a:gd name="connsiteX2" fmla="*/ 4821713 w 4821713"/>
              <a:gd name="connsiteY2" fmla="*/ 5505304 h 5505304"/>
              <a:gd name="connsiteX3" fmla="*/ 2314039 w 4821713"/>
              <a:gd name="connsiteY3" fmla="*/ 5505304 h 5505304"/>
              <a:gd name="connsiteX4" fmla="*/ 2300185 w 4821713"/>
              <a:gd name="connsiteY4" fmla="*/ 0 h 5505304"/>
              <a:gd name="connsiteX0" fmla="*/ 2300185 w 4821713"/>
              <a:gd name="connsiteY0" fmla="*/ 0 h 5505304"/>
              <a:gd name="connsiteX1" fmla="*/ 4821713 w 4821713"/>
              <a:gd name="connsiteY1" fmla="*/ 27709 h 5505304"/>
              <a:gd name="connsiteX2" fmla="*/ 4821713 w 4821713"/>
              <a:gd name="connsiteY2" fmla="*/ 5505304 h 5505304"/>
              <a:gd name="connsiteX3" fmla="*/ 2314039 w 4821713"/>
              <a:gd name="connsiteY3" fmla="*/ 5505304 h 5505304"/>
              <a:gd name="connsiteX4" fmla="*/ 2300185 w 4821713"/>
              <a:gd name="connsiteY4" fmla="*/ 0 h 5505304"/>
              <a:gd name="connsiteX0" fmla="*/ 2312129 w 4805948"/>
              <a:gd name="connsiteY0" fmla="*/ 0 h 5505304"/>
              <a:gd name="connsiteX1" fmla="*/ 4805948 w 4805948"/>
              <a:gd name="connsiteY1" fmla="*/ 27709 h 5505304"/>
              <a:gd name="connsiteX2" fmla="*/ 4805948 w 4805948"/>
              <a:gd name="connsiteY2" fmla="*/ 5505304 h 5505304"/>
              <a:gd name="connsiteX3" fmla="*/ 2298274 w 4805948"/>
              <a:gd name="connsiteY3" fmla="*/ 5505304 h 5505304"/>
              <a:gd name="connsiteX4" fmla="*/ 2312129 w 4805948"/>
              <a:gd name="connsiteY4" fmla="*/ 0 h 5505304"/>
              <a:gd name="connsiteX0" fmla="*/ 2342372 w 4766918"/>
              <a:gd name="connsiteY0" fmla="*/ 0 h 5505304"/>
              <a:gd name="connsiteX1" fmla="*/ 4766918 w 4766918"/>
              <a:gd name="connsiteY1" fmla="*/ 27709 h 5505304"/>
              <a:gd name="connsiteX2" fmla="*/ 4766918 w 4766918"/>
              <a:gd name="connsiteY2" fmla="*/ 5505304 h 5505304"/>
              <a:gd name="connsiteX3" fmla="*/ 2259244 w 4766918"/>
              <a:gd name="connsiteY3" fmla="*/ 5505304 h 5505304"/>
              <a:gd name="connsiteX4" fmla="*/ 2342372 w 4766918"/>
              <a:gd name="connsiteY4" fmla="*/ 0 h 5505304"/>
              <a:gd name="connsiteX0" fmla="*/ 2387070 w 4811616"/>
              <a:gd name="connsiteY0" fmla="*/ 0 h 5505304"/>
              <a:gd name="connsiteX1" fmla="*/ 4811616 w 4811616"/>
              <a:gd name="connsiteY1" fmla="*/ 27709 h 5505304"/>
              <a:gd name="connsiteX2" fmla="*/ 4811616 w 4811616"/>
              <a:gd name="connsiteY2" fmla="*/ 5505304 h 5505304"/>
              <a:gd name="connsiteX3" fmla="*/ 2303942 w 4811616"/>
              <a:gd name="connsiteY3" fmla="*/ 5505304 h 5505304"/>
              <a:gd name="connsiteX4" fmla="*/ 2387070 w 4811616"/>
              <a:gd name="connsiteY4" fmla="*/ 0 h 5505304"/>
              <a:gd name="connsiteX0" fmla="*/ 2101407 w 4525953"/>
              <a:gd name="connsiteY0" fmla="*/ 0 h 5505304"/>
              <a:gd name="connsiteX1" fmla="*/ 4525953 w 4525953"/>
              <a:gd name="connsiteY1" fmla="*/ 27709 h 5505304"/>
              <a:gd name="connsiteX2" fmla="*/ 4525953 w 4525953"/>
              <a:gd name="connsiteY2" fmla="*/ 5505304 h 5505304"/>
              <a:gd name="connsiteX3" fmla="*/ 2018279 w 4525953"/>
              <a:gd name="connsiteY3" fmla="*/ 5505304 h 5505304"/>
              <a:gd name="connsiteX4" fmla="*/ 2101407 w 4525953"/>
              <a:gd name="connsiteY4" fmla="*/ 0 h 5505304"/>
              <a:gd name="connsiteX0" fmla="*/ 2360231 w 4784777"/>
              <a:gd name="connsiteY0" fmla="*/ 0 h 5505304"/>
              <a:gd name="connsiteX1" fmla="*/ 4784777 w 4784777"/>
              <a:gd name="connsiteY1" fmla="*/ 27709 h 5505304"/>
              <a:gd name="connsiteX2" fmla="*/ 4784777 w 4784777"/>
              <a:gd name="connsiteY2" fmla="*/ 5505304 h 5505304"/>
              <a:gd name="connsiteX3" fmla="*/ 2277103 w 4784777"/>
              <a:gd name="connsiteY3" fmla="*/ 5505304 h 5505304"/>
              <a:gd name="connsiteX4" fmla="*/ 2360231 w 4784777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269472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281671"/>
              <a:gd name="connsiteY0" fmla="*/ 0 h 5505304"/>
              <a:gd name="connsiteX1" fmla="*/ 4269472 w 4281671"/>
              <a:gd name="connsiteY1" fmla="*/ 27709 h 5505304"/>
              <a:gd name="connsiteX2" fmla="*/ 4281671 w 4281671"/>
              <a:gd name="connsiteY2" fmla="*/ 5491449 h 5505304"/>
              <a:gd name="connsiteX3" fmla="*/ 2237539 w 4281671"/>
              <a:gd name="connsiteY3" fmla="*/ 5505304 h 5505304"/>
              <a:gd name="connsiteX4" fmla="*/ 2403794 w 4281671"/>
              <a:gd name="connsiteY4" fmla="*/ 0 h 5505304"/>
              <a:gd name="connsiteX0" fmla="*/ 2403794 w 4281671"/>
              <a:gd name="connsiteY0" fmla="*/ 0 h 5518343"/>
              <a:gd name="connsiteX1" fmla="*/ 4269472 w 4281671"/>
              <a:gd name="connsiteY1" fmla="*/ 27709 h 5518343"/>
              <a:gd name="connsiteX2" fmla="*/ 4281671 w 4281671"/>
              <a:gd name="connsiteY2" fmla="*/ 5518343 h 5518343"/>
              <a:gd name="connsiteX3" fmla="*/ 2237539 w 4281671"/>
              <a:gd name="connsiteY3" fmla="*/ 5505304 h 5518343"/>
              <a:gd name="connsiteX4" fmla="*/ 2403794 w 4281671"/>
              <a:gd name="connsiteY4" fmla="*/ 0 h 5518343"/>
              <a:gd name="connsiteX0" fmla="*/ 2403794 w 4281671"/>
              <a:gd name="connsiteY0" fmla="*/ 0 h 5518343"/>
              <a:gd name="connsiteX1" fmla="*/ 4269472 w 4281671"/>
              <a:gd name="connsiteY1" fmla="*/ 27709 h 5518343"/>
              <a:gd name="connsiteX2" fmla="*/ 4281671 w 4281671"/>
              <a:gd name="connsiteY2" fmla="*/ 5518343 h 5518343"/>
              <a:gd name="connsiteX3" fmla="*/ 2237539 w 4281671"/>
              <a:gd name="connsiteY3" fmla="*/ 5505304 h 5518343"/>
              <a:gd name="connsiteX4" fmla="*/ 2403794 w 4281671"/>
              <a:gd name="connsiteY4" fmla="*/ 0 h 5518343"/>
              <a:gd name="connsiteX0" fmla="*/ 2403794 w 4281671"/>
              <a:gd name="connsiteY0" fmla="*/ 4793 h 5523136"/>
              <a:gd name="connsiteX1" fmla="*/ 4269472 w 4281671"/>
              <a:gd name="connsiteY1" fmla="*/ 32502 h 5523136"/>
              <a:gd name="connsiteX2" fmla="*/ 4281671 w 4281671"/>
              <a:gd name="connsiteY2" fmla="*/ 5523136 h 5523136"/>
              <a:gd name="connsiteX3" fmla="*/ 2237539 w 4281671"/>
              <a:gd name="connsiteY3" fmla="*/ 5510097 h 5523136"/>
              <a:gd name="connsiteX4" fmla="*/ 2403794 w 4281671"/>
              <a:gd name="connsiteY4" fmla="*/ 4793 h 5523136"/>
              <a:gd name="connsiteX0" fmla="*/ 2403794 w 4281671"/>
              <a:gd name="connsiteY0" fmla="*/ 10010 h 5528353"/>
              <a:gd name="connsiteX1" fmla="*/ 4257632 w 4281671"/>
              <a:gd name="connsiteY1" fmla="*/ 10825 h 5528353"/>
              <a:gd name="connsiteX2" fmla="*/ 4281671 w 4281671"/>
              <a:gd name="connsiteY2" fmla="*/ 5528353 h 5528353"/>
              <a:gd name="connsiteX3" fmla="*/ 2237539 w 4281671"/>
              <a:gd name="connsiteY3" fmla="*/ 5515314 h 5528353"/>
              <a:gd name="connsiteX4" fmla="*/ 2403794 w 4281671"/>
              <a:gd name="connsiteY4" fmla="*/ 10010 h 5528353"/>
              <a:gd name="connsiteX0" fmla="*/ 2403794 w 4281671"/>
              <a:gd name="connsiteY0" fmla="*/ 10010 h 5528353"/>
              <a:gd name="connsiteX1" fmla="*/ 4257632 w 4281671"/>
              <a:gd name="connsiteY1" fmla="*/ 10825 h 5528353"/>
              <a:gd name="connsiteX2" fmla="*/ 4281671 w 4281671"/>
              <a:gd name="connsiteY2" fmla="*/ 5528353 h 5528353"/>
              <a:gd name="connsiteX3" fmla="*/ 2237539 w 4281671"/>
              <a:gd name="connsiteY3" fmla="*/ 5515314 h 5528353"/>
              <a:gd name="connsiteX4" fmla="*/ 2403794 w 4281671"/>
              <a:gd name="connsiteY4" fmla="*/ 10010 h 5528353"/>
              <a:gd name="connsiteX0" fmla="*/ 2403794 w 4281671"/>
              <a:gd name="connsiteY0" fmla="*/ 1949 h 5520292"/>
              <a:gd name="connsiteX1" fmla="*/ 4257632 w 4281671"/>
              <a:gd name="connsiteY1" fmla="*/ 2764 h 5520292"/>
              <a:gd name="connsiteX2" fmla="*/ 4281671 w 4281671"/>
              <a:gd name="connsiteY2" fmla="*/ 5520292 h 5520292"/>
              <a:gd name="connsiteX3" fmla="*/ 2237539 w 4281671"/>
              <a:gd name="connsiteY3" fmla="*/ 5507253 h 5520292"/>
              <a:gd name="connsiteX4" fmla="*/ 2403794 w 4281671"/>
              <a:gd name="connsiteY4" fmla="*/ 1949 h 5520292"/>
              <a:gd name="connsiteX0" fmla="*/ 2403794 w 4281671"/>
              <a:gd name="connsiteY0" fmla="*/ 1949 h 5520292"/>
              <a:gd name="connsiteX1" fmla="*/ 4257632 w 4281671"/>
              <a:gd name="connsiteY1" fmla="*/ 2764 h 5520292"/>
              <a:gd name="connsiteX2" fmla="*/ 4281671 w 4281671"/>
              <a:gd name="connsiteY2" fmla="*/ 5520292 h 5520292"/>
              <a:gd name="connsiteX3" fmla="*/ 2237539 w 4281671"/>
              <a:gd name="connsiteY3" fmla="*/ 5507253 h 5520292"/>
              <a:gd name="connsiteX4" fmla="*/ 2403794 w 4281671"/>
              <a:gd name="connsiteY4" fmla="*/ 1949 h 5520292"/>
              <a:gd name="connsiteX0" fmla="*/ 2403794 w 4293511"/>
              <a:gd name="connsiteY0" fmla="*/ 1949 h 5507253"/>
              <a:gd name="connsiteX1" fmla="*/ 4257632 w 4293511"/>
              <a:gd name="connsiteY1" fmla="*/ 2764 h 5507253"/>
              <a:gd name="connsiteX2" fmla="*/ 4293511 w 4293511"/>
              <a:gd name="connsiteY2" fmla="*/ 5506845 h 5507253"/>
              <a:gd name="connsiteX3" fmla="*/ 2237539 w 4293511"/>
              <a:gd name="connsiteY3" fmla="*/ 5507253 h 5507253"/>
              <a:gd name="connsiteX4" fmla="*/ 2403794 w 4293511"/>
              <a:gd name="connsiteY4" fmla="*/ 1949 h 5507253"/>
              <a:gd name="connsiteX0" fmla="*/ 2403794 w 4423476"/>
              <a:gd name="connsiteY0" fmla="*/ 1949 h 5507253"/>
              <a:gd name="connsiteX1" fmla="*/ 4423388 w 4423476"/>
              <a:gd name="connsiteY1" fmla="*/ 2764 h 5507253"/>
              <a:gd name="connsiteX2" fmla="*/ 4293511 w 4423476"/>
              <a:gd name="connsiteY2" fmla="*/ 5506845 h 5507253"/>
              <a:gd name="connsiteX3" fmla="*/ 2237539 w 4423476"/>
              <a:gd name="connsiteY3" fmla="*/ 5507253 h 5507253"/>
              <a:gd name="connsiteX4" fmla="*/ 2403794 w 4423476"/>
              <a:gd name="connsiteY4" fmla="*/ 1949 h 5507253"/>
              <a:gd name="connsiteX0" fmla="*/ 2403794 w 4423476"/>
              <a:gd name="connsiteY0" fmla="*/ 1949 h 5507253"/>
              <a:gd name="connsiteX1" fmla="*/ 4423388 w 4423476"/>
              <a:gd name="connsiteY1" fmla="*/ 2764 h 5507253"/>
              <a:gd name="connsiteX2" fmla="*/ 4293511 w 4423476"/>
              <a:gd name="connsiteY2" fmla="*/ 5506845 h 5507253"/>
              <a:gd name="connsiteX3" fmla="*/ 2237539 w 4423476"/>
              <a:gd name="connsiteY3" fmla="*/ 5507253 h 5507253"/>
              <a:gd name="connsiteX4" fmla="*/ 2403794 w 4423476"/>
              <a:gd name="connsiteY4" fmla="*/ 1949 h 5507253"/>
              <a:gd name="connsiteX0" fmla="*/ 2403794 w 4565508"/>
              <a:gd name="connsiteY0" fmla="*/ 0 h 5505304"/>
              <a:gd name="connsiteX1" fmla="*/ 4565465 w 4565508"/>
              <a:gd name="connsiteY1" fmla="*/ 14262 h 5505304"/>
              <a:gd name="connsiteX2" fmla="*/ 4293511 w 4565508"/>
              <a:gd name="connsiteY2" fmla="*/ 5504896 h 5505304"/>
              <a:gd name="connsiteX3" fmla="*/ 2237539 w 4565508"/>
              <a:gd name="connsiteY3" fmla="*/ 5505304 h 5505304"/>
              <a:gd name="connsiteX4" fmla="*/ 2403794 w 4565508"/>
              <a:gd name="connsiteY4" fmla="*/ 0 h 5505304"/>
              <a:gd name="connsiteX0" fmla="*/ 2403794 w 4565582"/>
              <a:gd name="connsiteY0" fmla="*/ 0 h 5505304"/>
              <a:gd name="connsiteX1" fmla="*/ 4565465 w 4565582"/>
              <a:gd name="connsiteY1" fmla="*/ 14262 h 5505304"/>
              <a:gd name="connsiteX2" fmla="*/ 4471106 w 4565582"/>
              <a:gd name="connsiteY2" fmla="*/ 5491449 h 5505304"/>
              <a:gd name="connsiteX3" fmla="*/ 2237539 w 4565582"/>
              <a:gd name="connsiteY3" fmla="*/ 5505304 h 5505304"/>
              <a:gd name="connsiteX4" fmla="*/ 2403794 w 4565582"/>
              <a:gd name="connsiteY4" fmla="*/ 0 h 5505304"/>
              <a:gd name="connsiteX0" fmla="*/ 2403794 w 4565582"/>
              <a:gd name="connsiteY0" fmla="*/ 0 h 5505304"/>
              <a:gd name="connsiteX1" fmla="*/ 4565465 w 4565582"/>
              <a:gd name="connsiteY1" fmla="*/ 14262 h 5505304"/>
              <a:gd name="connsiteX2" fmla="*/ 4471106 w 4565582"/>
              <a:gd name="connsiteY2" fmla="*/ 5491449 h 5505304"/>
              <a:gd name="connsiteX3" fmla="*/ 2237539 w 4565582"/>
              <a:gd name="connsiteY3" fmla="*/ 5505304 h 5505304"/>
              <a:gd name="connsiteX4" fmla="*/ 2403794 w 4565582"/>
              <a:gd name="connsiteY4" fmla="*/ 0 h 5505304"/>
              <a:gd name="connsiteX0" fmla="*/ 2403794 w 4707901"/>
              <a:gd name="connsiteY0" fmla="*/ 0 h 5505932"/>
              <a:gd name="connsiteX1" fmla="*/ 4565465 w 4707901"/>
              <a:gd name="connsiteY1" fmla="*/ 14262 h 5505932"/>
              <a:gd name="connsiteX2" fmla="*/ 4707901 w 4707901"/>
              <a:gd name="connsiteY2" fmla="*/ 5504896 h 5505932"/>
              <a:gd name="connsiteX3" fmla="*/ 2237539 w 4707901"/>
              <a:gd name="connsiteY3" fmla="*/ 5505304 h 5505932"/>
              <a:gd name="connsiteX4" fmla="*/ 2403794 w 4707901"/>
              <a:gd name="connsiteY4" fmla="*/ 0 h 5505932"/>
              <a:gd name="connsiteX0" fmla="*/ 2403794 w 4814204"/>
              <a:gd name="connsiteY0" fmla="*/ 1948 h 5507878"/>
              <a:gd name="connsiteX1" fmla="*/ 4814099 w 4814204"/>
              <a:gd name="connsiteY1" fmla="*/ 2763 h 5507878"/>
              <a:gd name="connsiteX2" fmla="*/ 4707901 w 4814204"/>
              <a:gd name="connsiteY2" fmla="*/ 5506844 h 5507878"/>
              <a:gd name="connsiteX3" fmla="*/ 2237539 w 4814204"/>
              <a:gd name="connsiteY3" fmla="*/ 5507252 h 5507878"/>
              <a:gd name="connsiteX4" fmla="*/ 2403794 w 4814204"/>
              <a:gd name="connsiteY4" fmla="*/ 1948 h 5507878"/>
              <a:gd name="connsiteX0" fmla="*/ 2403794 w 6116475"/>
              <a:gd name="connsiteY0" fmla="*/ 14366 h 5520293"/>
              <a:gd name="connsiteX1" fmla="*/ 6116467 w 6116475"/>
              <a:gd name="connsiteY1" fmla="*/ 1734 h 5520293"/>
              <a:gd name="connsiteX2" fmla="*/ 4707901 w 6116475"/>
              <a:gd name="connsiteY2" fmla="*/ 5519262 h 5520293"/>
              <a:gd name="connsiteX3" fmla="*/ 2237539 w 6116475"/>
              <a:gd name="connsiteY3" fmla="*/ 5519670 h 5520293"/>
              <a:gd name="connsiteX4" fmla="*/ 2403794 w 6116475"/>
              <a:gd name="connsiteY4" fmla="*/ 14366 h 5520293"/>
              <a:gd name="connsiteX0" fmla="*/ 2403794 w 6117683"/>
              <a:gd name="connsiteY0" fmla="*/ 14366 h 5533738"/>
              <a:gd name="connsiteX1" fmla="*/ 6116467 w 6117683"/>
              <a:gd name="connsiteY1" fmla="*/ 1734 h 5533738"/>
              <a:gd name="connsiteX2" fmla="*/ 6116827 w 6117683"/>
              <a:gd name="connsiteY2" fmla="*/ 5532709 h 5533738"/>
              <a:gd name="connsiteX3" fmla="*/ 2237539 w 6117683"/>
              <a:gd name="connsiteY3" fmla="*/ 5519670 h 5533738"/>
              <a:gd name="connsiteX4" fmla="*/ 2403794 w 6117683"/>
              <a:gd name="connsiteY4" fmla="*/ 14366 h 5533738"/>
              <a:gd name="connsiteX0" fmla="*/ 2403794 w 6117683"/>
              <a:gd name="connsiteY0" fmla="*/ 14366 h 5533738"/>
              <a:gd name="connsiteX1" fmla="*/ 6116467 w 6117683"/>
              <a:gd name="connsiteY1" fmla="*/ 1734 h 5533738"/>
              <a:gd name="connsiteX2" fmla="*/ 6116827 w 6117683"/>
              <a:gd name="connsiteY2" fmla="*/ 5532709 h 5533738"/>
              <a:gd name="connsiteX3" fmla="*/ 2237539 w 6117683"/>
              <a:gd name="connsiteY3" fmla="*/ 5519670 h 5533738"/>
              <a:gd name="connsiteX4" fmla="*/ 2403794 w 6117683"/>
              <a:gd name="connsiteY4" fmla="*/ 14366 h 5533738"/>
              <a:gd name="connsiteX0" fmla="*/ 2403794 w 6643352"/>
              <a:gd name="connsiteY0" fmla="*/ 14366 h 5548321"/>
              <a:gd name="connsiteX1" fmla="*/ 6116467 w 6643352"/>
              <a:gd name="connsiteY1" fmla="*/ 1734 h 5548321"/>
              <a:gd name="connsiteX2" fmla="*/ 6643352 w 6643352"/>
              <a:gd name="connsiteY2" fmla="*/ 5547295 h 5548321"/>
              <a:gd name="connsiteX3" fmla="*/ 2237539 w 6643352"/>
              <a:gd name="connsiteY3" fmla="*/ 5519670 h 5548321"/>
              <a:gd name="connsiteX4" fmla="*/ 2403794 w 6643352"/>
              <a:gd name="connsiteY4" fmla="*/ 14366 h 5548321"/>
              <a:gd name="connsiteX0" fmla="*/ 2403794 w 6644208"/>
              <a:gd name="connsiteY0" fmla="*/ 14366 h 5548321"/>
              <a:gd name="connsiteX1" fmla="*/ 6642992 w 6644208"/>
              <a:gd name="connsiteY1" fmla="*/ 1734 h 5548321"/>
              <a:gd name="connsiteX2" fmla="*/ 6643352 w 6644208"/>
              <a:gd name="connsiteY2" fmla="*/ 5547295 h 5548321"/>
              <a:gd name="connsiteX3" fmla="*/ 2237539 w 6644208"/>
              <a:gd name="connsiteY3" fmla="*/ 5519670 h 5548321"/>
              <a:gd name="connsiteX4" fmla="*/ 2403794 w 6644208"/>
              <a:gd name="connsiteY4" fmla="*/ 14366 h 554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44208" h="5548321">
                <a:moveTo>
                  <a:pt x="2403794" y="14366"/>
                </a:moveTo>
                <a:cubicBezTo>
                  <a:pt x="2421861" y="23602"/>
                  <a:pt x="6021099" y="-7502"/>
                  <a:pt x="6642992" y="1734"/>
                </a:cubicBezTo>
                <a:cubicBezTo>
                  <a:pt x="6647058" y="7628"/>
                  <a:pt x="6639286" y="5635530"/>
                  <a:pt x="6643352" y="5547295"/>
                </a:cubicBezTo>
                <a:lnTo>
                  <a:pt x="2237539" y="5519670"/>
                </a:lnTo>
                <a:cubicBezTo>
                  <a:pt x="-925915" y="5070024"/>
                  <a:pt x="-611878" y="200776"/>
                  <a:pt x="2403794" y="14366"/>
                </a:cubicBez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C8E270-2DF2-56D8-74B1-4AF47EFBCA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7302" r="314"/>
          <a:stretch/>
        </p:blipFill>
        <p:spPr>
          <a:xfrm>
            <a:off x="0" y="591734"/>
            <a:ext cx="9391650" cy="5413314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DE4ADE2E-588C-FE06-85F7-12FB73F29B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1" y="1909136"/>
            <a:ext cx="5947575" cy="148175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>
              <a:lnSpc>
                <a:spcPts val="5400"/>
              </a:lnSpc>
              <a:defRPr sz="5000" b="0" i="0" spc="-8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AU" noProof="0"/>
              <a:t>Presentation</a:t>
            </a:r>
            <a:r>
              <a:rPr lang="en-US"/>
              <a:t> title goes in this space</a:t>
            </a:r>
          </a:p>
        </p:txBody>
      </p:sp>
    </p:spTree>
    <p:extLst>
      <p:ext uri="{BB962C8B-B14F-4D97-AF65-F5344CB8AC3E}">
        <p14:creationId xmlns:p14="http://schemas.microsoft.com/office/powerpoint/2010/main" val="1402337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b">
    <p:bg>
      <p:bgPr>
        <a:gradFill>
          <a:gsLst>
            <a:gs pos="0">
              <a:srgbClr val="B922F3"/>
            </a:gs>
            <a:gs pos="38000">
              <a:srgbClr val="93186C"/>
            </a:gs>
            <a:gs pos="63000">
              <a:srgbClr val="93186C"/>
            </a:gs>
            <a:gs pos="100000">
              <a:schemeClr val="accent2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5439089-17EE-C123-A417-EA2AA40A799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920" y="6129118"/>
            <a:ext cx="1870484" cy="345912"/>
          </a:xfrm>
          <a:prstGeom prst="rect">
            <a:avLst/>
          </a:prstGeom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D7F8596-0EF8-2C88-0975-4BC655CE161E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502920" y="3932777"/>
            <a:ext cx="1985352" cy="750783"/>
          </a:xfrm>
          <a:prstGeom prst="rect">
            <a:avLst/>
          </a:prstGeom>
        </p:spPr>
        <p:txBody>
          <a:bodyPr vert="horz" wrap="none" lIns="45720" tIns="45720" rIns="91440" bIns="45720" rtlCol="0" anchor="t">
            <a:sp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lang="en-US" sz="1800" b="0" i="0" spc="130" baseline="0" dirty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Presenter Name</a:t>
            </a:r>
          </a:p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Title</a:t>
            </a:r>
          </a:p>
        </p:txBody>
      </p:sp>
      <p:pic>
        <p:nvPicPr>
          <p:cNvPr id="4" name="Picture 3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49A0CE95-6BEE-BA2A-7C74-AA1744090F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920" y="6129118"/>
            <a:ext cx="1870484" cy="345912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47165044-E6E0-0CB3-AB2C-6F7E5041AB8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920" y="330024"/>
            <a:ext cx="2744482" cy="2446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 algn="l">
              <a:buNone/>
              <a:defRPr lang="en-US" sz="1200" b="1" i="0" kern="1200" spc="100" baseline="0" dirty="0">
                <a:solidFill>
                  <a:schemeClr val="bg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AU" noProof="0"/>
              <a:t>Date</a:t>
            </a:r>
          </a:p>
        </p:txBody>
      </p:sp>
      <p:pic>
        <p:nvPicPr>
          <p:cNvPr id="7" name="圖片版面配置區 10">
            <a:extLst>
              <a:ext uri="{FF2B5EF4-FFF2-40B4-BE49-F238E27FC236}">
                <a16:creationId xmlns:a16="http://schemas.microsoft.com/office/drawing/2014/main" id="{59D0C190-C27D-962C-BAB5-7FCBD47896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00"/>
          <a:stretch/>
        </p:blipFill>
        <p:spPr>
          <a:xfrm>
            <a:off x="6554018" y="735630"/>
            <a:ext cx="5637982" cy="5115264"/>
          </a:xfrm>
          <a:custGeom>
            <a:avLst/>
            <a:gdLst>
              <a:gd name="connsiteX0" fmla="*/ 0 w 2507674"/>
              <a:gd name="connsiteY0" fmla="*/ 0 h 5477595"/>
              <a:gd name="connsiteX1" fmla="*/ 2507674 w 2507674"/>
              <a:gd name="connsiteY1" fmla="*/ 0 h 5477595"/>
              <a:gd name="connsiteX2" fmla="*/ 2507674 w 2507674"/>
              <a:gd name="connsiteY2" fmla="*/ 5477595 h 5477595"/>
              <a:gd name="connsiteX3" fmla="*/ 0 w 2507674"/>
              <a:gd name="connsiteY3" fmla="*/ 5477595 h 5477595"/>
              <a:gd name="connsiteX4" fmla="*/ 0 w 2507674"/>
              <a:gd name="connsiteY4" fmla="*/ 0 h 5477595"/>
              <a:gd name="connsiteX0" fmla="*/ 0 w 2521528"/>
              <a:gd name="connsiteY0" fmla="*/ 0 h 5505304"/>
              <a:gd name="connsiteX1" fmla="*/ 2521528 w 2521528"/>
              <a:gd name="connsiteY1" fmla="*/ 27709 h 5505304"/>
              <a:gd name="connsiteX2" fmla="*/ 2521528 w 2521528"/>
              <a:gd name="connsiteY2" fmla="*/ 5505304 h 5505304"/>
              <a:gd name="connsiteX3" fmla="*/ 13854 w 2521528"/>
              <a:gd name="connsiteY3" fmla="*/ 5505304 h 5505304"/>
              <a:gd name="connsiteX4" fmla="*/ 0 w 2521528"/>
              <a:gd name="connsiteY4" fmla="*/ 0 h 5505304"/>
              <a:gd name="connsiteX0" fmla="*/ 2039700 w 4561228"/>
              <a:gd name="connsiteY0" fmla="*/ 0 h 5505304"/>
              <a:gd name="connsiteX1" fmla="*/ 4561228 w 4561228"/>
              <a:gd name="connsiteY1" fmla="*/ 27709 h 5505304"/>
              <a:gd name="connsiteX2" fmla="*/ 4561228 w 4561228"/>
              <a:gd name="connsiteY2" fmla="*/ 5505304 h 5505304"/>
              <a:gd name="connsiteX3" fmla="*/ 2053554 w 4561228"/>
              <a:gd name="connsiteY3" fmla="*/ 5505304 h 5505304"/>
              <a:gd name="connsiteX4" fmla="*/ 2039700 w 4561228"/>
              <a:gd name="connsiteY4" fmla="*/ 0 h 5505304"/>
              <a:gd name="connsiteX0" fmla="*/ 2436894 w 4958422"/>
              <a:gd name="connsiteY0" fmla="*/ 0 h 5505304"/>
              <a:gd name="connsiteX1" fmla="*/ 4958422 w 4958422"/>
              <a:gd name="connsiteY1" fmla="*/ 27709 h 5505304"/>
              <a:gd name="connsiteX2" fmla="*/ 4958422 w 4958422"/>
              <a:gd name="connsiteY2" fmla="*/ 5505304 h 5505304"/>
              <a:gd name="connsiteX3" fmla="*/ 2450748 w 4958422"/>
              <a:gd name="connsiteY3" fmla="*/ 5505304 h 5505304"/>
              <a:gd name="connsiteX4" fmla="*/ 2436894 w 4958422"/>
              <a:gd name="connsiteY4" fmla="*/ 0 h 5505304"/>
              <a:gd name="connsiteX0" fmla="*/ 2286795 w 4808323"/>
              <a:gd name="connsiteY0" fmla="*/ 0 h 5505304"/>
              <a:gd name="connsiteX1" fmla="*/ 4808323 w 4808323"/>
              <a:gd name="connsiteY1" fmla="*/ 27709 h 5505304"/>
              <a:gd name="connsiteX2" fmla="*/ 4808323 w 4808323"/>
              <a:gd name="connsiteY2" fmla="*/ 5505304 h 5505304"/>
              <a:gd name="connsiteX3" fmla="*/ 2300649 w 4808323"/>
              <a:gd name="connsiteY3" fmla="*/ 5505304 h 5505304"/>
              <a:gd name="connsiteX4" fmla="*/ 2286795 w 4808323"/>
              <a:gd name="connsiteY4" fmla="*/ 0 h 5505304"/>
              <a:gd name="connsiteX0" fmla="*/ 2486455 w 5007983"/>
              <a:gd name="connsiteY0" fmla="*/ 0 h 5505304"/>
              <a:gd name="connsiteX1" fmla="*/ 5007983 w 5007983"/>
              <a:gd name="connsiteY1" fmla="*/ 27709 h 5505304"/>
              <a:gd name="connsiteX2" fmla="*/ 5007983 w 5007983"/>
              <a:gd name="connsiteY2" fmla="*/ 5505304 h 5505304"/>
              <a:gd name="connsiteX3" fmla="*/ 2500309 w 5007983"/>
              <a:gd name="connsiteY3" fmla="*/ 5505304 h 5505304"/>
              <a:gd name="connsiteX4" fmla="*/ 2486455 w 5007983"/>
              <a:gd name="connsiteY4" fmla="*/ 0 h 5505304"/>
              <a:gd name="connsiteX0" fmla="*/ 2341450 w 4862978"/>
              <a:gd name="connsiteY0" fmla="*/ 0 h 5505304"/>
              <a:gd name="connsiteX1" fmla="*/ 4862978 w 4862978"/>
              <a:gd name="connsiteY1" fmla="*/ 27709 h 5505304"/>
              <a:gd name="connsiteX2" fmla="*/ 4862978 w 4862978"/>
              <a:gd name="connsiteY2" fmla="*/ 5505304 h 5505304"/>
              <a:gd name="connsiteX3" fmla="*/ 2355304 w 4862978"/>
              <a:gd name="connsiteY3" fmla="*/ 5505304 h 5505304"/>
              <a:gd name="connsiteX4" fmla="*/ 2341450 w 4862978"/>
              <a:gd name="connsiteY4" fmla="*/ 0 h 5505304"/>
              <a:gd name="connsiteX0" fmla="*/ 2226567 w 4748095"/>
              <a:gd name="connsiteY0" fmla="*/ 0 h 5505304"/>
              <a:gd name="connsiteX1" fmla="*/ 4748095 w 4748095"/>
              <a:gd name="connsiteY1" fmla="*/ 27709 h 5505304"/>
              <a:gd name="connsiteX2" fmla="*/ 4748095 w 4748095"/>
              <a:gd name="connsiteY2" fmla="*/ 5505304 h 5505304"/>
              <a:gd name="connsiteX3" fmla="*/ 2240421 w 4748095"/>
              <a:gd name="connsiteY3" fmla="*/ 5505304 h 5505304"/>
              <a:gd name="connsiteX4" fmla="*/ 2226567 w 4748095"/>
              <a:gd name="connsiteY4" fmla="*/ 0 h 5505304"/>
              <a:gd name="connsiteX0" fmla="*/ 2300185 w 4821713"/>
              <a:gd name="connsiteY0" fmla="*/ 0 h 5505304"/>
              <a:gd name="connsiteX1" fmla="*/ 4821713 w 4821713"/>
              <a:gd name="connsiteY1" fmla="*/ 27709 h 5505304"/>
              <a:gd name="connsiteX2" fmla="*/ 4821713 w 4821713"/>
              <a:gd name="connsiteY2" fmla="*/ 5505304 h 5505304"/>
              <a:gd name="connsiteX3" fmla="*/ 2314039 w 4821713"/>
              <a:gd name="connsiteY3" fmla="*/ 5505304 h 5505304"/>
              <a:gd name="connsiteX4" fmla="*/ 2300185 w 4821713"/>
              <a:gd name="connsiteY4" fmla="*/ 0 h 5505304"/>
              <a:gd name="connsiteX0" fmla="*/ 2300185 w 4821713"/>
              <a:gd name="connsiteY0" fmla="*/ 0 h 5505304"/>
              <a:gd name="connsiteX1" fmla="*/ 4821713 w 4821713"/>
              <a:gd name="connsiteY1" fmla="*/ 27709 h 5505304"/>
              <a:gd name="connsiteX2" fmla="*/ 4821713 w 4821713"/>
              <a:gd name="connsiteY2" fmla="*/ 5505304 h 5505304"/>
              <a:gd name="connsiteX3" fmla="*/ 2314039 w 4821713"/>
              <a:gd name="connsiteY3" fmla="*/ 5505304 h 5505304"/>
              <a:gd name="connsiteX4" fmla="*/ 2300185 w 4821713"/>
              <a:gd name="connsiteY4" fmla="*/ 0 h 5505304"/>
              <a:gd name="connsiteX0" fmla="*/ 2312129 w 4805948"/>
              <a:gd name="connsiteY0" fmla="*/ 0 h 5505304"/>
              <a:gd name="connsiteX1" fmla="*/ 4805948 w 4805948"/>
              <a:gd name="connsiteY1" fmla="*/ 27709 h 5505304"/>
              <a:gd name="connsiteX2" fmla="*/ 4805948 w 4805948"/>
              <a:gd name="connsiteY2" fmla="*/ 5505304 h 5505304"/>
              <a:gd name="connsiteX3" fmla="*/ 2298274 w 4805948"/>
              <a:gd name="connsiteY3" fmla="*/ 5505304 h 5505304"/>
              <a:gd name="connsiteX4" fmla="*/ 2312129 w 4805948"/>
              <a:gd name="connsiteY4" fmla="*/ 0 h 5505304"/>
              <a:gd name="connsiteX0" fmla="*/ 2342372 w 4766918"/>
              <a:gd name="connsiteY0" fmla="*/ 0 h 5505304"/>
              <a:gd name="connsiteX1" fmla="*/ 4766918 w 4766918"/>
              <a:gd name="connsiteY1" fmla="*/ 27709 h 5505304"/>
              <a:gd name="connsiteX2" fmla="*/ 4766918 w 4766918"/>
              <a:gd name="connsiteY2" fmla="*/ 5505304 h 5505304"/>
              <a:gd name="connsiteX3" fmla="*/ 2259244 w 4766918"/>
              <a:gd name="connsiteY3" fmla="*/ 5505304 h 5505304"/>
              <a:gd name="connsiteX4" fmla="*/ 2342372 w 4766918"/>
              <a:gd name="connsiteY4" fmla="*/ 0 h 5505304"/>
              <a:gd name="connsiteX0" fmla="*/ 2387070 w 4811616"/>
              <a:gd name="connsiteY0" fmla="*/ 0 h 5505304"/>
              <a:gd name="connsiteX1" fmla="*/ 4811616 w 4811616"/>
              <a:gd name="connsiteY1" fmla="*/ 27709 h 5505304"/>
              <a:gd name="connsiteX2" fmla="*/ 4811616 w 4811616"/>
              <a:gd name="connsiteY2" fmla="*/ 5505304 h 5505304"/>
              <a:gd name="connsiteX3" fmla="*/ 2303942 w 4811616"/>
              <a:gd name="connsiteY3" fmla="*/ 5505304 h 5505304"/>
              <a:gd name="connsiteX4" fmla="*/ 2387070 w 4811616"/>
              <a:gd name="connsiteY4" fmla="*/ 0 h 5505304"/>
              <a:gd name="connsiteX0" fmla="*/ 2101407 w 4525953"/>
              <a:gd name="connsiteY0" fmla="*/ 0 h 5505304"/>
              <a:gd name="connsiteX1" fmla="*/ 4525953 w 4525953"/>
              <a:gd name="connsiteY1" fmla="*/ 27709 h 5505304"/>
              <a:gd name="connsiteX2" fmla="*/ 4525953 w 4525953"/>
              <a:gd name="connsiteY2" fmla="*/ 5505304 h 5505304"/>
              <a:gd name="connsiteX3" fmla="*/ 2018279 w 4525953"/>
              <a:gd name="connsiteY3" fmla="*/ 5505304 h 5505304"/>
              <a:gd name="connsiteX4" fmla="*/ 2101407 w 4525953"/>
              <a:gd name="connsiteY4" fmla="*/ 0 h 5505304"/>
              <a:gd name="connsiteX0" fmla="*/ 2360231 w 4784777"/>
              <a:gd name="connsiteY0" fmla="*/ 0 h 5505304"/>
              <a:gd name="connsiteX1" fmla="*/ 4784777 w 4784777"/>
              <a:gd name="connsiteY1" fmla="*/ 27709 h 5505304"/>
              <a:gd name="connsiteX2" fmla="*/ 4784777 w 4784777"/>
              <a:gd name="connsiteY2" fmla="*/ 5505304 h 5505304"/>
              <a:gd name="connsiteX3" fmla="*/ 2277103 w 4784777"/>
              <a:gd name="connsiteY3" fmla="*/ 5505304 h 5505304"/>
              <a:gd name="connsiteX4" fmla="*/ 2360231 w 4784777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269472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281671"/>
              <a:gd name="connsiteY0" fmla="*/ 0 h 5505304"/>
              <a:gd name="connsiteX1" fmla="*/ 4269472 w 4281671"/>
              <a:gd name="connsiteY1" fmla="*/ 27709 h 5505304"/>
              <a:gd name="connsiteX2" fmla="*/ 4281671 w 4281671"/>
              <a:gd name="connsiteY2" fmla="*/ 5491449 h 5505304"/>
              <a:gd name="connsiteX3" fmla="*/ 2237539 w 4281671"/>
              <a:gd name="connsiteY3" fmla="*/ 5505304 h 5505304"/>
              <a:gd name="connsiteX4" fmla="*/ 2403794 w 4281671"/>
              <a:gd name="connsiteY4" fmla="*/ 0 h 5505304"/>
              <a:gd name="connsiteX0" fmla="*/ 2403794 w 4281671"/>
              <a:gd name="connsiteY0" fmla="*/ 0 h 5518343"/>
              <a:gd name="connsiteX1" fmla="*/ 4269472 w 4281671"/>
              <a:gd name="connsiteY1" fmla="*/ 27709 h 5518343"/>
              <a:gd name="connsiteX2" fmla="*/ 4281671 w 4281671"/>
              <a:gd name="connsiteY2" fmla="*/ 5518343 h 5518343"/>
              <a:gd name="connsiteX3" fmla="*/ 2237539 w 4281671"/>
              <a:gd name="connsiteY3" fmla="*/ 5505304 h 5518343"/>
              <a:gd name="connsiteX4" fmla="*/ 2403794 w 4281671"/>
              <a:gd name="connsiteY4" fmla="*/ 0 h 5518343"/>
              <a:gd name="connsiteX0" fmla="*/ 2403794 w 4281671"/>
              <a:gd name="connsiteY0" fmla="*/ 0 h 5518343"/>
              <a:gd name="connsiteX1" fmla="*/ 4269472 w 4281671"/>
              <a:gd name="connsiteY1" fmla="*/ 27709 h 5518343"/>
              <a:gd name="connsiteX2" fmla="*/ 4281671 w 4281671"/>
              <a:gd name="connsiteY2" fmla="*/ 5518343 h 5518343"/>
              <a:gd name="connsiteX3" fmla="*/ 2237539 w 4281671"/>
              <a:gd name="connsiteY3" fmla="*/ 5505304 h 5518343"/>
              <a:gd name="connsiteX4" fmla="*/ 2403794 w 4281671"/>
              <a:gd name="connsiteY4" fmla="*/ 0 h 5518343"/>
              <a:gd name="connsiteX0" fmla="*/ 2403794 w 4281671"/>
              <a:gd name="connsiteY0" fmla="*/ 4793 h 5523136"/>
              <a:gd name="connsiteX1" fmla="*/ 4269472 w 4281671"/>
              <a:gd name="connsiteY1" fmla="*/ 32502 h 5523136"/>
              <a:gd name="connsiteX2" fmla="*/ 4281671 w 4281671"/>
              <a:gd name="connsiteY2" fmla="*/ 5523136 h 5523136"/>
              <a:gd name="connsiteX3" fmla="*/ 2237539 w 4281671"/>
              <a:gd name="connsiteY3" fmla="*/ 5510097 h 5523136"/>
              <a:gd name="connsiteX4" fmla="*/ 2403794 w 4281671"/>
              <a:gd name="connsiteY4" fmla="*/ 4793 h 5523136"/>
              <a:gd name="connsiteX0" fmla="*/ 2403794 w 4281671"/>
              <a:gd name="connsiteY0" fmla="*/ 10010 h 5528353"/>
              <a:gd name="connsiteX1" fmla="*/ 4257632 w 4281671"/>
              <a:gd name="connsiteY1" fmla="*/ 10825 h 5528353"/>
              <a:gd name="connsiteX2" fmla="*/ 4281671 w 4281671"/>
              <a:gd name="connsiteY2" fmla="*/ 5528353 h 5528353"/>
              <a:gd name="connsiteX3" fmla="*/ 2237539 w 4281671"/>
              <a:gd name="connsiteY3" fmla="*/ 5515314 h 5528353"/>
              <a:gd name="connsiteX4" fmla="*/ 2403794 w 4281671"/>
              <a:gd name="connsiteY4" fmla="*/ 10010 h 5528353"/>
              <a:gd name="connsiteX0" fmla="*/ 2403794 w 4281671"/>
              <a:gd name="connsiteY0" fmla="*/ 10010 h 5528353"/>
              <a:gd name="connsiteX1" fmla="*/ 4257632 w 4281671"/>
              <a:gd name="connsiteY1" fmla="*/ 10825 h 5528353"/>
              <a:gd name="connsiteX2" fmla="*/ 4281671 w 4281671"/>
              <a:gd name="connsiteY2" fmla="*/ 5528353 h 5528353"/>
              <a:gd name="connsiteX3" fmla="*/ 2237539 w 4281671"/>
              <a:gd name="connsiteY3" fmla="*/ 5515314 h 5528353"/>
              <a:gd name="connsiteX4" fmla="*/ 2403794 w 4281671"/>
              <a:gd name="connsiteY4" fmla="*/ 10010 h 5528353"/>
              <a:gd name="connsiteX0" fmla="*/ 2403794 w 4281671"/>
              <a:gd name="connsiteY0" fmla="*/ 1949 h 5520292"/>
              <a:gd name="connsiteX1" fmla="*/ 4257632 w 4281671"/>
              <a:gd name="connsiteY1" fmla="*/ 2764 h 5520292"/>
              <a:gd name="connsiteX2" fmla="*/ 4281671 w 4281671"/>
              <a:gd name="connsiteY2" fmla="*/ 5520292 h 5520292"/>
              <a:gd name="connsiteX3" fmla="*/ 2237539 w 4281671"/>
              <a:gd name="connsiteY3" fmla="*/ 5507253 h 5520292"/>
              <a:gd name="connsiteX4" fmla="*/ 2403794 w 4281671"/>
              <a:gd name="connsiteY4" fmla="*/ 1949 h 5520292"/>
              <a:gd name="connsiteX0" fmla="*/ 2403794 w 4281671"/>
              <a:gd name="connsiteY0" fmla="*/ 1949 h 5520292"/>
              <a:gd name="connsiteX1" fmla="*/ 4257632 w 4281671"/>
              <a:gd name="connsiteY1" fmla="*/ 2764 h 5520292"/>
              <a:gd name="connsiteX2" fmla="*/ 4281671 w 4281671"/>
              <a:gd name="connsiteY2" fmla="*/ 5520292 h 5520292"/>
              <a:gd name="connsiteX3" fmla="*/ 2237539 w 4281671"/>
              <a:gd name="connsiteY3" fmla="*/ 5507253 h 5520292"/>
              <a:gd name="connsiteX4" fmla="*/ 2403794 w 4281671"/>
              <a:gd name="connsiteY4" fmla="*/ 1949 h 5520292"/>
              <a:gd name="connsiteX0" fmla="*/ 2403794 w 4293511"/>
              <a:gd name="connsiteY0" fmla="*/ 1949 h 5507253"/>
              <a:gd name="connsiteX1" fmla="*/ 4257632 w 4293511"/>
              <a:gd name="connsiteY1" fmla="*/ 2764 h 5507253"/>
              <a:gd name="connsiteX2" fmla="*/ 4293511 w 4293511"/>
              <a:gd name="connsiteY2" fmla="*/ 5506845 h 5507253"/>
              <a:gd name="connsiteX3" fmla="*/ 2237539 w 4293511"/>
              <a:gd name="connsiteY3" fmla="*/ 5507253 h 5507253"/>
              <a:gd name="connsiteX4" fmla="*/ 2403794 w 4293511"/>
              <a:gd name="connsiteY4" fmla="*/ 1949 h 5507253"/>
              <a:gd name="connsiteX0" fmla="*/ 2403794 w 4423476"/>
              <a:gd name="connsiteY0" fmla="*/ 1949 h 5507253"/>
              <a:gd name="connsiteX1" fmla="*/ 4423388 w 4423476"/>
              <a:gd name="connsiteY1" fmla="*/ 2764 h 5507253"/>
              <a:gd name="connsiteX2" fmla="*/ 4293511 w 4423476"/>
              <a:gd name="connsiteY2" fmla="*/ 5506845 h 5507253"/>
              <a:gd name="connsiteX3" fmla="*/ 2237539 w 4423476"/>
              <a:gd name="connsiteY3" fmla="*/ 5507253 h 5507253"/>
              <a:gd name="connsiteX4" fmla="*/ 2403794 w 4423476"/>
              <a:gd name="connsiteY4" fmla="*/ 1949 h 5507253"/>
              <a:gd name="connsiteX0" fmla="*/ 2403794 w 4423476"/>
              <a:gd name="connsiteY0" fmla="*/ 1949 h 5507253"/>
              <a:gd name="connsiteX1" fmla="*/ 4423388 w 4423476"/>
              <a:gd name="connsiteY1" fmla="*/ 2764 h 5507253"/>
              <a:gd name="connsiteX2" fmla="*/ 4293511 w 4423476"/>
              <a:gd name="connsiteY2" fmla="*/ 5506845 h 5507253"/>
              <a:gd name="connsiteX3" fmla="*/ 2237539 w 4423476"/>
              <a:gd name="connsiteY3" fmla="*/ 5507253 h 5507253"/>
              <a:gd name="connsiteX4" fmla="*/ 2403794 w 4423476"/>
              <a:gd name="connsiteY4" fmla="*/ 1949 h 5507253"/>
              <a:gd name="connsiteX0" fmla="*/ 2403794 w 4565508"/>
              <a:gd name="connsiteY0" fmla="*/ 0 h 5505304"/>
              <a:gd name="connsiteX1" fmla="*/ 4565465 w 4565508"/>
              <a:gd name="connsiteY1" fmla="*/ 14262 h 5505304"/>
              <a:gd name="connsiteX2" fmla="*/ 4293511 w 4565508"/>
              <a:gd name="connsiteY2" fmla="*/ 5504896 h 5505304"/>
              <a:gd name="connsiteX3" fmla="*/ 2237539 w 4565508"/>
              <a:gd name="connsiteY3" fmla="*/ 5505304 h 5505304"/>
              <a:gd name="connsiteX4" fmla="*/ 2403794 w 4565508"/>
              <a:gd name="connsiteY4" fmla="*/ 0 h 5505304"/>
              <a:gd name="connsiteX0" fmla="*/ 2403794 w 4565582"/>
              <a:gd name="connsiteY0" fmla="*/ 0 h 5505304"/>
              <a:gd name="connsiteX1" fmla="*/ 4565465 w 4565582"/>
              <a:gd name="connsiteY1" fmla="*/ 14262 h 5505304"/>
              <a:gd name="connsiteX2" fmla="*/ 4471106 w 4565582"/>
              <a:gd name="connsiteY2" fmla="*/ 5491449 h 5505304"/>
              <a:gd name="connsiteX3" fmla="*/ 2237539 w 4565582"/>
              <a:gd name="connsiteY3" fmla="*/ 5505304 h 5505304"/>
              <a:gd name="connsiteX4" fmla="*/ 2403794 w 4565582"/>
              <a:gd name="connsiteY4" fmla="*/ 0 h 5505304"/>
              <a:gd name="connsiteX0" fmla="*/ 2403794 w 4565582"/>
              <a:gd name="connsiteY0" fmla="*/ 0 h 5505304"/>
              <a:gd name="connsiteX1" fmla="*/ 4565465 w 4565582"/>
              <a:gd name="connsiteY1" fmla="*/ 14262 h 5505304"/>
              <a:gd name="connsiteX2" fmla="*/ 4471106 w 4565582"/>
              <a:gd name="connsiteY2" fmla="*/ 5491449 h 5505304"/>
              <a:gd name="connsiteX3" fmla="*/ 2237539 w 4565582"/>
              <a:gd name="connsiteY3" fmla="*/ 5505304 h 5505304"/>
              <a:gd name="connsiteX4" fmla="*/ 2403794 w 4565582"/>
              <a:gd name="connsiteY4" fmla="*/ 0 h 5505304"/>
              <a:gd name="connsiteX0" fmla="*/ 2403794 w 4707901"/>
              <a:gd name="connsiteY0" fmla="*/ 0 h 5505932"/>
              <a:gd name="connsiteX1" fmla="*/ 4565465 w 4707901"/>
              <a:gd name="connsiteY1" fmla="*/ 14262 h 5505932"/>
              <a:gd name="connsiteX2" fmla="*/ 4707901 w 4707901"/>
              <a:gd name="connsiteY2" fmla="*/ 5504896 h 5505932"/>
              <a:gd name="connsiteX3" fmla="*/ 2237539 w 4707901"/>
              <a:gd name="connsiteY3" fmla="*/ 5505304 h 5505932"/>
              <a:gd name="connsiteX4" fmla="*/ 2403794 w 4707901"/>
              <a:gd name="connsiteY4" fmla="*/ 0 h 5505932"/>
              <a:gd name="connsiteX0" fmla="*/ 2403794 w 4814204"/>
              <a:gd name="connsiteY0" fmla="*/ 1948 h 5507878"/>
              <a:gd name="connsiteX1" fmla="*/ 4814099 w 4814204"/>
              <a:gd name="connsiteY1" fmla="*/ 2763 h 5507878"/>
              <a:gd name="connsiteX2" fmla="*/ 4707901 w 4814204"/>
              <a:gd name="connsiteY2" fmla="*/ 5506844 h 5507878"/>
              <a:gd name="connsiteX3" fmla="*/ 2237539 w 4814204"/>
              <a:gd name="connsiteY3" fmla="*/ 5507252 h 5507878"/>
              <a:gd name="connsiteX4" fmla="*/ 2403794 w 4814204"/>
              <a:gd name="connsiteY4" fmla="*/ 1948 h 5507878"/>
              <a:gd name="connsiteX0" fmla="*/ 2403794 w 6116475"/>
              <a:gd name="connsiteY0" fmla="*/ 14366 h 5520293"/>
              <a:gd name="connsiteX1" fmla="*/ 6116467 w 6116475"/>
              <a:gd name="connsiteY1" fmla="*/ 1734 h 5520293"/>
              <a:gd name="connsiteX2" fmla="*/ 4707901 w 6116475"/>
              <a:gd name="connsiteY2" fmla="*/ 5519262 h 5520293"/>
              <a:gd name="connsiteX3" fmla="*/ 2237539 w 6116475"/>
              <a:gd name="connsiteY3" fmla="*/ 5519670 h 5520293"/>
              <a:gd name="connsiteX4" fmla="*/ 2403794 w 6116475"/>
              <a:gd name="connsiteY4" fmla="*/ 14366 h 5520293"/>
              <a:gd name="connsiteX0" fmla="*/ 2403794 w 6117683"/>
              <a:gd name="connsiteY0" fmla="*/ 14366 h 5533738"/>
              <a:gd name="connsiteX1" fmla="*/ 6116467 w 6117683"/>
              <a:gd name="connsiteY1" fmla="*/ 1734 h 5533738"/>
              <a:gd name="connsiteX2" fmla="*/ 6116827 w 6117683"/>
              <a:gd name="connsiteY2" fmla="*/ 5532709 h 5533738"/>
              <a:gd name="connsiteX3" fmla="*/ 2237539 w 6117683"/>
              <a:gd name="connsiteY3" fmla="*/ 5519670 h 5533738"/>
              <a:gd name="connsiteX4" fmla="*/ 2403794 w 6117683"/>
              <a:gd name="connsiteY4" fmla="*/ 14366 h 5533738"/>
              <a:gd name="connsiteX0" fmla="*/ 2403794 w 6117683"/>
              <a:gd name="connsiteY0" fmla="*/ 14366 h 5533738"/>
              <a:gd name="connsiteX1" fmla="*/ 6116467 w 6117683"/>
              <a:gd name="connsiteY1" fmla="*/ 1734 h 5533738"/>
              <a:gd name="connsiteX2" fmla="*/ 6116827 w 6117683"/>
              <a:gd name="connsiteY2" fmla="*/ 5532709 h 5533738"/>
              <a:gd name="connsiteX3" fmla="*/ 2237539 w 6117683"/>
              <a:gd name="connsiteY3" fmla="*/ 5519670 h 5533738"/>
              <a:gd name="connsiteX4" fmla="*/ 2403794 w 6117683"/>
              <a:gd name="connsiteY4" fmla="*/ 14366 h 5533738"/>
              <a:gd name="connsiteX0" fmla="*/ 2403794 w 6643352"/>
              <a:gd name="connsiteY0" fmla="*/ 14366 h 5548321"/>
              <a:gd name="connsiteX1" fmla="*/ 6116467 w 6643352"/>
              <a:gd name="connsiteY1" fmla="*/ 1734 h 5548321"/>
              <a:gd name="connsiteX2" fmla="*/ 6643352 w 6643352"/>
              <a:gd name="connsiteY2" fmla="*/ 5547295 h 5548321"/>
              <a:gd name="connsiteX3" fmla="*/ 2237539 w 6643352"/>
              <a:gd name="connsiteY3" fmla="*/ 5519670 h 5548321"/>
              <a:gd name="connsiteX4" fmla="*/ 2403794 w 6643352"/>
              <a:gd name="connsiteY4" fmla="*/ 14366 h 5548321"/>
              <a:gd name="connsiteX0" fmla="*/ 2403794 w 6644208"/>
              <a:gd name="connsiteY0" fmla="*/ 14366 h 5548321"/>
              <a:gd name="connsiteX1" fmla="*/ 6642992 w 6644208"/>
              <a:gd name="connsiteY1" fmla="*/ 1734 h 5548321"/>
              <a:gd name="connsiteX2" fmla="*/ 6643352 w 6644208"/>
              <a:gd name="connsiteY2" fmla="*/ 5547295 h 5548321"/>
              <a:gd name="connsiteX3" fmla="*/ 2237539 w 6644208"/>
              <a:gd name="connsiteY3" fmla="*/ 5519670 h 5548321"/>
              <a:gd name="connsiteX4" fmla="*/ 2403794 w 6644208"/>
              <a:gd name="connsiteY4" fmla="*/ 14366 h 554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44208" h="5548321">
                <a:moveTo>
                  <a:pt x="2403794" y="14366"/>
                </a:moveTo>
                <a:cubicBezTo>
                  <a:pt x="2421861" y="23602"/>
                  <a:pt x="6021099" y="-7502"/>
                  <a:pt x="6642992" y="1734"/>
                </a:cubicBezTo>
                <a:cubicBezTo>
                  <a:pt x="6647058" y="7628"/>
                  <a:pt x="6639286" y="5635530"/>
                  <a:pt x="6643352" y="5547295"/>
                </a:cubicBezTo>
                <a:lnTo>
                  <a:pt x="2237539" y="5519670"/>
                </a:lnTo>
                <a:cubicBezTo>
                  <a:pt x="-925915" y="5070024"/>
                  <a:pt x="-611878" y="200776"/>
                  <a:pt x="2403794" y="14366"/>
                </a:cubicBezTo>
                <a:close/>
              </a:path>
            </a:pathLst>
          </a:cu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C470939-05C4-8678-44A6-434408E6AC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7302" r="314"/>
          <a:stretch/>
        </p:blipFill>
        <p:spPr>
          <a:xfrm>
            <a:off x="0" y="591734"/>
            <a:ext cx="9391650" cy="541331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43E76F8-B35D-536E-9CD2-98E05E495C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1" y="1909136"/>
            <a:ext cx="5947575" cy="148175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>
              <a:lnSpc>
                <a:spcPts val="5400"/>
              </a:lnSpc>
              <a:defRPr sz="5000" b="0" i="0" spc="-8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AU" noProof="0"/>
              <a:t>Presentation title goes in this space</a:t>
            </a:r>
          </a:p>
        </p:txBody>
      </p:sp>
    </p:spTree>
    <p:extLst>
      <p:ext uri="{BB962C8B-B14F-4D97-AF65-F5344CB8AC3E}">
        <p14:creationId xmlns:p14="http://schemas.microsoft.com/office/powerpoint/2010/main" val="2658107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CD5875-6FD8-FE17-9F51-656B9A8AEBF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379" y="6129118"/>
            <a:ext cx="1870484" cy="3459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891E04-3D0E-757C-E77F-EF270D0FE2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379" y="6129118"/>
            <a:ext cx="1870484" cy="345911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6E78BAB-59C4-BCB5-9B40-C5375BCFCB0C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502920" y="3932777"/>
            <a:ext cx="1985352" cy="750783"/>
          </a:xfrm>
          <a:prstGeom prst="rect">
            <a:avLst/>
          </a:prstGeom>
        </p:spPr>
        <p:txBody>
          <a:bodyPr vert="horz" wrap="none" lIns="45720" tIns="45720" rIns="91440" bIns="45720" rtlCol="0" anchor="t">
            <a:sp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lang="en-US" sz="1800" b="0" i="0" spc="130" baseline="0" dirty="0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Presenter Name</a:t>
            </a:r>
          </a:p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Title</a:t>
            </a:r>
          </a:p>
        </p:txBody>
      </p:sp>
      <p:pic>
        <p:nvPicPr>
          <p:cNvPr id="10" name="圖片版面配置區 10">
            <a:extLst>
              <a:ext uri="{FF2B5EF4-FFF2-40B4-BE49-F238E27FC236}">
                <a16:creationId xmlns:a16="http://schemas.microsoft.com/office/drawing/2014/main" id="{AE0B0507-0155-2042-4D4C-2F884EFD4A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54017" y="735630"/>
            <a:ext cx="5637983" cy="5115264"/>
          </a:xfrm>
          <a:custGeom>
            <a:avLst/>
            <a:gdLst>
              <a:gd name="connsiteX0" fmla="*/ 0 w 2507674"/>
              <a:gd name="connsiteY0" fmla="*/ 0 h 5477595"/>
              <a:gd name="connsiteX1" fmla="*/ 2507674 w 2507674"/>
              <a:gd name="connsiteY1" fmla="*/ 0 h 5477595"/>
              <a:gd name="connsiteX2" fmla="*/ 2507674 w 2507674"/>
              <a:gd name="connsiteY2" fmla="*/ 5477595 h 5477595"/>
              <a:gd name="connsiteX3" fmla="*/ 0 w 2507674"/>
              <a:gd name="connsiteY3" fmla="*/ 5477595 h 5477595"/>
              <a:gd name="connsiteX4" fmla="*/ 0 w 2507674"/>
              <a:gd name="connsiteY4" fmla="*/ 0 h 5477595"/>
              <a:gd name="connsiteX0" fmla="*/ 0 w 2521528"/>
              <a:gd name="connsiteY0" fmla="*/ 0 h 5505304"/>
              <a:gd name="connsiteX1" fmla="*/ 2521528 w 2521528"/>
              <a:gd name="connsiteY1" fmla="*/ 27709 h 5505304"/>
              <a:gd name="connsiteX2" fmla="*/ 2521528 w 2521528"/>
              <a:gd name="connsiteY2" fmla="*/ 5505304 h 5505304"/>
              <a:gd name="connsiteX3" fmla="*/ 13854 w 2521528"/>
              <a:gd name="connsiteY3" fmla="*/ 5505304 h 5505304"/>
              <a:gd name="connsiteX4" fmla="*/ 0 w 2521528"/>
              <a:gd name="connsiteY4" fmla="*/ 0 h 5505304"/>
              <a:gd name="connsiteX0" fmla="*/ 2039700 w 4561228"/>
              <a:gd name="connsiteY0" fmla="*/ 0 h 5505304"/>
              <a:gd name="connsiteX1" fmla="*/ 4561228 w 4561228"/>
              <a:gd name="connsiteY1" fmla="*/ 27709 h 5505304"/>
              <a:gd name="connsiteX2" fmla="*/ 4561228 w 4561228"/>
              <a:gd name="connsiteY2" fmla="*/ 5505304 h 5505304"/>
              <a:gd name="connsiteX3" fmla="*/ 2053554 w 4561228"/>
              <a:gd name="connsiteY3" fmla="*/ 5505304 h 5505304"/>
              <a:gd name="connsiteX4" fmla="*/ 2039700 w 4561228"/>
              <a:gd name="connsiteY4" fmla="*/ 0 h 5505304"/>
              <a:gd name="connsiteX0" fmla="*/ 2436894 w 4958422"/>
              <a:gd name="connsiteY0" fmla="*/ 0 h 5505304"/>
              <a:gd name="connsiteX1" fmla="*/ 4958422 w 4958422"/>
              <a:gd name="connsiteY1" fmla="*/ 27709 h 5505304"/>
              <a:gd name="connsiteX2" fmla="*/ 4958422 w 4958422"/>
              <a:gd name="connsiteY2" fmla="*/ 5505304 h 5505304"/>
              <a:gd name="connsiteX3" fmla="*/ 2450748 w 4958422"/>
              <a:gd name="connsiteY3" fmla="*/ 5505304 h 5505304"/>
              <a:gd name="connsiteX4" fmla="*/ 2436894 w 4958422"/>
              <a:gd name="connsiteY4" fmla="*/ 0 h 5505304"/>
              <a:gd name="connsiteX0" fmla="*/ 2286795 w 4808323"/>
              <a:gd name="connsiteY0" fmla="*/ 0 h 5505304"/>
              <a:gd name="connsiteX1" fmla="*/ 4808323 w 4808323"/>
              <a:gd name="connsiteY1" fmla="*/ 27709 h 5505304"/>
              <a:gd name="connsiteX2" fmla="*/ 4808323 w 4808323"/>
              <a:gd name="connsiteY2" fmla="*/ 5505304 h 5505304"/>
              <a:gd name="connsiteX3" fmla="*/ 2300649 w 4808323"/>
              <a:gd name="connsiteY3" fmla="*/ 5505304 h 5505304"/>
              <a:gd name="connsiteX4" fmla="*/ 2286795 w 4808323"/>
              <a:gd name="connsiteY4" fmla="*/ 0 h 5505304"/>
              <a:gd name="connsiteX0" fmla="*/ 2486455 w 5007983"/>
              <a:gd name="connsiteY0" fmla="*/ 0 h 5505304"/>
              <a:gd name="connsiteX1" fmla="*/ 5007983 w 5007983"/>
              <a:gd name="connsiteY1" fmla="*/ 27709 h 5505304"/>
              <a:gd name="connsiteX2" fmla="*/ 5007983 w 5007983"/>
              <a:gd name="connsiteY2" fmla="*/ 5505304 h 5505304"/>
              <a:gd name="connsiteX3" fmla="*/ 2500309 w 5007983"/>
              <a:gd name="connsiteY3" fmla="*/ 5505304 h 5505304"/>
              <a:gd name="connsiteX4" fmla="*/ 2486455 w 5007983"/>
              <a:gd name="connsiteY4" fmla="*/ 0 h 5505304"/>
              <a:gd name="connsiteX0" fmla="*/ 2341450 w 4862978"/>
              <a:gd name="connsiteY0" fmla="*/ 0 h 5505304"/>
              <a:gd name="connsiteX1" fmla="*/ 4862978 w 4862978"/>
              <a:gd name="connsiteY1" fmla="*/ 27709 h 5505304"/>
              <a:gd name="connsiteX2" fmla="*/ 4862978 w 4862978"/>
              <a:gd name="connsiteY2" fmla="*/ 5505304 h 5505304"/>
              <a:gd name="connsiteX3" fmla="*/ 2355304 w 4862978"/>
              <a:gd name="connsiteY3" fmla="*/ 5505304 h 5505304"/>
              <a:gd name="connsiteX4" fmla="*/ 2341450 w 4862978"/>
              <a:gd name="connsiteY4" fmla="*/ 0 h 5505304"/>
              <a:gd name="connsiteX0" fmla="*/ 2226567 w 4748095"/>
              <a:gd name="connsiteY0" fmla="*/ 0 h 5505304"/>
              <a:gd name="connsiteX1" fmla="*/ 4748095 w 4748095"/>
              <a:gd name="connsiteY1" fmla="*/ 27709 h 5505304"/>
              <a:gd name="connsiteX2" fmla="*/ 4748095 w 4748095"/>
              <a:gd name="connsiteY2" fmla="*/ 5505304 h 5505304"/>
              <a:gd name="connsiteX3" fmla="*/ 2240421 w 4748095"/>
              <a:gd name="connsiteY3" fmla="*/ 5505304 h 5505304"/>
              <a:gd name="connsiteX4" fmla="*/ 2226567 w 4748095"/>
              <a:gd name="connsiteY4" fmla="*/ 0 h 5505304"/>
              <a:gd name="connsiteX0" fmla="*/ 2300185 w 4821713"/>
              <a:gd name="connsiteY0" fmla="*/ 0 h 5505304"/>
              <a:gd name="connsiteX1" fmla="*/ 4821713 w 4821713"/>
              <a:gd name="connsiteY1" fmla="*/ 27709 h 5505304"/>
              <a:gd name="connsiteX2" fmla="*/ 4821713 w 4821713"/>
              <a:gd name="connsiteY2" fmla="*/ 5505304 h 5505304"/>
              <a:gd name="connsiteX3" fmla="*/ 2314039 w 4821713"/>
              <a:gd name="connsiteY3" fmla="*/ 5505304 h 5505304"/>
              <a:gd name="connsiteX4" fmla="*/ 2300185 w 4821713"/>
              <a:gd name="connsiteY4" fmla="*/ 0 h 5505304"/>
              <a:gd name="connsiteX0" fmla="*/ 2300185 w 4821713"/>
              <a:gd name="connsiteY0" fmla="*/ 0 h 5505304"/>
              <a:gd name="connsiteX1" fmla="*/ 4821713 w 4821713"/>
              <a:gd name="connsiteY1" fmla="*/ 27709 h 5505304"/>
              <a:gd name="connsiteX2" fmla="*/ 4821713 w 4821713"/>
              <a:gd name="connsiteY2" fmla="*/ 5505304 h 5505304"/>
              <a:gd name="connsiteX3" fmla="*/ 2314039 w 4821713"/>
              <a:gd name="connsiteY3" fmla="*/ 5505304 h 5505304"/>
              <a:gd name="connsiteX4" fmla="*/ 2300185 w 4821713"/>
              <a:gd name="connsiteY4" fmla="*/ 0 h 5505304"/>
              <a:gd name="connsiteX0" fmla="*/ 2312129 w 4805948"/>
              <a:gd name="connsiteY0" fmla="*/ 0 h 5505304"/>
              <a:gd name="connsiteX1" fmla="*/ 4805948 w 4805948"/>
              <a:gd name="connsiteY1" fmla="*/ 27709 h 5505304"/>
              <a:gd name="connsiteX2" fmla="*/ 4805948 w 4805948"/>
              <a:gd name="connsiteY2" fmla="*/ 5505304 h 5505304"/>
              <a:gd name="connsiteX3" fmla="*/ 2298274 w 4805948"/>
              <a:gd name="connsiteY3" fmla="*/ 5505304 h 5505304"/>
              <a:gd name="connsiteX4" fmla="*/ 2312129 w 4805948"/>
              <a:gd name="connsiteY4" fmla="*/ 0 h 5505304"/>
              <a:gd name="connsiteX0" fmla="*/ 2342372 w 4766918"/>
              <a:gd name="connsiteY0" fmla="*/ 0 h 5505304"/>
              <a:gd name="connsiteX1" fmla="*/ 4766918 w 4766918"/>
              <a:gd name="connsiteY1" fmla="*/ 27709 h 5505304"/>
              <a:gd name="connsiteX2" fmla="*/ 4766918 w 4766918"/>
              <a:gd name="connsiteY2" fmla="*/ 5505304 h 5505304"/>
              <a:gd name="connsiteX3" fmla="*/ 2259244 w 4766918"/>
              <a:gd name="connsiteY3" fmla="*/ 5505304 h 5505304"/>
              <a:gd name="connsiteX4" fmla="*/ 2342372 w 4766918"/>
              <a:gd name="connsiteY4" fmla="*/ 0 h 5505304"/>
              <a:gd name="connsiteX0" fmla="*/ 2387070 w 4811616"/>
              <a:gd name="connsiteY0" fmla="*/ 0 h 5505304"/>
              <a:gd name="connsiteX1" fmla="*/ 4811616 w 4811616"/>
              <a:gd name="connsiteY1" fmla="*/ 27709 h 5505304"/>
              <a:gd name="connsiteX2" fmla="*/ 4811616 w 4811616"/>
              <a:gd name="connsiteY2" fmla="*/ 5505304 h 5505304"/>
              <a:gd name="connsiteX3" fmla="*/ 2303942 w 4811616"/>
              <a:gd name="connsiteY3" fmla="*/ 5505304 h 5505304"/>
              <a:gd name="connsiteX4" fmla="*/ 2387070 w 4811616"/>
              <a:gd name="connsiteY4" fmla="*/ 0 h 5505304"/>
              <a:gd name="connsiteX0" fmla="*/ 2101407 w 4525953"/>
              <a:gd name="connsiteY0" fmla="*/ 0 h 5505304"/>
              <a:gd name="connsiteX1" fmla="*/ 4525953 w 4525953"/>
              <a:gd name="connsiteY1" fmla="*/ 27709 h 5505304"/>
              <a:gd name="connsiteX2" fmla="*/ 4525953 w 4525953"/>
              <a:gd name="connsiteY2" fmla="*/ 5505304 h 5505304"/>
              <a:gd name="connsiteX3" fmla="*/ 2018279 w 4525953"/>
              <a:gd name="connsiteY3" fmla="*/ 5505304 h 5505304"/>
              <a:gd name="connsiteX4" fmla="*/ 2101407 w 4525953"/>
              <a:gd name="connsiteY4" fmla="*/ 0 h 5505304"/>
              <a:gd name="connsiteX0" fmla="*/ 2360231 w 4784777"/>
              <a:gd name="connsiteY0" fmla="*/ 0 h 5505304"/>
              <a:gd name="connsiteX1" fmla="*/ 4784777 w 4784777"/>
              <a:gd name="connsiteY1" fmla="*/ 27709 h 5505304"/>
              <a:gd name="connsiteX2" fmla="*/ 4784777 w 4784777"/>
              <a:gd name="connsiteY2" fmla="*/ 5505304 h 5505304"/>
              <a:gd name="connsiteX3" fmla="*/ 2277103 w 4784777"/>
              <a:gd name="connsiteY3" fmla="*/ 5505304 h 5505304"/>
              <a:gd name="connsiteX4" fmla="*/ 2360231 w 4784777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745213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745213"/>
              <a:gd name="connsiteY0" fmla="*/ 0 h 5505304"/>
              <a:gd name="connsiteX1" fmla="*/ 4269472 w 4745213"/>
              <a:gd name="connsiteY1" fmla="*/ 27709 h 5505304"/>
              <a:gd name="connsiteX2" fmla="*/ 4745213 w 4745213"/>
              <a:gd name="connsiteY2" fmla="*/ 5505304 h 5505304"/>
              <a:gd name="connsiteX3" fmla="*/ 2237539 w 4745213"/>
              <a:gd name="connsiteY3" fmla="*/ 5505304 h 5505304"/>
              <a:gd name="connsiteX4" fmla="*/ 2403794 w 4745213"/>
              <a:gd name="connsiteY4" fmla="*/ 0 h 5505304"/>
              <a:gd name="connsiteX0" fmla="*/ 2403794 w 4281671"/>
              <a:gd name="connsiteY0" fmla="*/ 0 h 5505304"/>
              <a:gd name="connsiteX1" fmla="*/ 4269472 w 4281671"/>
              <a:gd name="connsiteY1" fmla="*/ 27709 h 5505304"/>
              <a:gd name="connsiteX2" fmla="*/ 4281671 w 4281671"/>
              <a:gd name="connsiteY2" fmla="*/ 5491449 h 5505304"/>
              <a:gd name="connsiteX3" fmla="*/ 2237539 w 4281671"/>
              <a:gd name="connsiteY3" fmla="*/ 5505304 h 5505304"/>
              <a:gd name="connsiteX4" fmla="*/ 2403794 w 4281671"/>
              <a:gd name="connsiteY4" fmla="*/ 0 h 5505304"/>
              <a:gd name="connsiteX0" fmla="*/ 2403794 w 4281671"/>
              <a:gd name="connsiteY0" fmla="*/ 0 h 5518343"/>
              <a:gd name="connsiteX1" fmla="*/ 4269472 w 4281671"/>
              <a:gd name="connsiteY1" fmla="*/ 27709 h 5518343"/>
              <a:gd name="connsiteX2" fmla="*/ 4281671 w 4281671"/>
              <a:gd name="connsiteY2" fmla="*/ 5518343 h 5518343"/>
              <a:gd name="connsiteX3" fmla="*/ 2237539 w 4281671"/>
              <a:gd name="connsiteY3" fmla="*/ 5505304 h 5518343"/>
              <a:gd name="connsiteX4" fmla="*/ 2403794 w 4281671"/>
              <a:gd name="connsiteY4" fmla="*/ 0 h 5518343"/>
              <a:gd name="connsiteX0" fmla="*/ 2403794 w 4281671"/>
              <a:gd name="connsiteY0" fmla="*/ 0 h 5518343"/>
              <a:gd name="connsiteX1" fmla="*/ 4269472 w 4281671"/>
              <a:gd name="connsiteY1" fmla="*/ 27709 h 5518343"/>
              <a:gd name="connsiteX2" fmla="*/ 4281671 w 4281671"/>
              <a:gd name="connsiteY2" fmla="*/ 5518343 h 5518343"/>
              <a:gd name="connsiteX3" fmla="*/ 2237539 w 4281671"/>
              <a:gd name="connsiteY3" fmla="*/ 5505304 h 5518343"/>
              <a:gd name="connsiteX4" fmla="*/ 2403794 w 4281671"/>
              <a:gd name="connsiteY4" fmla="*/ 0 h 5518343"/>
              <a:gd name="connsiteX0" fmla="*/ 2403794 w 4281671"/>
              <a:gd name="connsiteY0" fmla="*/ 4793 h 5523136"/>
              <a:gd name="connsiteX1" fmla="*/ 4269472 w 4281671"/>
              <a:gd name="connsiteY1" fmla="*/ 32502 h 5523136"/>
              <a:gd name="connsiteX2" fmla="*/ 4281671 w 4281671"/>
              <a:gd name="connsiteY2" fmla="*/ 5523136 h 5523136"/>
              <a:gd name="connsiteX3" fmla="*/ 2237539 w 4281671"/>
              <a:gd name="connsiteY3" fmla="*/ 5510097 h 5523136"/>
              <a:gd name="connsiteX4" fmla="*/ 2403794 w 4281671"/>
              <a:gd name="connsiteY4" fmla="*/ 4793 h 5523136"/>
              <a:gd name="connsiteX0" fmla="*/ 2403794 w 4281671"/>
              <a:gd name="connsiteY0" fmla="*/ 10010 h 5528353"/>
              <a:gd name="connsiteX1" fmla="*/ 4257632 w 4281671"/>
              <a:gd name="connsiteY1" fmla="*/ 10825 h 5528353"/>
              <a:gd name="connsiteX2" fmla="*/ 4281671 w 4281671"/>
              <a:gd name="connsiteY2" fmla="*/ 5528353 h 5528353"/>
              <a:gd name="connsiteX3" fmla="*/ 2237539 w 4281671"/>
              <a:gd name="connsiteY3" fmla="*/ 5515314 h 5528353"/>
              <a:gd name="connsiteX4" fmla="*/ 2403794 w 4281671"/>
              <a:gd name="connsiteY4" fmla="*/ 10010 h 5528353"/>
              <a:gd name="connsiteX0" fmla="*/ 2403794 w 4281671"/>
              <a:gd name="connsiteY0" fmla="*/ 10010 h 5528353"/>
              <a:gd name="connsiteX1" fmla="*/ 4257632 w 4281671"/>
              <a:gd name="connsiteY1" fmla="*/ 10825 h 5528353"/>
              <a:gd name="connsiteX2" fmla="*/ 4281671 w 4281671"/>
              <a:gd name="connsiteY2" fmla="*/ 5528353 h 5528353"/>
              <a:gd name="connsiteX3" fmla="*/ 2237539 w 4281671"/>
              <a:gd name="connsiteY3" fmla="*/ 5515314 h 5528353"/>
              <a:gd name="connsiteX4" fmla="*/ 2403794 w 4281671"/>
              <a:gd name="connsiteY4" fmla="*/ 10010 h 5528353"/>
              <a:gd name="connsiteX0" fmla="*/ 2403794 w 4281671"/>
              <a:gd name="connsiteY0" fmla="*/ 1949 h 5520292"/>
              <a:gd name="connsiteX1" fmla="*/ 4257632 w 4281671"/>
              <a:gd name="connsiteY1" fmla="*/ 2764 h 5520292"/>
              <a:gd name="connsiteX2" fmla="*/ 4281671 w 4281671"/>
              <a:gd name="connsiteY2" fmla="*/ 5520292 h 5520292"/>
              <a:gd name="connsiteX3" fmla="*/ 2237539 w 4281671"/>
              <a:gd name="connsiteY3" fmla="*/ 5507253 h 5520292"/>
              <a:gd name="connsiteX4" fmla="*/ 2403794 w 4281671"/>
              <a:gd name="connsiteY4" fmla="*/ 1949 h 5520292"/>
              <a:gd name="connsiteX0" fmla="*/ 2403794 w 4281671"/>
              <a:gd name="connsiteY0" fmla="*/ 1949 h 5520292"/>
              <a:gd name="connsiteX1" fmla="*/ 4257632 w 4281671"/>
              <a:gd name="connsiteY1" fmla="*/ 2764 h 5520292"/>
              <a:gd name="connsiteX2" fmla="*/ 4281671 w 4281671"/>
              <a:gd name="connsiteY2" fmla="*/ 5520292 h 5520292"/>
              <a:gd name="connsiteX3" fmla="*/ 2237539 w 4281671"/>
              <a:gd name="connsiteY3" fmla="*/ 5507253 h 5520292"/>
              <a:gd name="connsiteX4" fmla="*/ 2403794 w 4281671"/>
              <a:gd name="connsiteY4" fmla="*/ 1949 h 5520292"/>
              <a:gd name="connsiteX0" fmla="*/ 2403794 w 4293511"/>
              <a:gd name="connsiteY0" fmla="*/ 1949 h 5507253"/>
              <a:gd name="connsiteX1" fmla="*/ 4257632 w 4293511"/>
              <a:gd name="connsiteY1" fmla="*/ 2764 h 5507253"/>
              <a:gd name="connsiteX2" fmla="*/ 4293511 w 4293511"/>
              <a:gd name="connsiteY2" fmla="*/ 5506845 h 5507253"/>
              <a:gd name="connsiteX3" fmla="*/ 2237539 w 4293511"/>
              <a:gd name="connsiteY3" fmla="*/ 5507253 h 5507253"/>
              <a:gd name="connsiteX4" fmla="*/ 2403794 w 4293511"/>
              <a:gd name="connsiteY4" fmla="*/ 1949 h 5507253"/>
              <a:gd name="connsiteX0" fmla="*/ 2403794 w 4423476"/>
              <a:gd name="connsiteY0" fmla="*/ 1949 h 5507253"/>
              <a:gd name="connsiteX1" fmla="*/ 4423388 w 4423476"/>
              <a:gd name="connsiteY1" fmla="*/ 2764 h 5507253"/>
              <a:gd name="connsiteX2" fmla="*/ 4293511 w 4423476"/>
              <a:gd name="connsiteY2" fmla="*/ 5506845 h 5507253"/>
              <a:gd name="connsiteX3" fmla="*/ 2237539 w 4423476"/>
              <a:gd name="connsiteY3" fmla="*/ 5507253 h 5507253"/>
              <a:gd name="connsiteX4" fmla="*/ 2403794 w 4423476"/>
              <a:gd name="connsiteY4" fmla="*/ 1949 h 5507253"/>
              <a:gd name="connsiteX0" fmla="*/ 2403794 w 4423476"/>
              <a:gd name="connsiteY0" fmla="*/ 1949 h 5507253"/>
              <a:gd name="connsiteX1" fmla="*/ 4423388 w 4423476"/>
              <a:gd name="connsiteY1" fmla="*/ 2764 h 5507253"/>
              <a:gd name="connsiteX2" fmla="*/ 4293511 w 4423476"/>
              <a:gd name="connsiteY2" fmla="*/ 5506845 h 5507253"/>
              <a:gd name="connsiteX3" fmla="*/ 2237539 w 4423476"/>
              <a:gd name="connsiteY3" fmla="*/ 5507253 h 5507253"/>
              <a:gd name="connsiteX4" fmla="*/ 2403794 w 4423476"/>
              <a:gd name="connsiteY4" fmla="*/ 1949 h 5507253"/>
              <a:gd name="connsiteX0" fmla="*/ 2403794 w 4565508"/>
              <a:gd name="connsiteY0" fmla="*/ 0 h 5505304"/>
              <a:gd name="connsiteX1" fmla="*/ 4565465 w 4565508"/>
              <a:gd name="connsiteY1" fmla="*/ 14262 h 5505304"/>
              <a:gd name="connsiteX2" fmla="*/ 4293511 w 4565508"/>
              <a:gd name="connsiteY2" fmla="*/ 5504896 h 5505304"/>
              <a:gd name="connsiteX3" fmla="*/ 2237539 w 4565508"/>
              <a:gd name="connsiteY3" fmla="*/ 5505304 h 5505304"/>
              <a:gd name="connsiteX4" fmla="*/ 2403794 w 4565508"/>
              <a:gd name="connsiteY4" fmla="*/ 0 h 5505304"/>
              <a:gd name="connsiteX0" fmla="*/ 2403794 w 4565582"/>
              <a:gd name="connsiteY0" fmla="*/ 0 h 5505304"/>
              <a:gd name="connsiteX1" fmla="*/ 4565465 w 4565582"/>
              <a:gd name="connsiteY1" fmla="*/ 14262 h 5505304"/>
              <a:gd name="connsiteX2" fmla="*/ 4471106 w 4565582"/>
              <a:gd name="connsiteY2" fmla="*/ 5491449 h 5505304"/>
              <a:gd name="connsiteX3" fmla="*/ 2237539 w 4565582"/>
              <a:gd name="connsiteY3" fmla="*/ 5505304 h 5505304"/>
              <a:gd name="connsiteX4" fmla="*/ 2403794 w 4565582"/>
              <a:gd name="connsiteY4" fmla="*/ 0 h 5505304"/>
              <a:gd name="connsiteX0" fmla="*/ 2403794 w 4565582"/>
              <a:gd name="connsiteY0" fmla="*/ 0 h 5505304"/>
              <a:gd name="connsiteX1" fmla="*/ 4565465 w 4565582"/>
              <a:gd name="connsiteY1" fmla="*/ 14262 h 5505304"/>
              <a:gd name="connsiteX2" fmla="*/ 4471106 w 4565582"/>
              <a:gd name="connsiteY2" fmla="*/ 5491449 h 5505304"/>
              <a:gd name="connsiteX3" fmla="*/ 2237539 w 4565582"/>
              <a:gd name="connsiteY3" fmla="*/ 5505304 h 5505304"/>
              <a:gd name="connsiteX4" fmla="*/ 2403794 w 4565582"/>
              <a:gd name="connsiteY4" fmla="*/ 0 h 5505304"/>
              <a:gd name="connsiteX0" fmla="*/ 2403794 w 4707901"/>
              <a:gd name="connsiteY0" fmla="*/ 0 h 5505932"/>
              <a:gd name="connsiteX1" fmla="*/ 4565465 w 4707901"/>
              <a:gd name="connsiteY1" fmla="*/ 14262 h 5505932"/>
              <a:gd name="connsiteX2" fmla="*/ 4707901 w 4707901"/>
              <a:gd name="connsiteY2" fmla="*/ 5504896 h 5505932"/>
              <a:gd name="connsiteX3" fmla="*/ 2237539 w 4707901"/>
              <a:gd name="connsiteY3" fmla="*/ 5505304 h 5505932"/>
              <a:gd name="connsiteX4" fmla="*/ 2403794 w 4707901"/>
              <a:gd name="connsiteY4" fmla="*/ 0 h 5505932"/>
              <a:gd name="connsiteX0" fmla="*/ 2403794 w 4814204"/>
              <a:gd name="connsiteY0" fmla="*/ 1948 h 5507878"/>
              <a:gd name="connsiteX1" fmla="*/ 4814099 w 4814204"/>
              <a:gd name="connsiteY1" fmla="*/ 2763 h 5507878"/>
              <a:gd name="connsiteX2" fmla="*/ 4707901 w 4814204"/>
              <a:gd name="connsiteY2" fmla="*/ 5506844 h 5507878"/>
              <a:gd name="connsiteX3" fmla="*/ 2237539 w 4814204"/>
              <a:gd name="connsiteY3" fmla="*/ 5507252 h 5507878"/>
              <a:gd name="connsiteX4" fmla="*/ 2403794 w 4814204"/>
              <a:gd name="connsiteY4" fmla="*/ 1948 h 5507878"/>
              <a:gd name="connsiteX0" fmla="*/ 2403794 w 6116475"/>
              <a:gd name="connsiteY0" fmla="*/ 14366 h 5520293"/>
              <a:gd name="connsiteX1" fmla="*/ 6116467 w 6116475"/>
              <a:gd name="connsiteY1" fmla="*/ 1734 h 5520293"/>
              <a:gd name="connsiteX2" fmla="*/ 4707901 w 6116475"/>
              <a:gd name="connsiteY2" fmla="*/ 5519262 h 5520293"/>
              <a:gd name="connsiteX3" fmla="*/ 2237539 w 6116475"/>
              <a:gd name="connsiteY3" fmla="*/ 5519670 h 5520293"/>
              <a:gd name="connsiteX4" fmla="*/ 2403794 w 6116475"/>
              <a:gd name="connsiteY4" fmla="*/ 14366 h 5520293"/>
              <a:gd name="connsiteX0" fmla="*/ 2403794 w 6117683"/>
              <a:gd name="connsiteY0" fmla="*/ 14366 h 5533738"/>
              <a:gd name="connsiteX1" fmla="*/ 6116467 w 6117683"/>
              <a:gd name="connsiteY1" fmla="*/ 1734 h 5533738"/>
              <a:gd name="connsiteX2" fmla="*/ 6116827 w 6117683"/>
              <a:gd name="connsiteY2" fmla="*/ 5532709 h 5533738"/>
              <a:gd name="connsiteX3" fmla="*/ 2237539 w 6117683"/>
              <a:gd name="connsiteY3" fmla="*/ 5519670 h 5533738"/>
              <a:gd name="connsiteX4" fmla="*/ 2403794 w 6117683"/>
              <a:gd name="connsiteY4" fmla="*/ 14366 h 5533738"/>
              <a:gd name="connsiteX0" fmla="*/ 2403794 w 6117683"/>
              <a:gd name="connsiteY0" fmla="*/ 14366 h 5533738"/>
              <a:gd name="connsiteX1" fmla="*/ 6116467 w 6117683"/>
              <a:gd name="connsiteY1" fmla="*/ 1734 h 5533738"/>
              <a:gd name="connsiteX2" fmla="*/ 6116827 w 6117683"/>
              <a:gd name="connsiteY2" fmla="*/ 5532709 h 5533738"/>
              <a:gd name="connsiteX3" fmla="*/ 2237539 w 6117683"/>
              <a:gd name="connsiteY3" fmla="*/ 5519670 h 5533738"/>
              <a:gd name="connsiteX4" fmla="*/ 2403794 w 6117683"/>
              <a:gd name="connsiteY4" fmla="*/ 14366 h 5533738"/>
              <a:gd name="connsiteX0" fmla="*/ 2403794 w 6643352"/>
              <a:gd name="connsiteY0" fmla="*/ 14366 h 5548321"/>
              <a:gd name="connsiteX1" fmla="*/ 6116467 w 6643352"/>
              <a:gd name="connsiteY1" fmla="*/ 1734 h 5548321"/>
              <a:gd name="connsiteX2" fmla="*/ 6643352 w 6643352"/>
              <a:gd name="connsiteY2" fmla="*/ 5547295 h 5548321"/>
              <a:gd name="connsiteX3" fmla="*/ 2237539 w 6643352"/>
              <a:gd name="connsiteY3" fmla="*/ 5519670 h 5548321"/>
              <a:gd name="connsiteX4" fmla="*/ 2403794 w 6643352"/>
              <a:gd name="connsiteY4" fmla="*/ 14366 h 5548321"/>
              <a:gd name="connsiteX0" fmla="*/ 2403794 w 6644208"/>
              <a:gd name="connsiteY0" fmla="*/ 14366 h 5548321"/>
              <a:gd name="connsiteX1" fmla="*/ 6642992 w 6644208"/>
              <a:gd name="connsiteY1" fmla="*/ 1734 h 5548321"/>
              <a:gd name="connsiteX2" fmla="*/ 6643352 w 6644208"/>
              <a:gd name="connsiteY2" fmla="*/ 5547295 h 5548321"/>
              <a:gd name="connsiteX3" fmla="*/ 2237539 w 6644208"/>
              <a:gd name="connsiteY3" fmla="*/ 5519670 h 5548321"/>
              <a:gd name="connsiteX4" fmla="*/ 2403794 w 6644208"/>
              <a:gd name="connsiteY4" fmla="*/ 14366 h 5548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44208" h="5548321">
                <a:moveTo>
                  <a:pt x="2403794" y="14366"/>
                </a:moveTo>
                <a:cubicBezTo>
                  <a:pt x="2421861" y="23602"/>
                  <a:pt x="6021099" y="-7502"/>
                  <a:pt x="6642992" y="1734"/>
                </a:cubicBezTo>
                <a:cubicBezTo>
                  <a:pt x="6647058" y="7628"/>
                  <a:pt x="6639286" y="5635530"/>
                  <a:pt x="6643352" y="5547295"/>
                </a:cubicBezTo>
                <a:lnTo>
                  <a:pt x="2237539" y="5519670"/>
                </a:lnTo>
                <a:cubicBezTo>
                  <a:pt x="-925915" y="5070024"/>
                  <a:pt x="-611878" y="200776"/>
                  <a:pt x="2403794" y="14366"/>
                </a:cubicBezTo>
                <a:close/>
              </a:path>
            </a:pathLst>
          </a:cu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905DC68-70E4-A882-9C69-5322E908A9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7407" r="209"/>
          <a:stretch/>
        </p:blipFill>
        <p:spPr>
          <a:xfrm>
            <a:off x="0" y="591734"/>
            <a:ext cx="9266100" cy="5413314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0563D00-F6A5-B9EE-F857-1C262BE82D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920" y="330024"/>
            <a:ext cx="2744482" cy="2446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 algn="l">
              <a:buNone/>
              <a:defRPr lang="en-US" sz="1200" b="1" i="0" kern="1200" spc="10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AU" noProof="0"/>
              <a:t>Date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FFC4F5-97DC-EAF9-425C-0F76D988E2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1" y="1909136"/>
            <a:ext cx="5947575" cy="148175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>
              <a:lnSpc>
                <a:spcPts val="5400"/>
              </a:lnSpc>
              <a:defRPr sz="5000" b="0" i="0" spc="-80" baseline="0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r>
              <a:rPr lang="en-AU" noProof="0"/>
              <a:t>Presentation title goes in this space</a:t>
            </a:r>
          </a:p>
        </p:txBody>
      </p:sp>
    </p:spTree>
    <p:extLst>
      <p:ext uri="{BB962C8B-B14F-4D97-AF65-F5344CB8AC3E}">
        <p14:creationId xmlns:p14="http://schemas.microsoft.com/office/powerpoint/2010/main" val="2661579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b">
    <p:bg>
      <p:bgPr>
        <a:solidFill>
          <a:srgbClr val="9318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AC6D68D-1B96-1DA8-75B6-C27595C2700F}"/>
              </a:ext>
            </a:extLst>
          </p:cNvPr>
          <p:cNvSpPr/>
          <p:nvPr userDrawn="1"/>
        </p:nvSpPr>
        <p:spPr>
          <a:xfrm rot="18900000">
            <a:off x="8420458" y="388832"/>
            <a:ext cx="6084000" cy="6100655"/>
          </a:xfrm>
          <a:prstGeom prst="roundRect">
            <a:avLst>
              <a:gd name="adj" fmla="val 4356"/>
            </a:avLst>
          </a:prstGeom>
          <a:blipFill dpi="0" rotWithShape="0">
            <a:blip r:embed="rId2"/>
            <a:srcRect/>
            <a:stretch>
              <a:fillRect l="-10825" t="8958" r="41261" b="9278"/>
            </a:stretch>
          </a:blip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5" name="Picture 1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5439089-17EE-C123-A417-EA2AA40A799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920" y="6129118"/>
            <a:ext cx="1870484" cy="345912"/>
          </a:xfrm>
          <a:prstGeom prst="rect">
            <a:avLst/>
          </a:prstGeom>
        </p:spPr>
      </p:pic>
      <p:pic>
        <p:nvPicPr>
          <p:cNvPr id="4" name="Picture 3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49A0CE95-6BEE-BA2A-7C74-AA1744090F8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920" y="6129118"/>
            <a:ext cx="1870484" cy="345912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6BE9A2BC-62C9-9E4A-D518-F0E5CEB344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920" y="330024"/>
            <a:ext cx="2744482" cy="2446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 algn="l">
              <a:buNone/>
              <a:defRPr lang="en-US" sz="1200" b="1" i="0" kern="1200" spc="100" baseline="0" dirty="0">
                <a:solidFill>
                  <a:schemeClr val="bg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AU" noProof="0"/>
              <a:t>Date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075337-4018-A25E-8724-7700E7BA655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5108222" y="2730"/>
            <a:ext cx="5322213" cy="685917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4074513-4A86-D139-12F3-16C66B2EF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1" y="2688124"/>
            <a:ext cx="5947575" cy="148175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>
              <a:lnSpc>
                <a:spcPts val="5400"/>
              </a:lnSpc>
              <a:defRPr sz="5000" b="0" i="0" spc="-8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AU" noProof="0"/>
              <a:t>Presentation title goes in this space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C62D4E2-85F8-84EE-457E-4D31DD14AAC0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502920" y="4481014"/>
            <a:ext cx="1985352" cy="750783"/>
          </a:xfrm>
          <a:prstGeom prst="rect">
            <a:avLst/>
          </a:prstGeom>
        </p:spPr>
        <p:txBody>
          <a:bodyPr vert="horz" wrap="none" lIns="45720" tIns="45720" rIns="91440" bIns="45720" rtlCol="0" anchor="t">
            <a:sp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lang="en-US" sz="1800" b="0" i="0" spc="130" baseline="0" dirty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/>
              <a:t>Presenter Name</a:t>
            </a:r>
          </a:p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179962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c">
    <p:bg>
      <p:bgPr>
        <a:gradFill>
          <a:gsLst>
            <a:gs pos="0">
              <a:srgbClr val="B922F3"/>
            </a:gs>
            <a:gs pos="38000">
              <a:srgbClr val="93186C"/>
            </a:gs>
            <a:gs pos="63000">
              <a:srgbClr val="93186C"/>
            </a:gs>
            <a:gs pos="100000">
              <a:schemeClr val="accent2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139A740-847F-613E-3258-D7793C5DFA72}"/>
              </a:ext>
            </a:extLst>
          </p:cNvPr>
          <p:cNvSpPr/>
          <p:nvPr userDrawn="1"/>
        </p:nvSpPr>
        <p:spPr>
          <a:xfrm rot="18900000">
            <a:off x="8420458" y="388832"/>
            <a:ext cx="6084000" cy="6100655"/>
          </a:xfrm>
          <a:prstGeom prst="roundRect">
            <a:avLst>
              <a:gd name="adj" fmla="val 4356"/>
            </a:avLst>
          </a:prstGeom>
          <a:blipFill dpi="0" rotWithShape="0">
            <a:blip r:embed="rId2"/>
            <a:srcRect/>
            <a:stretch>
              <a:fillRect l="-10825" t="8958" r="41261" b="9278"/>
            </a:stretch>
          </a:blip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5" name="Picture 1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15439089-17EE-C123-A417-EA2AA40A799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920" y="6129118"/>
            <a:ext cx="1870484" cy="345912"/>
          </a:xfrm>
          <a:prstGeom prst="rect">
            <a:avLst/>
          </a:prstGeom>
        </p:spPr>
      </p:pic>
      <p:pic>
        <p:nvPicPr>
          <p:cNvPr id="3" name="Picture 2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2F07EFC3-F0EE-5BB4-E995-05639890C8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920" y="6129118"/>
            <a:ext cx="1870484" cy="345912"/>
          </a:xfrm>
          <a:prstGeom prst="rect">
            <a:avLst/>
          </a:prstGeom>
        </p:spPr>
      </p:pic>
      <p:pic>
        <p:nvPicPr>
          <p:cNvPr id="6" name="Picture 12">
            <a:extLst>
              <a:ext uri="{FF2B5EF4-FFF2-40B4-BE49-F238E27FC236}">
                <a16:creationId xmlns:a16="http://schemas.microsoft.com/office/drawing/2014/main" id="{923B4603-74E0-F9C9-B71C-9201F36885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5108222" y="2731"/>
            <a:ext cx="5322212" cy="6859175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7A8E030C-F537-EE96-2018-5D9A761BF6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920" y="330024"/>
            <a:ext cx="2744482" cy="2446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 algn="l">
              <a:buNone/>
              <a:defRPr lang="en-US" sz="1200" b="1" i="0" kern="1200" spc="100" baseline="0" dirty="0">
                <a:solidFill>
                  <a:schemeClr val="bg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CC3273D-8371-6AED-47AA-EA81E7D3F61D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502920" y="4481014"/>
            <a:ext cx="1985352" cy="750783"/>
          </a:xfrm>
          <a:prstGeom prst="rect">
            <a:avLst/>
          </a:prstGeom>
        </p:spPr>
        <p:txBody>
          <a:bodyPr vert="horz" wrap="none" lIns="45720" tIns="45720" rIns="91440" bIns="45720" rtlCol="0" anchor="t">
            <a:sp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lang="en-US" sz="1800" b="0" i="0" spc="130" baseline="0" dirty="0">
                <a:solidFill>
                  <a:schemeClr val="bg1"/>
                </a:solidFill>
                <a:latin typeface="Aptos Light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/>
              <a:t>Presenter Name</a:t>
            </a:r>
          </a:p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/>
              <a:t>Title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7D2CB2F-AE1E-440F-06B6-DADA71D658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1" y="2688124"/>
            <a:ext cx="5947575" cy="148175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>
              <a:lnSpc>
                <a:spcPts val="5400"/>
              </a:lnSpc>
              <a:defRPr sz="5000" b="0" i="0" spc="-8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Presentation title goes in this space</a:t>
            </a:r>
          </a:p>
        </p:txBody>
      </p:sp>
    </p:spTree>
    <p:extLst>
      <p:ext uri="{BB962C8B-B14F-4D97-AF65-F5344CB8AC3E}">
        <p14:creationId xmlns:p14="http://schemas.microsoft.com/office/powerpoint/2010/main" val="2787378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4970C73-2F27-7840-9AC2-1C1DF12B3FF2}"/>
              </a:ext>
            </a:extLst>
          </p:cNvPr>
          <p:cNvSpPr/>
          <p:nvPr userDrawn="1"/>
        </p:nvSpPr>
        <p:spPr>
          <a:xfrm rot="18900000">
            <a:off x="8420458" y="388832"/>
            <a:ext cx="6084000" cy="6100655"/>
          </a:xfrm>
          <a:prstGeom prst="roundRect">
            <a:avLst>
              <a:gd name="adj" fmla="val 4356"/>
            </a:avLst>
          </a:prstGeom>
          <a:blipFill dpi="0" rotWithShape="0">
            <a:blip r:embed="rId2"/>
            <a:srcRect/>
            <a:stretch>
              <a:fillRect l="-10825" t="8958" r="41261" b="9278"/>
            </a:stretch>
          </a:blip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5439089-17EE-C123-A417-EA2AA40A799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379" y="6129118"/>
            <a:ext cx="1870484" cy="3459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5E2833-3C59-74E0-2031-60959DA6C5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379" y="6129118"/>
            <a:ext cx="1870484" cy="345911"/>
          </a:xfrm>
          <a:prstGeom prst="rect">
            <a:avLst/>
          </a:prstGeom>
        </p:spPr>
      </p:pic>
      <p:pic>
        <p:nvPicPr>
          <p:cNvPr id="4" name="Picture 12">
            <a:extLst>
              <a:ext uri="{FF2B5EF4-FFF2-40B4-BE49-F238E27FC236}">
                <a16:creationId xmlns:a16="http://schemas.microsoft.com/office/drawing/2014/main" id="{821908BA-CEAE-49B2-A011-64770B522B1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5108222" y="2731"/>
            <a:ext cx="5322212" cy="6859175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000D5EDA-88A4-9089-9CE4-140AFD06AE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920" y="330024"/>
            <a:ext cx="2744482" cy="2446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 algn="l">
              <a:buNone/>
              <a:defRPr lang="en-US" sz="1200" b="1" i="0" kern="1200" spc="10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AU" noProof="0"/>
              <a:t>Date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5F65F8DD-C716-19E9-4519-7D380780421C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502920" y="4481014"/>
            <a:ext cx="1985352" cy="750783"/>
          </a:xfrm>
          <a:prstGeom prst="rect">
            <a:avLst/>
          </a:prstGeom>
        </p:spPr>
        <p:txBody>
          <a:bodyPr vert="horz" wrap="none" lIns="45720" tIns="45720" rIns="91440" bIns="45720" rtlCol="0" anchor="t">
            <a:sp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lang="en-US" sz="1800" b="0" i="0" spc="130" baseline="0" dirty="0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Presenter Name</a:t>
            </a:r>
          </a:p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Title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E2A096C-6F99-8220-35D4-943639B8F7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1" y="2688124"/>
            <a:ext cx="5947575" cy="148175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>
              <a:lnSpc>
                <a:spcPts val="5400"/>
              </a:lnSpc>
              <a:defRPr sz="5000" b="0" i="0" spc="-80" baseline="0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r>
              <a:rPr lang="en-AU" noProof="0"/>
              <a:t>Presentation title goes in this space</a:t>
            </a:r>
          </a:p>
        </p:txBody>
      </p:sp>
    </p:spTree>
    <p:extLst>
      <p:ext uri="{BB962C8B-B14F-4D97-AF65-F5344CB8AC3E}">
        <p14:creationId xmlns:p14="http://schemas.microsoft.com/office/powerpoint/2010/main" val="3933077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5306571-96EC-B6F0-B4E6-75847ACE1A72}"/>
              </a:ext>
            </a:extLst>
          </p:cNvPr>
          <p:cNvSpPr/>
          <p:nvPr userDrawn="1"/>
        </p:nvSpPr>
        <p:spPr>
          <a:xfrm rot="18900000">
            <a:off x="8517288" y="389188"/>
            <a:ext cx="6072059" cy="6100655"/>
          </a:xfrm>
          <a:prstGeom prst="roundRect">
            <a:avLst>
              <a:gd name="adj" fmla="val 4356"/>
            </a:avLst>
          </a:prstGeom>
          <a:blipFill dpi="0" rotWithShape="0">
            <a:blip r:embed="rId2"/>
            <a:srcRect/>
            <a:stretch>
              <a:fillRect l="-20433" t="8997" r="42384" b="9201"/>
            </a:stretch>
          </a:blipFill>
          <a:ln w="254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CD5875-6FD8-FE17-9F51-656B9A8AEBF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379" y="6129118"/>
            <a:ext cx="1870484" cy="3459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891E04-3D0E-757C-E77F-EF270D0FE2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379" y="6129118"/>
            <a:ext cx="1870484" cy="345911"/>
          </a:xfrm>
          <a:prstGeom prst="rect">
            <a:avLst/>
          </a:prstGeom>
        </p:spPr>
      </p:pic>
      <p:pic>
        <p:nvPicPr>
          <p:cNvPr id="2" name="Picture 12">
            <a:extLst>
              <a:ext uri="{FF2B5EF4-FFF2-40B4-BE49-F238E27FC236}">
                <a16:creationId xmlns:a16="http://schemas.microsoft.com/office/drawing/2014/main" id="{F360B378-582F-B9C9-42E9-DAD50354449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5108222" y="2731"/>
            <a:ext cx="5322212" cy="6859175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E578CBB8-6A7D-DD54-B896-D5C13F5FD9A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920" y="330024"/>
            <a:ext cx="2744482" cy="2446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 algn="l">
              <a:buNone/>
              <a:defRPr lang="en-US" sz="1200" b="1" i="0" kern="1200" spc="10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AU" noProof="0"/>
              <a:t>Date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317051C-C831-68A0-C46A-9D0276291B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1" y="2688124"/>
            <a:ext cx="5947575" cy="148175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>
              <a:lnSpc>
                <a:spcPts val="5400"/>
              </a:lnSpc>
              <a:defRPr sz="5000" b="0" i="0" spc="-80" baseline="0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r>
              <a:rPr lang="en-AU" noProof="0"/>
              <a:t>Presentation title goes in this space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207EB99-FC02-A4CF-7326-995BEF78E34A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502920" y="4481014"/>
            <a:ext cx="1985352" cy="750783"/>
          </a:xfrm>
          <a:prstGeom prst="rect">
            <a:avLst/>
          </a:prstGeom>
        </p:spPr>
        <p:txBody>
          <a:bodyPr vert="horz" wrap="none" lIns="45720" tIns="45720" rIns="91440" bIns="45720" rtlCol="0" anchor="t">
            <a:spAutoFit/>
          </a:bodyPr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lang="en-US" sz="1800" b="0" i="0" spc="130" baseline="0" dirty="0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Presenter Name</a:t>
            </a:r>
          </a:p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39C86A-42A5-6830-8FF5-29D6D4D7B75F}"/>
              </a:ext>
            </a:extLst>
          </p:cNvPr>
          <p:cNvSpPr txBox="1"/>
          <p:nvPr userDrawn="1"/>
        </p:nvSpPr>
        <p:spPr>
          <a:xfrm>
            <a:off x="13391909" y="-1134319"/>
            <a:ext cx="184731" cy="307777"/>
          </a:xfrm>
          <a:prstGeom prst="rect">
            <a:avLst/>
          </a:prstGeom>
          <a:noFill/>
          <a:ln w="25400">
            <a:gradFill flip="none" rotWithShape="1">
              <a:gsLst>
                <a:gs pos="5000">
                  <a:schemeClr val="accent1"/>
                </a:gs>
                <a:gs pos="100000">
                  <a:schemeClr val="accent4"/>
                </a:gs>
              </a:gsLst>
              <a:lin ang="2700000" scaled="1"/>
              <a:tileRect/>
            </a:gradFill>
          </a:ln>
        </p:spPr>
        <p:txBody>
          <a:bodyPr wrap="none" rtlCol="0">
            <a:spAutoFit/>
          </a:bodyPr>
          <a:lstStyle/>
          <a:p>
            <a:pPr algn="l"/>
            <a:endParaRPr lang="en-US" sz="14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756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DE4ADE2E-588C-FE06-85F7-12FB73F29B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3974" y="2664688"/>
            <a:ext cx="9534525" cy="1528624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ts val="5600"/>
              </a:lnSpc>
              <a:defRPr sz="5000" b="0" i="0" spc="-8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AU" noProof="0"/>
              <a:t>Divider slide title</a:t>
            </a:r>
            <a:br>
              <a:rPr lang="en-AU" noProof="0"/>
            </a:br>
            <a:r>
              <a:rPr lang="en-AU" noProof="0"/>
              <a:t>goes here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4221C3-BED3-BBFC-AB86-7EF2D9E0F397}"/>
              </a:ext>
            </a:extLst>
          </p:cNvPr>
          <p:cNvSpPr/>
          <p:nvPr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chemeClr val="bg1">
              <a:alpha val="199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B8C03F-F965-34DF-DA7D-2E41732F9784}"/>
              </a:ext>
            </a:extLst>
          </p:cNvPr>
          <p:cNvSpPr/>
          <p:nvPr userDrawn="1"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chemeClr val="bg1">
              <a:alpha val="199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5" name="Picture 12">
            <a:extLst>
              <a:ext uri="{FF2B5EF4-FFF2-40B4-BE49-F238E27FC236}">
                <a16:creationId xmlns:a16="http://schemas.microsoft.com/office/drawing/2014/main" id="{36A163C9-D8B9-E20E-32D2-1B5FE29989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6869787" y="2730"/>
            <a:ext cx="5322213" cy="685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290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4221C3-BED3-BBFC-AB86-7EF2D9E0F397}"/>
              </a:ext>
            </a:extLst>
          </p:cNvPr>
          <p:cNvSpPr/>
          <p:nvPr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chemeClr val="bg1">
              <a:alpha val="199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B8C03F-F965-34DF-DA7D-2E41732F9784}"/>
              </a:ext>
            </a:extLst>
          </p:cNvPr>
          <p:cNvSpPr/>
          <p:nvPr userDrawn="1"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chemeClr val="bg1">
              <a:alpha val="199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5" name="Picture 12">
            <a:extLst>
              <a:ext uri="{FF2B5EF4-FFF2-40B4-BE49-F238E27FC236}">
                <a16:creationId xmlns:a16="http://schemas.microsoft.com/office/drawing/2014/main" id="{36A163C9-D8B9-E20E-32D2-1B5FE29989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6869787" y="2730"/>
            <a:ext cx="5322213" cy="685917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E3FBF1A-2922-4EEC-E793-6B8A9D3CD6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3974" y="2664688"/>
            <a:ext cx="9534525" cy="1528624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ts val="5600"/>
              </a:lnSpc>
              <a:defRPr sz="5000" b="0" i="0" spc="-8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AU" noProof="0"/>
              <a:t>Divider slide title</a:t>
            </a:r>
            <a:br>
              <a:rPr lang="en-AU" noProof="0"/>
            </a:br>
            <a:r>
              <a:rPr lang="en-AU" noProof="0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2918220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04FE79-385D-A946-946E-1B69EF675584}"/>
              </a:ext>
            </a:extLst>
          </p:cNvPr>
          <p:cNvSpPr/>
          <p:nvPr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4221C3-BED3-BBFC-AB86-7EF2D9E0F397}"/>
              </a:ext>
            </a:extLst>
          </p:cNvPr>
          <p:cNvSpPr/>
          <p:nvPr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2107ED-2846-98EE-7DF3-8242EA14C73C}"/>
              </a:ext>
            </a:extLst>
          </p:cNvPr>
          <p:cNvSpPr/>
          <p:nvPr userDrawn="1"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8222F-5BE9-121C-DBAA-B2F5E2DCFEF9}"/>
              </a:ext>
            </a:extLst>
          </p:cNvPr>
          <p:cNvSpPr/>
          <p:nvPr userDrawn="1"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3" name="Picture 12">
            <a:extLst>
              <a:ext uri="{FF2B5EF4-FFF2-40B4-BE49-F238E27FC236}">
                <a16:creationId xmlns:a16="http://schemas.microsoft.com/office/drawing/2014/main" id="{3D5F8678-5593-58FF-6EF3-FE4C5C0405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6869787" y="2731"/>
            <a:ext cx="5322212" cy="685917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7FC4FAB-64B5-C327-C0FA-C905FA7F2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3974" y="2664688"/>
            <a:ext cx="9534525" cy="1528624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ts val="5600"/>
              </a:lnSpc>
              <a:defRPr sz="5000" b="0" i="0" spc="-80" baseline="0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r>
              <a:rPr lang="en-AU" noProof="0"/>
              <a:t>Divider slide title</a:t>
            </a:r>
            <a:br>
              <a:rPr lang="en-AU" noProof="0"/>
            </a:br>
            <a:r>
              <a:rPr lang="en-AU" noProof="0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565996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5">
    <p:bg>
      <p:bgPr>
        <a:gradFill>
          <a:gsLst>
            <a:gs pos="0">
              <a:schemeClr val="tx2"/>
            </a:gs>
            <a:gs pos="38000">
              <a:srgbClr val="93186C"/>
            </a:gs>
            <a:gs pos="63000">
              <a:srgbClr val="93186C"/>
            </a:gs>
            <a:gs pos="100000">
              <a:srgbClr val="432063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3A54A3-F3A9-529C-37DF-5DDBA98C8D04}"/>
              </a:ext>
            </a:extLst>
          </p:cNvPr>
          <p:cNvSpPr/>
          <p:nvPr userDrawn="1"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8285BA-D29B-021D-79DF-D03593CB8E40}"/>
              </a:ext>
            </a:extLst>
          </p:cNvPr>
          <p:cNvSpPr/>
          <p:nvPr userDrawn="1"/>
        </p:nvSpPr>
        <p:spPr>
          <a:xfrm>
            <a:off x="-1" y="6369080"/>
            <a:ext cx="12192000" cy="4928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EA30CF-96F5-E35E-64D8-EC7CCFE163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3974" y="2664688"/>
            <a:ext cx="9534525" cy="1528624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ts val="5600"/>
              </a:lnSpc>
              <a:defRPr sz="5000" b="0" i="0" spc="-80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AU" noProof="0"/>
              <a:t>Divider slide title</a:t>
            </a:r>
            <a:br>
              <a:rPr lang="en-AU" noProof="0"/>
            </a:br>
            <a:r>
              <a:rPr lang="en-AU" noProof="0"/>
              <a:t>goes here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7BA6CA-A92D-16D2-5C95-0BE2167BD201}"/>
              </a:ext>
            </a:extLst>
          </p:cNvPr>
          <p:cNvSpPr/>
          <p:nvPr userDrawn="1"/>
        </p:nvSpPr>
        <p:spPr>
          <a:xfrm>
            <a:off x="-1" y="6369080"/>
            <a:ext cx="12192000" cy="4928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3" name="Picture 12">
            <a:extLst>
              <a:ext uri="{FF2B5EF4-FFF2-40B4-BE49-F238E27FC236}">
                <a16:creationId xmlns:a16="http://schemas.microsoft.com/office/drawing/2014/main" id="{3D5F8678-5593-58FF-6EF3-FE4C5C0405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6869787" y="2731"/>
            <a:ext cx="5322212" cy="685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698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04FE79-385D-A946-946E-1B69EF675584}"/>
              </a:ext>
            </a:extLst>
          </p:cNvPr>
          <p:cNvSpPr/>
          <p:nvPr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rgbClr val="4320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6E2562-7832-1C6D-0B4B-9D854B9CBE89}"/>
              </a:ext>
            </a:extLst>
          </p:cNvPr>
          <p:cNvSpPr/>
          <p:nvPr userDrawn="1"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rgbClr val="4320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3" name="Picture 12">
            <a:extLst>
              <a:ext uri="{FF2B5EF4-FFF2-40B4-BE49-F238E27FC236}">
                <a16:creationId xmlns:a16="http://schemas.microsoft.com/office/drawing/2014/main" id="{AD7A75EB-9B64-0499-09C3-2D1F8B0C68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6869787" y="2731"/>
            <a:ext cx="5322212" cy="685917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92033FF-4696-4E68-9CC3-24046F7BA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3974" y="2664688"/>
            <a:ext cx="9534525" cy="1528624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ts val="5600"/>
              </a:lnSpc>
              <a:defRPr sz="5000" b="0" i="0" spc="-80" baseline="0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r>
              <a:rPr lang="en-AU" noProof="0"/>
              <a:t>Divider slide title</a:t>
            </a:r>
            <a:br>
              <a:rPr lang="en-AU" noProof="0"/>
            </a:br>
            <a:r>
              <a:rPr lang="en-AU" noProof="0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233613962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04FE79-385D-A946-946E-1B69EF675584}"/>
              </a:ext>
            </a:extLst>
          </p:cNvPr>
          <p:cNvSpPr/>
          <p:nvPr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rgbClr val="4320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774C77-038B-EDAB-7808-FD6511D0788A}"/>
              </a:ext>
            </a:extLst>
          </p:cNvPr>
          <p:cNvSpPr/>
          <p:nvPr userDrawn="1"/>
        </p:nvSpPr>
        <p:spPr>
          <a:xfrm>
            <a:off x="0" y="6365174"/>
            <a:ext cx="12192000" cy="492826"/>
          </a:xfrm>
          <a:prstGeom prst="rect">
            <a:avLst/>
          </a:prstGeom>
          <a:solidFill>
            <a:srgbClr val="4320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12">
            <a:extLst>
              <a:ext uri="{FF2B5EF4-FFF2-40B4-BE49-F238E27FC236}">
                <a16:creationId xmlns:a16="http://schemas.microsoft.com/office/drawing/2014/main" id="{787D35F4-29B1-B203-DEBB-4E3E2A68FD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6869787" y="2731"/>
            <a:ext cx="5322212" cy="685917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B2A1C40-BA47-A1AA-DD35-28F724294B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3974" y="2664688"/>
            <a:ext cx="9534525" cy="1528624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ts val="5600"/>
              </a:lnSpc>
              <a:defRPr sz="5000" b="0" i="0" spc="-80" baseline="0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r>
              <a:rPr lang="en-AU" noProof="0"/>
              <a:t>Divider slide title</a:t>
            </a:r>
            <a:br>
              <a:rPr lang="en-AU" noProof="0"/>
            </a:br>
            <a:r>
              <a:rPr lang="en-AU" noProof="0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75395965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FD8D5FF-3E84-ECDF-9100-D10ACAFA5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89" y="239394"/>
            <a:ext cx="11549549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1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endParaRPr lang="en-AU" noProof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FF1446C-686C-8385-EFE1-58BE2B144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F5BDF66-DD90-8663-B6CA-62EC25E3CCA3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20777" y="817325"/>
            <a:ext cx="11549549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72A194-099A-98B4-DA5D-3C2143BEE87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00F264C-F4A1-6313-C311-CC993AC76E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CE8CAD-515B-2F74-494F-29D5B049EE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8DB8DA-F38F-4E45-F349-91F00E964710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431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F7BEFA-35EE-41DF-AF9F-F5258A5E9E3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BFB3AA-C27B-FFC4-2696-359D688CAF17}"/>
              </a:ext>
            </a:extLst>
          </p:cNvPr>
          <p:cNvSpPr>
            <a:spLocks noGrp="1"/>
          </p:cNvSpPr>
          <p:nvPr>
            <p:ph type="body" sz="half" idx="28" hasCustomPrompt="1"/>
          </p:nvPr>
        </p:nvSpPr>
        <p:spPr>
          <a:xfrm>
            <a:off x="398875" y="2182570"/>
            <a:ext cx="3087275" cy="33598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lang="en-US" sz="16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Section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7A01AB-0068-866B-E540-10C36FD30B44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94289" y="2587877"/>
            <a:ext cx="3087947" cy="234376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 b="0" i="0">
                <a:latin typeface="Aptos Light" panose="020B0004020202020204" pitchFamily="34" charset="0"/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54A9FF7-2688-1C94-2155-D235598BD98C}"/>
              </a:ext>
            </a:extLst>
          </p:cNvPr>
          <p:cNvSpPr>
            <a:spLocks noGrp="1"/>
          </p:cNvSpPr>
          <p:nvPr>
            <p:ph type="body" sz="half" idx="29" hasCustomPrompt="1"/>
          </p:nvPr>
        </p:nvSpPr>
        <p:spPr>
          <a:xfrm>
            <a:off x="4182205" y="2182570"/>
            <a:ext cx="3087275" cy="33598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lang="en-US" sz="16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Section title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8F1697F-05F6-3599-6C65-15E4BF042072}"/>
              </a:ext>
            </a:extLst>
          </p:cNvPr>
          <p:cNvSpPr>
            <a:spLocks noGrp="1"/>
          </p:cNvSpPr>
          <p:nvPr>
            <p:ph type="body" sz="half" idx="30" hasCustomPrompt="1"/>
          </p:nvPr>
        </p:nvSpPr>
        <p:spPr>
          <a:xfrm>
            <a:off x="7954105" y="2182570"/>
            <a:ext cx="3087275" cy="33598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lang="en-US" sz="16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979C23-02D1-DE86-A69C-00A3F9B8E5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5EBB19-60C0-4BDC-F7C4-809C34C95F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17EB7BB-995F-DFDF-7A3C-FAB461D2675F}"/>
              </a:ext>
            </a:extLst>
          </p:cNvPr>
          <p:cNvSpPr>
            <a:spLocks noGrp="1"/>
          </p:cNvSpPr>
          <p:nvPr>
            <p:ph idx="31"/>
          </p:nvPr>
        </p:nvSpPr>
        <p:spPr>
          <a:xfrm>
            <a:off x="7961814" y="2587877"/>
            <a:ext cx="3087947" cy="234376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latin typeface="+mn-lt"/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EEA220F-E029-F613-24B3-BA34B4D16D21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4188551" y="2587877"/>
            <a:ext cx="3087947" cy="234376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latin typeface="+mn-lt"/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DD70191-9E0B-A3C8-BD42-A6448BF4FA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0" y="239394"/>
            <a:ext cx="10634471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DA629-06F2-0A52-32E7-1D330CB24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8763248-AC2F-6287-AF85-695F91F8EA22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95735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 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74993760-E6F1-6499-1C83-54E4B9943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0" y="245098"/>
            <a:ext cx="10634471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A9C2E1-A1A5-0DE5-8FB0-AA0B38F7B07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1C1A025-AB93-3401-3A1E-15E8ED371D9D}"/>
              </a:ext>
            </a:extLst>
          </p:cNvPr>
          <p:cNvSpPr>
            <a:spLocks noGrp="1"/>
          </p:cNvSpPr>
          <p:nvPr>
            <p:ph type="body" sz="half" idx="28" hasCustomPrompt="1"/>
          </p:nvPr>
        </p:nvSpPr>
        <p:spPr>
          <a:xfrm>
            <a:off x="398875" y="2182570"/>
            <a:ext cx="3087275" cy="33598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lang="en-US" sz="16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Section title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384C6B0-C134-FB60-8232-B7148343B26B}"/>
              </a:ext>
            </a:extLst>
          </p:cNvPr>
          <p:cNvSpPr>
            <a:spLocks noGrp="1"/>
          </p:cNvSpPr>
          <p:nvPr>
            <p:ph type="body" sz="half" idx="29" hasCustomPrompt="1"/>
          </p:nvPr>
        </p:nvSpPr>
        <p:spPr>
          <a:xfrm>
            <a:off x="4182205" y="2182570"/>
            <a:ext cx="3087275" cy="33598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lang="en-US" sz="16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Section title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835E4E3-12C4-1135-AF57-C37E67EB75DC}"/>
              </a:ext>
            </a:extLst>
          </p:cNvPr>
          <p:cNvSpPr>
            <a:spLocks noGrp="1"/>
          </p:cNvSpPr>
          <p:nvPr>
            <p:ph type="body" sz="half" idx="30" hasCustomPrompt="1"/>
          </p:nvPr>
        </p:nvSpPr>
        <p:spPr>
          <a:xfrm>
            <a:off x="7954105" y="2182570"/>
            <a:ext cx="3087275" cy="33598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lang="en-US" sz="16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0BB7F2-D8AB-FA67-5ECC-A44E61DC3F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9E4D4F-784E-4261-5940-6B666F9292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3B89B19-D322-856F-CE7C-6C888A88F44D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94289" y="2587877"/>
            <a:ext cx="3087947" cy="234376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latin typeface="+mn-lt"/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3F8046-4FF4-6283-5296-F27768847E28}"/>
              </a:ext>
            </a:extLst>
          </p:cNvPr>
          <p:cNvSpPr>
            <a:spLocks noGrp="1"/>
          </p:cNvSpPr>
          <p:nvPr>
            <p:ph idx="31"/>
          </p:nvPr>
        </p:nvSpPr>
        <p:spPr>
          <a:xfrm>
            <a:off x="7961814" y="2587877"/>
            <a:ext cx="3087947" cy="234376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latin typeface="+mn-lt"/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5C1F09-7E5F-2B1D-78D7-E6EDCBD3B4DF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4188551" y="2587877"/>
            <a:ext cx="3087947" cy="234376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latin typeface="+mn-lt"/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BD8A60-907A-AD34-031B-F72542B187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371C385-06E2-A2FD-1EFA-3A94BC6D5F8D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12477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F2B7CDF-4CAF-7A29-FA23-452F2800E6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9" y="239394"/>
            <a:ext cx="11555037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9B472B-B027-D192-1CB8-DCBF2A8E47C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23BFBA-9E8C-BC61-760E-D3DFED8E22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B501F-E6E3-ABDE-C00B-B62D02630C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AC98A1E-50DA-3AB8-2031-7ACE349A3AEF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20778" y="816646"/>
            <a:ext cx="11549548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4C945E8-DD62-B09A-2956-80A85BDDD3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C0FDB3-8588-9D47-90FB-3E9E3F727C63}"/>
              </a:ext>
            </a:extLst>
          </p:cNvPr>
          <p:cNvSpPr>
            <a:spLocks noGrp="1"/>
          </p:cNvSpPr>
          <p:nvPr>
            <p:ph type="body" sz="half" idx="28" hasCustomPrompt="1"/>
          </p:nvPr>
        </p:nvSpPr>
        <p:spPr>
          <a:xfrm>
            <a:off x="398875" y="2182570"/>
            <a:ext cx="3087275" cy="33598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lang="en-US" sz="16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Section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ED45565-43C6-CC7D-A53A-009E6D05A2A2}"/>
              </a:ext>
            </a:extLst>
          </p:cNvPr>
          <p:cNvSpPr>
            <a:spLocks noGrp="1"/>
          </p:cNvSpPr>
          <p:nvPr>
            <p:ph type="body" sz="half" idx="29" hasCustomPrompt="1"/>
          </p:nvPr>
        </p:nvSpPr>
        <p:spPr>
          <a:xfrm>
            <a:off x="4182205" y="2182570"/>
            <a:ext cx="3087275" cy="33598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lang="en-US" sz="16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Section title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CE90028-74DA-6BC1-9E1A-4DE9FD976C1D}"/>
              </a:ext>
            </a:extLst>
          </p:cNvPr>
          <p:cNvSpPr>
            <a:spLocks noGrp="1"/>
          </p:cNvSpPr>
          <p:nvPr>
            <p:ph type="body" sz="half" idx="30" hasCustomPrompt="1"/>
          </p:nvPr>
        </p:nvSpPr>
        <p:spPr>
          <a:xfrm>
            <a:off x="7954105" y="2182570"/>
            <a:ext cx="3087275" cy="33598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lang="en-US" sz="16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Section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6BD574-2ADE-9166-16CE-2531CB295F2A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94289" y="2587877"/>
            <a:ext cx="3087947" cy="234376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latin typeface="+mn-lt"/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6437B3A-6251-F32E-9E61-4A72E69DFE2B}"/>
              </a:ext>
            </a:extLst>
          </p:cNvPr>
          <p:cNvSpPr>
            <a:spLocks noGrp="1"/>
          </p:cNvSpPr>
          <p:nvPr>
            <p:ph idx="31"/>
          </p:nvPr>
        </p:nvSpPr>
        <p:spPr>
          <a:xfrm>
            <a:off x="7961814" y="2587877"/>
            <a:ext cx="3087947" cy="234376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latin typeface="+mn-lt"/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94535B8E-78A8-E6C7-735B-2A244AD40A9D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4188551" y="2587877"/>
            <a:ext cx="3087947" cy="234376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latin typeface="+mn-lt"/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FEA44EC-2BBC-3302-45DF-3038D747EC16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83204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 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9B472B-B027-D192-1CB8-DCBF2A8E47C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23BFBA-9E8C-BC61-760E-D3DFED8E22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B501F-E6E3-ABDE-C00B-B62D02630C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7EE2C94-603B-61A1-9354-19EA488028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D2C0149-1612-FAF3-54C7-DE01A20CC6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9" y="239394"/>
            <a:ext cx="11555037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0144D45-68DC-23B2-0F57-47054572F313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20778" y="816646"/>
            <a:ext cx="11549548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05626D0-1F81-A8B7-9B94-6AD9204955B5}"/>
              </a:ext>
            </a:extLst>
          </p:cNvPr>
          <p:cNvSpPr>
            <a:spLocks noGrp="1"/>
          </p:cNvSpPr>
          <p:nvPr>
            <p:ph type="body" sz="half" idx="28" hasCustomPrompt="1"/>
          </p:nvPr>
        </p:nvSpPr>
        <p:spPr>
          <a:xfrm>
            <a:off x="398875" y="2182570"/>
            <a:ext cx="3087275" cy="33598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lang="en-US" sz="16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Section title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B1F0D48-B708-F83C-29EC-6D57995243C1}"/>
              </a:ext>
            </a:extLst>
          </p:cNvPr>
          <p:cNvSpPr>
            <a:spLocks noGrp="1"/>
          </p:cNvSpPr>
          <p:nvPr>
            <p:ph type="body" sz="half" idx="29" hasCustomPrompt="1"/>
          </p:nvPr>
        </p:nvSpPr>
        <p:spPr>
          <a:xfrm>
            <a:off x="4182205" y="2182570"/>
            <a:ext cx="3087275" cy="33598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lang="en-US" sz="16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Section title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5AD185E8-5E9E-2006-B33A-21849187304B}"/>
              </a:ext>
            </a:extLst>
          </p:cNvPr>
          <p:cNvSpPr>
            <a:spLocks noGrp="1"/>
          </p:cNvSpPr>
          <p:nvPr>
            <p:ph type="body" sz="half" idx="30" hasCustomPrompt="1"/>
          </p:nvPr>
        </p:nvSpPr>
        <p:spPr>
          <a:xfrm>
            <a:off x="7954105" y="2182570"/>
            <a:ext cx="3087275" cy="33598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lang="en-US" sz="16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Section title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0BF3D23-342F-98D3-12E7-B9162F7CBA97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94289" y="2587877"/>
            <a:ext cx="3087947" cy="234376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latin typeface="+mn-lt"/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36F44D8-A212-A94A-2576-76A2388F0D28}"/>
              </a:ext>
            </a:extLst>
          </p:cNvPr>
          <p:cNvSpPr>
            <a:spLocks noGrp="1"/>
          </p:cNvSpPr>
          <p:nvPr>
            <p:ph idx="31"/>
          </p:nvPr>
        </p:nvSpPr>
        <p:spPr>
          <a:xfrm>
            <a:off x="7961814" y="2587877"/>
            <a:ext cx="3087947" cy="234376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latin typeface="+mn-lt"/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852094EB-B21F-7BAE-5011-B0F7DAA0A2D3}"/>
              </a:ext>
            </a:extLst>
          </p:cNvPr>
          <p:cNvSpPr>
            <a:spLocks noGrp="1"/>
          </p:cNvSpPr>
          <p:nvPr>
            <p:ph idx="32"/>
          </p:nvPr>
        </p:nvSpPr>
        <p:spPr>
          <a:xfrm>
            <a:off x="4188551" y="2587877"/>
            <a:ext cx="3087947" cy="234376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latin typeface="+mn-lt"/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24589C5-8C07-3FFA-6421-8FF934ECDA68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20783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F65FD0-31B1-93DF-F70B-31949D86D27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2736CE-5D5C-5F9F-8223-C6CD09AED2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C1092D-1865-B231-B4F6-294AD8C414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5F5FD75-16CE-37A1-5D34-696391DCB41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5924" y="1657350"/>
            <a:ext cx="11549547" cy="4657725"/>
          </a:xfrm>
          <a:prstGeom prst="rect">
            <a:avLst/>
          </a:prstGeom>
        </p:spPr>
        <p:txBody>
          <a:bodyPr/>
          <a:lstStyle>
            <a:lvl1pPr>
              <a:lnSpc>
                <a:spcPts val="2020"/>
              </a:lnSpc>
              <a:spcBef>
                <a:spcPts val="600"/>
              </a:spcBef>
              <a:spcAft>
                <a:spcPts val="600"/>
              </a:spcAft>
              <a:defRPr b="0" i="0">
                <a:solidFill>
                  <a:schemeClr val="tx1"/>
                </a:solidFill>
                <a:latin typeface="+mn-lt"/>
              </a:defRPr>
            </a:lvl1pPr>
            <a:lvl2pPr>
              <a:lnSpc>
                <a:spcPts val="2020"/>
              </a:lnSpc>
              <a:spcBef>
                <a:spcPts val="600"/>
              </a:spcBef>
              <a:spcAft>
                <a:spcPts val="600"/>
              </a:spcAft>
              <a:defRPr b="0" i="0">
                <a:solidFill>
                  <a:schemeClr val="tx1"/>
                </a:solidFill>
                <a:latin typeface="+mn-lt"/>
              </a:defRPr>
            </a:lvl2pPr>
            <a:lvl3pPr>
              <a:lnSpc>
                <a:spcPts val="2020"/>
              </a:lnSpc>
              <a:spcBef>
                <a:spcPts val="600"/>
              </a:spcBef>
              <a:spcAft>
                <a:spcPts val="600"/>
              </a:spcAft>
              <a:defRPr b="0" i="0">
                <a:solidFill>
                  <a:schemeClr val="tx1"/>
                </a:solidFill>
                <a:latin typeface="+mn-lt"/>
              </a:defRPr>
            </a:lvl3pPr>
            <a:lvl4pPr marL="1371600" indent="0">
              <a:lnSpc>
                <a:spcPct val="110000"/>
              </a:lnSpc>
              <a:spcAft>
                <a:spcPts val="600"/>
              </a:spcAft>
              <a:buNone/>
              <a:defRPr sz="1100" b="0" i="0">
                <a:latin typeface="Aptos Light" panose="020B0004020202020204" pitchFamily="34" charset="0"/>
              </a:defRPr>
            </a:lvl4pPr>
            <a:lvl5pPr>
              <a:lnSpc>
                <a:spcPct val="110000"/>
              </a:lnSpc>
              <a:spcAft>
                <a:spcPts val="600"/>
              </a:spcAft>
              <a:defRPr b="0" i="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17613E-A34B-E13B-33C8-9CE58199A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9" y="239394"/>
            <a:ext cx="11555037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3C0513-D595-8A47-F133-7A4D4E96B9DF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20778" y="816646"/>
            <a:ext cx="11549548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EFF088-60AE-DBE6-A3BB-D1E258E83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F06155F-9442-411A-14E0-7E0D6AD9EDCF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644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F65FD0-31B1-93DF-F70B-31949D86D27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2736CE-5D5C-5F9F-8223-C6CD09AED2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C1092D-1865-B231-B4F6-294AD8C414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917613E-A34B-E13B-33C8-9CE58199A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9" y="239394"/>
            <a:ext cx="11555037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3C0513-D595-8A47-F133-7A4D4E96B9DF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20778" y="816646"/>
            <a:ext cx="11549548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EFF088-60AE-DBE6-A3BB-D1E258E83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21126A49-0D03-BD33-67B1-0C511E31616F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415925" y="1457325"/>
            <a:ext cx="11549063" cy="4800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AU" noProof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5BE7FF4-7266-DB9E-DD68-7CE582DE86E0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318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A5C49-5CC5-D692-16C8-6A41E0E22A45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394289" y="2043303"/>
            <a:ext cx="5346111" cy="4306598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1100"/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72A194-099A-98B4-DA5D-3C2143BEE87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E0E0A0-AC6D-D0D8-96B5-5B17482E97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4FFD71-8094-826E-5EC6-032836B37D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024796-1884-132D-5659-56CD695F3ACF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6451600" y="2043303"/>
            <a:ext cx="5346111" cy="4306598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1100"/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75BD93-918F-0E74-C824-8AEF9D8371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9" y="239394"/>
            <a:ext cx="11555037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7AEE852-6E90-E4F7-14E5-F9E0F92DDE7F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20778" y="816646"/>
            <a:ext cx="11549548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11955-2208-DE83-5A7D-DFB7BF36FE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2EA2255-E654-CE36-4016-D1C601849F75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24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ob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69194-ADEE-841C-40EC-37FED59C220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94287" y="3442764"/>
            <a:ext cx="5458968" cy="1721727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/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35A5EA9C-DEC7-052E-DC2B-49E2C5C27E65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398873" y="3018773"/>
            <a:ext cx="5458968" cy="40556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lang="en-US" sz="18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</a:defRPr>
            </a:lvl1pPr>
          </a:lstStyle>
          <a:p>
            <a:pPr marL="228600" lvl="0" indent="-228600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lang="en-AU" noProof="0"/>
              <a:t>Section title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F362F8A6-20F6-F892-B684-7F48AF6DA9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7" y="239394"/>
            <a:ext cx="5465007" cy="92416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F7A08DC-46E6-5D61-E190-5742713F60AD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20779" y="1229555"/>
            <a:ext cx="5459516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8B5547-9F41-075C-B200-2C539CDF33C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C5A970C-941B-C4F4-27D6-CE9EB65AA6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E6952C-AC4A-FA15-EEB0-69A734E263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580EC81-38B7-32DA-7E6B-6402F2E3F8FE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DF84E31-83BA-D9CF-4FEB-5FBEBEDE2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B499638-2C31-EBBF-5930-6A80E6227EE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239394"/>
            <a:ext cx="5726113" cy="6113781"/>
          </a:xfrm>
          <a:prstGeom prst="roundRect">
            <a:avLst>
              <a:gd name="adj" fmla="val 2816"/>
            </a:avLst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AU"/>
              <a:t>Click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395561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B2EDDCD-93E8-75CE-1146-92A48BE65CB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088063" y="194553"/>
            <a:ext cx="5915025" cy="6149097"/>
          </a:xfrm>
          <a:prstGeom prst="roundRect">
            <a:avLst>
              <a:gd name="adj" fmla="val 296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444444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7F6982-69EE-44F8-E513-16052392519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E543EB-BE1D-7BEB-8791-1D5C4821A9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204007-2EF3-CC1B-3C9D-FC7ED41877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AD386-5DEE-6697-E7C7-97457258197F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415289" y="2052225"/>
            <a:ext cx="5458967" cy="4306598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1100"/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D9B766-DFFD-0591-BCF8-7A92EC2B4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7" y="239394"/>
            <a:ext cx="5465007" cy="92416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B939475-CA88-36FC-65EA-451FE815DAEF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20779" y="1229555"/>
            <a:ext cx="5459516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5766A38-7567-FD4B-30F2-F8447B4CED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C7280BC-F698-4D95-F8CA-15BE2CDAF518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553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B2EDDCD-93E8-75CE-1146-92A48BE65CB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088063" y="1576357"/>
            <a:ext cx="5915025" cy="4767294"/>
          </a:xfrm>
          <a:prstGeom prst="roundRect">
            <a:avLst>
              <a:gd name="adj" fmla="val 296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444444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7F6982-69EE-44F8-E513-16052392519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E543EB-BE1D-7BEB-8791-1D5C4821A9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204007-2EF3-CC1B-3C9D-FC7ED41877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2970B-3B4D-64BB-02FD-2626AAF859AA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415289" y="1576356"/>
            <a:ext cx="5325111" cy="477354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/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26B3A2-46E1-81F2-FC09-EB25EBD14F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0" y="239394"/>
            <a:ext cx="11587798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72F30EF-BEA6-3AEF-328F-C32CD420C371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20778" y="816646"/>
            <a:ext cx="11582310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555AF66-3094-617E-D6DE-AE2B4713B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965BA50-DCA2-D5D4-531C-28C23D182C02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690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/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C25C3A7-85EB-7667-97E4-49C1EDC4EAE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059C3B-D593-01D5-6FBB-4DA8F66477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413E26-1E9F-2291-DF2C-0C7B8A87E9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C638C5-1392-6597-68F6-407D06FCCEEE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6377839" y="1576354"/>
            <a:ext cx="5346111" cy="477354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/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24D457B-C824-ACCD-6011-130418F957C9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415289" y="1576356"/>
            <a:ext cx="5325111" cy="477354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/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CF529CE-4FB7-DFEC-49F2-5EF84F21C4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9" y="239394"/>
            <a:ext cx="11555037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D3BE8F0-63DC-CC36-F9F0-6C00B6E6873A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20778" y="816646"/>
            <a:ext cx="11549548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C03C579-32DE-2E30-2C68-70AB67CA5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00D02D-0FBE-7AF7-1515-234F40634F79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843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object 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4EFD80E-6933-B8EB-03CA-A282504C14BA}"/>
              </a:ext>
            </a:extLst>
          </p:cNvPr>
          <p:cNvSpPr/>
          <p:nvPr/>
        </p:nvSpPr>
        <p:spPr>
          <a:xfrm>
            <a:off x="8429624" y="0"/>
            <a:ext cx="376237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42591E7-A882-228B-F58B-A03F4CA6495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771769" y="1153288"/>
            <a:ext cx="3095232" cy="4821627"/>
          </a:xfrm>
          <a:prstGeom prst="rect">
            <a:avLst/>
          </a:prstGeom>
        </p:spPr>
        <p:txBody>
          <a:bodyPr>
            <a:noAutofit/>
          </a:bodyPr>
          <a:lstStyle>
            <a:lvl1pPr marL="176213" indent="-176213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Char char="&gt;"/>
              <a:tabLst/>
              <a:defRPr sz="1400">
                <a:solidFill>
                  <a:schemeClr val="tx1"/>
                </a:solidFill>
              </a:defRPr>
            </a:lvl1pPr>
            <a:lvl2pPr marL="517525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chemeClr val="tx1"/>
                </a:solidFill>
              </a:defRPr>
            </a:lvl2pPr>
            <a:lvl3pPr marL="973138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tx1"/>
                </a:solidFill>
              </a:defRPr>
            </a:lvl3pPr>
            <a:lvl4pPr marL="142875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4pPr>
            <a:lvl5pPr marL="1890713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33818F-5D70-F85B-0A7E-C775688916F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04F79E-A8C8-8095-FDF0-86AF996A9D9B}"/>
              </a:ext>
            </a:extLst>
          </p:cNvPr>
          <p:cNvSpPr/>
          <p:nvPr userDrawn="1"/>
        </p:nvSpPr>
        <p:spPr>
          <a:xfrm>
            <a:off x="8429624" y="0"/>
            <a:ext cx="376237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b="0" i="0" noProof="0">
              <a:solidFill>
                <a:schemeClr val="tx2"/>
              </a:solidFill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74898D-EE6F-7F83-CCCE-FC7AC363F1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2F67A3-5853-C686-F435-EE90F8E8A8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EEF5E21-A1DF-ADF0-AE59-C147B1B2F5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1" y="239395"/>
            <a:ext cx="7605094" cy="51206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19A1525-B93D-37BA-CD41-37E317FCE34F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15289" y="818876"/>
            <a:ext cx="7605095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D856BEB-1FB1-51E9-20CF-F4BC4B817A2A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15289" y="1546790"/>
            <a:ext cx="7605094" cy="4796860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71B5AE5-DA2E-41E6-F2DF-0DF2335FE1AE}"/>
              </a:ext>
            </a:extLst>
          </p:cNvPr>
          <p:cNvSpPr>
            <a:spLocks noGrp="1"/>
          </p:cNvSpPr>
          <p:nvPr>
            <p:ph idx="31"/>
          </p:nvPr>
        </p:nvSpPr>
        <p:spPr>
          <a:xfrm>
            <a:off x="8763195" y="1546790"/>
            <a:ext cx="3095232" cy="4177676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tx2"/>
                </a:solidFill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9E43415-747C-2D93-D9F2-4AA92DFF2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9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415A04F-8F9E-63C7-866B-FBB140ABFC61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627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object g">
    <p:bg>
      <p:bgPr>
        <a:gradFill>
          <a:gsLst>
            <a:gs pos="98000">
              <a:schemeClr val="tx2"/>
            </a:gs>
            <a:gs pos="36000">
              <a:srgbClr val="93186C"/>
            </a:gs>
            <a:gs pos="0">
              <a:srgbClr val="B922F3"/>
            </a:gs>
          </a:gsLst>
          <a:lin ang="9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42591E7-A882-228B-F58B-A03F4CA6495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771769" y="1153288"/>
            <a:ext cx="3095232" cy="4821627"/>
          </a:xfrm>
          <a:prstGeom prst="rect">
            <a:avLst/>
          </a:prstGeom>
        </p:spPr>
        <p:txBody>
          <a:bodyPr>
            <a:noAutofit/>
          </a:bodyPr>
          <a:lstStyle>
            <a:lvl1pPr marL="176213" indent="-176213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1pPr>
            <a:lvl2pPr marL="517525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chemeClr val="tx1"/>
                </a:solidFill>
              </a:defRPr>
            </a:lvl2pPr>
            <a:lvl3pPr marL="973138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tx1"/>
                </a:solidFill>
              </a:defRPr>
            </a:lvl3pPr>
            <a:lvl4pPr marL="142875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4pPr>
            <a:lvl5pPr marL="1890713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F79289-F9B6-F054-728B-6081000E9E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E168827-979E-946D-4CC8-954233C509A0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15289" y="818876"/>
            <a:ext cx="7605095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A5D1263-4A0A-2DD0-1E78-26E4991DE67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15289" y="1546790"/>
            <a:ext cx="7605094" cy="4796860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F90FF24-2630-F276-D08C-1A20F4029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1" y="239395"/>
            <a:ext cx="7605094" cy="51206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85D5383-779B-6745-F4BC-969F8A8465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9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3D1366-2864-CEF6-B4B7-76100E94CEA5}"/>
              </a:ext>
            </a:extLst>
          </p:cNvPr>
          <p:cNvSpPr/>
          <p:nvPr userDrawn="1"/>
        </p:nvSpPr>
        <p:spPr>
          <a:xfrm>
            <a:off x="8429624" y="0"/>
            <a:ext cx="376237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7F38BC8-3FD6-A0EA-6774-6C0A5B0B3C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06D81A5-3573-79DC-7278-3736DD725A65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790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object m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4EFD80E-6933-B8EB-03CA-A282504C14BA}"/>
              </a:ext>
            </a:extLst>
          </p:cNvPr>
          <p:cNvSpPr/>
          <p:nvPr/>
        </p:nvSpPr>
        <p:spPr>
          <a:xfrm>
            <a:off x="8429624" y="0"/>
            <a:ext cx="376237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42591E7-A882-228B-F58B-A03F4CA6495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771769" y="1153288"/>
            <a:ext cx="3095232" cy="4821627"/>
          </a:xfrm>
          <a:prstGeom prst="rect">
            <a:avLst/>
          </a:prstGeom>
        </p:spPr>
        <p:txBody>
          <a:bodyPr>
            <a:noAutofit/>
          </a:bodyPr>
          <a:lstStyle>
            <a:lvl1pPr marL="176213" indent="-176213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Char char="&gt;"/>
              <a:tabLst/>
              <a:defRPr sz="1400">
                <a:solidFill>
                  <a:schemeClr val="tx1"/>
                </a:solidFill>
              </a:defRPr>
            </a:lvl1pPr>
            <a:lvl2pPr marL="517525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chemeClr val="tx1"/>
                </a:solidFill>
              </a:defRPr>
            </a:lvl2pPr>
            <a:lvl3pPr marL="973138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tx1"/>
                </a:solidFill>
              </a:defRPr>
            </a:lvl3pPr>
            <a:lvl4pPr marL="142875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4pPr>
            <a:lvl5pPr marL="1890713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33818F-5D70-F85B-0A7E-C775688916F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04F79E-A8C8-8095-FDF0-86AF996A9D9B}"/>
              </a:ext>
            </a:extLst>
          </p:cNvPr>
          <p:cNvSpPr/>
          <p:nvPr userDrawn="1"/>
        </p:nvSpPr>
        <p:spPr>
          <a:xfrm>
            <a:off x="8429624" y="0"/>
            <a:ext cx="376237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74898D-EE6F-7F83-CCCE-FC7AC363F1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2F67A3-5853-C686-F435-EE90F8E8A8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E0383D2-F365-D62F-257B-B8A5D7F0E10F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15289" y="818876"/>
            <a:ext cx="7605095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90DDA6B-EF9D-D95E-7AFF-FB798D9EBD68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15289" y="1546790"/>
            <a:ext cx="7605094" cy="4796860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D4087EC-1FFD-DDDA-F72C-877FFECA86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1" y="239395"/>
            <a:ext cx="7605094" cy="51206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EAA27-E6C8-8F9A-7DFA-9EF9BD278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9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D477370-EFCB-28EA-79F0-4A9A04D88A9F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874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object m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4EFD80E-6933-B8EB-03CA-A282504C14BA}"/>
              </a:ext>
            </a:extLst>
          </p:cNvPr>
          <p:cNvSpPr/>
          <p:nvPr/>
        </p:nvSpPr>
        <p:spPr>
          <a:xfrm>
            <a:off x="8429624" y="0"/>
            <a:ext cx="376237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42591E7-A882-228B-F58B-A03F4CA6495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771769" y="1153288"/>
            <a:ext cx="3095232" cy="4821627"/>
          </a:xfrm>
          <a:prstGeom prst="rect">
            <a:avLst/>
          </a:prstGeom>
        </p:spPr>
        <p:txBody>
          <a:bodyPr>
            <a:noAutofit/>
          </a:bodyPr>
          <a:lstStyle>
            <a:lvl1pPr marL="176213" indent="-176213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Char char="&gt;"/>
              <a:tabLst/>
              <a:defRPr sz="1400">
                <a:solidFill>
                  <a:schemeClr val="tx1"/>
                </a:solidFill>
              </a:defRPr>
            </a:lvl1pPr>
            <a:lvl2pPr marL="517525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chemeClr val="tx1"/>
                </a:solidFill>
              </a:defRPr>
            </a:lvl2pPr>
            <a:lvl3pPr marL="973138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tx1"/>
                </a:solidFill>
              </a:defRPr>
            </a:lvl3pPr>
            <a:lvl4pPr marL="142875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4pPr>
            <a:lvl5pPr marL="1890713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33818F-5D70-F85B-0A7E-C775688916F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04F79E-A8C8-8095-FDF0-86AF996A9D9B}"/>
              </a:ext>
            </a:extLst>
          </p:cNvPr>
          <p:cNvSpPr/>
          <p:nvPr userDrawn="1"/>
        </p:nvSpPr>
        <p:spPr>
          <a:xfrm>
            <a:off x="8429624" y="0"/>
            <a:ext cx="376237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74898D-EE6F-7F83-CCCE-FC7AC363F1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2F67A3-5853-C686-F435-EE90F8E8A8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E0383D2-F365-D62F-257B-B8A5D7F0E10F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15289" y="818876"/>
            <a:ext cx="7605095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90DDA6B-EF9D-D95E-7AFF-FB798D9EBD68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15289" y="1546790"/>
            <a:ext cx="7605094" cy="4796860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D4087EC-1FFD-DDDA-F72C-877FFECA86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1" y="239395"/>
            <a:ext cx="7605094" cy="51206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EAA27-E6C8-8F9A-7DFA-9EF9BD278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9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A5DA35C-17EB-FBC7-17EE-FB4DE055735C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203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object m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4EFD80E-6933-B8EB-03CA-A282504C14BA}"/>
              </a:ext>
            </a:extLst>
          </p:cNvPr>
          <p:cNvSpPr/>
          <p:nvPr/>
        </p:nvSpPr>
        <p:spPr>
          <a:xfrm>
            <a:off x="8429624" y="0"/>
            <a:ext cx="376237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42591E7-A882-228B-F58B-A03F4CA6495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771769" y="1153288"/>
            <a:ext cx="3095232" cy="4821627"/>
          </a:xfrm>
          <a:prstGeom prst="rect">
            <a:avLst/>
          </a:prstGeom>
        </p:spPr>
        <p:txBody>
          <a:bodyPr>
            <a:noAutofit/>
          </a:bodyPr>
          <a:lstStyle>
            <a:lvl1pPr marL="176213" indent="-176213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ystem Font Regular"/>
              <a:buChar char="&gt;"/>
              <a:tabLst/>
              <a:defRPr sz="1400">
                <a:solidFill>
                  <a:schemeClr val="tx1"/>
                </a:solidFill>
              </a:defRPr>
            </a:lvl1pPr>
            <a:lvl2pPr marL="517525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chemeClr val="tx1"/>
                </a:solidFill>
              </a:defRPr>
            </a:lvl2pPr>
            <a:lvl3pPr marL="973138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tx1"/>
                </a:solidFill>
              </a:defRPr>
            </a:lvl3pPr>
            <a:lvl4pPr marL="142875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4pPr>
            <a:lvl5pPr marL="1890713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33818F-5D70-F85B-0A7E-C775688916F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04F79E-A8C8-8095-FDF0-86AF996A9D9B}"/>
              </a:ext>
            </a:extLst>
          </p:cNvPr>
          <p:cNvSpPr/>
          <p:nvPr userDrawn="1"/>
        </p:nvSpPr>
        <p:spPr>
          <a:xfrm>
            <a:off x="8429624" y="0"/>
            <a:ext cx="376237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74898D-EE6F-7F83-CCCE-FC7AC363F1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2F67A3-5853-C686-F435-EE90F8E8A8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E0383D2-F365-D62F-257B-B8A5D7F0E10F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15289" y="818876"/>
            <a:ext cx="7605095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90DDA6B-EF9D-D95E-7AFF-FB798D9EBD68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15289" y="1546790"/>
            <a:ext cx="7605094" cy="4796860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D4087EC-1FFD-DDDA-F72C-877FFECA86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1" y="239395"/>
            <a:ext cx="7605094" cy="51206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EAA27-E6C8-8F9A-7DFA-9EF9BD278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9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7CBBA86-CDE8-6CE6-8C8A-BE2751331CE4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763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object g1">
    <p:bg>
      <p:bgPr>
        <a:gradFill>
          <a:gsLst>
            <a:gs pos="98000">
              <a:schemeClr val="tx2"/>
            </a:gs>
            <a:gs pos="64000">
              <a:srgbClr val="93186C"/>
            </a:gs>
            <a:gs pos="0">
              <a:srgbClr val="B922F3"/>
            </a:gs>
          </a:gsLst>
          <a:lin ang="9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42591E7-A882-228B-F58B-A03F4CA6495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771769" y="1153288"/>
            <a:ext cx="3095232" cy="4821627"/>
          </a:xfrm>
          <a:prstGeom prst="rect">
            <a:avLst/>
          </a:prstGeom>
        </p:spPr>
        <p:txBody>
          <a:bodyPr>
            <a:noAutofit/>
          </a:bodyPr>
          <a:lstStyle>
            <a:lvl1pPr marL="176213" indent="-176213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1pPr>
            <a:lvl2pPr marL="517525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chemeClr val="tx1"/>
                </a:solidFill>
              </a:defRPr>
            </a:lvl2pPr>
            <a:lvl3pPr marL="973138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tx1"/>
                </a:solidFill>
              </a:defRPr>
            </a:lvl3pPr>
            <a:lvl4pPr marL="142875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4pPr>
            <a:lvl5pPr marL="1890713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5D533D-D0D7-9F61-28FD-E19F6D6440C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22C71CF-45BD-7A97-EDAA-84DEAE91962E}"/>
              </a:ext>
            </a:extLst>
          </p:cNvPr>
          <p:cNvSpPr/>
          <p:nvPr/>
        </p:nvSpPr>
        <p:spPr>
          <a:xfrm>
            <a:off x="6015038" y="0"/>
            <a:ext cx="617696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F79289-F9B6-F054-728B-6081000E9E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D97029-B9CB-9668-5CE0-E499B157D9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4B1A5E9-2690-47AA-B8AC-EB74D9735786}"/>
              </a:ext>
            </a:extLst>
          </p:cNvPr>
          <p:cNvSpPr/>
          <p:nvPr userDrawn="1"/>
        </p:nvSpPr>
        <p:spPr>
          <a:xfrm>
            <a:off x="6015038" y="0"/>
            <a:ext cx="617696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50B8AD-5096-4040-7261-AA045E0F60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69114BE-C451-4DDF-0492-2B3733442E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0" y="239395"/>
            <a:ext cx="5404397" cy="92354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963570B-B4BD-8B31-9D30-C2586FB92960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15288" y="1546789"/>
            <a:ext cx="5404397" cy="4999483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579C37C-A07B-0B24-9603-4E9019E3AC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E58AD-ECAF-E683-40AF-F4EB986A6909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817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object g2">
    <p:bg>
      <p:bgPr>
        <a:gradFill>
          <a:gsLst>
            <a:gs pos="98000">
              <a:srgbClr val="432063"/>
            </a:gs>
            <a:gs pos="64000">
              <a:srgbClr val="93186C"/>
            </a:gs>
            <a:gs pos="0">
              <a:srgbClr val="B922F3"/>
            </a:gs>
          </a:gsLst>
          <a:lin ang="9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42591E7-A882-228B-F58B-A03F4CA6495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771769" y="1153288"/>
            <a:ext cx="3095232" cy="4821627"/>
          </a:xfrm>
          <a:prstGeom prst="rect">
            <a:avLst/>
          </a:prstGeom>
        </p:spPr>
        <p:txBody>
          <a:bodyPr>
            <a:noAutofit/>
          </a:bodyPr>
          <a:lstStyle>
            <a:lvl1pPr marL="176213" indent="-176213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1pPr>
            <a:lvl2pPr marL="517525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chemeClr val="tx1"/>
                </a:solidFill>
              </a:defRPr>
            </a:lvl2pPr>
            <a:lvl3pPr marL="973138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tx1"/>
                </a:solidFill>
              </a:defRPr>
            </a:lvl3pPr>
            <a:lvl4pPr marL="1428750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4pPr>
            <a:lvl5pPr marL="1890713" indent="-1143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05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5D533D-D0D7-9F61-28FD-E19F6D6440C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22C71CF-45BD-7A97-EDAA-84DEAE91962E}"/>
              </a:ext>
            </a:extLst>
          </p:cNvPr>
          <p:cNvSpPr/>
          <p:nvPr/>
        </p:nvSpPr>
        <p:spPr>
          <a:xfrm>
            <a:off x="6015038" y="0"/>
            <a:ext cx="617696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F79289-F9B6-F054-728B-6081000E9E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D97029-B9CB-9668-5CE0-E499B157D9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31DF34A-7B19-9CB4-C590-91A3B1B45B8B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15289" y="1231356"/>
            <a:ext cx="5399077" cy="40556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8E766F-575F-4C1A-C265-08ED9BAC7E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E58F8FB-C43A-5227-F064-73C30E09CCCC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15288" y="1906469"/>
            <a:ext cx="5404397" cy="4567768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72B7206-4846-25CD-32C6-C46E9062E7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0" y="239395"/>
            <a:ext cx="5404397" cy="92354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1F99628-1064-A39F-AFB9-5E5469F4C4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305BE-A30F-D147-9228-46D653894970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501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object m6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21514D8-DB77-663E-8DDF-BA55CC4388FF}"/>
              </a:ext>
            </a:extLst>
          </p:cNvPr>
          <p:cNvSpPr/>
          <p:nvPr/>
        </p:nvSpPr>
        <p:spPr>
          <a:xfrm>
            <a:off x="6015038" y="0"/>
            <a:ext cx="617696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64EF03-6B71-D6B1-B9D0-2CC0E7D6B7F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A2B388-BA7C-A651-7848-2B292A03D6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256284-C765-B428-5B94-9EFE8C8335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BD6EF6-3EEA-4F98-C184-7D181F21793F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15289" y="1231356"/>
            <a:ext cx="5399077" cy="40556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FAFD510-52EF-E595-714C-8E05B6DFF74B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15288" y="1906469"/>
            <a:ext cx="5404397" cy="4639804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786AF8B-1814-A8A8-20AA-ACBFEF5440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0" y="239395"/>
            <a:ext cx="5404397" cy="92354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2325802-3371-3086-D03F-16C4F1CFD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BB5966C-56F5-ED62-EC76-0BD3E3129A66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123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object m7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739F3AB-ED1A-5992-2981-F46FEF80393C}"/>
              </a:ext>
            </a:extLst>
          </p:cNvPr>
          <p:cNvSpPr/>
          <p:nvPr/>
        </p:nvSpPr>
        <p:spPr>
          <a:xfrm>
            <a:off x="6031252" y="0"/>
            <a:ext cx="616074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76A01F-EB75-9084-E8DC-F915B482F8E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BB07D0-2DE2-568E-FEC5-4C15030DE9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C8DD07-CD86-688A-CA63-6D4F0BDDEB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9611476-4379-88D8-1AFA-A979198109A8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15289" y="1231356"/>
            <a:ext cx="5399077" cy="40556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A40DB7D-A025-7BCC-5DBC-B81871D39D9E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15288" y="1906469"/>
            <a:ext cx="5404397" cy="4567768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FC5263E-4950-6833-9FF2-19368A912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0" y="239395"/>
            <a:ext cx="5404397" cy="92354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6EB147F-AA7C-D750-B788-E1AE743524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E36BC77-FDE3-1FC6-1769-B426E2792E69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829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685D7E4A-08B9-0BE9-BC9A-B3AC55E8C2A2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088063" y="1231926"/>
            <a:ext cx="5915025" cy="5064100"/>
          </a:xfrm>
          <a:prstGeom prst="roundRect">
            <a:avLst>
              <a:gd name="adj" fmla="val 296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444444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9B5176-F966-DDC5-A0A4-BF45D694E3B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5D5E3F-FD9C-485B-3507-7442B22DF1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3FA985-0821-487D-A191-6E7D8F946C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DD06534-64C4-E300-FCCD-EB77AFD61B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9" y="239395"/>
            <a:ext cx="11555037" cy="92354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84C07A5-74C4-8869-DE4E-53DEC60C15A8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415290" y="1231926"/>
            <a:ext cx="5458968" cy="5092674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/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163F1E0-877E-A432-9978-3988F391E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A08D8A-EEE4-65F7-B17B-52DD5D3BF120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75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5BDCA951-FC46-3C4A-A078-00FE1306F8C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088063" y="194554"/>
            <a:ext cx="5915025" cy="6130046"/>
          </a:xfrm>
          <a:prstGeom prst="roundRect">
            <a:avLst>
              <a:gd name="adj" fmla="val 296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444444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3D3219-16E5-467A-4C40-1EA72D3F308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A246E1-9BAF-BD33-DFE1-276763A421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AF666B-2CC0-7022-D156-CE6F8B50A3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CD8153B-164F-600F-B4A7-6352023499FB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415290" y="1231926"/>
            <a:ext cx="5458968" cy="5092674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/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360CAF4-D1AA-EEAD-CA97-BB1930D8AC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8" y="239394"/>
            <a:ext cx="5458968" cy="92416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E8ADA9B-FB43-D130-8D45-F68B29A95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CF4317E-D70E-0947-090D-5D4DD87B0655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260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 m">
    <p:bg>
      <p:bgPr>
        <a:solidFill>
          <a:srgbClr val="4320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08C39909-D30F-8F76-1C9D-F68AA6988A1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088063" y="1231926"/>
            <a:ext cx="5915025" cy="5083150"/>
          </a:xfrm>
          <a:prstGeom prst="roundRect">
            <a:avLst>
              <a:gd name="adj" fmla="val 296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1049B5D-8AFC-7AE6-ED37-93C226A41A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08762" y="6344586"/>
            <a:ext cx="1446236" cy="51341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48754E5-F634-0564-0FCC-413D7A7D44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0859E16-4A41-5307-77A3-BBDEE7D6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0" y="239395"/>
            <a:ext cx="11587798" cy="92354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CD3CAAB-0715-D122-D1F4-8E925470C520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415290" y="1231926"/>
            <a:ext cx="5458968" cy="5092674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/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6A991-502B-7067-7D83-F8E3A19DDC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9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D36F768-FEAC-C8A2-2942-753277C7D109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570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m">
    <p:bg>
      <p:bgPr>
        <a:solidFill>
          <a:srgbClr val="4320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535CB054-03AB-8D09-6D54-EA035E89BFF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088063" y="194554"/>
            <a:ext cx="5915025" cy="6150032"/>
          </a:xfrm>
          <a:prstGeom prst="roundRect">
            <a:avLst>
              <a:gd name="adj" fmla="val 296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9320B6B-0B8D-F9E9-C0A5-DAE6E102F6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08762" y="6344586"/>
            <a:ext cx="1446236" cy="5134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CDB0C6-7043-6267-7E1F-955E00433C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987" y="311728"/>
            <a:ext cx="76185" cy="623454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F8E3BC6-233B-5DA2-03F6-A62A385684F7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415290" y="1231926"/>
            <a:ext cx="5458968" cy="5092674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100"/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E6888A7-959D-05A8-5D17-ADE674BDA7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8" y="239394"/>
            <a:ext cx="5458968" cy="92416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0788586-CB0B-829F-9EE0-074F0612A9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9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05AA3EA-0D11-B7A7-5EEA-32A33979369E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983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C0E9490-0E1A-1345-4596-F09329A5C4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9571" y="1798064"/>
            <a:ext cx="1142227" cy="1126359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5"/>
                </a:gs>
                <a:gs pos="99000">
                  <a:schemeClr val="accent3"/>
                </a:gs>
              </a:gsLst>
              <a:lin ang="5400000" scaled="1"/>
            </a:gradFill>
          </a:ln>
        </p:spPr>
        <p:txBody>
          <a:bodyPr lIns="0" r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AU" noProof="0"/>
              <a:t>Headshot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AB3EE2E9-F0EB-3209-4A7E-77BFDC2BF507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60369" y="5482097"/>
            <a:ext cx="1335494" cy="181268"/>
          </a:xfrm>
          <a:prstGeom prst="rect">
            <a:avLst/>
          </a:prstGeom>
        </p:spPr>
        <p:txBody>
          <a:bodyPr vert="horz" wrap="none" lIns="91440" tIns="0" rIns="91440" bIns="0" rtlCol="0" anchor="ctr">
            <a:spAutoFit/>
          </a:bodyPr>
          <a:lstStyle>
            <a:lvl1pPr marL="0" indent="0">
              <a:buNone/>
              <a:defRPr lang="en-US" sz="13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First Last Name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41D37730-1675-E2D7-5EFE-B40D3FBE6FAD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660369" y="3369906"/>
            <a:ext cx="420308" cy="161583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50" b="0" i="0" spc="0" baseline="0" dirty="0">
                <a:solidFill>
                  <a:srgbClr val="444444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Title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B04C53A-3C43-8BAE-A053-5A638A73D503}"/>
              </a:ext>
            </a:extLst>
          </p:cNvPr>
          <p:cNvSpPr>
            <a:spLocks noGrp="1"/>
          </p:cNvSpPr>
          <p:nvPr>
            <p:ph type="body" sz="half" idx="27" hasCustomPrompt="1"/>
          </p:nvPr>
        </p:nvSpPr>
        <p:spPr>
          <a:xfrm>
            <a:off x="660369" y="3137003"/>
            <a:ext cx="1335494" cy="181268"/>
          </a:xfrm>
          <a:prstGeom prst="rect">
            <a:avLst/>
          </a:prstGeom>
        </p:spPr>
        <p:txBody>
          <a:bodyPr vert="horz" wrap="none" lIns="91440" tIns="0" rIns="91440" bIns="0" rtlCol="0" anchor="ctr">
            <a:spAutoFit/>
          </a:bodyPr>
          <a:lstStyle>
            <a:lvl1pPr marL="0" indent="0">
              <a:buNone/>
              <a:defRPr lang="en-US" sz="13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First Last Name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3CD9D7E-E0D4-E3C1-BF28-2E2789924255}"/>
              </a:ext>
            </a:extLst>
          </p:cNvPr>
          <p:cNvSpPr>
            <a:spLocks noGrp="1"/>
          </p:cNvSpPr>
          <p:nvPr>
            <p:ph type="body" sz="half" idx="29" hasCustomPrompt="1"/>
          </p:nvPr>
        </p:nvSpPr>
        <p:spPr>
          <a:xfrm>
            <a:off x="2955700" y="5482097"/>
            <a:ext cx="1335494" cy="181268"/>
          </a:xfrm>
          <a:prstGeom prst="rect">
            <a:avLst/>
          </a:prstGeom>
        </p:spPr>
        <p:txBody>
          <a:bodyPr vert="horz" wrap="none" lIns="91440" tIns="0" rIns="91440" bIns="0" rtlCol="0" anchor="ctr">
            <a:spAutoFit/>
          </a:bodyPr>
          <a:lstStyle>
            <a:lvl1pPr marL="0" indent="0">
              <a:buNone/>
              <a:defRPr lang="en-US" sz="13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First Last Name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6E53AD26-C7A0-A745-1DB1-F14C1D345F54}"/>
              </a:ext>
            </a:extLst>
          </p:cNvPr>
          <p:cNvSpPr>
            <a:spLocks noGrp="1"/>
          </p:cNvSpPr>
          <p:nvPr>
            <p:ph type="body" sz="half" idx="31" hasCustomPrompt="1"/>
          </p:nvPr>
        </p:nvSpPr>
        <p:spPr>
          <a:xfrm>
            <a:off x="2955700" y="3137003"/>
            <a:ext cx="1335494" cy="181268"/>
          </a:xfrm>
          <a:prstGeom prst="rect">
            <a:avLst/>
          </a:prstGeom>
        </p:spPr>
        <p:txBody>
          <a:bodyPr vert="horz" wrap="none" lIns="91440" tIns="0" rIns="91440" bIns="0" rtlCol="0" anchor="ctr">
            <a:spAutoFit/>
          </a:bodyPr>
          <a:lstStyle>
            <a:lvl1pPr marL="0" indent="0">
              <a:buNone/>
              <a:defRPr lang="en-US" sz="13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First Last Name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68741090-03AB-05B3-5854-A32F47F1F822}"/>
              </a:ext>
            </a:extLst>
          </p:cNvPr>
          <p:cNvSpPr>
            <a:spLocks noGrp="1"/>
          </p:cNvSpPr>
          <p:nvPr>
            <p:ph type="body" sz="half" idx="33" hasCustomPrompt="1"/>
          </p:nvPr>
        </p:nvSpPr>
        <p:spPr>
          <a:xfrm>
            <a:off x="5245179" y="5482097"/>
            <a:ext cx="1335494" cy="181268"/>
          </a:xfrm>
          <a:prstGeom prst="rect">
            <a:avLst/>
          </a:prstGeom>
        </p:spPr>
        <p:txBody>
          <a:bodyPr vert="horz" wrap="none" lIns="91440" tIns="0" rIns="91440" bIns="0" rtlCol="0" anchor="ctr">
            <a:spAutoFit/>
          </a:bodyPr>
          <a:lstStyle>
            <a:lvl1pPr marL="0" indent="0">
              <a:buNone/>
              <a:defRPr lang="en-US" sz="13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First Last Name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4E83987F-213A-4F10-1B6F-64C605F1D5A6}"/>
              </a:ext>
            </a:extLst>
          </p:cNvPr>
          <p:cNvSpPr>
            <a:spLocks noGrp="1"/>
          </p:cNvSpPr>
          <p:nvPr>
            <p:ph type="body" sz="half" idx="35" hasCustomPrompt="1"/>
          </p:nvPr>
        </p:nvSpPr>
        <p:spPr>
          <a:xfrm>
            <a:off x="5245179" y="3137003"/>
            <a:ext cx="1335494" cy="181268"/>
          </a:xfrm>
          <a:prstGeom prst="rect">
            <a:avLst/>
          </a:prstGeom>
        </p:spPr>
        <p:txBody>
          <a:bodyPr vert="horz" wrap="none" lIns="91440" tIns="0" rIns="91440" bIns="0" rtlCol="0" anchor="ctr">
            <a:spAutoFit/>
          </a:bodyPr>
          <a:lstStyle>
            <a:lvl1pPr marL="0" indent="0">
              <a:buNone/>
              <a:defRPr lang="en-US" sz="13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First Last Name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3D9E151F-E7E0-5163-1284-A1C2F6E1C546}"/>
              </a:ext>
            </a:extLst>
          </p:cNvPr>
          <p:cNvSpPr>
            <a:spLocks noGrp="1"/>
          </p:cNvSpPr>
          <p:nvPr>
            <p:ph type="body" sz="half" idx="37" hasCustomPrompt="1"/>
          </p:nvPr>
        </p:nvSpPr>
        <p:spPr>
          <a:xfrm>
            <a:off x="7540510" y="5482097"/>
            <a:ext cx="1335494" cy="181268"/>
          </a:xfrm>
          <a:prstGeom prst="rect">
            <a:avLst/>
          </a:prstGeom>
        </p:spPr>
        <p:txBody>
          <a:bodyPr vert="horz" wrap="none" lIns="91440" tIns="0" rIns="91440" bIns="0" rtlCol="0" anchor="ctr">
            <a:spAutoFit/>
          </a:bodyPr>
          <a:lstStyle>
            <a:lvl1pPr marL="0" indent="0">
              <a:buNone/>
              <a:defRPr lang="en-US" sz="13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First Last Name</a:t>
            </a:r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9040A3B1-2D15-45D1-C6EA-7D8790FBFF94}"/>
              </a:ext>
            </a:extLst>
          </p:cNvPr>
          <p:cNvSpPr>
            <a:spLocks noGrp="1"/>
          </p:cNvSpPr>
          <p:nvPr>
            <p:ph type="body" sz="half" idx="39" hasCustomPrompt="1"/>
          </p:nvPr>
        </p:nvSpPr>
        <p:spPr>
          <a:xfrm>
            <a:off x="7540510" y="3137003"/>
            <a:ext cx="1335494" cy="181268"/>
          </a:xfrm>
          <a:prstGeom prst="rect">
            <a:avLst/>
          </a:prstGeom>
        </p:spPr>
        <p:txBody>
          <a:bodyPr vert="horz" wrap="none" lIns="91440" tIns="0" rIns="91440" bIns="0" rtlCol="0" anchor="ctr">
            <a:spAutoFit/>
          </a:bodyPr>
          <a:lstStyle>
            <a:lvl1pPr marL="0" indent="0">
              <a:buNone/>
              <a:defRPr lang="en-US" sz="13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First Last Name</a:t>
            </a:r>
          </a:p>
        </p:txBody>
      </p:sp>
      <p:sp>
        <p:nvSpPr>
          <p:cNvPr id="48" name="Text Placeholder 3">
            <a:extLst>
              <a:ext uri="{FF2B5EF4-FFF2-40B4-BE49-F238E27FC236}">
                <a16:creationId xmlns:a16="http://schemas.microsoft.com/office/drawing/2014/main" id="{9C7D0A7E-2DB9-B698-7B02-21BE3C26B0B9}"/>
              </a:ext>
            </a:extLst>
          </p:cNvPr>
          <p:cNvSpPr>
            <a:spLocks noGrp="1"/>
          </p:cNvSpPr>
          <p:nvPr>
            <p:ph type="body" sz="half" idx="41" hasCustomPrompt="1"/>
          </p:nvPr>
        </p:nvSpPr>
        <p:spPr>
          <a:xfrm>
            <a:off x="9816782" y="5482097"/>
            <a:ext cx="1335494" cy="181268"/>
          </a:xfrm>
          <a:prstGeom prst="rect">
            <a:avLst/>
          </a:prstGeom>
        </p:spPr>
        <p:txBody>
          <a:bodyPr vert="horz" wrap="none" lIns="91440" tIns="0" rIns="91440" bIns="0" rtlCol="0" anchor="ctr">
            <a:spAutoFit/>
          </a:bodyPr>
          <a:lstStyle>
            <a:lvl1pPr marL="0" indent="0">
              <a:buNone/>
              <a:defRPr lang="en-US" sz="13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First Last Name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B599ED84-6CC7-F435-108C-459322247C9A}"/>
              </a:ext>
            </a:extLst>
          </p:cNvPr>
          <p:cNvSpPr>
            <a:spLocks noGrp="1"/>
          </p:cNvSpPr>
          <p:nvPr>
            <p:ph type="body" sz="half" idx="43" hasCustomPrompt="1"/>
          </p:nvPr>
        </p:nvSpPr>
        <p:spPr>
          <a:xfrm>
            <a:off x="9816782" y="3137003"/>
            <a:ext cx="1335494" cy="181268"/>
          </a:xfrm>
          <a:prstGeom prst="rect">
            <a:avLst/>
          </a:prstGeom>
        </p:spPr>
        <p:txBody>
          <a:bodyPr vert="horz" wrap="none" lIns="91440" tIns="0" rIns="91440" bIns="0" rtlCol="0" anchor="ctr">
            <a:spAutoFit/>
          </a:bodyPr>
          <a:lstStyle>
            <a:lvl1pPr marL="0" indent="0">
              <a:buNone/>
              <a:defRPr lang="en-US" sz="13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First Last Name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5A4058C8-00FB-9FB2-CEAC-C297D47A1E76}"/>
              </a:ext>
            </a:extLst>
          </p:cNvPr>
          <p:cNvSpPr>
            <a:spLocks noGrp="1"/>
          </p:cNvSpPr>
          <p:nvPr>
            <p:ph type="body" sz="half" idx="44" hasCustomPrompt="1"/>
          </p:nvPr>
        </p:nvSpPr>
        <p:spPr>
          <a:xfrm>
            <a:off x="660369" y="5715000"/>
            <a:ext cx="420308" cy="161583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50" b="0" i="0" spc="0" baseline="0" dirty="0">
                <a:solidFill>
                  <a:srgbClr val="444444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Title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2BF566EA-36B9-0E41-5FCF-65098E40C676}"/>
              </a:ext>
            </a:extLst>
          </p:cNvPr>
          <p:cNvSpPr>
            <a:spLocks noGrp="1"/>
          </p:cNvSpPr>
          <p:nvPr>
            <p:ph type="body" sz="half" idx="45" hasCustomPrompt="1"/>
          </p:nvPr>
        </p:nvSpPr>
        <p:spPr>
          <a:xfrm>
            <a:off x="2955700" y="3369906"/>
            <a:ext cx="420308" cy="161583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50" b="0" i="0" spc="0" baseline="0" dirty="0">
                <a:solidFill>
                  <a:srgbClr val="444444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Title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3158BEB9-5068-3552-AEFC-BDDDCCE72E29}"/>
              </a:ext>
            </a:extLst>
          </p:cNvPr>
          <p:cNvSpPr>
            <a:spLocks noGrp="1"/>
          </p:cNvSpPr>
          <p:nvPr>
            <p:ph type="body" sz="half" idx="46" hasCustomPrompt="1"/>
          </p:nvPr>
        </p:nvSpPr>
        <p:spPr>
          <a:xfrm>
            <a:off x="2955700" y="5715000"/>
            <a:ext cx="420308" cy="161583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50" b="0" i="0" spc="0" baseline="0" dirty="0">
                <a:solidFill>
                  <a:srgbClr val="444444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Title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A0C55AA8-2650-F058-97A0-47CC2835C257}"/>
              </a:ext>
            </a:extLst>
          </p:cNvPr>
          <p:cNvSpPr>
            <a:spLocks noGrp="1"/>
          </p:cNvSpPr>
          <p:nvPr>
            <p:ph type="body" sz="half" idx="47" hasCustomPrompt="1"/>
          </p:nvPr>
        </p:nvSpPr>
        <p:spPr>
          <a:xfrm>
            <a:off x="5245179" y="3369906"/>
            <a:ext cx="420308" cy="161583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50" b="0" i="0" spc="0" baseline="0" dirty="0">
                <a:solidFill>
                  <a:srgbClr val="444444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Title</a:t>
            </a:r>
          </a:p>
        </p:txBody>
      </p:sp>
      <p:sp>
        <p:nvSpPr>
          <p:cNvPr id="55" name="Text Placeholder 3">
            <a:extLst>
              <a:ext uri="{FF2B5EF4-FFF2-40B4-BE49-F238E27FC236}">
                <a16:creationId xmlns:a16="http://schemas.microsoft.com/office/drawing/2014/main" id="{238B812C-1ED0-E923-129C-132B769151AE}"/>
              </a:ext>
            </a:extLst>
          </p:cNvPr>
          <p:cNvSpPr>
            <a:spLocks noGrp="1"/>
          </p:cNvSpPr>
          <p:nvPr>
            <p:ph type="body" sz="half" idx="48" hasCustomPrompt="1"/>
          </p:nvPr>
        </p:nvSpPr>
        <p:spPr>
          <a:xfrm>
            <a:off x="5245179" y="5715000"/>
            <a:ext cx="420308" cy="161583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50" b="0" i="0" spc="0" baseline="0" dirty="0">
                <a:solidFill>
                  <a:srgbClr val="444444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Title</a:t>
            </a:r>
          </a:p>
        </p:txBody>
      </p:sp>
      <p:sp>
        <p:nvSpPr>
          <p:cNvPr id="56" name="Text Placeholder 3">
            <a:extLst>
              <a:ext uri="{FF2B5EF4-FFF2-40B4-BE49-F238E27FC236}">
                <a16:creationId xmlns:a16="http://schemas.microsoft.com/office/drawing/2014/main" id="{40115234-1199-A52C-44BC-022303B9DCD2}"/>
              </a:ext>
            </a:extLst>
          </p:cNvPr>
          <p:cNvSpPr>
            <a:spLocks noGrp="1"/>
          </p:cNvSpPr>
          <p:nvPr>
            <p:ph type="body" sz="half" idx="49" hasCustomPrompt="1"/>
          </p:nvPr>
        </p:nvSpPr>
        <p:spPr>
          <a:xfrm>
            <a:off x="9829800" y="3369906"/>
            <a:ext cx="420308" cy="161583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50" b="0" i="0" spc="0" baseline="0" dirty="0">
                <a:solidFill>
                  <a:srgbClr val="444444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Title</a:t>
            </a:r>
          </a:p>
        </p:txBody>
      </p:sp>
      <p:sp>
        <p:nvSpPr>
          <p:cNvPr id="57" name="Text Placeholder 3">
            <a:extLst>
              <a:ext uri="{FF2B5EF4-FFF2-40B4-BE49-F238E27FC236}">
                <a16:creationId xmlns:a16="http://schemas.microsoft.com/office/drawing/2014/main" id="{CEBFD8C7-FC60-E799-6B9B-ECFDC7E8A826}"/>
              </a:ext>
            </a:extLst>
          </p:cNvPr>
          <p:cNvSpPr>
            <a:spLocks noGrp="1"/>
          </p:cNvSpPr>
          <p:nvPr>
            <p:ph type="body" sz="half" idx="50" hasCustomPrompt="1"/>
          </p:nvPr>
        </p:nvSpPr>
        <p:spPr>
          <a:xfrm>
            <a:off x="9829800" y="5715000"/>
            <a:ext cx="420308" cy="161583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50" b="0" i="0" spc="0" baseline="0" dirty="0">
                <a:solidFill>
                  <a:srgbClr val="444444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Title</a:t>
            </a:r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D8E1894E-87AD-BE0D-3815-B13B533FB79E}"/>
              </a:ext>
            </a:extLst>
          </p:cNvPr>
          <p:cNvSpPr>
            <a:spLocks noGrp="1"/>
          </p:cNvSpPr>
          <p:nvPr>
            <p:ph type="body" sz="half" idx="51" hasCustomPrompt="1"/>
          </p:nvPr>
        </p:nvSpPr>
        <p:spPr>
          <a:xfrm>
            <a:off x="7540510" y="3369906"/>
            <a:ext cx="420308" cy="161583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50" b="0" i="0" spc="0" baseline="0" dirty="0">
                <a:solidFill>
                  <a:srgbClr val="444444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Title</a:t>
            </a:r>
          </a:p>
        </p:txBody>
      </p:sp>
      <p:sp>
        <p:nvSpPr>
          <p:cNvPr id="59" name="Text Placeholder 3">
            <a:extLst>
              <a:ext uri="{FF2B5EF4-FFF2-40B4-BE49-F238E27FC236}">
                <a16:creationId xmlns:a16="http://schemas.microsoft.com/office/drawing/2014/main" id="{2940E2EB-EA3C-5E55-56C9-D70A3BD46E9C}"/>
              </a:ext>
            </a:extLst>
          </p:cNvPr>
          <p:cNvSpPr>
            <a:spLocks noGrp="1"/>
          </p:cNvSpPr>
          <p:nvPr>
            <p:ph type="body" sz="half" idx="52" hasCustomPrompt="1"/>
          </p:nvPr>
        </p:nvSpPr>
        <p:spPr>
          <a:xfrm>
            <a:off x="7540510" y="5715000"/>
            <a:ext cx="420308" cy="161583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050" b="0" i="0" spc="0" baseline="0" dirty="0">
                <a:solidFill>
                  <a:srgbClr val="444444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3B5F72-DB95-6682-6DC4-D696EF6A6F0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0062D3-96BC-8A2A-2CC5-8C34B9A448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359094-AF7E-D5E4-BFEE-E76B98FC11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688471E-B0E7-B958-BEC3-3DDCD9566CDD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3048639" y="1798064"/>
            <a:ext cx="1142227" cy="1126359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5"/>
                </a:gs>
                <a:gs pos="99000">
                  <a:schemeClr val="accent3"/>
                </a:gs>
              </a:gsLst>
              <a:lin ang="5400000" scaled="1"/>
            </a:gradFill>
          </a:ln>
        </p:spPr>
        <p:txBody>
          <a:bodyPr lIns="0" r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AU" noProof="0"/>
              <a:t>Headshot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A51A72F-2C1C-F4F1-D6DC-8B3C2094B723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5319297" y="1798064"/>
            <a:ext cx="1142227" cy="1126359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5"/>
                </a:gs>
                <a:gs pos="99000">
                  <a:schemeClr val="accent3"/>
                </a:gs>
              </a:gsLst>
              <a:lin ang="5400000" scaled="1"/>
            </a:gradFill>
          </a:ln>
        </p:spPr>
        <p:txBody>
          <a:bodyPr lIns="0" r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AU" noProof="0"/>
              <a:t>Headshot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BBF7EE4A-8961-D5AF-B987-46A19BD3910F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7639050" y="1798064"/>
            <a:ext cx="1142227" cy="1126359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5"/>
                </a:gs>
                <a:gs pos="99000">
                  <a:schemeClr val="accent3"/>
                </a:gs>
              </a:gsLst>
              <a:lin ang="5400000" scaled="1"/>
            </a:gradFill>
          </a:ln>
        </p:spPr>
        <p:txBody>
          <a:bodyPr lIns="0" r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AU" noProof="0"/>
              <a:t>Headshot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3BAFD101-6826-9D37-5618-409B724F56C0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9860613" y="1798064"/>
            <a:ext cx="1142227" cy="1126359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5"/>
                </a:gs>
                <a:gs pos="99000">
                  <a:schemeClr val="accent3"/>
                </a:gs>
              </a:gsLst>
              <a:lin ang="5400000" scaled="1"/>
            </a:gradFill>
          </a:ln>
        </p:spPr>
        <p:txBody>
          <a:bodyPr lIns="0" r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AU" noProof="0"/>
              <a:t>Headshot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D0F56565-F18D-96E4-39EE-886E2795AF0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759571" y="4136228"/>
            <a:ext cx="1142227" cy="1126359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5"/>
                </a:gs>
                <a:gs pos="99000">
                  <a:schemeClr val="accent3"/>
                </a:gs>
              </a:gsLst>
              <a:lin ang="5400000" scaled="1"/>
            </a:gradFill>
          </a:ln>
        </p:spPr>
        <p:txBody>
          <a:bodyPr lIns="0" r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AU" noProof="0"/>
              <a:t>Headshot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4ECC89E7-F4BA-3AAF-1549-2EA59343F79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3048639" y="4136228"/>
            <a:ext cx="1142227" cy="1126359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5"/>
                </a:gs>
                <a:gs pos="99000">
                  <a:schemeClr val="accent3"/>
                </a:gs>
              </a:gsLst>
              <a:lin ang="5400000" scaled="1"/>
            </a:gradFill>
          </a:ln>
        </p:spPr>
        <p:txBody>
          <a:bodyPr lIns="0" r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AU" noProof="0"/>
              <a:t>Headshot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C61B459A-00BD-7E44-628B-AE6AAF4D171D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5319297" y="4136228"/>
            <a:ext cx="1142227" cy="1126359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5"/>
                </a:gs>
                <a:gs pos="99000">
                  <a:schemeClr val="accent3"/>
                </a:gs>
              </a:gsLst>
              <a:lin ang="5400000" scaled="1"/>
            </a:gradFill>
          </a:ln>
        </p:spPr>
        <p:txBody>
          <a:bodyPr lIns="0" r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AU" noProof="0"/>
              <a:t>Headshot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237306C5-EC76-F42A-00C3-B7056E9436F3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7639050" y="4136228"/>
            <a:ext cx="1142227" cy="1126359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5"/>
                </a:gs>
                <a:gs pos="99000">
                  <a:schemeClr val="accent3"/>
                </a:gs>
              </a:gsLst>
              <a:lin ang="5400000" scaled="1"/>
            </a:gradFill>
          </a:ln>
        </p:spPr>
        <p:txBody>
          <a:bodyPr lIns="0" r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AU" noProof="0"/>
              <a:t>Headshot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4340BC6F-1A3C-064B-DA63-6EC36F4C5FFF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860613" y="4136228"/>
            <a:ext cx="1142227" cy="1126359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5"/>
                </a:gs>
                <a:gs pos="99000">
                  <a:schemeClr val="accent3"/>
                </a:gs>
              </a:gsLst>
              <a:lin ang="5400000" scaled="1"/>
            </a:gradFill>
          </a:ln>
        </p:spPr>
        <p:txBody>
          <a:bodyPr lIns="0" r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AU" noProof="0"/>
              <a:t>Headshot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6FBB92E-A5AF-5B6B-C632-FD22C58623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0" y="239394"/>
            <a:ext cx="10634472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Team page headline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341C508-60AB-5612-21B7-B50072EB18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9FD9077-C24F-E87A-768D-16B67C32B106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275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s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41D37730-1675-E2D7-5EFE-B40D3FBE6FAD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5883277" y="2639535"/>
            <a:ext cx="420307" cy="161583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050" b="0" i="0" spc="0" baseline="0" dirty="0">
                <a:solidFill>
                  <a:srgbClr val="444444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Title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B04C53A-3C43-8BAE-A053-5A638A73D503}"/>
              </a:ext>
            </a:extLst>
          </p:cNvPr>
          <p:cNvSpPr>
            <a:spLocks noGrp="1"/>
          </p:cNvSpPr>
          <p:nvPr>
            <p:ph type="body" sz="half" idx="27" hasCustomPrompt="1"/>
          </p:nvPr>
        </p:nvSpPr>
        <p:spPr>
          <a:xfrm>
            <a:off x="5425684" y="2406632"/>
            <a:ext cx="1335494" cy="181268"/>
          </a:xfrm>
          <a:prstGeom prst="rect">
            <a:avLst/>
          </a:prstGeom>
        </p:spPr>
        <p:txBody>
          <a:bodyPr vert="horz" wrap="none" lIns="91440" tIns="0" rIns="91440" bIns="0" rtlCol="0" anchor="ctr">
            <a:spAutoFit/>
          </a:bodyPr>
          <a:lstStyle>
            <a:lvl1pPr marL="0" indent="0" algn="ctr">
              <a:buNone/>
              <a:defRPr lang="en-US" sz="13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First Last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3B5F72-DB95-6682-6DC4-D696EF6A6F0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33F04C-E235-7351-1017-B92337ABBF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D25640-B587-BE2F-3015-A4B2D589EC2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3D832484-844E-236E-58CA-E73E1D6948F1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5522316" y="1067693"/>
            <a:ext cx="1142227" cy="1126359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5"/>
                </a:gs>
                <a:gs pos="99000">
                  <a:schemeClr val="accent3"/>
                </a:gs>
              </a:gsLst>
              <a:lin ang="5400000" scaled="1"/>
            </a:gradFill>
          </a:ln>
        </p:spPr>
        <p:txBody>
          <a:bodyPr lIns="0" rIns="0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AU" noProof="0"/>
              <a:t>Headshot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4C2158-8DF3-F0AB-F6E7-564990364D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0" y="239394"/>
            <a:ext cx="10634472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Organisation chart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EDAD5EF-110E-668F-7892-46BCD78395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E7D51F2-BF6B-7FB6-DAF6-24EE096A0774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423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C25C3A7-85EB-7667-97E4-49C1EDC4EA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3D572F1-653C-021D-49A9-8447FF8A969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088063" y="194553"/>
            <a:ext cx="5915025" cy="6149097"/>
          </a:xfrm>
          <a:prstGeom prst="roundRect">
            <a:avLst>
              <a:gd name="adj" fmla="val 296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444444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B72E602-CD2B-B774-08EE-7766DCA3B94C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415289" y="1786071"/>
            <a:ext cx="5458967" cy="4572752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ptos" panose="020B0004020202020204" pitchFamily="34" charset="0"/>
              <a:buChar char="›"/>
              <a:tabLst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6990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742950" indent="-1714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104900" indent="-1714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/>
              <a:defRPr sz="1100"/>
            </a:lvl4pPr>
            <a:lvl5pPr marL="1257300" indent="-112713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/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500" indent="0">
              <a:buNone/>
              <a:tabLst/>
              <a:defRPr sz="8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0728339-AB5B-D192-504A-45B4D9B72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87" y="239394"/>
            <a:ext cx="5465007" cy="92416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Title of the page goes in this space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26A6ADC3-5519-CD0E-6FED-30F47EE4ED4D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20779" y="1229555"/>
            <a:ext cx="5459516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noProof="0"/>
              <a:t>Subtitle goes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4112C36-4E16-44E0-3906-F22F67E51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098764F-F552-9274-4187-707312B1B23A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75583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51BEBCB-F0C2-9980-790E-E9BCD3638CB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26A57D64-D6E6-BB8E-286D-72AD2183E91A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1229085" y="2719997"/>
            <a:ext cx="1303099" cy="184666"/>
          </a:xfrm>
          <a:prstGeom prst="rect">
            <a:avLst/>
          </a:prstGeom>
        </p:spPr>
        <p:txBody>
          <a:bodyPr vert="horz" wrap="square" lIns="91440" tIns="0" rIns="91440" bIns="0" rtlCol="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i="0" spc="0" baseline="0" dirty="0">
                <a:solidFill>
                  <a:schemeClr val="tx2"/>
                </a:solidFill>
                <a:latin typeface="Aptos Light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Text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9C0030F2-9BE5-DB73-3A44-31D03AF391C1}"/>
              </a:ext>
            </a:extLst>
          </p:cNvPr>
          <p:cNvSpPr>
            <a:spLocks noGrp="1"/>
          </p:cNvSpPr>
          <p:nvPr>
            <p:ph type="body" sz="half" idx="27" hasCustomPrompt="1"/>
          </p:nvPr>
        </p:nvSpPr>
        <p:spPr>
          <a:xfrm>
            <a:off x="1234109" y="2458224"/>
            <a:ext cx="1313148" cy="167225"/>
          </a:xfrm>
          <a:prstGeom prst="rect">
            <a:avLst/>
          </a:prstGeom>
        </p:spPr>
        <p:txBody>
          <a:bodyPr vert="horz" wrap="square" lIns="91440" tIns="0" rIns="91440" bIns="0" rtlCol="0" anchor="b">
            <a:spAutoFit/>
          </a:bodyPr>
          <a:lstStyle>
            <a:lvl1pPr marL="0" indent="0">
              <a:buNone/>
              <a:defRPr lang="en-US" sz="1200" b="1" i="0" spc="0" baseline="0" dirty="0">
                <a:solidFill>
                  <a:schemeClr val="accent1"/>
                </a:solidFill>
                <a:latin typeface="Aptos SemiBold" panose="020B0004020202020204" pitchFamily="34" charset="0"/>
                <a:ea typeface="+mj-ea"/>
                <a:cs typeface="+mj-cs"/>
              </a:defRPr>
            </a:lvl1pPr>
          </a:lstStyle>
          <a:p>
            <a:pPr marL="228600" lvl="0" indent="-228600"/>
            <a:r>
              <a:rPr lang="en-AU" noProof="0"/>
              <a:t>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2DDAD5-22C5-421D-39FD-758E58C67A3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812C943-1B9D-B5F1-C38E-F10B0368CA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728"/>
            <a:ext cx="89065" cy="6234545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C983DE-3D2A-98D6-A633-84A263B384D9}"/>
              </a:ext>
            </a:extLst>
          </p:cNvPr>
          <p:cNvCxnSpPr>
            <a:cxnSpLocks/>
          </p:cNvCxnSpPr>
          <p:nvPr userDrawn="1"/>
        </p:nvCxnSpPr>
        <p:spPr>
          <a:xfrm>
            <a:off x="558845" y="4067485"/>
            <a:ext cx="11074310" cy="0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60198911-7941-B53F-62E9-F464ADDBB18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1533" y="6474237"/>
            <a:ext cx="1238794" cy="22909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D3F0845-FE51-E487-FD49-05FC3E2F05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290" y="239394"/>
            <a:ext cx="10634472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>
              <a:lnSpc>
                <a:spcPts val="3240"/>
              </a:lnSpc>
              <a:defRPr lang="en-US" sz="3200" spc="-8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marL="0" lvl="0"/>
            <a:r>
              <a:rPr lang="en-AU" noProof="0"/>
              <a:t>Timeline slide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D3683DB-B0E8-B232-F34B-3E13963BF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  <a:noFill/>
        </p:spPr>
        <p:txBody>
          <a:bodyPr wrap="none" lIns="91440" rIns="91440" rtlCol="0">
            <a:spAutoFit/>
          </a:bodyPr>
          <a:lstStyle>
            <a:lvl1pPr>
              <a:defRPr lang="en-US" sz="1000" b="1" smtClean="0">
                <a:solidFill>
                  <a:schemeClr val="bg2">
                    <a:lumMod val="50000"/>
                  </a:schemeClr>
                </a:solidFill>
                <a:latin typeface="Aptos SemiBold" panose="020B0004020202020204" pitchFamily="34" charset="0"/>
              </a:defRPr>
            </a:lvl1pPr>
          </a:lstStyle>
          <a:p>
            <a:fld id="{0BBDC51F-5D11-B24C-B440-508FFDF318C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681AB8D-AF6A-3624-C8DE-1BFA73ADAD5E}"/>
              </a:ext>
            </a:extLst>
          </p:cNvPr>
          <p:cNvSpPr txBox="1">
            <a:spLocks/>
          </p:cNvSpPr>
          <p:nvPr userDrawn="1"/>
        </p:nvSpPr>
        <p:spPr>
          <a:xfrm>
            <a:off x="320559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723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slideLayout" Target="../slideLayouts/slideLayout71.xml"/><Relationship Id="rId39" Type="http://schemas.openxmlformats.org/officeDocument/2006/relationships/slideLayout" Target="../slideLayouts/slideLayout84.xml"/><Relationship Id="rId21" Type="http://schemas.openxmlformats.org/officeDocument/2006/relationships/slideLayout" Target="../slideLayouts/slideLayout66.xml"/><Relationship Id="rId34" Type="http://schemas.openxmlformats.org/officeDocument/2006/relationships/slideLayout" Target="../slideLayouts/slideLayout79.xml"/><Relationship Id="rId42" Type="http://schemas.openxmlformats.org/officeDocument/2006/relationships/slideLayout" Target="../slideLayouts/slideLayout87.xml"/><Relationship Id="rId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9" Type="http://schemas.openxmlformats.org/officeDocument/2006/relationships/slideLayout" Target="../slideLayouts/slideLayout74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32" Type="http://schemas.openxmlformats.org/officeDocument/2006/relationships/slideLayout" Target="../slideLayouts/slideLayout77.xml"/><Relationship Id="rId37" Type="http://schemas.openxmlformats.org/officeDocument/2006/relationships/slideLayout" Target="../slideLayouts/slideLayout82.xml"/><Relationship Id="rId40" Type="http://schemas.openxmlformats.org/officeDocument/2006/relationships/slideLayout" Target="../slideLayouts/slideLayout85.xml"/><Relationship Id="rId45" Type="http://schemas.openxmlformats.org/officeDocument/2006/relationships/oleObject" Target="../embeddings/oleObject1.bin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73.xml"/><Relationship Id="rId36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31" Type="http://schemas.openxmlformats.org/officeDocument/2006/relationships/slideLayout" Target="../slideLayouts/slideLayout76.xml"/><Relationship Id="rId44" Type="http://schemas.openxmlformats.org/officeDocument/2006/relationships/tags" Target="../tags/tag1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72.xml"/><Relationship Id="rId30" Type="http://schemas.openxmlformats.org/officeDocument/2006/relationships/slideLayout" Target="../slideLayouts/slideLayout75.xml"/><Relationship Id="rId35" Type="http://schemas.openxmlformats.org/officeDocument/2006/relationships/slideLayout" Target="../slideLayouts/slideLayout80.xml"/><Relationship Id="rId43" Type="http://schemas.openxmlformats.org/officeDocument/2006/relationships/theme" Target="../theme/theme2.xml"/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33" Type="http://schemas.openxmlformats.org/officeDocument/2006/relationships/slideLayout" Target="../slideLayouts/slideLayout78.xml"/><Relationship Id="rId38" Type="http://schemas.openxmlformats.org/officeDocument/2006/relationships/slideLayout" Target="../slideLayouts/slideLayout83.xml"/><Relationship Id="rId46" Type="http://schemas.openxmlformats.org/officeDocument/2006/relationships/image" Target="../media/image24.emf"/><Relationship Id="rId20" Type="http://schemas.openxmlformats.org/officeDocument/2006/relationships/slideLayout" Target="../slideLayouts/slideLayout65.xml"/><Relationship Id="rId41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6F0841F-637D-3D8A-509B-69DA47881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966" y="224033"/>
            <a:ext cx="11548872" cy="51206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2C0EFE2-4ED7-693D-0C07-24EC91E33452}"/>
              </a:ext>
            </a:extLst>
          </p:cNvPr>
          <p:cNvSpPr txBox="1">
            <a:spLocks/>
          </p:cNvSpPr>
          <p:nvPr userDrawn="1"/>
        </p:nvSpPr>
        <p:spPr>
          <a:xfrm>
            <a:off x="407647" y="6577241"/>
            <a:ext cx="1937294" cy="215444"/>
          </a:xfrm>
          <a:prstGeom prst="rect">
            <a:avLst/>
          </a:prstGeom>
          <a:noFill/>
        </p:spPr>
        <p:txBody>
          <a:bodyPr wrap="square" lIns="91440" rIns="9144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650" b="1" kern="1200" smtClean="0">
                <a:solidFill>
                  <a:srgbClr val="A9A9A9"/>
                </a:solidFill>
                <a:latin typeface="Aptos SemiBold" panose="020B00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Computershare Distribution Only</a:t>
            </a:r>
            <a:endParaRPr lang="en-AU" sz="800" b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80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</p:sldLayoutIdLst>
  <p:hf hdr="0" ftr="0" dt="0"/>
  <p:txStyles>
    <p:titleStyle>
      <a:lvl1pPr algn="l" defTabSz="914400" rtl="0" eaLnBrk="1" latinLnBrk="0" hangingPunct="1">
        <a:lnSpc>
          <a:spcPts val="3240"/>
        </a:lnSpc>
        <a:spcBef>
          <a:spcPct val="0"/>
        </a:spcBef>
        <a:buNone/>
        <a:defRPr sz="3200" b="0" i="0" kern="1200" spc="-80" baseline="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90000"/>
        </a:lnSpc>
        <a:spcBef>
          <a:spcPts val="1000"/>
        </a:spcBef>
        <a:buSzPct val="110000"/>
        <a:buFont typeface="Aptos" panose="020B00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05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7CD0CBA6-F4B6-A2E5-3D9A-04FAE2DF5D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4520094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5" imgW="347" imgH="348" progId="TCLayout.ActiveDocument.1">
                  <p:embed/>
                </p:oleObj>
              </mc:Choice>
              <mc:Fallback>
                <p:oleObj name="think-cell Slide" r:id="rId45" imgW="347" imgH="34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D0CBA6-F4B6-A2E5-3D9A-04FAE2DF5D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6F0841F-637D-3D8A-509B-69DA47881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966" y="224033"/>
            <a:ext cx="11548872" cy="512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7701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  <p:sldLayoutId id="2147483767" r:id="rId18"/>
    <p:sldLayoutId id="2147483768" r:id="rId19"/>
    <p:sldLayoutId id="2147483769" r:id="rId20"/>
    <p:sldLayoutId id="2147483770" r:id="rId21"/>
    <p:sldLayoutId id="2147483771" r:id="rId22"/>
    <p:sldLayoutId id="2147483772" r:id="rId23"/>
    <p:sldLayoutId id="2147483773" r:id="rId24"/>
    <p:sldLayoutId id="2147483774" r:id="rId25"/>
    <p:sldLayoutId id="2147483775" r:id="rId26"/>
    <p:sldLayoutId id="2147483776" r:id="rId27"/>
    <p:sldLayoutId id="2147483777" r:id="rId28"/>
    <p:sldLayoutId id="2147483778" r:id="rId29"/>
    <p:sldLayoutId id="2147483779" r:id="rId30"/>
    <p:sldLayoutId id="2147483780" r:id="rId31"/>
    <p:sldLayoutId id="2147483781" r:id="rId32"/>
    <p:sldLayoutId id="2147483782" r:id="rId33"/>
    <p:sldLayoutId id="2147483783" r:id="rId34"/>
    <p:sldLayoutId id="2147483784" r:id="rId35"/>
    <p:sldLayoutId id="2147483785" r:id="rId36"/>
    <p:sldLayoutId id="2147483786" r:id="rId37"/>
    <p:sldLayoutId id="2147483787" r:id="rId38"/>
    <p:sldLayoutId id="2147483788" r:id="rId39"/>
    <p:sldLayoutId id="2147483789" r:id="rId40"/>
    <p:sldLayoutId id="2147483790" r:id="rId41"/>
    <p:sldLayoutId id="2147483791" r:id="rId42"/>
  </p:sldLayoutIdLst>
  <p:hf hdr="0" ftr="0" dt="0"/>
  <p:txStyles>
    <p:titleStyle>
      <a:lvl1pPr algn="l" defTabSz="914400" rtl="0" eaLnBrk="1" latinLnBrk="0" hangingPunct="1">
        <a:lnSpc>
          <a:spcPts val="3240"/>
        </a:lnSpc>
        <a:spcBef>
          <a:spcPct val="0"/>
        </a:spcBef>
        <a:buNone/>
        <a:defRPr sz="3200" b="0" i="0" kern="1200" spc="-80" baseline="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90000"/>
        </a:lnSpc>
        <a:spcBef>
          <a:spcPts val="1000"/>
        </a:spcBef>
        <a:buSzPct val="110000"/>
        <a:buFont typeface="Aptos" panose="020B00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05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4.xml"/><Relationship Id="rId6" Type="http://schemas.openxmlformats.org/officeDocument/2006/relationships/image" Target="../media/image37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47.jpe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1.svg"/><Relationship Id="rId12" Type="http://schemas.openxmlformats.org/officeDocument/2006/relationships/image" Target="../media/image46.sv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2.xml"/><Relationship Id="rId6" Type="http://schemas.openxmlformats.org/officeDocument/2006/relationships/image" Target="../media/image40.svg"/><Relationship Id="rId11" Type="http://schemas.openxmlformats.org/officeDocument/2006/relationships/image" Target="../media/image45.svg"/><Relationship Id="rId5" Type="http://schemas.openxmlformats.org/officeDocument/2006/relationships/image" Target="../media/image24.emf"/><Relationship Id="rId10" Type="http://schemas.openxmlformats.org/officeDocument/2006/relationships/image" Target="../media/image44.svg"/><Relationship Id="rId4" Type="http://schemas.openxmlformats.org/officeDocument/2006/relationships/oleObject" Target="../embeddings/oleObject2.bin"/><Relationship Id="rId9" Type="http://schemas.openxmlformats.org/officeDocument/2006/relationships/image" Target="../media/image4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42.svg"/><Relationship Id="rId7" Type="http://schemas.openxmlformats.org/officeDocument/2006/relationships/image" Target="../media/image5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4.xml"/><Relationship Id="rId6" Type="http://schemas.openxmlformats.org/officeDocument/2006/relationships/image" Target="../media/image49.svg"/><Relationship Id="rId5" Type="http://schemas.openxmlformats.org/officeDocument/2006/relationships/image" Target="../media/image44.svg"/><Relationship Id="rId4" Type="http://schemas.openxmlformats.org/officeDocument/2006/relationships/image" Target="../media/image4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13" Type="http://schemas.openxmlformats.org/officeDocument/2006/relationships/image" Target="../media/image55.svg"/><Relationship Id="rId18" Type="http://schemas.openxmlformats.org/officeDocument/2006/relationships/image" Target="../media/image60.svg"/><Relationship Id="rId3" Type="http://schemas.openxmlformats.org/officeDocument/2006/relationships/image" Target="../media/image51.svg"/><Relationship Id="rId21" Type="http://schemas.openxmlformats.org/officeDocument/2006/relationships/image" Target="../media/image63.svg"/><Relationship Id="rId7" Type="http://schemas.openxmlformats.org/officeDocument/2006/relationships/image" Target="../media/image44.svg"/><Relationship Id="rId12" Type="http://schemas.openxmlformats.org/officeDocument/2006/relationships/image" Target="../media/image54.png"/><Relationship Id="rId17" Type="http://schemas.openxmlformats.org/officeDocument/2006/relationships/image" Target="../media/image59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8.sv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5.svg"/><Relationship Id="rId11" Type="http://schemas.openxmlformats.org/officeDocument/2006/relationships/image" Target="../media/image40.svg"/><Relationship Id="rId5" Type="http://schemas.openxmlformats.org/officeDocument/2006/relationships/image" Target="../media/image52.svg"/><Relationship Id="rId15" Type="http://schemas.openxmlformats.org/officeDocument/2006/relationships/image" Target="../media/image57.svg"/><Relationship Id="rId10" Type="http://schemas.openxmlformats.org/officeDocument/2006/relationships/image" Target="../media/image42.svg"/><Relationship Id="rId19" Type="http://schemas.openxmlformats.org/officeDocument/2006/relationships/image" Target="../media/image61.svg"/><Relationship Id="rId4" Type="http://schemas.openxmlformats.org/officeDocument/2006/relationships/image" Target="../media/image43.svg"/><Relationship Id="rId9" Type="http://schemas.openxmlformats.org/officeDocument/2006/relationships/image" Target="../media/image53.svg"/><Relationship Id="rId14" Type="http://schemas.openxmlformats.org/officeDocument/2006/relationships/image" Target="../media/image5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sv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5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7.pn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4.xml"/><Relationship Id="rId6" Type="http://schemas.openxmlformats.org/officeDocument/2006/relationships/image" Target="../media/image69.svg"/><Relationship Id="rId11" Type="http://schemas.openxmlformats.org/officeDocument/2006/relationships/image" Target="../media/image72.svg"/><Relationship Id="rId5" Type="http://schemas.openxmlformats.org/officeDocument/2006/relationships/image" Target="../media/image68.svg"/><Relationship Id="rId10" Type="http://schemas.openxmlformats.org/officeDocument/2006/relationships/image" Target="../media/image71.svg"/><Relationship Id="rId4" Type="http://schemas.microsoft.com/office/2007/relationships/hdphoto" Target="../media/hdphoto1.wdp"/><Relationship Id="rId9" Type="http://schemas.microsoft.com/office/2007/relationships/hdphoto" Target="../media/hdphoto2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tiff"/><Relationship Id="rId3" Type="http://schemas.openxmlformats.org/officeDocument/2006/relationships/image" Target="../media/image73.tiff"/><Relationship Id="rId7" Type="http://schemas.openxmlformats.org/officeDocument/2006/relationships/image" Target="../media/image77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76.tiff"/><Relationship Id="rId5" Type="http://schemas.openxmlformats.org/officeDocument/2006/relationships/image" Target="../media/image75.tiff"/><Relationship Id="rId4" Type="http://schemas.openxmlformats.org/officeDocument/2006/relationships/image" Target="../media/image74.tif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png"/><Relationship Id="rId3" Type="http://schemas.openxmlformats.org/officeDocument/2006/relationships/image" Target="../media/image79.tiff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82.tiff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5" Type="http://schemas.openxmlformats.org/officeDocument/2006/relationships/image" Target="../media/image9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Relationship Id="rId14" Type="http://schemas.openxmlformats.org/officeDocument/2006/relationships/image" Target="../media/image9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2.png"/><Relationship Id="rId18" Type="http://schemas.microsoft.com/office/2007/relationships/hdphoto" Target="../media/hdphoto3.wdp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17" Type="http://schemas.openxmlformats.org/officeDocument/2006/relationships/image" Target="../media/image106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05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5" Type="http://schemas.openxmlformats.org/officeDocument/2006/relationships/image" Target="../media/image104.png"/><Relationship Id="rId10" Type="http://schemas.openxmlformats.org/officeDocument/2006/relationships/image" Target="../media/image99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Relationship Id="rId14" Type="http://schemas.openxmlformats.org/officeDocument/2006/relationships/image" Target="../media/image10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64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11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11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7.pn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4.xml"/><Relationship Id="rId6" Type="http://schemas.openxmlformats.org/officeDocument/2006/relationships/image" Target="../media/image69.svg"/><Relationship Id="rId11" Type="http://schemas.openxmlformats.org/officeDocument/2006/relationships/image" Target="../media/image72.svg"/><Relationship Id="rId5" Type="http://schemas.openxmlformats.org/officeDocument/2006/relationships/image" Target="../media/image68.svg"/><Relationship Id="rId10" Type="http://schemas.openxmlformats.org/officeDocument/2006/relationships/image" Target="../media/image71.svg"/><Relationship Id="rId4" Type="http://schemas.microsoft.com/office/2007/relationships/hdphoto" Target="../media/hdphoto1.wdp"/><Relationship Id="rId9" Type="http://schemas.microsoft.com/office/2007/relationships/hdphoto" Target="../media/hdphoto2.wdp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42.svg"/><Relationship Id="rId7" Type="http://schemas.openxmlformats.org/officeDocument/2006/relationships/image" Target="../media/image50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4.xml"/><Relationship Id="rId6" Type="http://schemas.openxmlformats.org/officeDocument/2006/relationships/image" Target="../media/image49.svg"/><Relationship Id="rId5" Type="http://schemas.openxmlformats.org/officeDocument/2006/relationships/image" Target="../media/image44.svg"/><Relationship Id="rId4" Type="http://schemas.openxmlformats.org/officeDocument/2006/relationships/image" Target="../media/image48.sv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13" Type="http://schemas.openxmlformats.org/officeDocument/2006/relationships/image" Target="../media/image54.png"/><Relationship Id="rId18" Type="http://schemas.openxmlformats.org/officeDocument/2006/relationships/image" Target="../media/image59.svg"/><Relationship Id="rId3" Type="http://schemas.openxmlformats.org/officeDocument/2006/relationships/image" Target="../media/image116.svg"/><Relationship Id="rId21" Type="http://schemas.openxmlformats.org/officeDocument/2006/relationships/image" Target="../media/image119.png"/><Relationship Id="rId7" Type="http://schemas.openxmlformats.org/officeDocument/2006/relationships/image" Target="../media/image45.svg"/><Relationship Id="rId12" Type="http://schemas.openxmlformats.org/officeDocument/2006/relationships/image" Target="../media/image40.svg"/><Relationship Id="rId17" Type="http://schemas.openxmlformats.org/officeDocument/2006/relationships/image" Target="../media/image58.sv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57.svg"/><Relationship Id="rId20" Type="http://schemas.openxmlformats.org/officeDocument/2006/relationships/image" Target="../media/image118.sv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2.svg"/><Relationship Id="rId11" Type="http://schemas.openxmlformats.org/officeDocument/2006/relationships/image" Target="../media/image42.svg"/><Relationship Id="rId5" Type="http://schemas.openxmlformats.org/officeDocument/2006/relationships/image" Target="../media/image43.svg"/><Relationship Id="rId15" Type="http://schemas.openxmlformats.org/officeDocument/2006/relationships/image" Target="../media/image56.png"/><Relationship Id="rId10" Type="http://schemas.openxmlformats.org/officeDocument/2006/relationships/image" Target="../media/image117.svg"/><Relationship Id="rId19" Type="http://schemas.openxmlformats.org/officeDocument/2006/relationships/image" Target="../media/image60.svg"/><Relationship Id="rId4" Type="http://schemas.openxmlformats.org/officeDocument/2006/relationships/image" Target="../media/image51.svg"/><Relationship Id="rId9" Type="http://schemas.openxmlformats.org/officeDocument/2006/relationships/image" Target="../media/image46.svg"/><Relationship Id="rId14" Type="http://schemas.openxmlformats.org/officeDocument/2006/relationships/image" Target="../media/image55.svg"/><Relationship Id="rId22" Type="http://schemas.openxmlformats.org/officeDocument/2006/relationships/image" Target="../media/image12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13" Type="http://schemas.openxmlformats.org/officeDocument/2006/relationships/image" Target="../media/image55.svg"/><Relationship Id="rId18" Type="http://schemas.openxmlformats.org/officeDocument/2006/relationships/image" Target="../media/image60.svg"/><Relationship Id="rId3" Type="http://schemas.openxmlformats.org/officeDocument/2006/relationships/image" Target="../media/image51.svg"/><Relationship Id="rId7" Type="http://schemas.openxmlformats.org/officeDocument/2006/relationships/image" Target="../media/image44.svg"/><Relationship Id="rId12" Type="http://schemas.openxmlformats.org/officeDocument/2006/relationships/image" Target="../media/image54.png"/><Relationship Id="rId17" Type="http://schemas.openxmlformats.org/officeDocument/2006/relationships/image" Target="../media/image59.sv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58.sv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5.svg"/><Relationship Id="rId11" Type="http://schemas.openxmlformats.org/officeDocument/2006/relationships/image" Target="../media/image40.svg"/><Relationship Id="rId5" Type="http://schemas.openxmlformats.org/officeDocument/2006/relationships/image" Target="../media/image52.svg"/><Relationship Id="rId15" Type="http://schemas.openxmlformats.org/officeDocument/2006/relationships/image" Target="../media/image57.svg"/><Relationship Id="rId10" Type="http://schemas.openxmlformats.org/officeDocument/2006/relationships/image" Target="../media/image42.svg"/><Relationship Id="rId19" Type="http://schemas.openxmlformats.org/officeDocument/2006/relationships/image" Target="../media/image121.svg"/><Relationship Id="rId4" Type="http://schemas.openxmlformats.org/officeDocument/2006/relationships/image" Target="../media/image43.svg"/><Relationship Id="rId9" Type="http://schemas.openxmlformats.org/officeDocument/2006/relationships/image" Target="../media/image53.svg"/><Relationship Id="rId14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13" Type="http://schemas.openxmlformats.org/officeDocument/2006/relationships/image" Target="../media/image55.svg"/><Relationship Id="rId18" Type="http://schemas.openxmlformats.org/officeDocument/2006/relationships/image" Target="../media/image60.svg"/><Relationship Id="rId3" Type="http://schemas.openxmlformats.org/officeDocument/2006/relationships/image" Target="../media/image51.svg"/><Relationship Id="rId21" Type="http://schemas.openxmlformats.org/officeDocument/2006/relationships/image" Target="../media/image63.svg"/><Relationship Id="rId7" Type="http://schemas.openxmlformats.org/officeDocument/2006/relationships/image" Target="../media/image44.svg"/><Relationship Id="rId12" Type="http://schemas.openxmlformats.org/officeDocument/2006/relationships/image" Target="../media/image54.png"/><Relationship Id="rId17" Type="http://schemas.openxmlformats.org/officeDocument/2006/relationships/image" Target="../media/image59.sv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58.sv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5.svg"/><Relationship Id="rId11" Type="http://schemas.openxmlformats.org/officeDocument/2006/relationships/image" Target="../media/image40.svg"/><Relationship Id="rId5" Type="http://schemas.openxmlformats.org/officeDocument/2006/relationships/image" Target="../media/image52.svg"/><Relationship Id="rId15" Type="http://schemas.openxmlformats.org/officeDocument/2006/relationships/image" Target="../media/image57.svg"/><Relationship Id="rId10" Type="http://schemas.openxmlformats.org/officeDocument/2006/relationships/image" Target="../media/image42.svg"/><Relationship Id="rId19" Type="http://schemas.openxmlformats.org/officeDocument/2006/relationships/image" Target="../media/image61.svg"/><Relationship Id="rId4" Type="http://schemas.openxmlformats.org/officeDocument/2006/relationships/image" Target="../media/image43.svg"/><Relationship Id="rId9" Type="http://schemas.openxmlformats.org/officeDocument/2006/relationships/image" Target="../media/image53.svg"/><Relationship Id="rId14" Type="http://schemas.openxmlformats.org/officeDocument/2006/relationships/image" Target="../media/image5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4.xml"/><Relationship Id="rId6" Type="http://schemas.openxmlformats.org/officeDocument/2006/relationships/image" Target="../media/image125.svg"/><Relationship Id="rId5" Type="http://schemas.openxmlformats.org/officeDocument/2006/relationships/image" Target="../media/image124.svg"/><Relationship Id="rId4" Type="http://schemas.openxmlformats.org/officeDocument/2006/relationships/image" Target="../media/image123.sv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5"/>
          </p:nvPr>
        </p:nvSpPr>
        <p:spPr>
          <a:xfrm>
            <a:off x="502920" y="3932777"/>
            <a:ext cx="1565750" cy="759182"/>
          </a:xfrm>
        </p:spPr>
        <p:txBody>
          <a:bodyPr/>
          <a:lstStyle/>
          <a:p>
            <a:r>
              <a:t>Jan 26</a:t>
            </a:r>
            <a:r>
              <a:rPr lang="en-GB"/>
              <a:t>,</a:t>
            </a:r>
            <a:r>
              <a:t> 2026</a:t>
            </a:r>
          </a:p>
          <a:p>
            <a:endParaRPr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02921" y="1909136"/>
            <a:ext cx="5947575" cy="1481752"/>
          </a:xfrm>
        </p:spPr>
        <p:txBody>
          <a:bodyPr/>
          <a:lstStyle/>
          <a:p>
            <a:r>
              <a:rPr lang="en-US"/>
              <a:t>Tungsten Phase 2</a:t>
            </a:r>
            <a:br>
              <a:rPr lang="en-US"/>
            </a:br>
            <a:r>
              <a:rPr lang="en-US"/>
              <a:t>Pilot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1C2D5-E9A7-6852-29A9-F1772479E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9F1E5AE-3EBB-776A-6322-8336B2DE24C6}"/>
              </a:ext>
            </a:extLst>
          </p:cNvPr>
          <p:cNvSpPr/>
          <p:nvPr/>
        </p:nvSpPr>
        <p:spPr>
          <a:xfrm>
            <a:off x="6704235" y="401402"/>
            <a:ext cx="5129349" cy="6031295"/>
          </a:xfrm>
          <a:prstGeom prst="rect">
            <a:avLst/>
          </a:prstGeom>
          <a:solidFill>
            <a:schemeClr val="accent1">
              <a:lumMod val="20000"/>
              <a:lumOff val="80000"/>
              <a:alpha val="21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1100" b="1" u="sng">
                <a:solidFill>
                  <a:srgbClr val="93186C"/>
                </a:solidFill>
                <a:latin typeface="Aptos" panose="020B0004020202020204" pitchFamily="34" charset="0"/>
              </a:rPr>
              <a:t>Goal</a:t>
            </a:r>
          </a:p>
          <a:p>
            <a:pPr lvl="0">
              <a:defRPr/>
            </a:pP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Minimize manual work in Account Recordkeeping by automating the </a:t>
            </a:r>
            <a:r>
              <a:rPr lang="en-US" sz="1100" b="1">
                <a:solidFill>
                  <a:srgbClr val="444444"/>
                </a:solidFill>
                <a:latin typeface="Aptos" panose="020B0004020202020204" pitchFamily="34" charset="0"/>
              </a:rPr>
              <a:t>classification &amp;</a:t>
            </a: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 </a:t>
            </a:r>
            <a:r>
              <a:rPr lang="en-US" sz="1100" b="1">
                <a:solidFill>
                  <a:srgbClr val="444444"/>
                </a:solidFill>
                <a:latin typeface="Aptos" panose="020B0004020202020204" pitchFamily="34" charset="0"/>
              </a:rPr>
              <a:t>processing</a:t>
            </a: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 of incoming transactions using the new Document Scanning Platform – </a:t>
            </a:r>
            <a:r>
              <a:rPr lang="en-US" sz="1100" b="1">
                <a:solidFill>
                  <a:srgbClr val="444444"/>
                </a:solidFill>
                <a:latin typeface="Aptos" panose="020B0004020202020204" pitchFamily="34" charset="0"/>
              </a:rPr>
              <a:t>Tungsten Total Agility (TTA)</a:t>
            </a:r>
          </a:p>
          <a:p>
            <a:pPr lvl="0">
              <a:defRPr/>
            </a:pP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​</a:t>
            </a:r>
          </a:p>
          <a:p>
            <a:pPr lvl="0">
              <a:defRPr/>
            </a:pPr>
            <a:r>
              <a:rPr lang="en-US" sz="1100" b="1" u="sng">
                <a:solidFill>
                  <a:srgbClr val="93186C"/>
                </a:solidFill>
                <a:latin typeface="Aptos" panose="020B0004020202020204" pitchFamily="34" charset="0"/>
              </a:rPr>
              <a:t>Objective</a:t>
            </a:r>
            <a:endParaRPr lang="en-US" sz="1100" u="sng">
              <a:solidFill>
                <a:srgbClr val="93186C"/>
              </a:solidFill>
              <a:latin typeface="Aptos" panose="020B0004020202020204" pitchFamily="34" charset="0"/>
            </a:endParaRPr>
          </a:p>
          <a:p>
            <a:pPr lvl="0">
              <a:defRPr/>
            </a:pP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Classifying &amp; converting extracted data into the format needed for the current </a:t>
            </a:r>
            <a:r>
              <a:rPr lang="en-US" sz="1100" b="1">
                <a:solidFill>
                  <a:srgbClr val="444444"/>
                </a:solidFill>
                <a:latin typeface="Aptos" panose="020B0004020202020204" pitchFamily="34" charset="0"/>
              </a:rPr>
              <a:t>SRIPCOMMs</a:t>
            </a: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 and </a:t>
            </a:r>
            <a:r>
              <a:rPr lang="en-US" sz="1100" b="1">
                <a:solidFill>
                  <a:srgbClr val="444444"/>
                </a:solidFill>
                <a:latin typeface="Aptos" panose="020B0004020202020204" pitchFamily="34" charset="0"/>
              </a:rPr>
              <a:t>Workflow automation</a:t>
            </a: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.</a:t>
            </a:r>
          </a:p>
          <a:p>
            <a:pPr lvl="0">
              <a:defRPr/>
            </a:pP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​</a:t>
            </a:r>
          </a:p>
          <a:p>
            <a:pPr lvl="0">
              <a:defRPr/>
            </a:pPr>
            <a:r>
              <a:rPr lang="en-US" sz="1100" b="1" u="sng">
                <a:solidFill>
                  <a:srgbClr val="93186C"/>
                </a:solidFill>
                <a:latin typeface="Aptos" panose="020B0004020202020204" pitchFamily="34" charset="0"/>
              </a:rPr>
              <a:t>Scope</a:t>
            </a:r>
            <a:endParaRPr lang="en-US" sz="1100" b="1">
              <a:solidFill>
                <a:srgbClr val="444444"/>
              </a:solidFill>
              <a:latin typeface="Aptos" panose="020B0004020202020204" pitchFamily="34" charset="0"/>
            </a:endParaRPr>
          </a:p>
          <a:p>
            <a:pPr marL="347472" lvl="0" indent="-347472">
              <a:buFont typeface="Arial" panose="020B0604020202020204" pitchFamily="34" charset="0"/>
              <a:buChar char="•"/>
              <a:defRPr/>
            </a:pPr>
            <a:r>
              <a:rPr lang="en-US" sz="1100" b="1">
                <a:solidFill>
                  <a:srgbClr val="444444"/>
                </a:solidFill>
                <a:latin typeface="Aptos" panose="020B0004020202020204" pitchFamily="34" charset="0"/>
              </a:rPr>
              <a:t>90% of Account Recordkeeping Transactions </a:t>
            </a: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are in Scope for this phase, broken into 6 Processing Tranches &amp; 1 Classification Tranche.</a:t>
            </a:r>
          </a:p>
          <a:p>
            <a:pPr marL="347472" lvl="0" indent="-347472">
              <a:buFont typeface="Arial" panose="020B0604020202020204" pitchFamily="34" charset="0"/>
              <a:buChar char="•"/>
              <a:defRPr/>
            </a:pPr>
            <a:endParaRPr lang="en-US" sz="1100">
              <a:solidFill>
                <a:srgbClr val="444444"/>
              </a:solidFill>
              <a:latin typeface="Aptos" panose="020B0004020202020204" pitchFamily="34" charset="0"/>
            </a:endParaRPr>
          </a:p>
          <a:p>
            <a:pPr marL="347472" lvl="0" indent="-347472">
              <a:buFont typeface="Arial" panose="020B0604020202020204" pitchFamily="34" charset="0"/>
              <a:buChar char="•"/>
              <a:defRPr/>
            </a:pP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First 5 tranches focus will be on simple &amp; medium complexity transactions to maximize speed to production &amp; benefits realization</a:t>
            </a:r>
          </a:p>
          <a:p>
            <a:pPr marL="347472" lvl="0" indent="-347472">
              <a:buFont typeface="Arial" panose="020B0604020202020204" pitchFamily="34" charset="0"/>
              <a:buChar char="•"/>
              <a:defRPr/>
            </a:pPr>
            <a:endParaRPr lang="en-US" sz="1100">
              <a:solidFill>
                <a:srgbClr val="444444"/>
              </a:solidFill>
              <a:latin typeface="Aptos" panose="020B0004020202020204" pitchFamily="34" charset="0"/>
            </a:endParaRPr>
          </a:p>
          <a:p>
            <a:pPr marL="347472" lvl="0" indent="-347472">
              <a:buFont typeface="Arial" panose="020B0604020202020204" pitchFamily="34" charset="0"/>
              <a:buChar char="•"/>
              <a:defRPr/>
            </a:pP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Tranche 6 focuses on complex transactions, primarily Transfers</a:t>
            </a:r>
          </a:p>
          <a:p>
            <a:pPr marL="804672" lvl="1" indent="-347472">
              <a:buFont typeface="Arial" panose="020B0604020202020204" pitchFamily="34" charset="0"/>
              <a:buChar char="•"/>
            </a:pPr>
            <a:endParaRPr lang="en-US" sz="1100">
              <a:solidFill>
                <a:srgbClr val="444444"/>
              </a:solidFill>
              <a:latin typeface="Aptos" panose="020B0004020202020204" pitchFamily="34" charset="0"/>
            </a:endParaRPr>
          </a:p>
          <a:p>
            <a:pPr marL="804672" lvl="1" indent="-347472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Tranche 1 = 9% of Volume</a:t>
            </a:r>
          </a:p>
          <a:p>
            <a:pPr marL="804672" lvl="1" indent="-347472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Tranche 2 = 18% of Volume</a:t>
            </a:r>
          </a:p>
          <a:p>
            <a:pPr marL="804672" lvl="1" indent="-347472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Tranche 3 = 10% of Volume</a:t>
            </a:r>
          </a:p>
          <a:p>
            <a:pPr marL="804672" lvl="1" indent="-347472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Tranche 4 = 7% of Volume</a:t>
            </a:r>
          </a:p>
          <a:p>
            <a:pPr marL="804672" lvl="1" indent="-347472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Tranche 5 = 4% of Volume</a:t>
            </a:r>
          </a:p>
          <a:p>
            <a:pPr marL="804672" lvl="1" indent="-347472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Tranche 6 = 40% of Volume (Transfers)</a:t>
            </a:r>
          </a:p>
          <a:p>
            <a:pPr marL="804672" lvl="1" indent="-347472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Classification Tranche = 90% of Classification Volume</a:t>
            </a:r>
          </a:p>
          <a:p>
            <a:pPr lvl="1"/>
            <a:endParaRPr lang="en-US" sz="1100">
              <a:solidFill>
                <a:srgbClr val="444444"/>
              </a:solidFill>
              <a:latin typeface="Aptos" panose="020B0004020202020204" pitchFamily="34" charset="0"/>
            </a:endParaRPr>
          </a:p>
          <a:p>
            <a:pPr lvl="0">
              <a:defRPr/>
            </a:pPr>
            <a:r>
              <a:rPr lang="en-US" sz="1100" b="1" u="sng">
                <a:solidFill>
                  <a:srgbClr val="93186C"/>
                </a:solidFill>
                <a:latin typeface="Aptos" panose="020B0004020202020204" pitchFamily="34" charset="0"/>
              </a:rPr>
              <a:t>Targeted Benefits</a:t>
            </a:r>
            <a:endParaRPr lang="en-US" sz="1100" u="sng">
              <a:solidFill>
                <a:srgbClr val="93186C"/>
              </a:solidFill>
              <a:latin typeface="Aptos" panose="020B0004020202020204" pitchFamily="34" charset="0"/>
            </a:endParaRPr>
          </a:p>
          <a:p>
            <a:pPr marL="347472" lvl="0" indent="-347472">
              <a:buFont typeface="Arial" panose="020B0604020202020204" pitchFamily="34" charset="0"/>
              <a:buChar char="•"/>
              <a:defRPr/>
            </a:pP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Overall Goal to achieve a </a:t>
            </a:r>
            <a:r>
              <a:rPr lang="en-US" sz="1100" b="1">
                <a:solidFill>
                  <a:srgbClr val="444444"/>
                </a:solidFill>
                <a:latin typeface="Aptos" panose="020B0004020202020204" pitchFamily="34" charset="0"/>
              </a:rPr>
              <a:t>50-75% reduction</a:t>
            </a: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 in manual effort for the AR team:</a:t>
            </a:r>
          </a:p>
          <a:p>
            <a:pPr marL="804672" lvl="1" indent="-347472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Cost Benefit = </a:t>
            </a:r>
            <a:r>
              <a:rPr lang="en-US" sz="1100" b="1">
                <a:solidFill>
                  <a:schemeClr val="accent1"/>
                </a:solidFill>
                <a:latin typeface="Aptos" panose="020B0004020202020204" pitchFamily="34" charset="0"/>
              </a:rPr>
              <a:t>$2.3m - $3.4m</a:t>
            </a:r>
            <a:r>
              <a:rPr lang="en-US" sz="110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in the US</a:t>
            </a:r>
          </a:p>
          <a:p>
            <a:pPr marL="347472" indent="-347472">
              <a:buFont typeface="Arial" panose="020B0604020202020204" pitchFamily="34" charset="0"/>
              <a:buChar char="•"/>
            </a:pPr>
            <a:endParaRPr lang="en-US" sz="1100">
              <a:solidFill>
                <a:srgbClr val="444444"/>
              </a:solidFill>
              <a:latin typeface="Aptos" panose="020B0004020202020204" pitchFamily="34" charset="0"/>
            </a:endParaRPr>
          </a:p>
          <a:p>
            <a:pPr marL="347472" indent="-347472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 Benefits will be delivered incrementally beginning in May 2026</a:t>
            </a:r>
          </a:p>
          <a:p>
            <a:pPr marL="804672" lvl="1" indent="-347472"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rgbClr val="444444"/>
                </a:solidFill>
                <a:latin typeface="Aptos" panose="020B0004020202020204" pitchFamily="34" charset="0"/>
              </a:rPr>
              <a:t>Deliver 50% </a:t>
            </a: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of Benefit by </a:t>
            </a:r>
            <a:r>
              <a:rPr lang="en-US" sz="1100" b="1">
                <a:solidFill>
                  <a:srgbClr val="444444"/>
                </a:solidFill>
                <a:latin typeface="Aptos" panose="020B0004020202020204" pitchFamily="34" charset="0"/>
              </a:rPr>
              <a:t>August</a:t>
            </a: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 </a:t>
            </a:r>
            <a:r>
              <a:rPr lang="en-US" sz="1100" b="1">
                <a:solidFill>
                  <a:srgbClr val="444444"/>
                </a:solidFill>
                <a:latin typeface="Aptos" panose="020B0004020202020204" pitchFamily="34" charset="0"/>
              </a:rPr>
              <a:t>2026 = </a:t>
            </a:r>
            <a:r>
              <a:rPr lang="en-US" sz="1100" b="1">
                <a:solidFill>
                  <a:schemeClr val="accent1"/>
                </a:solidFill>
                <a:latin typeface="Aptos" panose="020B0004020202020204" pitchFamily="34" charset="0"/>
              </a:rPr>
              <a:t>$1.1m - $1.7m</a:t>
            </a:r>
          </a:p>
          <a:p>
            <a:pPr marL="804672" lvl="1" indent="-347472"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rgbClr val="444444"/>
                </a:solidFill>
                <a:latin typeface="Aptos" panose="020B0004020202020204" pitchFamily="34" charset="0"/>
              </a:rPr>
              <a:t>Delivery 100% </a:t>
            </a: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of Benefit</a:t>
            </a:r>
            <a:r>
              <a:rPr lang="en-US" sz="1100" b="1">
                <a:solidFill>
                  <a:srgbClr val="444444"/>
                </a:solidFill>
                <a:latin typeface="Aptos" panose="020B0004020202020204" pitchFamily="34" charset="0"/>
              </a:rPr>
              <a:t> </a:t>
            </a: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by </a:t>
            </a:r>
            <a:r>
              <a:rPr lang="en-US" sz="1100" b="1">
                <a:solidFill>
                  <a:srgbClr val="444444"/>
                </a:solidFill>
                <a:latin typeface="Aptos" panose="020B0004020202020204" pitchFamily="34" charset="0"/>
              </a:rPr>
              <a:t>October 2026 = </a:t>
            </a:r>
            <a:r>
              <a:rPr lang="en-US" sz="1100" b="1">
                <a:solidFill>
                  <a:schemeClr val="accent1"/>
                </a:solidFill>
                <a:latin typeface="Aptos" panose="020B0004020202020204" pitchFamily="34" charset="0"/>
              </a:rPr>
              <a:t>$2.3m - $3.4m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228645-AD23-152E-94C8-83927E813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Status update</a:t>
            </a:r>
            <a:endParaRPr lang="en-GB" b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C9822-D93E-9B42-2A95-57ADE7EF7A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BDC51F-5D11-B24C-B440-508FFDF318C8}" type="slidenum">
              <a:rPr kumimoji="0" lang="en-AU" sz="1000" b="1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0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95AC20-B89E-369F-9A55-D0E16D6A2FD4}"/>
              </a:ext>
            </a:extLst>
          </p:cNvPr>
          <p:cNvSpPr txBox="1"/>
          <p:nvPr/>
        </p:nvSpPr>
        <p:spPr>
          <a:xfrm>
            <a:off x="261258" y="1169445"/>
            <a:ext cx="6016844" cy="2970044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Today’s Agenda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​</a:t>
            </a:r>
          </a:p>
          <a:p>
            <a:pPr marL="283464" marR="0" lvl="0" indent="-28346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Re-cap of last meeting (Goals, Objectives, Scope, &amp; Targeted Results)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283464" marR="0" lvl="0" indent="-28346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Walkthrough of Plan &amp; Timeline</a:t>
            </a:r>
          </a:p>
          <a:p>
            <a:pPr marL="740664" lvl="1" indent="-283464"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FF0000"/>
                </a:solidFill>
                <a:latin typeface="Aptos" panose="020B0004020202020204" pitchFamily="34" charset="0"/>
              </a:rPr>
              <a:t>ASK:  How do we accelerate?</a:t>
            </a:r>
          </a:p>
          <a:p>
            <a:pPr marL="283464" indent="-283464">
              <a:buFont typeface="+mj-lt"/>
              <a:buAutoNum type="arabicPeriod"/>
            </a:pPr>
            <a:endParaRPr lang="en-US" sz="1100" b="1">
              <a:solidFill>
                <a:srgbClr val="444444"/>
              </a:solidFill>
              <a:latin typeface="Aptos" panose="020B0004020202020204" pitchFamily="34" charset="0"/>
            </a:endParaRPr>
          </a:p>
          <a:p>
            <a:pPr marL="283464" indent="-283464">
              <a:buFont typeface="+mj-lt"/>
              <a:buAutoNum type="arabicPeriod"/>
            </a:pPr>
            <a:r>
              <a:rPr lang="en-US" sz="1100" b="1">
                <a:solidFill>
                  <a:srgbClr val="444444"/>
                </a:solidFill>
                <a:latin typeface="Aptos" panose="020B0004020202020204" pitchFamily="34" charset="0"/>
              </a:rPr>
              <a:t>Benefits Realization Targets</a:t>
            </a:r>
          </a:p>
          <a:p>
            <a:pPr lvl="1"/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283464" marR="0" lvl="0" indent="-28346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Critical Dependencies </a:t>
            </a:r>
            <a:r>
              <a:rPr kumimoji="0" lang="en-US" sz="1100" b="1" i="1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(included in Slides 3&amp;4 with dependency due dates)</a:t>
            </a:r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740664" marR="0" lvl="1" indent="-28346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Tungsten Platform 2025.02 Availability</a:t>
            </a:r>
          </a:p>
          <a:p>
            <a:pPr marL="740664" marR="0" lvl="1" indent="-28346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Tungsten Engineer</a:t>
            </a:r>
          </a:p>
          <a:p>
            <a:pPr marL="740664" marR="0" lvl="1" indent="-28346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CPU Solutions Architect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283464" marR="0" lvl="0" indent="-28346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Team Updates &amp; Resource Needs (Slide 5)</a:t>
            </a:r>
          </a:p>
          <a:p>
            <a:pPr marL="283464" marR="0" lvl="0" indent="-28346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100" b="1">
              <a:solidFill>
                <a:srgbClr val="444444"/>
              </a:solidFill>
              <a:latin typeface="Aptos" panose="020B0004020202020204" pitchFamily="34" charset="0"/>
            </a:endParaRPr>
          </a:p>
          <a:p>
            <a:pPr marL="283464" marR="0" lvl="0" indent="-28346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100" b="1">
                <a:solidFill>
                  <a:srgbClr val="444444"/>
                </a:solidFill>
                <a:latin typeface="Aptos" panose="020B0004020202020204" pitchFamily="34" charset="0"/>
              </a:rPr>
              <a:t>Reporting / Burndown Charts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7465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6C1F-0936-11C5-BA8C-3E42D4A2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89" y="112030"/>
            <a:ext cx="11555038" cy="513795"/>
          </a:xfrm>
        </p:spPr>
        <p:txBody>
          <a:bodyPr/>
          <a:lstStyle/>
          <a:p>
            <a:r>
              <a:rPr lang="en-US"/>
              <a:t>Timeline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17F2C0-FDC2-D5D0-CE39-DD55D8EB3E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BBDC51F-5D11-B24C-B440-508FFDF318C8}" type="slidenum">
              <a:rPr lang="en-AU" smtClean="0"/>
              <a:pPr/>
              <a:t>3</a:t>
            </a:fld>
            <a:endParaRPr lang="en-AU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8839C25-AB2D-8626-C953-972EB2535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969599"/>
              </p:ext>
            </p:extLst>
          </p:nvPr>
        </p:nvGraphicFramePr>
        <p:xfrm>
          <a:off x="344470" y="683518"/>
          <a:ext cx="11625857" cy="5375347"/>
        </p:xfrm>
        <a:graphic>
          <a:graphicData uri="http://schemas.openxmlformats.org/drawingml/2006/table">
            <a:tbl>
              <a:tblPr/>
              <a:tblGrid>
                <a:gridCol w="606847">
                  <a:extLst>
                    <a:ext uri="{9D8B030D-6E8A-4147-A177-3AD203B41FA5}">
                      <a16:colId xmlns:a16="http://schemas.microsoft.com/office/drawing/2014/main" val="2489296969"/>
                    </a:ext>
                  </a:extLst>
                </a:gridCol>
                <a:gridCol w="1228354">
                  <a:extLst>
                    <a:ext uri="{9D8B030D-6E8A-4147-A177-3AD203B41FA5}">
                      <a16:colId xmlns:a16="http://schemas.microsoft.com/office/drawing/2014/main" val="2769967516"/>
                    </a:ext>
                  </a:extLst>
                </a:gridCol>
                <a:gridCol w="616689">
                  <a:extLst>
                    <a:ext uri="{9D8B030D-6E8A-4147-A177-3AD203B41FA5}">
                      <a16:colId xmlns:a16="http://schemas.microsoft.com/office/drawing/2014/main" val="948184504"/>
                    </a:ext>
                  </a:extLst>
                </a:gridCol>
                <a:gridCol w="618615">
                  <a:extLst>
                    <a:ext uri="{9D8B030D-6E8A-4147-A177-3AD203B41FA5}">
                      <a16:colId xmlns:a16="http://schemas.microsoft.com/office/drawing/2014/main" val="2285050416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2942224896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2713922440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3836364971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2507635730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243121732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1392390914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2076374803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3170691256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194610071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3063319927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3984011542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385977442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1633003254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2152158738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2494581884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2491515627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3938055275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1956137282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4263196685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3342915990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1576303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998365727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3852716987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1353018670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1513796457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3103162820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3879153214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246236728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750967068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3452904265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4156133874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625255274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3142019961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4156743275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3297032413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3242280655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202417522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4020685622"/>
                    </a:ext>
                  </a:extLst>
                </a:gridCol>
                <a:gridCol w="219368">
                  <a:extLst>
                    <a:ext uri="{9D8B030D-6E8A-4147-A177-3AD203B41FA5}">
                      <a16:colId xmlns:a16="http://schemas.microsoft.com/office/drawing/2014/main" val="366786767"/>
                    </a:ext>
                  </a:extLst>
                </a:gridCol>
              </a:tblGrid>
              <a:tr h="231803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Tranche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Transaction Name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Tranche %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Running total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Feb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Mar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Apr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May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Jun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Jul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Aug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Sep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Oct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229146"/>
                  </a:ext>
                </a:extLst>
              </a:tr>
              <a:tr h="5215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2-Feb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9-Feb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16-Feb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23-Feb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2-Mar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9-Mar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16-Mar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23-Mar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30-Mar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6-Apr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13-Apr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20-Apr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27-Apr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4-May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11-May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18-May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25-May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1-Jun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8-Jun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15-Jun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22-Jun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29-Jun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6-Jul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13-Jul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20-Jul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27-Jul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3-Aug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10-Aug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17-Aug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24-Aug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31-Aug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7-Sep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14-Sep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21-Sep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28-Sep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5-Oct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12-Oct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19-Oct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26-Oct</a:t>
                      </a:r>
                    </a:p>
                  </a:txBody>
                  <a:tcPr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017467"/>
                  </a:ext>
                </a:extLst>
              </a:tr>
              <a:tr h="3517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Drip OCP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Sell Stock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9.34%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9.34%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1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1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1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621535"/>
                  </a:ext>
                </a:extLst>
              </a:tr>
              <a:tr h="7353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CertReplacement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NameAddressUpdate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TransferLimited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DueDiligence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MANDATE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18.46%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27.80%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1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1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1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175138"/>
                  </a:ext>
                </a:extLst>
              </a:tr>
              <a:tr h="8985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CorpActionMandatory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CustodialTransfer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CorpActionOddlotSell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Application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ReturnedPayments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10.25%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38.05%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1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1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180085"/>
                  </a:ext>
                </a:extLst>
              </a:tr>
              <a:tr h="7819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W9Update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DripTerminateIssue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W8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CorpActionPostMerger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ADDRESS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6.74%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44.79%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1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1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511474"/>
                  </a:ext>
                </a:extLst>
              </a:tr>
              <a:tr h="11190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ReturnedMail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CorpActionVoluntary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CorpActionStopLostCert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TransferForeignComplex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EsppTransfer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TaxUpdate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3.74%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48.53%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1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1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85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47271"/>
                  </a:ext>
                </a:extLst>
              </a:tr>
              <a:tr h="7353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Transfer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TransferSell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EsppPurchase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TransferComplex</a:t>
                      </a:r>
                      <a:b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DTC_DEPOSIT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40.84%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89.37%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1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1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1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1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1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965424"/>
                  </a:ext>
                </a:extLst>
              </a:tr>
            </a:tbl>
          </a:graphicData>
        </a:graphic>
      </p:graphicFrame>
      <p:sp>
        <p:nvSpPr>
          <p:cNvPr id="9" name="Star: 5 Points 8">
            <a:extLst>
              <a:ext uri="{FF2B5EF4-FFF2-40B4-BE49-F238E27FC236}">
                <a16:creationId xmlns:a16="http://schemas.microsoft.com/office/drawing/2014/main" id="{3E578DDA-4EFD-FF89-99DA-3E933776379B}"/>
              </a:ext>
            </a:extLst>
          </p:cNvPr>
          <p:cNvSpPr/>
          <p:nvPr/>
        </p:nvSpPr>
        <p:spPr>
          <a:xfrm>
            <a:off x="5982977" y="1549681"/>
            <a:ext cx="135614" cy="132746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395A3840-18DD-AFE9-5802-24A200C11B0E}"/>
              </a:ext>
            </a:extLst>
          </p:cNvPr>
          <p:cNvSpPr/>
          <p:nvPr/>
        </p:nvSpPr>
        <p:spPr>
          <a:xfrm>
            <a:off x="6416731" y="2097490"/>
            <a:ext cx="135614" cy="132746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652984D5-F276-C551-AFDC-EB20F48DF010}"/>
              </a:ext>
            </a:extLst>
          </p:cNvPr>
          <p:cNvSpPr/>
          <p:nvPr/>
        </p:nvSpPr>
        <p:spPr>
          <a:xfrm>
            <a:off x="7081597" y="2889819"/>
            <a:ext cx="135614" cy="132746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21A6E6F6-63F0-A85F-B000-4956AE03543C}"/>
              </a:ext>
            </a:extLst>
          </p:cNvPr>
          <p:cNvSpPr/>
          <p:nvPr/>
        </p:nvSpPr>
        <p:spPr>
          <a:xfrm>
            <a:off x="7957479" y="3746046"/>
            <a:ext cx="135614" cy="132746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5F56CB41-341D-9B10-54B6-439B6278E8D2}"/>
              </a:ext>
            </a:extLst>
          </p:cNvPr>
          <p:cNvSpPr/>
          <p:nvPr/>
        </p:nvSpPr>
        <p:spPr>
          <a:xfrm>
            <a:off x="8833360" y="4697711"/>
            <a:ext cx="135614" cy="132746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A53F9D82-D507-70D6-01F4-C20E3F8F1330}"/>
              </a:ext>
            </a:extLst>
          </p:cNvPr>
          <p:cNvSpPr/>
          <p:nvPr/>
        </p:nvSpPr>
        <p:spPr>
          <a:xfrm>
            <a:off x="10593497" y="5612868"/>
            <a:ext cx="135614" cy="132746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3302123-18BD-102E-2349-6528D9123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291319"/>
              </p:ext>
            </p:extLst>
          </p:nvPr>
        </p:nvGraphicFramePr>
        <p:xfrm>
          <a:off x="695344" y="6176931"/>
          <a:ext cx="2877195" cy="250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454">
                  <a:extLst>
                    <a:ext uri="{9D8B030D-6E8A-4147-A177-3AD203B41FA5}">
                      <a16:colId xmlns:a16="http://schemas.microsoft.com/office/drawing/2014/main" val="3832992515"/>
                    </a:ext>
                  </a:extLst>
                </a:gridCol>
                <a:gridCol w="2592741">
                  <a:extLst>
                    <a:ext uri="{9D8B030D-6E8A-4147-A177-3AD203B41FA5}">
                      <a16:colId xmlns:a16="http://schemas.microsoft.com/office/drawing/2014/main" val="412211174"/>
                    </a:ext>
                  </a:extLst>
                </a:gridCol>
              </a:tblGrid>
              <a:tr h="2507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Prep: Design flow and generate PDD and SDD using AI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222932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B47E936-6F28-2924-957C-0213463E1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294980"/>
              </p:ext>
            </p:extLst>
          </p:nvPr>
        </p:nvGraphicFramePr>
        <p:xfrm>
          <a:off x="3571109" y="6176931"/>
          <a:ext cx="2150637" cy="250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2623">
                  <a:extLst>
                    <a:ext uri="{9D8B030D-6E8A-4147-A177-3AD203B41FA5}">
                      <a16:colId xmlns:a16="http://schemas.microsoft.com/office/drawing/2014/main" val="3832992515"/>
                    </a:ext>
                  </a:extLst>
                </a:gridCol>
                <a:gridCol w="1938014">
                  <a:extLst>
                    <a:ext uri="{9D8B030D-6E8A-4147-A177-3AD203B41FA5}">
                      <a16:colId xmlns:a16="http://schemas.microsoft.com/office/drawing/2014/main" val="412211174"/>
                    </a:ext>
                  </a:extLst>
                </a:gridCol>
              </a:tblGrid>
              <a:tr h="2507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u="none" strike="noStrike">
                          <a:effectLst/>
                        </a:rPr>
                        <a:t>B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Creae/Test extraction prompt in TTA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222932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C0AA44F-1090-6E3A-1692-5A452BFD1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062768"/>
              </p:ext>
            </p:extLst>
          </p:nvPr>
        </p:nvGraphicFramePr>
        <p:xfrm>
          <a:off x="5721746" y="6176930"/>
          <a:ext cx="3494963" cy="250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5530">
                  <a:extLst>
                    <a:ext uri="{9D8B030D-6E8A-4147-A177-3AD203B41FA5}">
                      <a16:colId xmlns:a16="http://schemas.microsoft.com/office/drawing/2014/main" val="3832992515"/>
                    </a:ext>
                  </a:extLst>
                </a:gridCol>
                <a:gridCol w="3149433">
                  <a:extLst>
                    <a:ext uri="{9D8B030D-6E8A-4147-A177-3AD203B41FA5}">
                      <a16:colId xmlns:a16="http://schemas.microsoft.com/office/drawing/2014/main" val="412211174"/>
                    </a:ext>
                  </a:extLst>
                </a:gridCol>
              </a:tblGrid>
              <a:tr h="2507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u="none" strike="noStrike">
                          <a:effectLst/>
                        </a:rPr>
                        <a:t>C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Build and test RPA flows, incl. API connectivity to back-end systems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222932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97774C2-632E-9DCA-5368-07A7DC93F9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677654"/>
              </p:ext>
            </p:extLst>
          </p:nvPr>
        </p:nvGraphicFramePr>
        <p:xfrm>
          <a:off x="9216709" y="6176929"/>
          <a:ext cx="803873" cy="250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900">
                  <a:extLst>
                    <a:ext uri="{9D8B030D-6E8A-4147-A177-3AD203B41FA5}">
                      <a16:colId xmlns:a16="http://schemas.microsoft.com/office/drawing/2014/main" val="3832992515"/>
                    </a:ext>
                  </a:extLst>
                </a:gridCol>
                <a:gridCol w="546973">
                  <a:extLst>
                    <a:ext uri="{9D8B030D-6E8A-4147-A177-3AD203B41FA5}">
                      <a16:colId xmlns:a16="http://schemas.microsoft.com/office/drawing/2014/main" val="412211174"/>
                    </a:ext>
                  </a:extLst>
                </a:gridCol>
              </a:tblGrid>
              <a:tr h="2507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17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UAT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222932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B0743E8-DA48-0748-ABB1-B3C07A733A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594880"/>
              </p:ext>
            </p:extLst>
          </p:nvPr>
        </p:nvGraphicFramePr>
        <p:xfrm>
          <a:off x="10025233" y="6176928"/>
          <a:ext cx="1701050" cy="250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5331">
                  <a:extLst>
                    <a:ext uri="{9D8B030D-6E8A-4147-A177-3AD203B41FA5}">
                      <a16:colId xmlns:a16="http://schemas.microsoft.com/office/drawing/2014/main" val="3832992515"/>
                    </a:ext>
                  </a:extLst>
                </a:gridCol>
                <a:gridCol w="1405719">
                  <a:extLst>
                    <a:ext uri="{9D8B030D-6E8A-4147-A177-3AD203B41FA5}">
                      <a16:colId xmlns:a16="http://schemas.microsoft.com/office/drawing/2014/main" val="412211174"/>
                    </a:ext>
                  </a:extLst>
                </a:gridCol>
              </a:tblGrid>
              <a:tr h="2507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Deploy &amp; Hypercare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222932"/>
                  </a:ext>
                </a:extLst>
              </a:tr>
            </a:tbl>
          </a:graphicData>
        </a:graphic>
      </p:graphicFrame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02108C3-88CA-4C42-4268-180A1E152FD4}"/>
              </a:ext>
            </a:extLst>
          </p:cNvPr>
          <p:cNvCxnSpPr/>
          <p:nvPr/>
        </p:nvCxnSpPr>
        <p:spPr>
          <a:xfrm flipH="1">
            <a:off x="5370872" y="5745614"/>
            <a:ext cx="72512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F9D8BF5-4C56-1A1E-14C9-595F473F0F20}"/>
              </a:ext>
            </a:extLst>
          </p:cNvPr>
          <p:cNvSpPr txBox="1"/>
          <p:nvPr/>
        </p:nvSpPr>
        <p:spPr>
          <a:xfrm>
            <a:off x="3710764" y="5559164"/>
            <a:ext cx="1574334" cy="338554"/>
          </a:xfrm>
          <a:prstGeom prst="rect">
            <a:avLst/>
          </a:prstGeom>
          <a:noFill/>
          <a:ln w="25400">
            <a:gradFill flip="none" rotWithShape="1">
              <a:gsLst>
                <a:gs pos="5000">
                  <a:schemeClr val="accent1"/>
                </a:gs>
                <a:gs pos="100000">
                  <a:schemeClr val="accent4"/>
                </a:gs>
              </a:gsLst>
              <a:lin ang="2700000" scaled="1"/>
              <a:tileRect/>
            </a:gra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800" i="1">
                <a:latin typeface="Aptos" panose="020B0004020202020204" pitchFamily="34" charset="0"/>
              </a:rPr>
              <a:t>As we progress through March, looking to bring this to the left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9FAE722E-3419-A2E5-B39D-3E81CD2E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688964"/>
              </p:ext>
            </p:extLst>
          </p:nvPr>
        </p:nvGraphicFramePr>
        <p:xfrm>
          <a:off x="8511760" y="60312"/>
          <a:ext cx="1930483" cy="594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83299251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007308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1580629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2340389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44484840"/>
                    </a:ext>
                  </a:extLst>
                </a:gridCol>
                <a:gridCol w="889083">
                  <a:extLst>
                    <a:ext uri="{9D8B030D-6E8A-4147-A177-3AD203B41FA5}">
                      <a16:colId xmlns:a16="http://schemas.microsoft.com/office/drawing/2014/main" val="412211174"/>
                    </a:ext>
                  </a:extLst>
                </a:gridCol>
              </a:tblGrid>
              <a:tr h="165641"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u="none" strike="noStrike">
                          <a:effectLst/>
                        </a:rPr>
                        <a:t>Completed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222932"/>
                  </a:ext>
                </a:extLst>
              </a:tr>
              <a:tr h="165641"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In Progress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567700"/>
                  </a:ext>
                </a:extLst>
              </a:tr>
              <a:tr h="165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D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21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154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Not Started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6852631"/>
                  </a:ext>
                </a:extLst>
              </a:tr>
            </a:tbl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9892555E-7564-C5F8-8E8C-85F2EC7F4A28}"/>
              </a:ext>
            </a:extLst>
          </p:cNvPr>
          <p:cNvGrpSpPr/>
          <p:nvPr/>
        </p:nvGrpSpPr>
        <p:grpSpPr>
          <a:xfrm>
            <a:off x="10891627" y="224904"/>
            <a:ext cx="967563" cy="215444"/>
            <a:chOff x="10891627" y="224904"/>
            <a:chExt cx="967563" cy="215444"/>
          </a:xfrm>
        </p:grpSpPr>
        <p:sp>
          <p:nvSpPr>
            <p:cNvPr id="25" name="Star: 5 Points 24">
              <a:extLst>
                <a:ext uri="{FF2B5EF4-FFF2-40B4-BE49-F238E27FC236}">
                  <a16:creationId xmlns:a16="http://schemas.microsoft.com/office/drawing/2014/main" id="{ED029411-333B-56ED-E7C6-D2DF05D3C9EE}"/>
                </a:ext>
              </a:extLst>
            </p:cNvPr>
            <p:cNvSpPr/>
            <p:nvPr/>
          </p:nvSpPr>
          <p:spPr>
            <a:xfrm>
              <a:off x="10960332" y="255653"/>
              <a:ext cx="135614" cy="132746"/>
            </a:xfrm>
            <a:prstGeom prst="star5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DA010FD-CC60-9703-902F-72C27B792687}"/>
                </a:ext>
              </a:extLst>
            </p:cNvPr>
            <p:cNvSpPr txBox="1"/>
            <p:nvPr/>
          </p:nvSpPr>
          <p:spPr>
            <a:xfrm>
              <a:off x="10891627" y="224904"/>
              <a:ext cx="967563" cy="215444"/>
            </a:xfrm>
            <a:prstGeom prst="rect">
              <a:avLst/>
            </a:prstGeom>
            <a:noFill/>
            <a:ln w="25400">
              <a:solidFill>
                <a:schemeClr val="tx1">
                  <a:lumMod val="40000"/>
                  <a:lumOff val="6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800">
                  <a:latin typeface="Aptos" panose="020B0004020202020204" pitchFamily="34" charset="0"/>
                </a:rPr>
                <a:t>          = Deploy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8D13A40B-4A2D-E286-1B3C-1F6E153D826E}"/>
              </a:ext>
            </a:extLst>
          </p:cNvPr>
          <p:cNvSpPr txBox="1"/>
          <p:nvPr/>
        </p:nvSpPr>
        <p:spPr>
          <a:xfrm>
            <a:off x="7710321" y="2006400"/>
            <a:ext cx="1731392" cy="276999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>
                <a:latin typeface="Aptos" panose="020B0004020202020204" pitchFamily="34" charset="0"/>
              </a:rPr>
              <a:t>12 Weeks -&gt; 10 Weeks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8ECB30-9896-67F7-84F4-4EE61B67203B}"/>
              </a:ext>
            </a:extLst>
          </p:cNvPr>
          <p:cNvSpPr txBox="1"/>
          <p:nvPr/>
        </p:nvSpPr>
        <p:spPr>
          <a:xfrm>
            <a:off x="8093093" y="2817692"/>
            <a:ext cx="1731392" cy="276999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>
                <a:latin typeface="Aptos" panose="020B0004020202020204" pitchFamily="34" charset="0"/>
              </a:rPr>
              <a:t>12 Weeks -&gt; 9 Weeks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D17D3F-EBDB-D91E-4441-3D1156CE4337}"/>
              </a:ext>
            </a:extLst>
          </p:cNvPr>
          <p:cNvSpPr txBox="1"/>
          <p:nvPr/>
        </p:nvSpPr>
        <p:spPr>
          <a:xfrm>
            <a:off x="9037953" y="3673919"/>
            <a:ext cx="1731392" cy="276999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>
                <a:latin typeface="Aptos" panose="020B0004020202020204" pitchFamily="34" charset="0"/>
              </a:rPr>
              <a:t>12 Weeks -&gt; 9 Weeks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CF870C-3ED7-886B-E877-05E655BE2F4E}"/>
              </a:ext>
            </a:extLst>
          </p:cNvPr>
          <p:cNvSpPr txBox="1"/>
          <p:nvPr/>
        </p:nvSpPr>
        <p:spPr>
          <a:xfrm>
            <a:off x="9575944" y="4618141"/>
            <a:ext cx="1731392" cy="276999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>
                <a:latin typeface="Aptos" panose="020B0004020202020204" pitchFamily="34" charset="0"/>
              </a:rPr>
              <a:t>12 Weeks -&gt; 9 Weeks</a:t>
            </a:r>
          </a:p>
        </p:txBody>
      </p:sp>
    </p:spTree>
    <p:extLst>
      <p:ext uri="{BB962C8B-B14F-4D97-AF65-F5344CB8AC3E}">
        <p14:creationId xmlns:p14="http://schemas.microsoft.com/office/powerpoint/2010/main" val="3986665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9EEFC-3453-B08A-757C-7B7DA2BCB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Tranche Burndown Charts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1475B0-BC49-C4E0-F0FD-DD7C9D244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BBDC51F-5D11-B24C-B440-508FFDF318C8}" type="slidenum">
              <a:rPr lang="en-AU" smtClean="0"/>
              <a:pPr/>
              <a:t>4</a:t>
            </a:fld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B2A8BC-DD60-791E-BA72-A10BB3DE5CDB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rPr lang="en-US"/>
              <a:t>Burndown charts have been created for each tranche and will be able to be reported in real-time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3BA46A-AABD-E63E-AA9A-591530AD3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90" y="1365590"/>
            <a:ext cx="10809843" cy="507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100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5F855-E888-1F0A-141E-6CEBC4C98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 Equivalency Timeline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C0D38C-2427-DA71-B0A1-FBFD3F7CA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BBDC51F-5D11-B24C-B440-508FFDF318C8}" type="slidenum">
              <a:rPr lang="en-AU" smtClean="0"/>
              <a:pPr/>
              <a:t>5</a:t>
            </a:fld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91AB4E-76B2-6CB5-727F-917FD7D335AB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20777" y="753189"/>
            <a:ext cx="11549550" cy="1214243"/>
          </a:xfrm>
        </p:spPr>
        <p:txBody>
          <a:bodyPr/>
          <a:lstStyle/>
          <a:p>
            <a:r>
              <a:rPr lang="en-US"/>
              <a:t>Tranches will begin being deployed in April 2026 through September 2026.  The below shows the benefit equivalency of the delivered solutions over time.  Benefit realization will occur after a hyper care period and confidence the workload has been removed.  </a:t>
            </a:r>
            <a:r>
              <a:rPr lang="en-US" b="1" u="sng"/>
              <a:t>Timings of savings may be dependent based on scale of FTE reductions and HR processes required for redundancies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2367257-45B8-181F-2EE7-BE7286F73D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6474965"/>
              </p:ext>
            </p:extLst>
          </p:nvPr>
        </p:nvGraphicFramePr>
        <p:xfrm>
          <a:off x="632589" y="2076641"/>
          <a:ext cx="11120438" cy="44029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67476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500C0-ECE9-0C59-F7B8-EA761FCDF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61B078-8097-CFF8-F3FB-7DA31FDC1274}"/>
              </a:ext>
            </a:extLst>
          </p:cNvPr>
          <p:cNvSpPr/>
          <p:nvPr/>
        </p:nvSpPr>
        <p:spPr>
          <a:xfrm>
            <a:off x="4763108" y="1365003"/>
            <a:ext cx="3786396" cy="5304408"/>
          </a:xfrm>
          <a:prstGeom prst="roundRect">
            <a:avLst>
              <a:gd name="adj" fmla="val 5507"/>
            </a:avLst>
          </a:prstGeom>
          <a:solidFill>
            <a:srgbClr val="FFF9EF"/>
          </a:solidFill>
          <a:ln>
            <a:solidFill>
              <a:schemeClr val="accent6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94FFD7E-5496-EB23-9AF5-6C35937ECC57}"/>
              </a:ext>
            </a:extLst>
          </p:cNvPr>
          <p:cNvSpPr txBox="1">
            <a:spLocks/>
          </p:cNvSpPr>
          <p:nvPr/>
        </p:nvSpPr>
        <p:spPr>
          <a:xfrm>
            <a:off x="192067" y="239394"/>
            <a:ext cx="11115030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ts val="3240"/>
              </a:lnSpc>
              <a:spcBef>
                <a:spcPct val="0"/>
              </a:spcBef>
              <a:buNone/>
              <a:defRPr lang="en-US" sz="3200" b="0" i="0" kern="1200" spc="-80" baseline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324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-8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j-ea"/>
                <a:cs typeface="+mj-cs"/>
              </a:rPr>
              <a:t>There are 3 main considerations to AI tool strategy and approach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78767C-9EB5-F308-8155-80B23193B5A3}"/>
              </a:ext>
            </a:extLst>
          </p:cNvPr>
          <p:cNvSpPr txBox="1"/>
          <p:nvPr/>
        </p:nvSpPr>
        <p:spPr>
          <a:xfrm>
            <a:off x="276445" y="753699"/>
            <a:ext cx="11820303" cy="276999"/>
          </a:xfrm>
          <a:prstGeom prst="rect">
            <a:avLst/>
          </a:prstGeom>
          <a:solidFill>
            <a:srgbClr val="F2EAF0"/>
          </a:solidFill>
          <a:ln w="2540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Depending on initial test results, the preferred option will be based on a trade-off between LLM accuracy, speed and cost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B015F28-5695-6DA4-9AD6-480F09F0816A}"/>
              </a:ext>
            </a:extLst>
          </p:cNvPr>
          <p:cNvSpPr/>
          <p:nvPr/>
        </p:nvSpPr>
        <p:spPr>
          <a:xfrm>
            <a:off x="3519003" y="5078638"/>
            <a:ext cx="1114607" cy="187915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No RAG</a:t>
            </a:r>
            <a:endParaRPr lang="en-GB" sz="1200">
              <a:solidFill>
                <a:schemeClr val="bg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42766E9-0CD2-BDD9-E73E-4E24D81FE0D4}"/>
              </a:ext>
            </a:extLst>
          </p:cNvPr>
          <p:cNvSpPr/>
          <p:nvPr/>
        </p:nvSpPr>
        <p:spPr>
          <a:xfrm>
            <a:off x="11093287" y="5078638"/>
            <a:ext cx="767285" cy="18791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RAG</a:t>
            </a:r>
            <a:endParaRPr lang="en-GB" sz="1200">
              <a:solidFill>
                <a:schemeClr val="bg1"/>
              </a:solidFill>
            </a:endParaRPr>
          </a:p>
        </p:txBody>
      </p:sp>
      <p:pic>
        <p:nvPicPr>
          <p:cNvPr id="13" name="Graphic 12" descr="User with solid fill">
            <a:extLst>
              <a:ext uri="{FF2B5EF4-FFF2-40B4-BE49-F238E27FC236}">
                <a16:creationId xmlns:a16="http://schemas.microsoft.com/office/drawing/2014/main" id="{238C908D-630D-76AE-B480-5AC80DA788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8776" y="3140480"/>
            <a:ext cx="217221" cy="214658"/>
          </a:xfrm>
          <a:prstGeom prst="rect">
            <a:avLst/>
          </a:prstGeom>
        </p:spPr>
      </p:pic>
      <p:pic>
        <p:nvPicPr>
          <p:cNvPr id="15" name="Graphic 14" descr="Robot outline">
            <a:extLst>
              <a:ext uri="{FF2B5EF4-FFF2-40B4-BE49-F238E27FC236}">
                <a16:creationId xmlns:a16="http://schemas.microsoft.com/office/drawing/2014/main" id="{3C763E3C-8710-E30F-85B9-18B5F64973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68957" y="3711731"/>
            <a:ext cx="222715" cy="220088"/>
          </a:xfrm>
          <a:prstGeom prst="rect">
            <a:avLst/>
          </a:prstGeom>
        </p:spPr>
      </p:pic>
      <p:pic>
        <p:nvPicPr>
          <p:cNvPr id="18" name="Graphic 17" descr="Robot outline">
            <a:extLst>
              <a:ext uri="{FF2B5EF4-FFF2-40B4-BE49-F238E27FC236}">
                <a16:creationId xmlns:a16="http://schemas.microsoft.com/office/drawing/2014/main" id="{62317E3F-9869-FE47-30E7-59D7E91572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78776" y="3703470"/>
            <a:ext cx="222715" cy="220088"/>
          </a:xfrm>
          <a:prstGeom prst="rect">
            <a:avLst/>
          </a:prstGeom>
        </p:spPr>
      </p:pic>
      <p:pic>
        <p:nvPicPr>
          <p:cNvPr id="19" name="Graphic 18" descr="Robot outline">
            <a:extLst>
              <a:ext uri="{FF2B5EF4-FFF2-40B4-BE49-F238E27FC236}">
                <a16:creationId xmlns:a16="http://schemas.microsoft.com/office/drawing/2014/main" id="{9D0CA992-D191-272B-CD31-FEED09EBA2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82044" y="3703470"/>
            <a:ext cx="222715" cy="220088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08E3E352-7714-2A4A-AD70-F7EED7BD43D2}"/>
              </a:ext>
            </a:extLst>
          </p:cNvPr>
          <p:cNvGrpSpPr/>
          <p:nvPr/>
        </p:nvGrpSpPr>
        <p:grpSpPr>
          <a:xfrm>
            <a:off x="2407735" y="2575252"/>
            <a:ext cx="359305" cy="355067"/>
            <a:chOff x="13385779" y="2511056"/>
            <a:chExt cx="492399" cy="492399"/>
          </a:xfrm>
        </p:grpSpPr>
        <p:pic>
          <p:nvPicPr>
            <p:cNvPr id="12" name="Graphic 11" descr="Contract outline">
              <a:extLst>
                <a:ext uri="{FF2B5EF4-FFF2-40B4-BE49-F238E27FC236}">
                  <a16:creationId xmlns:a16="http://schemas.microsoft.com/office/drawing/2014/main" id="{FA264DC8-7B71-0EE4-C3B0-03987FC3F7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479105" y="2619562"/>
              <a:ext cx="293047" cy="293047"/>
            </a:xfrm>
            <a:prstGeom prst="rect">
              <a:avLst/>
            </a:prstGeom>
          </p:spPr>
        </p:pic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3C16073-90C1-26D2-A7CF-8A6A3AB0D9A9}"/>
                </a:ext>
              </a:extLst>
            </p:cNvPr>
            <p:cNvSpPr/>
            <p:nvPr/>
          </p:nvSpPr>
          <p:spPr>
            <a:xfrm>
              <a:off x="13385779" y="2511056"/>
              <a:ext cx="492399" cy="492399"/>
            </a:xfrm>
            <a:prstGeom prst="ellipse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0496BB23-9343-7CE5-822F-4EDA30BE97B3}"/>
              </a:ext>
            </a:extLst>
          </p:cNvPr>
          <p:cNvSpPr/>
          <p:nvPr/>
        </p:nvSpPr>
        <p:spPr>
          <a:xfrm>
            <a:off x="2407735" y="3075223"/>
            <a:ext cx="359305" cy="355067"/>
          </a:xfrm>
          <a:prstGeom prst="ellipse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8B83988-A44B-6EC5-4DE6-B44581B7879C}"/>
              </a:ext>
            </a:extLst>
          </p:cNvPr>
          <p:cNvSpPr/>
          <p:nvPr/>
        </p:nvSpPr>
        <p:spPr>
          <a:xfrm>
            <a:off x="2407735" y="3646223"/>
            <a:ext cx="359305" cy="355067"/>
          </a:xfrm>
          <a:prstGeom prst="ellipse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262009D-45A5-7DA7-711C-A420EC2994D0}"/>
              </a:ext>
            </a:extLst>
          </p:cNvPr>
          <p:cNvGrpSpPr/>
          <p:nvPr/>
        </p:nvGrpSpPr>
        <p:grpSpPr>
          <a:xfrm>
            <a:off x="2407735" y="4146192"/>
            <a:ext cx="359305" cy="355067"/>
            <a:chOff x="13385779" y="4417004"/>
            <a:chExt cx="492399" cy="492399"/>
          </a:xfrm>
        </p:grpSpPr>
        <p:pic>
          <p:nvPicPr>
            <p:cNvPr id="21" name="Graphic 20" descr="Workflow outline">
              <a:extLst>
                <a:ext uri="{FF2B5EF4-FFF2-40B4-BE49-F238E27FC236}">
                  <a16:creationId xmlns:a16="http://schemas.microsoft.com/office/drawing/2014/main" id="{A9D3E124-94F8-929F-4DC6-415F355B80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470150" y="4491815"/>
              <a:ext cx="336360" cy="336360"/>
            </a:xfrm>
            <a:prstGeom prst="rect">
              <a:avLst/>
            </a:prstGeom>
          </p:spPr>
        </p:pic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E66C016-4362-61B5-7865-1185A22B1BC9}"/>
                </a:ext>
              </a:extLst>
            </p:cNvPr>
            <p:cNvSpPr/>
            <p:nvPr/>
          </p:nvSpPr>
          <p:spPr>
            <a:xfrm>
              <a:off x="13385779" y="4417004"/>
              <a:ext cx="492399" cy="492399"/>
            </a:xfrm>
            <a:prstGeom prst="ellipse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7" name="Oval 26">
            <a:extLst>
              <a:ext uri="{FF2B5EF4-FFF2-40B4-BE49-F238E27FC236}">
                <a16:creationId xmlns:a16="http://schemas.microsoft.com/office/drawing/2014/main" id="{295F3E70-D579-8082-85CA-CAF24986EE32}"/>
              </a:ext>
            </a:extLst>
          </p:cNvPr>
          <p:cNvSpPr/>
          <p:nvPr/>
        </p:nvSpPr>
        <p:spPr>
          <a:xfrm>
            <a:off x="1999945" y="3646223"/>
            <a:ext cx="359305" cy="355067"/>
          </a:xfrm>
          <a:prstGeom prst="ellipse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691CEDB-ABBC-662C-2038-0BFC473BFB04}"/>
              </a:ext>
            </a:extLst>
          </p:cNvPr>
          <p:cNvSpPr/>
          <p:nvPr/>
        </p:nvSpPr>
        <p:spPr>
          <a:xfrm>
            <a:off x="2813749" y="3646223"/>
            <a:ext cx="359305" cy="355067"/>
          </a:xfrm>
          <a:prstGeom prst="ellipse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6020F35B-5F03-3BF5-B0F2-E8C4F878D2FD}"/>
              </a:ext>
            </a:extLst>
          </p:cNvPr>
          <p:cNvCxnSpPr>
            <a:cxnSpLocks/>
            <a:stCxn id="24" idx="4"/>
            <a:endCxn id="27" idx="0"/>
          </p:cNvCxnSpPr>
          <p:nvPr/>
        </p:nvCxnSpPr>
        <p:spPr>
          <a:xfrm rot="5400000">
            <a:off x="2275527" y="3334361"/>
            <a:ext cx="215933" cy="40779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3A05706E-0ED5-5028-B8B5-254DB9E31903}"/>
              </a:ext>
            </a:extLst>
          </p:cNvPr>
          <p:cNvCxnSpPr>
            <a:cxnSpLocks/>
            <a:stCxn id="24" idx="4"/>
            <a:endCxn id="28" idx="0"/>
          </p:cNvCxnSpPr>
          <p:nvPr/>
        </p:nvCxnSpPr>
        <p:spPr>
          <a:xfrm rot="16200000" flipH="1">
            <a:off x="2682429" y="3335248"/>
            <a:ext cx="215933" cy="40601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64929F74-A5FF-DE8F-5B6F-22E2AD5D39E2}"/>
              </a:ext>
            </a:extLst>
          </p:cNvPr>
          <p:cNvCxnSpPr>
            <a:cxnSpLocks/>
            <a:stCxn id="24" idx="4"/>
            <a:endCxn id="25" idx="0"/>
          </p:cNvCxnSpPr>
          <p:nvPr/>
        </p:nvCxnSpPr>
        <p:spPr>
          <a:xfrm rot="5400000">
            <a:off x="2479421" y="3538201"/>
            <a:ext cx="215933" cy="926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2728407-C3AC-75D7-DFD6-300C219C1585}"/>
              </a:ext>
            </a:extLst>
          </p:cNvPr>
          <p:cNvCxnSpPr>
            <a:cxnSpLocks/>
            <a:stCxn id="25" idx="4"/>
          </p:cNvCxnSpPr>
          <p:nvPr/>
        </p:nvCxnSpPr>
        <p:spPr>
          <a:xfrm>
            <a:off x="2587387" y="4001289"/>
            <a:ext cx="0" cy="1449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EAC1B5B-2CAA-6160-15DF-AB9BD9EEFC70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2587387" y="2930319"/>
            <a:ext cx="0" cy="1449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7EF521D-7C53-AB33-A87A-34FBACD95DCE}"/>
              </a:ext>
            </a:extLst>
          </p:cNvPr>
          <p:cNvSpPr txBox="1"/>
          <p:nvPr/>
        </p:nvSpPr>
        <p:spPr>
          <a:xfrm>
            <a:off x="2749016" y="2630153"/>
            <a:ext cx="964171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Scanned mail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1884104-E53E-B3FF-85E4-B2FFE12D1913}"/>
              </a:ext>
            </a:extLst>
          </p:cNvPr>
          <p:cNvSpPr txBox="1"/>
          <p:nvPr/>
        </p:nvSpPr>
        <p:spPr>
          <a:xfrm>
            <a:off x="2792650" y="3056485"/>
            <a:ext cx="1783214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Manual categorization into 70+ types of </a:t>
            </a:r>
            <a:r>
              <a:rPr lang="en-GB" sz="1000">
                <a:solidFill>
                  <a:srgbClr val="444444"/>
                </a:solidFill>
                <a:latin typeface="Aptos" panose="020B0004020202020204" pitchFamily="34" charset="0"/>
              </a:rPr>
              <a:t>transactions</a:t>
            </a:r>
            <a:endParaRPr kumimoji="0" lang="en-GB" sz="1000" b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F55B0DAC-065C-02A8-17AE-BC2B71690EF5}"/>
              </a:ext>
            </a:extLst>
          </p:cNvPr>
          <p:cNvSpPr txBox="1"/>
          <p:nvPr/>
        </p:nvSpPr>
        <p:spPr>
          <a:xfrm>
            <a:off x="3173054" y="3716203"/>
            <a:ext cx="1502801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Transaction agents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42D60192-7C2A-6975-23C0-5EEBFE96A87C}"/>
              </a:ext>
            </a:extLst>
          </p:cNvPr>
          <p:cNvSpPr txBox="1"/>
          <p:nvPr/>
        </p:nvSpPr>
        <p:spPr>
          <a:xfrm>
            <a:off x="2890825" y="4245281"/>
            <a:ext cx="1502801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RPA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D8E96ED0-B429-98C8-C253-1063B64AE11E}"/>
              </a:ext>
            </a:extLst>
          </p:cNvPr>
          <p:cNvSpPr txBox="1"/>
          <p:nvPr/>
        </p:nvSpPr>
        <p:spPr>
          <a:xfrm>
            <a:off x="6428764" y="3716203"/>
            <a:ext cx="1502801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Transaction agents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814B1F4A-8C3B-A9AD-E492-C1FC01522FF9}"/>
              </a:ext>
            </a:extLst>
          </p:cNvPr>
          <p:cNvSpPr txBox="1"/>
          <p:nvPr/>
        </p:nvSpPr>
        <p:spPr>
          <a:xfrm>
            <a:off x="6099609" y="4214229"/>
            <a:ext cx="1502801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RPA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D23D0940-1336-4C96-2975-E8773D438939}"/>
              </a:ext>
            </a:extLst>
          </p:cNvPr>
          <p:cNvSpPr/>
          <p:nvPr/>
        </p:nvSpPr>
        <p:spPr>
          <a:xfrm>
            <a:off x="1216281" y="1796454"/>
            <a:ext cx="3613790" cy="8070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100"/>
              <a:t>Documents classified by human operators, then routed to the specialized AI agent to extract data and sent to workflow for the RPA bot to complete the transaction. </a:t>
            </a:r>
          </a:p>
          <a:p>
            <a:endParaRPr lang="en-GB" sz="110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F2E80E2F-4B0C-58F6-7313-3E9DE4A4C0CE}"/>
              </a:ext>
            </a:extLst>
          </p:cNvPr>
          <p:cNvSpPr/>
          <p:nvPr/>
        </p:nvSpPr>
        <p:spPr>
          <a:xfrm>
            <a:off x="4915266" y="1816118"/>
            <a:ext cx="3468374" cy="80705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100"/>
              <a:t>Intent and categorization handled by the first agent, and then classification and data extraction handled by a second agent (possibly using RAG). </a:t>
            </a:r>
          </a:p>
          <a:p>
            <a:endParaRPr lang="en-GB" sz="1100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F3DED7E3-F9B2-A8FA-6476-708646982E3E}"/>
              </a:ext>
            </a:extLst>
          </p:cNvPr>
          <p:cNvSpPr/>
          <p:nvPr/>
        </p:nvSpPr>
        <p:spPr>
          <a:xfrm>
            <a:off x="8678888" y="1816118"/>
            <a:ext cx="3468374" cy="6688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100"/>
              <a:t>One agent that identifies document intent, and refers to a knowledge base of DOPs to classify and extract data</a:t>
            </a: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573159E2-619B-FF91-9947-6911760E36B6}"/>
              </a:ext>
            </a:extLst>
          </p:cNvPr>
          <p:cNvGrpSpPr/>
          <p:nvPr/>
        </p:nvGrpSpPr>
        <p:grpSpPr>
          <a:xfrm>
            <a:off x="5207237" y="2575252"/>
            <a:ext cx="2295506" cy="1926007"/>
            <a:chOff x="1999945" y="2982543"/>
            <a:chExt cx="3145808" cy="2670947"/>
          </a:xfrm>
        </p:grpSpPr>
        <p:pic>
          <p:nvPicPr>
            <p:cNvPr id="146" name="Graphic 145" descr="Robot outline">
              <a:extLst>
                <a:ext uri="{FF2B5EF4-FFF2-40B4-BE49-F238E27FC236}">
                  <a16:creationId xmlns:a16="http://schemas.microsoft.com/office/drawing/2014/main" id="{F5D1974F-07C3-DC8F-969B-302BC25228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94520" y="4558589"/>
              <a:ext cx="305213" cy="305213"/>
            </a:xfrm>
            <a:prstGeom prst="rect">
              <a:avLst/>
            </a:prstGeom>
          </p:spPr>
        </p:pic>
        <p:pic>
          <p:nvPicPr>
            <p:cNvPr id="147" name="Graphic 146" descr="Robot outline">
              <a:extLst>
                <a:ext uri="{FF2B5EF4-FFF2-40B4-BE49-F238E27FC236}">
                  <a16:creationId xmlns:a16="http://schemas.microsoft.com/office/drawing/2014/main" id="{614D0603-29E7-F0BE-A011-7AC169A027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656145" y="4547133"/>
              <a:ext cx="305213" cy="305213"/>
            </a:xfrm>
            <a:prstGeom prst="rect">
              <a:avLst/>
            </a:prstGeom>
          </p:spPr>
        </p:pic>
        <p:pic>
          <p:nvPicPr>
            <p:cNvPr id="158" name="Graphic 157" descr="Robot outline">
              <a:extLst>
                <a:ext uri="{FF2B5EF4-FFF2-40B4-BE49-F238E27FC236}">
                  <a16:creationId xmlns:a16="http://schemas.microsoft.com/office/drawing/2014/main" id="{F4A5EFEB-1432-4FB1-B2E9-F482721D37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08791" y="4547133"/>
              <a:ext cx="305213" cy="305213"/>
            </a:xfrm>
            <a:prstGeom prst="rect">
              <a:avLst/>
            </a:prstGeom>
          </p:spPr>
        </p:pic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FE442386-CBD5-2085-093A-C93B014F6C05}"/>
                </a:ext>
              </a:extLst>
            </p:cNvPr>
            <p:cNvGrpSpPr/>
            <p:nvPr/>
          </p:nvGrpSpPr>
          <p:grpSpPr>
            <a:xfrm>
              <a:off x="2558788" y="2982543"/>
              <a:ext cx="492399" cy="492399"/>
              <a:chOff x="13385779" y="2511056"/>
              <a:chExt cx="492399" cy="492399"/>
            </a:xfrm>
          </p:grpSpPr>
          <p:pic>
            <p:nvPicPr>
              <p:cNvPr id="191" name="Graphic 190" descr="Contract outline">
                <a:extLst>
                  <a:ext uri="{FF2B5EF4-FFF2-40B4-BE49-F238E27FC236}">
                    <a16:creationId xmlns:a16="http://schemas.microsoft.com/office/drawing/2014/main" id="{FC87F2CF-041A-57C2-ED2A-22D101BA9F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3479105" y="2619562"/>
                <a:ext cx="293047" cy="293047"/>
              </a:xfrm>
              <a:prstGeom prst="rect">
                <a:avLst/>
              </a:prstGeom>
            </p:spPr>
          </p:pic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800BC489-13B5-216B-D81A-6FDCA26D5E82}"/>
                  </a:ext>
                </a:extLst>
              </p:cNvPr>
              <p:cNvSpPr/>
              <p:nvPr/>
            </p:nvSpPr>
            <p:spPr>
              <a:xfrm>
                <a:off x="13385779" y="2511056"/>
                <a:ext cx="492399" cy="492399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F83CF89B-093F-ED3E-6AEE-4EA98AE3A2FD}"/>
                </a:ext>
              </a:extLst>
            </p:cNvPr>
            <p:cNvSpPr/>
            <p:nvPr/>
          </p:nvSpPr>
          <p:spPr>
            <a:xfrm>
              <a:off x="2558788" y="3675893"/>
              <a:ext cx="492399" cy="492399"/>
            </a:xfrm>
            <a:prstGeom prst="ellipse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C4C633EC-7926-43FF-1FD1-C70EF2D8B8E8}"/>
                </a:ext>
              </a:extLst>
            </p:cNvPr>
            <p:cNvSpPr/>
            <p:nvPr/>
          </p:nvSpPr>
          <p:spPr>
            <a:xfrm>
              <a:off x="2558788" y="4467743"/>
              <a:ext cx="492399" cy="492399"/>
            </a:xfrm>
            <a:prstGeom prst="ellipse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401EBFAC-CC1B-49C7-47C2-12786392E22E}"/>
                </a:ext>
              </a:extLst>
            </p:cNvPr>
            <p:cNvGrpSpPr/>
            <p:nvPr/>
          </p:nvGrpSpPr>
          <p:grpSpPr>
            <a:xfrm>
              <a:off x="2558788" y="5161091"/>
              <a:ext cx="492399" cy="492399"/>
              <a:chOff x="13385779" y="4417004"/>
              <a:chExt cx="492399" cy="492399"/>
            </a:xfrm>
          </p:grpSpPr>
          <p:pic>
            <p:nvPicPr>
              <p:cNvPr id="188" name="Graphic 187" descr="Workflow outline">
                <a:extLst>
                  <a:ext uri="{FF2B5EF4-FFF2-40B4-BE49-F238E27FC236}">
                    <a16:creationId xmlns:a16="http://schemas.microsoft.com/office/drawing/2014/main" id="{8BA09112-6E7C-8C10-1B7E-D567D53EF7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3470150" y="4515819"/>
                <a:ext cx="336360" cy="336360"/>
              </a:xfrm>
              <a:prstGeom prst="rect">
                <a:avLst/>
              </a:prstGeom>
            </p:spPr>
          </p:pic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757040CC-8832-5E94-4370-137AE125F89F}"/>
                  </a:ext>
                </a:extLst>
              </p:cNvPr>
              <p:cNvSpPr/>
              <p:nvPr/>
            </p:nvSpPr>
            <p:spPr>
              <a:xfrm>
                <a:off x="13385779" y="4417004"/>
                <a:ext cx="492399" cy="492399"/>
              </a:xfrm>
              <a:prstGeom prst="ellipse">
                <a:avLst/>
              </a:prstGeom>
              <a:noFill/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6F3049ED-1B0C-445B-721D-DFD46C457DFC}"/>
                </a:ext>
              </a:extLst>
            </p:cNvPr>
            <p:cNvSpPr/>
            <p:nvPr/>
          </p:nvSpPr>
          <p:spPr>
            <a:xfrm>
              <a:off x="1999945" y="4467743"/>
              <a:ext cx="492399" cy="492399"/>
            </a:xfrm>
            <a:prstGeom prst="ellipse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28A253A8-15C2-6742-A588-5DF5828F5CCF}"/>
                </a:ext>
              </a:extLst>
            </p:cNvPr>
            <p:cNvSpPr/>
            <p:nvPr/>
          </p:nvSpPr>
          <p:spPr>
            <a:xfrm>
              <a:off x="3115199" y="4467743"/>
              <a:ext cx="492399" cy="492399"/>
            </a:xfrm>
            <a:prstGeom prst="ellipse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170" name="Connector: Elbow 169">
              <a:extLst>
                <a:ext uri="{FF2B5EF4-FFF2-40B4-BE49-F238E27FC236}">
                  <a16:creationId xmlns:a16="http://schemas.microsoft.com/office/drawing/2014/main" id="{1EFFEEF9-6EE7-23C3-F116-C6239F5B329C}"/>
                </a:ext>
              </a:extLst>
            </p:cNvPr>
            <p:cNvCxnSpPr>
              <a:cxnSpLocks/>
              <a:stCxn id="161" idx="4"/>
              <a:endCxn id="165" idx="0"/>
            </p:cNvCxnSpPr>
            <p:nvPr/>
          </p:nvCxnSpPr>
          <p:spPr>
            <a:xfrm rot="5400000">
              <a:off x="2375842" y="4038596"/>
              <a:ext cx="299451" cy="558843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ctor: Elbow 174">
              <a:extLst>
                <a:ext uri="{FF2B5EF4-FFF2-40B4-BE49-F238E27FC236}">
                  <a16:creationId xmlns:a16="http://schemas.microsoft.com/office/drawing/2014/main" id="{F09AF096-55BC-9383-13CD-FBE47E96C70A}"/>
                </a:ext>
              </a:extLst>
            </p:cNvPr>
            <p:cNvCxnSpPr>
              <a:cxnSpLocks/>
              <a:stCxn id="161" idx="4"/>
              <a:endCxn id="168" idx="0"/>
            </p:cNvCxnSpPr>
            <p:nvPr/>
          </p:nvCxnSpPr>
          <p:spPr>
            <a:xfrm rot="16200000" flipH="1">
              <a:off x="2933468" y="4039811"/>
              <a:ext cx="299451" cy="556411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ctor: Elbow 175">
              <a:extLst>
                <a:ext uri="{FF2B5EF4-FFF2-40B4-BE49-F238E27FC236}">
                  <a16:creationId xmlns:a16="http://schemas.microsoft.com/office/drawing/2014/main" id="{6C9A0FFC-5554-305D-9E34-7F2C85F86315}"/>
                </a:ext>
              </a:extLst>
            </p:cNvPr>
            <p:cNvCxnSpPr>
              <a:cxnSpLocks/>
              <a:stCxn id="161" idx="4"/>
              <a:endCxn id="162" idx="0"/>
            </p:cNvCxnSpPr>
            <p:nvPr/>
          </p:nvCxnSpPr>
          <p:spPr>
            <a:xfrm rot="5400000">
              <a:off x="2655263" y="4318017"/>
              <a:ext cx="299451" cy="1270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Arrow Connector 176">
              <a:extLst>
                <a:ext uri="{FF2B5EF4-FFF2-40B4-BE49-F238E27FC236}">
                  <a16:creationId xmlns:a16="http://schemas.microsoft.com/office/drawing/2014/main" id="{83FAA363-3F15-C35C-6416-0A3D6284613B}"/>
                </a:ext>
              </a:extLst>
            </p:cNvPr>
            <p:cNvCxnSpPr>
              <a:cxnSpLocks/>
              <a:stCxn id="162" idx="4"/>
            </p:cNvCxnSpPr>
            <p:nvPr/>
          </p:nvCxnSpPr>
          <p:spPr>
            <a:xfrm>
              <a:off x="2804988" y="4960142"/>
              <a:ext cx="0" cy="20094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2D5C0724-94FE-347D-D503-538CC60E1E5E}"/>
                </a:ext>
              </a:extLst>
            </p:cNvPr>
            <p:cNvCxnSpPr>
              <a:cxnSpLocks/>
              <a:endCxn id="161" idx="0"/>
            </p:cNvCxnSpPr>
            <p:nvPr/>
          </p:nvCxnSpPr>
          <p:spPr>
            <a:xfrm>
              <a:off x="2804988" y="3474942"/>
              <a:ext cx="0" cy="2009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3A306D94-3C85-8394-DCAB-8D740F4F0705}"/>
                </a:ext>
              </a:extLst>
            </p:cNvPr>
            <p:cNvSpPr txBox="1"/>
            <p:nvPr/>
          </p:nvSpPr>
          <p:spPr>
            <a:xfrm>
              <a:off x="3026487" y="3058679"/>
              <a:ext cx="1321319" cy="34145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Scanned mail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3E54ABF5-DC0A-6811-B6E7-15F82E588EAE}"/>
                </a:ext>
              </a:extLst>
            </p:cNvPr>
            <p:cNvSpPr txBox="1"/>
            <p:nvPr/>
          </p:nvSpPr>
          <p:spPr>
            <a:xfrm>
              <a:off x="3086284" y="3758987"/>
              <a:ext cx="2059469" cy="34145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Orchestrator agent</a:t>
              </a:r>
            </a:p>
          </p:txBody>
        </p:sp>
        <p:pic>
          <p:nvPicPr>
            <p:cNvPr id="196" name="Graphic 195" descr="Robot outline">
              <a:extLst>
                <a:ext uri="{FF2B5EF4-FFF2-40B4-BE49-F238E27FC236}">
                  <a16:creationId xmlns:a16="http://schemas.microsoft.com/office/drawing/2014/main" id="{46C663BD-8471-524C-FB2A-2F6F68E26FE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656145" y="3777107"/>
              <a:ext cx="305213" cy="305214"/>
            </a:xfrm>
            <a:prstGeom prst="rect">
              <a:avLst/>
            </a:prstGeom>
          </p:spPr>
        </p:pic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F48D6772-711C-ADFA-8A60-AB08FCFAE339}"/>
              </a:ext>
            </a:extLst>
          </p:cNvPr>
          <p:cNvSpPr txBox="1"/>
          <p:nvPr/>
        </p:nvSpPr>
        <p:spPr>
          <a:xfrm>
            <a:off x="10261527" y="4236672"/>
            <a:ext cx="1502801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RPA</a:t>
            </a: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5677D084-0E20-5A61-1584-E7E0A156444B}"/>
              </a:ext>
            </a:extLst>
          </p:cNvPr>
          <p:cNvGrpSpPr/>
          <p:nvPr/>
        </p:nvGrpSpPr>
        <p:grpSpPr>
          <a:xfrm>
            <a:off x="9870381" y="2575252"/>
            <a:ext cx="359305" cy="355067"/>
            <a:chOff x="13385779" y="2511056"/>
            <a:chExt cx="492399" cy="492399"/>
          </a:xfrm>
        </p:grpSpPr>
        <p:pic>
          <p:nvPicPr>
            <p:cNvPr id="244" name="Graphic 243" descr="Contract outline">
              <a:extLst>
                <a:ext uri="{FF2B5EF4-FFF2-40B4-BE49-F238E27FC236}">
                  <a16:creationId xmlns:a16="http://schemas.microsoft.com/office/drawing/2014/main" id="{6ED899C8-6F4A-6841-5669-15668564A9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479105" y="2619562"/>
              <a:ext cx="293047" cy="293047"/>
            </a:xfrm>
            <a:prstGeom prst="rect">
              <a:avLst/>
            </a:prstGeom>
          </p:spPr>
        </p:pic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173775A2-89E5-AA6D-9148-FBAA8C4FEADC}"/>
                </a:ext>
              </a:extLst>
            </p:cNvPr>
            <p:cNvSpPr/>
            <p:nvPr/>
          </p:nvSpPr>
          <p:spPr>
            <a:xfrm>
              <a:off x="13385779" y="2511056"/>
              <a:ext cx="492399" cy="492399"/>
            </a:xfrm>
            <a:prstGeom prst="ellipse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29" name="Oval 228">
            <a:extLst>
              <a:ext uri="{FF2B5EF4-FFF2-40B4-BE49-F238E27FC236}">
                <a16:creationId xmlns:a16="http://schemas.microsoft.com/office/drawing/2014/main" id="{175BFB9E-1D1B-5FC1-A30E-4A0D9638B4FD}"/>
              </a:ext>
            </a:extLst>
          </p:cNvPr>
          <p:cNvSpPr/>
          <p:nvPr/>
        </p:nvSpPr>
        <p:spPr>
          <a:xfrm>
            <a:off x="9870381" y="3075223"/>
            <a:ext cx="359305" cy="355067"/>
          </a:xfrm>
          <a:prstGeom prst="ellipse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D32321F4-E49A-9A06-BD78-6EA98BDD5DD4}"/>
              </a:ext>
            </a:extLst>
          </p:cNvPr>
          <p:cNvGrpSpPr/>
          <p:nvPr/>
        </p:nvGrpSpPr>
        <p:grpSpPr>
          <a:xfrm>
            <a:off x="9870381" y="4146192"/>
            <a:ext cx="359305" cy="355067"/>
            <a:chOff x="13385779" y="4417004"/>
            <a:chExt cx="492399" cy="492399"/>
          </a:xfrm>
        </p:grpSpPr>
        <p:pic>
          <p:nvPicPr>
            <p:cNvPr id="242" name="Graphic 241" descr="Workflow outline">
              <a:extLst>
                <a:ext uri="{FF2B5EF4-FFF2-40B4-BE49-F238E27FC236}">
                  <a16:creationId xmlns:a16="http://schemas.microsoft.com/office/drawing/2014/main" id="{55F3C16B-2D96-ACB8-3406-1306BF96F9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470150" y="4515819"/>
              <a:ext cx="336360" cy="336360"/>
            </a:xfrm>
            <a:prstGeom prst="rect">
              <a:avLst/>
            </a:prstGeom>
          </p:spPr>
        </p:pic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0BED9FAE-F332-7B65-5470-6F66E5B89DD6}"/>
                </a:ext>
              </a:extLst>
            </p:cNvPr>
            <p:cNvSpPr/>
            <p:nvPr/>
          </p:nvSpPr>
          <p:spPr>
            <a:xfrm>
              <a:off x="13385779" y="4417004"/>
              <a:ext cx="492399" cy="492399"/>
            </a:xfrm>
            <a:prstGeom prst="ellipse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E558FCF7-120B-0FE4-4638-431EA4E24F3E}"/>
              </a:ext>
            </a:extLst>
          </p:cNvPr>
          <p:cNvCxnSpPr>
            <a:cxnSpLocks/>
            <a:endCxn id="229" idx="0"/>
          </p:cNvCxnSpPr>
          <p:nvPr/>
        </p:nvCxnSpPr>
        <p:spPr>
          <a:xfrm>
            <a:off x="10050034" y="2930319"/>
            <a:ext cx="0" cy="1449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CA7C7DA7-439C-50C6-98F1-BB5DE584CBFD}"/>
              </a:ext>
            </a:extLst>
          </p:cNvPr>
          <p:cNvSpPr txBox="1"/>
          <p:nvPr/>
        </p:nvSpPr>
        <p:spPr>
          <a:xfrm>
            <a:off x="10211662" y="2630153"/>
            <a:ext cx="964171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Scanned mail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BC5DF741-ADE8-0B30-9E77-F9C80C28EC70}"/>
              </a:ext>
            </a:extLst>
          </p:cNvPr>
          <p:cNvSpPr txBox="1"/>
          <p:nvPr/>
        </p:nvSpPr>
        <p:spPr>
          <a:xfrm>
            <a:off x="10255296" y="3135142"/>
            <a:ext cx="1502801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RAG agent</a:t>
            </a:r>
          </a:p>
        </p:txBody>
      </p:sp>
      <p:pic>
        <p:nvPicPr>
          <p:cNvPr id="241" name="Graphic 240" descr="Robot outline">
            <a:extLst>
              <a:ext uri="{FF2B5EF4-FFF2-40B4-BE49-F238E27FC236}">
                <a16:creationId xmlns:a16="http://schemas.microsoft.com/office/drawing/2014/main" id="{630109F8-6C4A-231F-E614-7285026DD2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41422" y="3148208"/>
            <a:ext cx="222715" cy="220088"/>
          </a:xfrm>
          <a:prstGeom prst="rect">
            <a:avLst/>
          </a:prstGeom>
        </p:spPr>
      </p:pic>
      <p:grpSp>
        <p:nvGrpSpPr>
          <p:cNvPr id="255" name="Group 254">
            <a:extLst>
              <a:ext uri="{FF2B5EF4-FFF2-40B4-BE49-F238E27FC236}">
                <a16:creationId xmlns:a16="http://schemas.microsoft.com/office/drawing/2014/main" id="{EDB18BD6-A48F-42A9-6433-15C162207203}"/>
              </a:ext>
            </a:extLst>
          </p:cNvPr>
          <p:cNvGrpSpPr/>
          <p:nvPr/>
        </p:nvGrpSpPr>
        <p:grpSpPr>
          <a:xfrm>
            <a:off x="8846362" y="3075223"/>
            <a:ext cx="359305" cy="355067"/>
            <a:chOff x="9040045" y="3482514"/>
            <a:chExt cx="359305" cy="355067"/>
          </a:xfrm>
        </p:grpSpPr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FBA7E227-AC59-79B7-3A87-CF49FCE0BE7E}"/>
                </a:ext>
              </a:extLst>
            </p:cNvPr>
            <p:cNvSpPr/>
            <p:nvPr/>
          </p:nvSpPr>
          <p:spPr>
            <a:xfrm>
              <a:off x="9040045" y="3482514"/>
              <a:ext cx="359305" cy="355067"/>
            </a:xfrm>
            <a:prstGeom prst="ellipse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250" name="Graphic 249" descr="Database outline">
              <a:extLst>
                <a:ext uri="{FF2B5EF4-FFF2-40B4-BE49-F238E27FC236}">
                  <a16:creationId xmlns:a16="http://schemas.microsoft.com/office/drawing/2014/main" id="{078D98A1-EC53-7228-7E4E-AD713B4154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061705" y="3542433"/>
              <a:ext cx="248507" cy="248508"/>
            </a:xfrm>
            <a:prstGeom prst="rect">
              <a:avLst/>
            </a:prstGeom>
          </p:spPr>
        </p:pic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527C7CC4-796B-819A-8CFA-5C8E7ADB506D}"/>
                </a:ext>
              </a:extLst>
            </p:cNvPr>
            <p:cNvSpPr txBox="1"/>
            <p:nvPr/>
          </p:nvSpPr>
          <p:spPr>
            <a:xfrm>
              <a:off x="9185958" y="3619376"/>
              <a:ext cx="170765" cy="92333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Data</a:t>
              </a:r>
              <a:endParaRPr kumimoji="0" lang="en-GB" sz="6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EFF5823F-7B96-E420-DAA1-708A6B00A768}"/>
              </a:ext>
            </a:extLst>
          </p:cNvPr>
          <p:cNvCxnSpPr>
            <a:stCxn id="249" idx="6"/>
            <a:endCxn id="229" idx="2"/>
          </p:cNvCxnSpPr>
          <p:nvPr/>
        </p:nvCxnSpPr>
        <p:spPr>
          <a:xfrm>
            <a:off x="9205667" y="3252757"/>
            <a:ext cx="66471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TextBox 253">
            <a:extLst>
              <a:ext uri="{FF2B5EF4-FFF2-40B4-BE49-F238E27FC236}">
                <a16:creationId xmlns:a16="http://schemas.microsoft.com/office/drawing/2014/main" id="{D7B0D841-3F5E-3A02-1AEE-749AF054064F}"/>
              </a:ext>
            </a:extLst>
          </p:cNvPr>
          <p:cNvSpPr txBox="1"/>
          <p:nvPr/>
        </p:nvSpPr>
        <p:spPr>
          <a:xfrm>
            <a:off x="9316063" y="3005884"/>
            <a:ext cx="464491" cy="175548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RAG</a:t>
            </a: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D25E92BA-88AE-9B96-4536-B4A97DD46DB8}"/>
              </a:ext>
            </a:extLst>
          </p:cNvPr>
          <p:cNvSpPr/>
          <p:nvPr/>
        </p:nvSpPr>
        <p:spPr>
          <a:xfrm>
            <a:off x="190021" y="1914963"/>
            <a:ext cx="1085252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t"/>
          <a:lstStyle/>
          <a:p>
            <a:r>
              <a:rPr lang="en-US" sz="1400" b="1"/>
              <a:t>Description</a:t>
            </a: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BABCDD69-65C6-26E1-B99D-CDD477CF839C}"/>
              </a:ext>
            </a:extLst>
          </p:cNvPr>
          <p:cNvSpPr/>
          <p:nvPr/>
        </p:nvSpPr>
        <p:spPr>
          <a:xfrm>
            <a:off x="190021" y="4699784"/>
            <a:ext cx="1085252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t"/>
          <a:lstStyle/>
          <a:p>
            <a:r>
              <a:rPr lang="en-US" sz="1400" b="1"/>
              <a:t>Complexity</a:t>
            </a: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2B2154C9-2BFB-4C55-4559-CCDCD65B4CE3}"/>
              </a:ext>
            </a:extLst>
          </p:cNvPr>
          <p:cNvSpPr/>
          <p:nvPr/>
        </p:nvSpPr>
        <p:spPr>
          <a:xfrm>
            <a:off x="1216281" y="4624980"/>
            <a:ext cx="3613790" cy="503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100"/>
              <a:t>One batch of LLM call is made per transaction type by specialized agents</a:t>
            </a:r>
            <a:endParaRPr lang="en-GB" sz="1100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D3DD3BCB-4B2D-5767-43B9-1E2B8F331931}"/>
              </a:ext>
            </a:extLst>
          </p:cNvPr>
          <p:cNvSpPr/>
          <p:nvPr/>
        </p:nvSpPr>
        <p:spPr>
          <a:xfrm>
            <a:off x="4993922" y="4624980"/>
            <a:ext cx="3468374" cy="5976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100"/>
              <a:t>Same methodology, but Orchestrator agent will always make an LLM call to decide which Transaction agent to trigger</a:t>
            </a:r>
            <a:endParaRPr lang="en-GB" sz="1100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DE217831-13D4-7C9F-A180-8C0D02867847}"/>
              </a:ext>
            </a:extLst>
          </p:cNvPr>
          <p:cNvSpPr/>
          <p:nvPr/>
        </p:nvSpPr>
        <p:spPr>
          <a:xfrm>
            <a:off x="8757544" y="4624980"/>
            <a:ext cx="3354768" cy="626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100"/>
              <a:t>One agent that identifies document intent, and refers to a knowledge base of DOPs to classify and extract data</a:t>
            </a: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263D7012-4E13-8B08-BC74-3AF34F20FF0D}"/>
              </a:ext>
            </a:extLst>
          </p:cNvPr>
          <p:cNvSpPr/>
          <p:nvPr/>
        </p:nvSpPr>
        <p:spPr>
          <a:xfrm>
            <a:off x="1454957" y="1460353"/>
            <a:ext cx="2717584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t"/>
          <a:lstStyle/>
          <a:p>
            <a:pPr algn="ctr"/>
            <a:r>
              <a:rPr lang="en-US" sz="1100" b="1">
                <a:solidFill>
                  <a:schemeClr val="accent1"/>
                </a:solidFill>
              </a:rPr>
              <a:t>Multiple specialized agents</a:t>
            </a: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AF247A23-C4ED-C840-A353-2A7CB433DFD6}"/>
              </a:ext>
            </a:extLst>
          </p:cNvPr>
          <p:cNvSpPr/>
          <p:nvPr/>
        </p:nvSpPr>
        <p:spPr>
          <a:xfrm>
            <a:off x="5204148" y="1440458"/>
            <a:ext cx="3084437" cy="3077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t"/>
          <a:lstStyle/>
          <a:p>
            <a:pPr algn="ctr"/>
            <a:r>
              <a:rPr lang="en-US" sz="1100" b="1">
                <a:solidFill>
                  <a:schemeClr val="accent1"/>
                </a:solidFill>
              </a:rPr>
              <a:t>Multiple specialized agents + Orchestrator agent</a:t>
            </a: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BE514304-D7B4-52B0-C704-CCDB14B9B46C}"/>
              </a:ext>
            </a:extLst>
          </p:cNvPr>
          <p:cNvSpPr/>
          <p:nvPr/>
        </p:nvSpPr>
        <p:spPr>
          <a:xfrm>
            <a:off x="8963172" y="1440458"/>
            <a:ext cx="2887567" cy="3077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t"/>
          <a:lstStyle/>
          <a:p>
            <a:pPr algn="ctr"/>
            <a:r>
              <a:rPr lang="en-US" sz="1100" b="1">
                <a:solidFill>
                  <a:schemeClr val="accent1"/>
                </a:solidFill>
              </a:rPr>
              <a:t>Orchestrator agent refers to DOPs using RAG</a:t>
            </a:r>
          </a:p>
        </p:txBody>
      </p: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A69B130D-93E4-9CA0-081C-A54ACC574CE4}"/>
              </a:ext>
            </a:extLst>
          </p:cNvPr>
          <p:cNvCxnSpPr>
            <a:cxnSpLocks/>
            <a:stCxn id="229" idx="4"/>
            <a:endCxn id="243" idx="0"/>
          </p:cNvCxnSpPr>
          <p:nvPr/>
        </p:nvCxnSpPr>
        <p:spPr>
          <a:xfrm>
            <a:off x="10050034" y="3430290"/>
            <a:ext cx="0" cy="7159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8835F648-6A7C-42EF-7045-D6932B00D34A}"/>
              </a:ext>
            </a:extLst>
          </p:cNvPr>
          <p:cNvCxnSpPr>
            <a:cxnSpLocks/>
          </p:cNvCxnSpPr>
          <p:nvPr/>
        </p:nvCxnSpPr>
        <p:spPr>
          <a:xfrm>
            <a:off x="192067" y="4613056"/>
            <a:ext cx="117078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3C5ADB20-BEB7-8740-A6E0-51A2FD05E737}"/>
              </a:ext>
            </a:extLst>
          </p:cNvPr>
          <p:cNvCxnSpPr>
            <a:cxnSpLocks/>
          </p:cNvCxnSpPr>
          <p:nvPr/>
        </p:nvCxnSpPr>
        <p:spPr>
          <a:xfrm>
            <a:off x="192067" y="1737462"/>
            <a:ext cx="117078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3" name="Rectangle 312">
            <a:extLst>
              <a:ext uri="{FF2B5EF4-FFF2-40B4-BE49-F238E27FC236}">
                <a16:creationId xmlns:a16="http://schemas.microsoft.com/office/drawing/2014/main" id="{F6212D2A-6E7C-0BEC-6E38-ADC9CCFB231C}"/>
              </a:ext>
            </a:extLst>
          </p:cNvPr>
          <p:cNvSpPr/>
          <p:nvPr/>
        </p:nvSpPr>
        <p:spPr>
          <a:xfrm>
            <a:off x="190021" y="2580727"/>
            <a:ext cx="1085252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t"/>
          <a:lstStyle/>
          <a:p>
            <a:r>
              <a:rPr lang="en-US" sz="1400" b="1"/>
              <a:t>Schematic flow</a:t>
            </a:r>
          </a:p>
        </p:txBody>
      </p: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410A0CF9-B6C6-71B0-466B-997986B03ED1}"/>
              </a:ext>
            </a:extLst>
          </p:cNvPr>
          <p:cNvCxnSpPr>
            <a:cxnSpLocks/>
          </p:cNvCxnSpPr>
          <p:nvPr/>
        </p:nvCxnSpPr>
        <p:spPr>
          <a:xfrm>
            <a:off x="192067" y="2428339"/>
            <a:ext cx="117078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B37B72FA-ACCD-F7EC-DCA5-111CE3C5B441}"/>
              </a:ext>
            </a:extLst>
          </p:cNvPr>
          <p:cNvCxnSpPr>
            <a:cxnSpLocks/>
          </p:cNvCxnSpPr>
          <p:nvPr/>
        </p:nvCxnSpPr>
        <p:spPr>
          <a:xfrm>
            <a:off x="192067" y="1430626"/>
            <a:ext cx="117078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Rectangle 317">
            <a:extLst>
              <a:ext uri="{FF2B5EF4-FFF2-40B4-BE49-F238E27FC236}">
                <a16:creationId xmlns:a16="http://schemas.microsoft.com/office/drawing/2014/main" id="{7B57384E-C826-B309-A957-973436CF7BFD}"/>
              </a:ext>
            </a:extLst>
          </p:cNvPr>
          <p:cNvSpPr/>
          <p:nvPr/>
        </p:nvSpPr>
        <p:spPr>
          <a:xfrm>
            <a:off x="209685" y="1436606"/>
            <a:ext cx="1085252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t"/>
          <a:lstStyle/>
          <a:p>
            <a:r>
              <a:rPr lang="en-US" sz="1400" b="1"/>
              <a:t>Approach</a:t>
            </a:r>
          </a:p>
        </p:txBody>
      </p: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1EBEABBC-D3F3-D8A0-DAE6-054FE09ED84F}"/>
              </a:ext>
            </a:extLst>
          </p:cNvPr>
          <p:cNvCxnSpPr>
            <a:cxnSpLocks/>
          </p:cNvCxnSpPr>
          <p:nvPr/>
        </p:nvCxnSpPr>
        <p:spPr>
          <a:xfrm>
            <a:off x="8575114" y="1430626"/>
            <a:ext cx="0" cy="51804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Rectangle 324">
            <a:extLst>
              <a:ext uri="{FF2B5EF4-FFF2-40B4-BE49-F238E27FC236}">
                <a16:creationId xmlns:a16="http://schemas.microsoft.com/office/drawing/2014/main" id="{4C164857-8D18-46A1-DE89-58FBC015231D}"/>
              </a:ext>
            </a:extLst>
          </p:cNvPr>
          <p:cNvSpPr/>
          <p:nvPr/>
        </p:nvSpPr>
        <p:spPr>
          <a:xfrm>
            <a:off x="1454957" y="1186941"/>
            <a:ext cx="2717584" cy="1780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050"/>
              <a:t>Option 1A</a:t>
            </a: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30364A97-7C85-2173-0956-B39D97DC477F}"/>
              </a:ext>
            </a:extLst>
          </p:cNvPr>
          <p:cNvSpPr/>
          <p:nvPr/>
        </p:nvSpPr>
        <p:spPr>
          <a:xfrm>
            <a:off x="5236199" y="1186941"/>
            <a:ext cx="2717584" cy="1780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050"/>
              <a:t>Option 1B</a:t>
            </a: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73B206A8-F044-1DFF-B0AA-4D182041171E}"/>
              </a:ext>
            </a:extLst>
          </p:cNvPr>
          <p:cNvSpPr/>
          <p:nvPr/>
        </p:nvSpPr>
        <p:spPr>
          <a:xfrm>
            <a:off x="8805345" y="1186941"/>
            <a:ext cx="2717584" cy="1780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050"/>
              <a:t>Option 2</a:t>
            </a:r>
          </a:p>
        </p:txBody>
      </p:sp>
      <p:sp>
        <p:nvSpPr>
          <p:cNvPr id="335" name="Rectangle: Rounded Corners 334">
            <a:extLst>
              <a:ext uri="{FF2B5EF4-FFF2-40B4-BE49-F238E27FC236}">
                <a16:creationId xmlns:a16="http://schemas.microsoft.com/office/drawing/2014/main" id="{D2E84F70-36AE-E467-AF6A-3FCEECE4A17F}"/>
              </a:ext>
            </a:extLst>
          </p:cNvPr>
          <p:cNvSpPr/>
          <p:nvPr/>
        </p:nvSpPr>
        <p:spPr>
          <a:xfrm>
            <a:off x="7273263" y="5078638"/>
            <a:ext cx="1114607" cy="187915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No RAG</a:t>
            </a:r>
            <a:endParaRPr lang="en-GB" sz="1200">
              <a:solidFill>
                <a:schemeClr val="bg1"/>
              </a:solidFill>
            </a:endParaRP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806508ED-1DDB-A0E7-628B-602D320B1C0A}"/>
              </a:ext>
            </a:extLst>
          </p:cNvPr>
          <p:cNvSpPr/>
          <p:nvPr/>
        </p:nvSpPr>
        <p:spPr>
          <a:xfrm>
            <a:off x="1531560" y="6542675"/>
            <a:ext cx="2718529" cy="2121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i="1">
                <a:solidFill>
                  <a:schemeClr val="accent6"/>
                </a:solidFill>
              </a:rPr>
              <a:t>Current timeline based on Option 1A</a:t>
            </a:r>
            <a:endParaRPr lang="en-GB" sz="1200" i="1">
              <a:solidFill>
                <a:schemeClr val="accent6"/>
              </a:solidFill>
            </a:endParaRPr>
          </a:p>
        </p:txBody>
      </p: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24FC142E-319F-DA8D-EF5B-16D3761B9C8E}"/>
              </a:ext>
            </a:extLst>
          </p:cNvPr>
          <p:cNvCxnSpPr>
            <a:cxnSpLocks/>
          </p:cNvCxnSpPr>
          <p:nvPr/>
        </p:nvCxnSpPr>
        <p:spPr>
          <a:xfrm>
            <a:off x="4758293" y="1430626"/>
            <a:ext cx="0" cy="52646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C0CABFB7-963D-A95E-CD3C-D6ADE7DFF429}"/>
              </a:ext>
            </a:extLst>
          </p:cNvPr>
          <p:cNvCxnSpPr>
            <a:cxnSpLocks/>
          </p:cNvCxnSpPr>
          <p:nvPr/>
        </p:nvCxnSpPr>
        <p:spPr>
          <a:xfrm>
            <a:off x="192067" y="5336956"/>
            <a:ext cx="117078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Rectangle 339">
            <a:extLst>
              <a:ext uri="{FF2B5EF4-FFF2-40B4-BE49-F238E27FC236}">
                <a16:creationId xmlns:a16="http://schemas.microsoft.com/office/drawing/2014/main" id="{4F740519-9B2F-2A8C-6A34-93DBEDC89681}"/>
              </a:ext>
            </a:extLst>
          </p:cNvPr>
          <p:cNvSpPr/>
          <p:nvPr/>
        </p:nvSpPr>
        <p:spPr>
          <a:xfrm>
            <a:off x="190021" y="5590827"/>
            <a:ext cx="1085252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t"/>
          <a:lstStyle/>
          <a:p>
            <a:r>
              <a:rPr lang="en-US" sz="1400" b="1"/>
              <a:t>Pro’s/Cons</a:t>
            </a: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4ABBF376-72CF-2583-2CD0-EF9BC68B85CB}"/>
              </a:ext>
            </a:extLst>
          </p:cNvPr>
          <p:cNvSpPr/>
          <p:nvPr/>
        </p:nvSpPr>
        <p:spPr>
          <a:xfrm>
            <a:off x="1222301" y="5393498"/>
            <a:ext cx="3464216" cy="10307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100" b="1">
                <a:solidFill>
                  <a:srgbClr val="00B050"/>
                </a:solidFill>
              </a:rPr>
              <a:t>+</a:t>
            </a:r>
            <a:r>
              <a:rPr lang="en-US" sz="1100"/>
              <a:t> </a:t>
            </a:r>
            <a:r>
              <a:rPr lang="en-US" sz="1100" b="1">
                <a:solidFill>
                  <a:srgbClr val="00B050"/>
                </a:solidFill>
              </a:rPr>
              <a:t>Scalability</a:t>
            </a:r>
            <a:r>
              <a:rPr lang="en-US" sz="1100">
                <a:solidFill>
                  <a:srgbClr val="00B050"/>
                </a:solidFill>
              </a:rPr>
              <a:t>: </a:t>
            </a:r>
            <a:r>
              <a:rPr lang="en-US" sz="1100"/>
              <a:t>Accessible way to create specialized agents per transaction type based on DOPs</a:t>
            </a:r>
          </a:p>
          <a:p>
            <a:r>
              <a:rPr lang="en-US" sz="1100" b="1">
                <a:solidFill>
                  <a:srgbClr val="FF0000"/>
                </a:solidFill>
              </a:rPr>
              <a:t>- Maintenance</a:t>
            </a:r>
            <a:r>
              <a:rPr lang="en-US" sz="1100">
                <a:solidFill>
                  <a:srgbClr val="FF0000"/>
                </a:solidFill>
              </a:rPr>
              <a:t>: </a:t>
            </a:r>
            <a:r>
              <a:rPr lang="en-US" sz="1100"/>
              <a:t>Prompts need to be maintained individually, QA will be manual in case of errors</a:t>
            </a:r>
          </a:p>
          <a:p>
            <a:r>
              <a:rPr lang="en-US" sz="1100" b="1">
                <a:solidFill>
                  <a:srgbClr val="FF0000"/>
                </a:solidFill>
              </a:rPr>
              <a:t>- Observability: </a:t>
            </a:r>
            <a:r>
              <a:rPr lang="en-US" sz="1100">
                <a:solidFill>
                  <a:schemeClr val="tx1"/>
                </a:solidFill>
              </a:rPr>
              <a:t>No grounding mechanism as it does not refer to external documentation to cite as source</a:t>
            </a:r>
            <a:endParaRPr lang="en-GB" sz="1100">
              <a:solidFill>
                <a:schemeClr val="tx1"/>
              </a:solidFill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C90CDE8A-E746-7DAD-669A-21747D4BF90C}"/>
              </a:ext>
            </a:extLst>
          </p:cNvPr>
          <p:cNvSpPr/>
          <p:nvPr/>
        </p:nvSpPr>
        <p:spPr>
          <a:xfrm>
            <a:off x="4891253" y="5393499"/>
            <a:ext cx="3324819" cy="503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100"/>
              <a:t>Extension of Option 1, with additional Orchestration layer </a:t>
            </a:r>
            <a:endParaRPr lang="en-GB" sz="1100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1CFFA527-45F5-336C-05B5-E6637583A9B6}"/>
              </a:ext>
            </a:extLst>
          </p:cNvPr>
          <p:cNvSpPr/>
          <p:nvPr/>
        </p:nvSpPr>
        <p:spPr>
          <a:xfrm>
            <a:off x="8653543" y="5393497"/>
            <a:ext cx="3324819" cy="13476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100" b="1">
                <a:solidFill>
                  <a:srgbClr val="00B050"/>
                </a:solidFill>
              </a:rPr>
              <a:t>+ Scalability</a:t>
            </a:r>
            <a:r>
              <a:rPr lang="en-US" sz="1100" b="1"/>
              <a:t>: </a:t>
            </a:r>
            <a:r>
              <a:rPr lang="en-US" sz="1100"/>
              <a:t>Does not require 70+ individual prompts, matches transaction type to DOP rules.</a:t>
            </a:r>
          </a:p>
          <a:p>
            <a:r>
              <a:rPr lang="en-US" sz="1100" b="1">
                <a:solidFill>
                  <a:srgbClr val="00B050"/>
                </a:solidFill>
              </a:rPr>
              <a:t>+ Maintenance: </a:t>
            </a:r>
            <a:r>
              <a:rPr lang="en-US" sz="1100">
                <a:solidFill>
                  <a:schemeClr val="tx1"/>
                </a:solidFill>
              </a:rPr>
              <a:t>Can update a single prompt, DOPs need to be updated with explicit descriptions</a:t>
            </a:r>
          </a:p>
          <a:p>
            <a:r>
              <a:rPr lang="en-US" sz="1100" b="1">
                <a:solidFill>
                  <a:srgbClr val="00B050"/>
                </a:solidFill>
              </a:rPr>
              <a:t>+ Observability: </a:t>
            </a:r>
            <a:r>
              <a:rPr lang="en-US" sz="1100">
                <a:solidFill>
                  <a:schemeClr val="tx1"/>
                </a:solidFill>
              </a:rPr>
              <a:t>LLM grounds answers by citing DOPs, allows us to trace decisions to exact knowledge source</a:t>
            </a:r>
            <a:endParaRPr lang="en-GB" sz="11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32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7796-3028-7523-58F7-3A7545942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D670D4-8C6B-FCC6-0B57-FEDEC5C5B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4" y="2664688"/>
            <a:ext cx="9534525" cy="1528624"/>
          </a:xfrm>
        </p:spPr>
        <p:txBody>
          <a:bodyPr wrap="square" anchor="ctr">
            <a:normAutofit/>
          </a:bodyPr>
          <a:lstStyle/>
          <a:p>
            <a:r>
              <a:rPr lang="en-GB"/>
              <a:t>Reference &amp; Old Slides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AD2E5F47-90A5-83FB-2731-0C0CAE62251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0BBDC51F-5D11-B24C-B440-508FFDF318C8}" type="slidenum">
              <a:rPr kumimoji="0" lang="en-AU" sz="1800" b="0" i="0" u="none" strike="noStrike" kern="1200" cap="none" spc="0" normalizeH="0" baseline="0" noProof="0" smtClean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244B38-BEDD-4AD1-BE31-A0BFC2BAF2F3}"/>
              </a:ext>
            </a:extLst>
          </p:cNvPr>
          <p:cNvSpPr txBox="1"/>
          <p:nvPr/>
        </p:nvSpPr>
        <p:spPr>
          <a:xfrm>
            <a:off x="5086348" y="5425559"/>
            <a:ext cx="2009775" cy="369332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10 mins</a:t>
            </a:r>
          </a:p>
        </p:txBody>
      </p:sp>
    </p:spTree>
    <p:extLst>
      <p:ext uri="{BB962C8B-B14F-4D97-AF65-F5344CB8AC3E}">
        <p14:creationId xmlns:p14="http://schemas.microsoft.com/office/powerpoint/2010/main" val="2963168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E995D-53CC-206A-8F97-40ADEB81D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6D884FE-C32B-F14B-DFC2-7D1053940987}"/>
              </a:ext>
            </a:extLst>
          </p:cNvPr>
          <p:cNvSpPr/>
          <p:nvPr/>
        </p:nvSpPr>
        <p:spPr>
          <a:xfrm>
            <a:off x="7909194" y="4914264"/>
            <a:ext cx="4080595" cy="1803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124A3D-85C7-C2E3-B79E-05BF873EF113}"/>
              </a:ext>
            </a:extLst>
          </p:cNvPr>
          <p:cNvSpPr/>
          <p:nvPr/>
        </p:nvSpPr>
        <p:spPr>
          <a:xfrm>
            <a:off x="7852374" y="579609"/>
            <a:ext cx="4132876" cy="27464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3C17C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19BA92D-553C-06F2-0BB9-141BB42F548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9BA92D-553C-06F2-0BB9-141BB42F54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2C59B2B-7F47-362A-30E0-554C5C55D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b="1"/>
              <a:t>Recap: </a:t>
            </a:r>
            <a:r>
              <a:rPr lang="en-GB"/>
              <a:t>Current incoming mail flow</a:t>
            </a:r>
          </a:p>
        </p:txBody>
      </p:sp>
      <p:pic>
        <p:nvPicPr>
          <p:cNvPr id="18" name="Graphic 17" descr="Envelope outline">
            <a:extLst>
              <a:ext uri="{FF2B5EF4-FFF2-40B4-BE49-F238E27FC236}">
                <a16:creationId xmlns:a16="http://schemas.microsoft.com/office/drawing/2014/main" id="{AC781914-F7EE-2399-BBF5-7EA2F9CB55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4332" y="3333639"/>
            <a:ext cx="659205" cy="530389"/>
          </a:xfrm>
          <a:prstGeom prst="rect">
            <a:avLst/>
          </a:prstGeom>
        </p:spPr>
      </p:pic>
      <p:pic>
        <p:nvPicPr>
          <p:cNvPr id="20" name="Graphic 19" descr="User outline">
            <a:extLst>
              <a:ext uri="{FF2B5EF4-FFF2-40B4-BE49-F238E27FC236}">
                <a16:creationId xmlns:a16="http://schemas.microsoft.com/office/drawing/2014/main" id="{F1D1A373-802C-6A70-CC38-66265696EC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17240" y="3343286"/>
            <a:ext cx="579887" cy="57988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74B9A97-1B67-E638-3FDC-D913AAD7193C}"/>
              </a:ext>
            </a:extLst>
          </p:cNvPr>
          <p:cNvSpPr txBox="1"/>
          <p:nvPr/>
        </p:nvSpPr>
        <p:spPr>
          <a:xfrm>
            <a:off x="440181" y="4251665"/>
            <a:ext cx="761501" cy="66172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Incoming mail 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received in mailroom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DC9EC1-376C-7318-6735-E7D292F9521A}"/>
              </a:ext>
            </a:extLst>
          </p:cNvPr>
          <p:cNvSpPr txBox="1"/>
          <p:nvPr/>
        </p:nvSpPr>
        <p:spPr>
          <a:xfrm>
            <a:off x="1411002" y="4251665"/>
            <a:ext cx="879268" cy="1123384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Mail is opened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, and pages physically sorted and assigned batch numbers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D395803-9605-24F5-6A3E-0040A0F3578E}"/>
              </a:ext>
            </a:extLst>
          </p:cNvPr>
          <p:cNvCxnSpPr>
            <a:cxnSpLocks/>
          </p:cNvCxnSpPr>
          <p:nvPr/>
        </p:nvCxnSpPr>
        <p:spPr>
          <a:xfrm>
            <a:off x="1927812" y="3604083"/>
            <a:ext cx="434121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0F706DF8-41B5-0FAA-7B0E-CEACF9C8DAFF}"/>
              </a:ext>
            </a:extLst>
          </p:cNvPr>
          <p:cNvSpPr txBox="1"/>
          <p:nvPr/>
        </p:nvSpPr>
        <p:spPr>
          <a:xfrm>
            <a:off x="2475377" y="4251665"/>
            <a:ext cx="666165" cy="66172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Pages are scanned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through scanners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9DBFDD5-23CE-FFCE-A043-BCDBEA5CD361}"/>
              </a:ext>
            </a:extLst>
          </p:cNvPr>
          <p:cNvSpPr/>
          <p:nvPr/>
        </p:nvSpPr>
        <p:spPr>
          <a:xfrm>
            <a:off x="2477688" y="2373805"/>
            <a:ext cx="1327708" cy="8383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5.6M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pages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05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are scanned (US)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22M pages (Global)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AE06CF2-7311-1DF6-38E1-DB3FD6479C94}"/>
              </a:ext>
            </a:extLst>
          </p:cNvPr>
          <p:cNvSpPr/>
          <p:nvPr/>
        </p:nvSpPr>
        <p:spPr>
          <a:xfrm>
            <a:off x="9120667" y="5228757"/>
            <a:ext cx="2417995" cy="9901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1.5M transactions 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sent to SCRIP for automated updates.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There are </a:t>
            </a: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337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unique form types in the US that are eligible for automated updates 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(e.g., RPO1UDC, HV_23UW9, PX_LMH24a)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BFD1B77-1787-DFB5-E7B5-C31D3DE7610B}"/>
              </a:ext>
            </a:extLst>
          </p:cNvPr>
          <p:cNvSpPr/>
          <p:nvPr/>
        </p:nvSpPr>
        <p:spPr>
          <a:xfrm>
            <a:off x="9260367" y="639044"/>
            <a:ext cx="2588957" cy="25961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4.1M (73%)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pages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are sent to manual teams for processing. This is made up of…</a:t>
            </a:r>
          </a:p>
          <a:p>
            <a:pPr marL="92075" marR="0" lvl="1" indent="-92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3.9M unknown pages 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(e.g., handwritten unstructured pages)</a:t>
            </a:r>
          </a:p>
          <a:p>
            <a:pPr marL="92075" marR="0" lvl="1" indent="-92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0.2M recognised forms 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(e.g., WF_254UTR, WF_2000DRT)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 Workflow, these results in…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~1M transactions 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(originated from  mails) that teams manually process</a:t>
            </a: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0.6M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transactions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in Workflow originated from unknown mail (‘Workflow’)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0.3M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transactions</a:t>
            </a: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from rerouted transactions (‘HV’)</a:t>
            </a:r>
          </a:p>
        </p:txBody>
      </p:sp>
      <p:pic>
        <p:nvPicPr>
          <p:cNvPr id="5" name="Graphic 4" descr="Photocopier outline">
            <a:extLst>
              <a:ext uri="{FF2B5EF4-FFF2-40B4-BE49-F238E27FC236}">
                <a16:creationId xmlns:a16="http://schemas.microsoft.com/office/drawing/2014/main" id="{D2F578CB-5EC9-758D-C57A-77C52936E9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3771" y="3326629"/>
            <a:ext cx="554907" cy="554907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0E6A841-E804-9042-5299-D4DAECC510FB}"/>
              </a:ext>
            </a:extLst>
          </p:cNvPr>
          <p:cNvCxnSpPr>
            <a:cxnSpLocks/>
          </p:cNvCxnSpPr>
          <p:nvPr/>
        </p:nvCxnSpPr>
        <p:spPr>
          <a:xfrm>
            <a:off x="1068477" y="3604083"/>
            <a:ext cx="434121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213787A-87E9-89BC-5689-46C1A094FF28}"/>
              </a:ext>
            </a:extLst>
          </p:cNvPr>
          <p:cNvCxnSpPr>
            <a:cxnSpLocks/>
          </p:cNvCxnSpPr>
          <p:nvPr/>
        </p:nvCxnSpPr>
        <p:spPr>
          <a:xfrm>
            <a:off x="3044178" y="3604083"/>
            <a:ext cx="434121" cy="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2A9A7602-8826-7BC7-A65F-A64013B5E700}"/>
              </a:ext>
            </a:extLst>
          </p:cNvPr>
          <p:cNvSpPr/>
          <p:nvPr/>
        </p:nvSpPr>
        <p:spPr>
          <a:xfrm>
            <a:off x="429099" y="2373805"/>
            <a:ext cx="1327708" cy="5303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2.7M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mails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105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received in mailroom per year </a:t>
            </a:r>
            <a:r>
              <a:rPr kumimoji="0" lang="en-GB" sz="105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(US, 2024)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6EE859B-3523-6805-066E-B09FB42E82D9}"/>
              </a:ext>
            </a:extLst>
          </p:cNvPr>
          <p:cNvSpPr txBox="1"/>
          <p:nvPr/>
        </p:nvSpPr>
        <p:spPr>
          <a:xfrm>
            <a:off x="3427902" y="4251665"/>
            <a:ext cx="858112" cy="50783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Pages are read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through OCR software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pic>
        <p:nvPicPr>
          <p:cNvPr id="55" name="Graphic 54" descr="Magnifying glass with solid fill">
            <a:extLst>
              <a:ext uri="{FF2B5EF4-FFF2-40B4-BE49-F238E27FC236}">
                <a16:creationId xmlns:a16="http://schemas.microsoft.com/office/drawing/2014/main" id="{CA9D83B2-06A6-E8AC-FE69-92B17A596A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49123" y="3402532"/>
            <a:ext cx="432000" cy="432000"/>
          </a:xfrm>
          <a:prstGeom prst="rect">
            <a:avLst/>
          </a:prstGeom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59D9DB7-7955-04B7-8F9A-B5531233C03F}"/>
              </a:ext>
            </a:extLst>
          </p:cNvPr>
          <p:cNvCxnSpPr>
            <a:cxnSpLocks/>
          </p:cNvCxnSpPr>
          <p:nvPr/>
        </p:nvCxnSpPr>
        <p:spPr>
          <a:xfrm>
            <a:off x="4019728" y="3604083"/>
            <a:ext cx="434121" cy="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9" name="Graphic 78" descr="Programmer male outline">
            <a:extLst>
              <a:ext uri="{FF2B5EF4-FFF2-40B4-BE49-F238E27FC236}">
                <a16:creationId xmlns:a16="http://schemas.microsoft.com/office/drawing/2014/main" id="{FD26FB02-F502-6ABB-22B5-9C70B212EF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12040" y="1143980"/>
            <a:ext cx="914400" cy="914400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5931BF4D-3BFF-D775-9E89-32ABC40D3586}"/>
              </a:ext>
            </a:extLst>
          </p:cNvPr>
          <p:cNvSpPr txBox="1"/>
          <p:nvPr/>
        </p:nvSpPr>
        <p:spPr>
          <a:xfrm>
            <a:off x="8242705" y="2169965"/>
            <a:ext cx="829434" cy="969496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Documents manually processed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from work items in Workflow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89ECF32-858E-4157-174A-BD91B3BC1EAC}"/>
              </a:ext>
            </a:extLst>
          </p:cNvPr>
          <p:cNvSpPr txBox="1"/>
          <p:nvPr/>
        </p:nvSpPr>
        <p:spPr>
          <a:xfrm>
            <a:off x="8288355" y="5752802"/>
            <a:ext cx="849789" cy="50783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SCRIP is updated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automatically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0639A35-F98C-9143-B50E-E32C15DB8051}"/>
              </a:ext>
            </a:extLst>
          </p:cNvPr>
          <p:cNvSpPr txBox="1"/>
          <p:nvPr/>
        </p:nvSpPr>
        <p:spPr>
          <a:xfrm>
            <a:off x="4363066" y="4251665"/>
            <a:ext cx="995114" cy="143116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Pages are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stored and sorted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according to business logic by EDC into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recognized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and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unknown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forms (or transaction types)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163D25C-AB0D-AD54-286B-418AC56527B1}"/>
              </a:ext>
            </a:extLst>
          </p:cNvPr>
          <p:cNvSpPr txBox="1"/>
          <p:nvPr/>
        </p:nvSpPr>
        <p:spPr>
          <a:xfrm>
            <a:off x="6639199" y="5623857"/>
            <a:ext cx="1178762" cy="969496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EDC does secondary reroutes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of out certain known forms for manual teams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(e.g., Address changes, COA)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6D8D919A-E4A5-9F76-CA7C-A2B19477BB3C}"/>
              </a:ext>
            </a:extLst>
          </p:cNvPr>
          <p:cNvCxnSpPr>
            <a:cxnSpLocks/>
          </p:cNvCxnSpPr>
          <p:nvPr/>
        </p:nvCxnSpPr>
        <p:spPr>
          <a:xfrm flipV="1">
            <a:off x="7095375" y="1535882"/>
            <a:ext cx="0" cy="3500030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AD3B4F8A-6F64-C6C0-D545-A25327D59F29}"/>
              </a:ext>
            </a:extLst>
          </p:cNvPr>
          <p:cNvCxnSpPr>
            <a:cxnSpLocks/>
          </p:cNvCxnSpPr>
          <p:nvPr/>
        </p:nvCxnSpPr>
        <p:spPr>
          <a:xfrm flipV="1">
            <a:off x="4986945" y="1533067"/>
            <a:ext cx="2865429" cy="2079248"/>
          </a:xfrm>
          <a:prstGeom prst="bentConnector3">
            <a:avLst>
              <a:gd name="adj1" fmla="val 32449"/>
            </a:avLst>
          </a:prstGeom>
          <a:ln w="28575">
            <a:solidFill>
              <a:srgbClr val="3C17C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288B820A-33CD-2897-FEBF-57F1D3752E2A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64782" y="3454735"/>
            <a:ext cx="1760064" cy="1980329"/>
          </a:xfrm>
          <a:prstGeom prst="bentConnector4">
            <a:avLst>
              <a:gd name="adj1" fmla="val 4330"/>
              <a:gd name="adj2" fmla="val 53340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F5FD64A5-18D9-B282-AA32-7561B33414C0}"/>
              </a:ext>
            </a:extLst>
          </p:cNvPr>
          <p:cNvSpPr txBox="1"/>
          <p:nvPr/>
        </p:nvSpPr>
        <p:spPr>
          <a:xfrm>
            <a:off x="5251912" y="2403184"/>
            <a:ext cx="1086465" cy="437982"/>
          </a:xfrm>
          <a:prstGeom prst="roundRect">
            <a:avLst/>
          </a:prstGeom>
          <a:solidFill>
            <a:schemeClr val="accent4"/>
          </a:solidFill>
          <a:ln w="25400">
            <a:solidFill>
              <a:srgbClr val="3C17CF"/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Unknown volumes </a:t>
            </a:r>
            <a:r>
              <a:rPr kumimoji="0" lang="en-US" sz="7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semi- and un-structured (i.e., ‘Workflow’ and ‘HV’)</a:t>
            </a:r>
            <a:endParaRPr kumimoji="0" lang="en-GB" sz="7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599CCE8-47A7-7B41-B744-0CF69344C129}"/>
              </a:ext>
            </a:extLst>
          </p:cNvPr>
          <p:cNvSpPr txBox="1"/>
          <p:nvPr/>
        </p:nvSpPr>
        <p:spPr>
          <a:xfrm>
            <a:off x="5390606" y="4267166"/>
            <a:ext cx="913920" cy="676345"/>
          </a:xfrm>
          <a:prstGeom prst="roundRect">
            <a:avLst/>
          </a:prstGeom>
          <a:solidFill>
            <a:schemeClr val="accent1"/>
          </a:solidFill>
          <a:ln w="25400">
            <a:solidFill>
              <a:schemeClr val="accent1"/>
            </a:solidFill>
          </a:ln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Known form volumes </a:t>
            </a:r>
            <a:r>
              <a:rPr kumimoji="0" lang="en-US" sz="7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or transactions, </a:t>
            </a:r>
            <a:r>
              <a:rPr kumimoji="0" lang="en-US" sz="7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kumimoji="0" lang="en-US" sz="7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structured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(i.e., ‘HV’)</a:t>
            </a:r>
            <a:endParaRPr kumimoji="0" lang="en-GB" sz="7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B726807-3010-12B1-1CDE-A9F8D284C78A}"/>
              </a:ext>
            </a:extLst>
          </p:cNvPr>
          <p:cNvSpPr txBox="1"/>
          <p:nvPr/>
        </p:nvSpPr>
        <p:spPr>
          <a:xfrm>
            <a:off x="6681630" y="2958511"/>
            <a:ext cx="949014" cy="1149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ysDash"/>
          </a:ln>
        </p:spPr>
        <p:txBody>
          <a:bodyPr wrap="square" lIns="36000" tIns="36000" rIns="36000" bIns="3600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~0.5M transactions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rerouted to workflow (HV)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(e.g., Address changes, COA, DRSReject)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734C2F4E-396A-C4C6-9686-FF65D72623C7}"/>
              </a:ext>
            </a:extLst>
          </p:cNvPr>
          <p:cNvCxnSpPr>
            <a:cxnSpLocks/>
          </p:cNvCxnSpPr>
          <p:nvPr/>
        </p:nvCxnSpPr>
        <p:spPr>
          <a:xfrm>
            <a:off x="7432352" y="5324932"/>
            <a:ext cx="474509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E6E77AA4-725D-487D-27D9-C19E3C826A7C}"/>
              </a:ext>
            </a:extLst>
          </p:cNvPr>
          <p:cNvCxnSpPr>
            <a:cxnSpLocks/>
          </p:cNvCxnSpPr>
          <p:nvPr/>
        </p:nvCxnSpPr>
        <p:spPr>
          <a:xfrm flipV="1">
            <a:off x="10190630" y="3335479"/>
            <a:ext cx="0" cy="1577906"/>
          </a:xfrm>
          <a:prstGeom prst="straightConnector1">
            <a:avLst/>
          </a:prstGeom>
          <a:ln w="19050">
            <a:solidFill>
              <a:schemeClr val="accent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F2F040F4-0C3E-DB62-9AB0-55772129FE20}"/>
              </a:ext>
            </a:extLst>
          </p:cNvPr>
          <p:cNvSpPr txBox="1"/>
          <p:nvPr/>
        </p:nvSpPr>
        <p:spPr>
          <a:xfrm>
            <a:off x="9864411" y="3927850"/>
            <a:ext cx="725262" cy="534368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ysDash"/>
          </a:ln>
        </p:spPr>
        <p:txBody>
          <a:bodyPr wrap="square" lIns="36000" tIns="36000" rIns="36000" bIns="3600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~20%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automation error rate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EAE7D55-8D53-7E38-A186-BF6BCF808CA0}"/>
              </a:ext>
            </a:extLst>
          </p:cNvPr>
          <p:cNvGrpSpPr/>
          <p:nvPr/>
        </p:nvGrpSpPr>
        <p:grpSpPr>
          <a:xfrm>
            <a:off x="6834979" y="5060656"/>
            <a:ext cx="570004" cy="528549"/>
            <a:chOff x="7043458" y="5050824"/>
            <a:chExt cx="570004" cy="528549"/>
          </a:xfrm>
        </p:grpSpPr>
        <p:pic>
          <p:nvPicPr>
            <p:cNvPr id="101" name="Graphic 100" descr="Database outline">
              <a:extLst>
                <a:ext uri="{FF2B5EF4-FFF2-40B4-BE49-F238E27FC236}">
                  <a16:creationId xmlns:a16="http://schemas.microsoft.com/office/drawing/2014/main" id="{820F931A-2E73-5BF8-22B6-CB2A118618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043458" y="5050824"/>
              <a:ext cx="528549" cy="528549"/>
            </a:xfrm>
            <a:prstGeom prst="rect">
              <a:avLst/>
            </a:prstGeom>
          </p:spPr>
        </p:pic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9C0E6C77-29B8-09EB-C500-6B4EB1575A12}"/>
                </a:ext>
              </a:extLst>
            </p:cNvPr>
            <p:cNvSpPr txBox="1"/>
            <p:nvPr/>
          </p:nvSpPr>
          <p:spPr>
            <a:xfrm>
              <a:off x="7348872" y="5285408"/>
              <a:ext cx="264590" cy="153888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444444">
                      <a:lumMod val="50000"/>
                    </a:srgb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EDC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444444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0DA54B2-0988-3C3C-F187-ED8C412BC906}"/>
              </a:ext>
            </a:extLst>
          </p:cNvPr>
          <p:cNvGrpSpPr/>
          <p:nvPr/>
        </p:nvGrpSpPr>
        <p:grpSpPr>
          <a:xfrm>
            <a:off x="4437984" y="3335479"/>
            <a:ext cx="548961" cy="528549"/>
            <a:chOff x="4967053" y="3335479"/>
            <a:chExt cx="548961" cy="528549"/>
          </a:xfrm>
        </p:grpSpPr>
        <p:pic>
          <p:nvPicPr>
            <p:cNvPr id="90" name="Graphic 89" descr="Database outline">
              <a:extLst>
                <a:ext uri="{FF2B5EF4-FFF2-40B4-BE49-F238E27FC236}">
                  <a16:creationId xmlns:a16="http://schemas.microsoft.com/office/drawing/2014/main" id="{C384C4E6-25DA-94A5-7A13-14404A861A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967053" y="3335479"/>
              <a:ext cx="528549" cy="528549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C4F299B5-B255-8F53-2C51-7119C97BAD40}"/>
                </a:ext>
              </a:extLst>
            </p:cNvPr>
            <p:cNvSpPr txBox="1"/>
            <p:nvPr/>
          </p:nvSpPr>
          <p:spPr>
            <a:xfrm>
              <a:off x="5251424" y="3564867"/>
              <a:ext cx="264590" cy="153888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444444">
                      <a:lumMod val="50000"/>
                    </a:srgb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EDC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444444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BE3C9AC-E54D-8CEE-4B76-0A3E6F8998DC}"/>
              </a:ext>
            </a:extLst>
          </p:cNvPr>
          <p:cNvGrpSpPr/>
          <p:nvPr/>
        </p:nvGrpSpPr>
        <p:grpSpPr>
          <a:xfrm>
            <a:off x="8233444" y="5060656"/>
            <a:ext cx="665777" cy="528549"/>
            <a:chOff x="8792668" y="5006416"/>
            <a:chExt cx="665777" cy="528549"/>
          </a:xfrm>
        </p:grpSpPr>
        <p:pic>
          <p:nvPicPr>
            <p:cNvPr id="83" name="Graphic 82" descr="Database outline">
              <a:extLst>
                <a:ext uri="{FF2B5EF4-FFF2-40B4-BE49-F238E27FC236}">
                  <a16:creationId xmlns:a16="http://schemas.microsoft.com/office/drawing/2014/main" id="{8692986A-3941-5B0C-233D-45D7526813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792668" y="5006416"/>
              <a:ext cx="528549" cy="528549"/>
            </a:xfrm>
            <a:prstGeom prst="rect">
              <a:avLst/>
            </a:prstGeom>
          </p:spPr>
        </p:pic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B40C5D7E-C295-E6B3-B336-F4718256A4EC}"/>
                </a:ext>
              </a:extLst>
            </p:cNvPr>
            <p:cNvSpPr txBox="1"/>
            <p:nvPr/>
          </p:nvSpPr>
          <p:spPr>
            <a:xfrm>
              <a:off x="9086504" y="5238154"/>
              <a:ext cx="371941" cy="1538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noFill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444444">
                      <a:lumMod val="50000"/>
                    </a:srgb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SCRIP</a:t>
              </a:r>
              <a:endPara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444444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BD22C4C0-FC98-9C8E-25C4-EF7A96614A29}"/>
              </a:ext>
            </a:extLst>
          </p:cNvPr>
          <p:cNvSpPr txBox="1"/>
          <p:nvPr/>
        </p:nvSpPr>
        <p:spPr>
          <a:xfrm>
            <a:off x="8301014" y="1802385"/>
            <a:ext cx="530970" cy="138499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444444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Workflow</a:t>
            </a:r>
            <a:endParaRPr kumimoji="0" lang="en-GB" sz="900" b="1" i="0" u="none" strike="noStrike" kern="1200" cap="none" spc="0" normalizeH="0" baseline="0" noProof="0">
              <a:ln>
                <a:noFill/>
              </a:ln>
              <a:solidFill>
                <a:srgbClr val="444444">
                  <a:lumMod val="50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2B8188-61A4-410C-4448-D33E71FFF037}"/>
              </a:ext>
            </a:extLst>
          </p:cNvPr>
          <p:cNvSpPr txBox="1"/>
          <p:nvPr/>
        </p:nvSpPr>
        <p:spPr>
          <a:xfrm>
            <a:off x="5879406" y="5379966"/>
            <a:ext cx="692690" cy="200055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1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Automated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6CF8D6A-F244-91C8-EF1F-71796A0B6043}"/>
              </a:ext>
            </a:extLst>
          </p:cNvPr>
          <p:cNvSpPr txBox="1"/>
          <p:nvPr/>
        </p:nvSpPr>
        <p:spPr>
          <a:xfrm>
            <a:off x="5879406" y="1273310"/>
            <a:ext cx="659205" cy="200055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1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Manual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D5EF82-C273-1A48-EEAB-31F9135DCE15}"/>
              </a:ext>
            </a:extLst>
          </p:cNvPr>
          <p:cNvSpPr txBox="1"/>
          <p:nvPr/>
        </p:nvSpPr>
        <p:spPr>
          <a:xfrm>
            <a:off x="3475996" y="3850930"/>
            <a:ext cx="637026" cy="153888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444444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READSOFT</a:t>
            </a: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444444">
                  <a:lumMod val="50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pic>
        <p:nvPicPr>
          <p:cNvPr id="46" name="Picture 2" descr="ReadSoft logo, Vector Logo of ReadSoft brand free download (eps, ai ...">
            <a:extLst>
              <a:ext uri="{FF2B5EF4-FFF2-40B4-BE49-F238E27FC236}">
                <a16:creationId xmlns:a16="http://schemas.microsoft.com/office/drawing/2014/main" id="{D2DA47F8-1401-9503-2D58-FDE23153F0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email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4303" b="37305"/>
          <a:stretch/>
        </p:blipFill>
        <p:spPr bwMode="auto">
          <a:xfrm>
            <a:off x="3449964" y="3820087"/>
            <a:ext cx="689248" cy="195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44FEC87-25D3-86A3-F9D1-0C520647D874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rPr lang="en-GB"/>
              <a:t>US Volumes, 2024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EE4C03-156A-6ACB-1C62-7FA90FF1C405}"/>
              </a:ext>
            </a:extLst>
          </p:cNvPr>
          <p:cNvSpPr txBox="1"/>
          <p:nvPr/>
        </p:nvSpPr>
        <p:spPr>
          <a:xfrm>
            <a:off x="1254234" y="3089554"/>
            <a:ext cx="892550" cy="361637"/>
          </a:xfrm>
          <a:prstGeom prst="rect">
            <a:avLst/>
          </a:prstGeom>
          <a:noFill/>
          <a:ln w="25400">
            <a:noFill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39 FTE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Data Services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989898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EC038A-DB6B-B6E8-0BFF-9BBB060D1AAA}"/>
              </a:ext>
            </a:extLst>
          </p:cNvPr>
          <p:cNvSpPr txBox="1"/>
          <p:nvPr/>
        </p:nvSpPr>
        <p:spPr>
          <a:xfrm>
            <a:off x="7826838" y="745795"/>
            <a:ext cx="1495712" cy="469359"/>
          </a:xfrm>
          <a:prstGeom prst="rect">
            <a:avLst/>
          </a:prstGeom>
          <a:noFill/>
          <a:ln w="25400">
            <a:noFill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290 FTE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180 FTE 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(Account Recordkeeping)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110 FTE 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989898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(Correspondence)</a:t>
            </a: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989898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4879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CE7F6-E287-FD2F-EC2E-AD4809CB7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2" name="Group 2091">
            <a:extLst>
              <a:ext uri="{FF2B5EF4-FFF2-40B4-BE49-F238E27FC236}">
                <a16:creationId xmlns:a16="http://schemas.microsoft.com/office/drawing/2014/main" id="{2876A25B-0410-F4E9-AA70-03E09B0734AF}"/>
              </a:ext>
            </a:extLst>
          </p:cNvPr>
          <p:cNvGrpSpPr/>
          <p:nvPr/>
        </p:nvGrpSpPr>
        <p:grpSpPr>
          <a:xfrm>
            <a:off x="230944" y="829556"/>
            <a:ext cx="11786470" cy="3667649"/>
            <a:chOff x="373819" y="510723"/>
            <a:chExt cx="11786470" cy="3667649"/>
          </a:xfrm>
        </p:grpSpPr>
        <p:pic>
          <p:nvPicPr>
            <p:cNvPr id="107" name="Graphic 106" descr="Photocopier outline">
              <a:extLst>
                <a:ext uri="{FF2B5EF4-FFF2-40B4-BE49-F238E27FC236}">
                  <a16:creationId xmlns:a16="http://schemas.microsoft.com/office/drawing/2014/main" id="{DC7A02AF-085B-DE89-7C1E-EEFC9F975B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5481" y="933770"/>
              <a:ext cx="368927" cy="368927"/>
            </a:xfrm>
            <a:prstGeom prst="rect">
              <a:avLst/>
            </a:prstGeom>
          </p:spPr>
        </p:pic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362D0278-9196-B8EE-0930-B199EBE3D735}"/>
                </a:ext>
              </a:extLst>
            </p:cNvPr>
            <p:cNvSpPr txBox="1"/>
            <p:nvPr/>
          </p:nvSpPr>
          <p:spPr>
            <a:xfrm>
              <a:off x="4235481" y="851326"/>
              <a:ext cx="452613" cy="12311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Scanner</a:t>
              </a:r>
              <a:endParaRPr kumimoji="0" lang="en-GB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109" name="Graphic 108" descr="Envelope outline">
              <a:extLst>
                <a:ext uri="{FF2B5EF4-FFF2-40B4-BE49-F238E27FC236}">
                  <a16:creationId xmlns:a16="http://schemas.microsoft.com/office/drawing/2014/main" id="{D58FC977-A643-59D5-1BF1-4FB4F76364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3529" y="1803076"/>
              <a:ext cx="334967" cy="269511"/>
            </a:xfrm>
            <a:prstGeom prst="rect">
              <a:avLst/>
            </a:prstGeom>
          </p:spPr>
        </p:pic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2AC03A99-01F5-60D9-C8E7-E69FC8049892}"/>
                </a:ext>
              </a:extLst>
            </p:cNvPr>
            <p:cNvSpPr/>
            <p:nvPr/>
          </p:nvSpPr>
          <p:spPr>
            <a:xfrm>
              <a:off x="4113618" y="772484"/>
              <a:ext cx="645153" cy="5760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54F75EFC-6223-B16B-600B-4A3737E0A6F9}"/>
                </a:ext>
              </a:extLst>
            </p:cNvPr>
            <p:cNvCxnSpPr>
              <a:cxnSpLocks/>
              <a:stCxn id="114" idx="3"/>
            </p:cNvCxnSpPr>
            <p:nvPr/>
          </p:nvCxnSpPr>
          <p:spPr>
            <a:xfrm>
              <a:off x="881381" y="1875287"/>
              <a:ext cx="559667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C5AA865-CE0B-F0A4-48B1-3D87B500C5F5}"/>
                </a:ext>
              </a:extLst>
            </p:cNvPr>
            <p:cNvSpPr txBox="1"/>
            <p:nvPr/>
          </p:nvSpPr>
          <p:spPr>
            <a:xfrm>
              <a:off x="1033338" y="1732174"/>
              <a:ext cx="270427" cy="1538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36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Paper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41C6BCA4-88D4-E855-3F01-9D3F14D46589}"/>
                </a:ext>
              </a:extLst>
            </p:cNvPr>
            <p:cNvSpPr/>
            <p:nvPr/>
          </p:nvSpPr>
          <p:spPr>
            <a:xfrm>
              <a:off x="373819" y="1587287"/>
              <a:ext cx="507562" cy="5760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21D5E524-E2FD-DB7D-2627-A923AE29A91A}"/>
                </a:ext>
              </a:extLst>
            </p:cNvPr>
            <p:cNvSpPr txBox="1"/>
            <p:nvPr/>
          </p:nvSpPr>
          <p:spPr>
            <a:xfrm>
              <a:off x="396873" y="1648738"/>
              <a:ext cx="452613" cy="12311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Mail</a:t>
              </a:r>
              <a:endParaRPr kumimoji="0" lang="en-GB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26DD9-7610-B6C1-46D3-35059CF86F9E}"/>
                </a:ext>
              </a:extLst>
            </p:cNvPr>
            <p:cNvSpPr/>
            <p:nvPr/>
          </p:nvSpPr>
          <p:spPr>
            <a:xfrm>
              <a:off x="1471471" y="1587287"/>
              <a:ext cx="960992" cy="5760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2106A84-5FAA-42C1-F5B4-35ACD95AFB4C}"/>
                </a:ext>
              </a:extLst>
            </p:cNvPr>
            <p:cNvSpPr txBox="1"/>
            <p:nvPr/>
          </p:nvSpPr>
          <p:spPr>
            <a:xfrm>
              <a:off x="1547165" y="1629065"/>
              <a:ext cx="809603" cy="492443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Sorting table &gt; </a:t>
              </a:r>
              <a:r>
                <a:rPr lang="en-US" sz="800" b="1">
                  <a:solidFill>
                    <a:srgbClr val="93186C"/>
                  </a:solidFill>
                  <a:latin typeface="Aptos" panose="02110004020202020204"/>
                </a:rPr>
                <a:t>sorted onshore vs offshore based on PO Box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B5BD081-E3EA-789E-02AF-CD32826460D4}"/>
                </a:ext>
              </a:extLst>
            </p:cNvPr>
            <p:cNvSpPr/>
            <p:nvPr/>
          </p:nvSpPr>
          <p:spPr>
            <a:xfrm>
              <a:off x="2878701" y="891992"/>
              <a:ext cx="960992" cy="34097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8BFB488-9069-2646-78D7-B4C52E1EE282}"/>
                </a:ext>
              </a:extLst>
            </p:cNvPr>
            <p:cNvSpPr txBox="1"/>
            <p:nvPr/>
          </p:nvSpPr>
          <p:spPr>
            <a:xfrm>
              <a:off x="2954395" y="933770"/>
              <a:ext cx="809603" cy="24622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High volume (known)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03211FC-F77C-CAE9-182C-FE977C15BD50}"/>
                </a:ext>
              </a:extLst>
            </p:cNvPr>
            <p:cNvSpPr/>
            <p:nvPr/>
          </p:nvSpPr>
          <p:spPr>
            <a:xfrm>
              <a:off x="2878701" y="2294520"/>
              <a:ext cx="960992" cy="34097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91D4AAB-712F-694A-7DD1-1F622411697B}"/>
                </a:ext>
              </a:extLst>
            </p:cNvPr>
            <p:cNvSpPr txBox="1"/>
            <p:nvPr/>
          </p:nvSpPr>
          <p:spPr>
            <a:xfrm>
              <a:off x="2954395" y="2336298"/>
              <a:ext cx="809603" cy="24622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White mail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93186C"/>
                  </a:solidFill>
                  <a:latin typeface="Aptos" panose="02110004020202020204"/>
                </a:rPr>
                <a:t>(unknown)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A4842A55-5FC8-8284-6151-D5CA14B81E06}"/>
                </a:ext>
              </a:extLst>
            </p:cNvPr>
            <p:cNvCxnSpPr>
              <a:cxnSpLocks/>
              <a:stCxn id="14" idx="3"/>
              <a:endCxn id="16" idx="1"/>
            </p:cNvCxnSpPr>
            <p:nvPr/>
          </p:nvCxnSpPr>
          <p:spPr>
            <a:xfrm flipV="1">
              <a:off x="2432463" y="1062477"/>
              <a:ext cx="446238" cy="81281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04000CDA-FE87-264B-22E5-1E7E613F14D2}"/>
                </a:ext>
              </a:extLst>
            </p:cNvPr>
            <p:cNvCxnSpPr>
              <a:cxnSpLocks/>
            </p:cNvCxnSpPr>
            <p:nvPr/>
          </p:nvCxnSpPr>
          <p:spPr>
            <a:xfrm>
              <a:off x="2432462" y="1886062"/>
              <a:ext cx="446238" cy="589718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997C46B-E753-1095-2BE0-7519150EA8C0}"/>
                </a:ext>
              </a:extLst>
            </p:cNvPr>
            <p:cNvCxnSpPr>
              <a:cxnSpLocks/>
            </p:cNvCxnSpPr>
            <p:nvPr/>
          </p:nvCxnSpPr>
          <p:spPr>
            <a:xfrm>
              <a:off x="3823473" y="1043968"/>
              <a:ext cx="271563" cy="1596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2AB9CDE0-31EA-3D87-B6A4-93C66B19EBE4}"/>
                </a:ext>
              </a:extLst>
            </p:cNvPr>
            <p:cNvCxnSpPr>
              <a:cxnSpLocks/>
            </p:cNvCxnSpPr>
            <p:nvPr/>
          </p:nvCxnSpPr>
          <p:spPr>
            <a:xfrm>
              <a:off x="3857240" y="2451027"/>
              <a:ext cx="219445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DB8E85C-C452-7E22-4A90-6F777FA2A8FB}"/>
                </a:ext>
              </a:extLst>
            </p:cNvPr>
            <p:cNvSpPr/>
            <p:nvPr/>
          </p:nvSpPr>
          <p:spPr>
            <a:xfrm>
              <a:off x="4076685" y="1606795"/>
              <a:ext cx="1386128" cy="2571577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41195F1-E7E7-2E94-3D3A-3063F77839DC}"/>
                </a:ext>
              </a:extLst>
            </p:cNvPr>
            <p:cNvSpPr txBox="1"/>
            <p:nvPr/>
          </p:nvSpPr>
          <p:spPr>
            <a:xfrm>
              <a:off x="4152379" y="1648574"/>
              <a:ext cx="1211043" cy="24622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“Offline classification” is conducted here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F15F7EB-EE7D-5B1C-D125-83200C6515A5}"/>
                </a:ext>
              </a:extLst>
            </p:cNvPr>
            <p:cNvSpPr txBox="1"/>
            <p:nvPr/>
          </p:nvSpPr>
          <p:spPr>
            <a:xfrm>
              <a:off x="4076685" y="1989544"/>
              <a:ext cx="1386128" cy="172354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lang="en-US" sz="800" i="1">
                  <a:solidFill>
                    <a:srgbClr val="93186C"/>
                  </a:solidFill>
                  <a:latin typeface="Aptos" panose="02110004020202020204"/>
                </a:rPr>
                <a:t>Offshore/Onshore &gt; priority &gt; specific transaction type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kumimoji="0" lang="en-US" sz="800" i="1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Medallion checks, Check amount ok, verification, stamping and hole-punching certificates 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lang="en-US" sz="800" i="1">
                  <a:solidFill>
                    <a:srgbClr val="93186C"/>
                  </a:solidFill>
                  <a:latin typeface="Aptos" panose="02110004020202020204"/>
                </a:rPr>
                <a:t>Stamp if copy or certified </a:t>
              </a:r>
              <a:endParaRPr kumimoji="0" lang="en-US" sz="800" i="1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lang="en-US" sz="800" i="1">
                  <a:solidFill>
                    <a:srgbClr val="93186C"/>
                  </a:solidFill>
                  <a:latin typeface="Aptos" panose="02110004020202020204"/>
                </a:rPr>
                <a:t>Ticket or separator sheet filled out to include all the details that will be entered in Workflow. 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lang="en-US" sz="800" i="1">
                  <a:solidFill>
                    <a:srgbClr val="93186C"/>
                  </a:solidFill>
                  <a:latin typeface="Aptos" panose="02110004020202020204"/>
                </a:rPr>
                <a:t>Separating paper envelopes that can’t be shredded</a:t>
              </a:r>
              <a:endParaRPr kumimoji="0" lang="en-US" sz="800" i="1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1DD3911-3EF7-1EB9-B5FC-1C366773511D}"/>
                </a:ext>
              </a:extLst>
            </p:cNvPr>
            <p:cNvSpPr/>
            <p:nvPr/>
          </p:nvSpPr>
          <p:spPr>
            <a:xfrm>
              <a:off x="6061322" y="1816304"/>
              <a:ext cx="1386128" cy="34097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003CC13-4EEF-931E-1E4E-E0DAECDDDEF6}"/>
                </a:ext>
              </a:extLst>
            </p:cNvPr>
            <p:cNvSpPr txBox="1"/>
            <p:nvPr/>
          </p:nvSpPr>
          <p:spPr>
            <a:xfrm>
              <a:off x="6061322" y="1886062"/>
              <a:ext cx="1386128" cy="2154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Offshore physical table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00" i="1">
                  <a:solidFill>
                    <a:srgbClr val="93186C"/>
                  </a:solidFill>
                  <a:latin typeface="Aptos" panose="02110004020202020204"/>
                </a:rPr>
                <a:t>(classified envelope ready to be scanned)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ECC69C3-48AB-A375-F1DC-4D41526FE69A}"/>
                </a:ext>
              </a:extLst>
            </p:cNvPr>
            <p:cNvSpPr/>
            <p:nvPr/>
          </p:nvSpPr>
          <p:spPr>
            <a:xfrm>
              <a:off x="6061322" y="2808964"/>
              <a:ext cx="1386128" cy="34097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DC61C68-FC9C-0C28-96B2-A8B681B65291}"/>
                </a:ext>
              </a:extLst>
            </p:cNvPr>
            <p:cNvSpPr txBox="1"/>
            <p:nvPr/>
          </p:nvSpPr>
          <p:spPr>
            <a:xfrm>
              <a:off x="6061322" y="2878722"/>
              <a:ext cx="1386128" cy="2154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Onshore physical table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00" i="1">
                  <a:solidFill>
                    <a:srgbClr val="93186C"/>
                  </a:solidFill>
                  <a:latin typeface="Aptos" panose="02110004020202020204"/>
                </a:rPr>
                <a:t>(classified envelope ready to be scanned)</a:t>
              </a:r>
            </a:p>
          </p:txBody>
        </p:sp>
        <p:cxnSp>
          <p:nvCxnSpPr>
            <p:cNvPr id="62" name="Connector: Elbow 61">
              <a:extLst>
                <a:ext uri="{FF2B5EF4-FFF2-40B4-BE49-F238E27FC236}">
                  <a16:creationId xmlns:a16="http://schemas.microsoft.com/office/drawing/2014/main" id="{EA8F1DBA-2A38-D560-77C4-CDD3E98AA618}"/>
                </a:ext>
              </a:extLst>
            </p:cNvPr>
            <p:cNvCxnSpPr>
              <a:cxnSpLocks/>
              <a:stCxn id="32" idx="3"/>
              <a:endCxn id="41" idx="1"/>
            </p:cNvCxnSpPr>
            <p:nvPr/>
          </p:nvCxnSpPr>
          <p:spPr>
            <a:xfrm flipV="1">
              <a:off x="5462813" y="1993784"/>
              <a:ext cx="598509" cy="89880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: Elbow 92">
              <a:extLst>
                <a:ext uri="{FF2B5EF4-FFF2-40B4-BE49-F238E27FC236}">
                  <a16:creationId xmlns:a16="http://schemas.microsoft.com/office/drawing/2014/main" id="{30FEDB6F-2B9B-DC05-DFA6-992D252376DC}"/>
                </a:ext>
              </a:extLst>
            </p:cNvPr>
            <p:cNvCxnSpPr>
              <a:cxnSpLocks/>
              <a:stCxn id="32" idx="3"/>
              <a:endCxn id="60" idx="1"/>
            </p:cNvCxnSpPr>
            <p:nvPr/>
          </p:nvCxnSpPr>
          <p:spPr>
            <a:xfrm>
              <a:off x="5462813" y="2892584"/>
              <a:ext cx="598509" cy="9386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D366B960-E08B-5DDB-1C34-685D4774FBAA}"/>
                </a:ext>
              </a:extLst>
            </p:cNvPr>
            <p:cNvSpPr/>
            <p:nvPr/>
          </p:nvSpPr>
          <p:spPr>
            <a:xfrm>
              <a:off x="7984800" y="2013719"/>
              <a:ext cx="1386128" cy="848469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2622877E-F6FB-D1F3-C755-62989E2D424B}"/>
                </a:ext>
              </a:extLst>
            </p:cNvPr>
            <p:cNvSpPr txBox="1"/>
            <p:nvPr/>
          </p:nvSpPr>
          <p:spPr>
            <a:xfrm>
              <a:off x="7974789" y="2084011"/>
              <a:ext cx="1386128" cy="2154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Batch allocation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00" i="1">
                  <a:solidFill>
                    <a:srgbClr val="93186C"/>
                  </a:solidFill>
                  <a:latin typeface="Aptos" panose="02110004020202020204"/>
                </a:rPr>
                <a:t>Envelope details entered on Workflow</a:t>
              </a: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18D99403-DEAA-2393-91C4-A1C7B14EEA71}"/>
                </a:ext>
              </a:extLst>
            </p:cNvPr>
            <p:cNvSpPr/>
            <p:nvPr/>
          </p:nvSpPr>
          <p:spPr>
            <a:xfrm>
              <a:off x="9658979" y="2014163"/>
              <a:ext cx="1119117" cy="864559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655D64C0-1585-DEB0-D5C3-6C2A3B303015}"/>
                </a:ext>
              </a:extLst>
            </p:cNvPr>
            <p:cNvSpPr txBox="1"/>
            <p:nvPr/>
          </p:nvSpPr>
          <p:spPr>
            <a:xfrm>
              <a:off x="9683770" y="2324724"/>
              <a:ext cx="1134414" cy="55399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93186C"/>
                  </a:solidFill>
                  <a:latin typeface="Aptos" panose="02110004020202020204"/>
                </a:rPr>
                <a:t>Image scans of envelope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93186C"/>
                  </a:solidFill>
                  <a:latin typeface="Aptos" panose="02110004020202020204"/>
                </a:rPr>
                <a:t> </a:t>
              </a:r>
              <a:r>
                <a:rPr lang="en-US" sz="600" i="1">
                  <a:solidFill>
                    <a:srgbClr val="93186C"/>
                  </a:solidFill>
                  <a:latin typeface="Aptos" panose="02110004020202020204"/>
                </a:rPr>
                <a:t>are scanned and verified by human to ensure papers are complete</a:t>
              </a:r>
              <a:endParaRPr kumimoji="0" lang="en-US" sz="600" i="1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A169AA41-7C9F-2457-62CF-FD7C60DA8B62}"/>
                </a:ext>
              </a:extLst>
            </p:cNvPr>
            <p:cNvCxnSpPr>
              <a:cxnSpLocks/>
            </p:cNvCxnSpPr>
            <p:nvPr/>
          </p:nvCxnSpPr>
          <p:spPr>
            <a:xfrm>
              <a:off x="9393982" y="2410325"/>
              <a:ext cx="241942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ctor: Elbow 167">
              <a:extLst>
                <a:ext uri="{FF2B5EF4-FFF2-40B4-BE49-F238E27FC236}">
                  <a16:creationId xmlns:a16="http://schemas.microsoft.com/office/drawing/2014/main" id="{F21B0A50-3417-2D36-6D84-3C0BB06340C9}"/>
                </a:ext>
              </a:extLst>
            </p:cNvPr>
            <p:cNvCxnSpPr>
              <a:cxnSpLocks/>
              <a:stCxn id="41" idx="3"/>
              <a:endCxn id="105" idx="1"/>
            </p:cNvCxnSpPr>
            <p:nvPr/>
          </p:nvCxnSpPr>
          <p:spPr>
            <a:xfrm>
              <a:off x="7447450" y="1993784"/>
              <a:ext cx="537350" cy="44417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ctor: Elbow 172">
              <a:extLst>
                <a:ext uri="{FF2B5EF4-FFF2-40B4-BE49-F238E27FC236}">
                  <a16:creationId xmlns:a16="http://schemas.microsoft.com/office/drawing/2014/main" id="{B2A8ACE1-190B-CC0D-D15F-70B0A9F88EA2}"/>
                </a:ext>
              </a:extLst>
            </p:cNvPr>
            <p:cNvCxnSpPr>
              <a:cxnSpLocks/>
              <a:stCxn id="60" idx="3"/>
              <a:endCxn id="105" idx="1"/>
            </p:cNvCxnSpPr>
            <p:nvPr/>
          </p:nvCxnSpPr>
          <p:spPr>
            <a:xfrm flipV="1">
              <a:off x="7447450" y="2437954"/>
              <a:ext cx="537350" cy="54849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75" name="Graphic 174" descr="Photocopier outline">
              <a:extLst>
                <a:ext uri="{FF2B5EF4-FFF2-40B4-BE49-F238E27FC236}">
                  <a16:creationId xmlns:a16="http://schemas.microsoft.com/office/drawing/2014/main" id="{C9E0D8DF-B882-66C6-8479-CF1A14C5CBE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43616" y="1987923"/>
              <a:ext cx="368927" cy="368927"/>
            </a:xfrm>
            <a:prstGeom prst="rect">
              <a:avLst/>
            </a:prstGeom>
          </p:spPr>
        </p:pic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CB555D34-4684-0676-2AD9-2C2C5B6F8DA7}"/>
                </a:ext>
              </a:extLst>
            </p:cNvPr>
            <p:cNvSpPr/>
            <p:nvPr/>
          </p:nvSpPr>
          <p:spPr>
            <a:xfrm>
              <a:off x="11046970" y="2024939"/>
              <a:ext cx="398544" cy="83725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182" name="Graphic 181" descr="Programmer male outline">
              <a:extLst>
                <a:ext uri="{FF2B5EF4-FFF2-40B4-BE49-F238E27FC236}">
                  <a16:creationId xmlns:a16="http://schemas.microsoft.com/office/drawing/2014/main" id="{DD794990-6F8B-8778-F828-F35B3833EB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436040" y="2299455"/>
              <a:ext cx="523981" cy="518708"/>
            </a:xfrm>
            <a:prstGeom prst="rect">
              <a:avLst/>
            </a:prstGeom>
          </p:spPr>
        </p:pic>
        <p:pic>
          <p:nvPicPr>
            <p:cNvPr id="2071" name="Graphic 2070" descr="User outline">
              <a:extLst>
                <a:ext uri="{FF2B5EF4-FFF2-40B4-BE49-F238E27FC236}">
                  <a16:creationId xmlns:a16="http://schemas.microsoft.com/office/drawing/2014/main" id="{EF8B7898-7394-CDFE-CB2E-A29A4A2A9E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54129" y="3655879"/>
              <a:ext cx="431239" cy="431239"/>
            </a:xfrm>
            <a:prstGeom prst="rect">
              <a:avLst/>
            </a:prstGeom>
          </p:spPr>
        </p:pic>
        <p:pic>
          <p:nvPicPr>
            <p:cNvPr id="2077" name="Graphic 2076" descr="Magnifying glass with solid fill">
              <a:extLst>
                <a:ext uri="{FF2B5EF4-FFF2-40B4-BE49-F238E27FC236}">
                  <a16:creationId xmlns:a16="http://schemas.microsoft.com/office/drawing/2014/main" id="{B915090C-02E4-D5FA-6F50-01DE8361EC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69748" y="3904992"/>
              <a:ext cx="131511" cy="131511"/>
            </a:xfrm>
            <a:prstGeom prst="rect">
              <a:avLst/>
            </a:prstGeom>
          </p:spPr>
        </p:pic>
        <p:sp>
          <p:nvSpPr>
            <p:cNvPr id="2085" name="TextBox 2084">
              <a:extLst>
                <a:ext uri="{FF2B5EF4-FFF2-40B4-BE49-F238E27FC236}">
                  <a16:creationId xmlns:a16="http://schemas.microsoft.com/office/drawing/2014/main" id="{C7584FAC-0492-4815-7055-B6DC5825FB3A}"/>
                </a:ext>
              </a:extLst>
            </p:cNvPr>
            <p:cNvSpPr txBox="1"/>
            <p:nvPr/>
          </p:nvSpPr>
          <p:spPr>
            <a:xfrm>
              <a:off x="11039033" y="2262680"/>
              <a:ext cx="398543" cy="24622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93186C"/>
                  </a:solidFill>
                  <a:latin typeface="Aptos" panose="02110004020202020204"/>
                </a:rPr>
                <a:t>EDC checks</a:t>
              </a:r>
              <a:endParaRPr lang="en-US" sz="600" i="1">
                <a:solidFill>
                  <a:srgbClr val="93186C"/>
                </a:solidFill>
                <a:latin typeface="Aptos" panose="02110004020202020204"/>
              </a:endParaRPr>
            </a:p>
          </p:txBody>
        </p:sp>
        <p:sp>
          <p:nvSpPr>
            <p:cNvPr id="2087" name="Rectangle 2086">
              <a:extLst>
                <a:ext uri="{FF2B5EF4-FFF2-40B4-BE49-F238E27FC236}">
                  <a16:creationId xmlns:a16="http://schemas.microsoft.com/office/drawing/2014/main" id="{FF2C3839-F822-2CEB-729F-7AD38BCA9258}"/>
                </a:ext>
              </a:extLst>
            </p:cNvPr>
            <p:cNvSpPr/>
            <p:nvPr/>
          </p:nvSpPr>
          <p:spPr>
            <a:xfrm>
              <a:off x="11675758" y="2019328"/>
              <a:ext cx="484531" cy="1074838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88" name="TextBox 2087">
              <a:extLst>
                <a:ext uri="{FF2B5EF4-FFF2-40B4-BE49-F238E27FC236}">
                  <a16:creationId xmlns:a16="http://schemas.microsoft.com/office/drawing/2014/main" id="{2017BEC0-F92B-44DB-726F-AA04A09490FE}"/>
                </a:ext>
              </a:extLst>
            </p:cNvPr>
            <p:cNvSpPr txBox="1"/>
            <p:nvPr/>
          </p:nvSpPr>
          <p:spPr>
            <a:xfrm>
              <a:off x="11715846" y="2089778"/>
              <a:ext cx="398543" cy="98488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93186C"/>
                  </a:solidFill>
                  <a:latin typeface="Aptos" panose="02110004020202020204"/>
                </a:rPr>
                <a:t>Workflow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93186C"/>
                  </a:solidFill>
                  <a:latin typeface="Aptos" panose="02110004020202020204"/>
                </a:rPr>
                <a:t>Ready for processing (Sean’s world)</a:t>
              </a:r>
              <a:endParaRPr lang="en-US" sz="600">
                <a:solidFill>
                  <a:srgbClr val="93186C"/>
                </a:solidFill>
                <a:latin typeface="Aptos" panose="02110004020202020204"/>
              </a:endParaRPr>
            </a:p>
          </p:txBody>
        </p:sp>
        <p:cxnSp>
          <p:nvCxnSpPr>
            <p:cNvPr id="2089" name="Straight Arrow Connector 2088">
              <a:extLst>
                <a:ext uri="{FF2B5EF4-FFF2-40B4-BE49-F238E27FC236}">
                  <a16:creationId xmlns:a16="http://schemas.microsoft.com/office/drawing/2014/main" id="{9D132F1E-1773-8947-2123-D9137F2AC536}"/>
                </a:ext>
              </a:extLst>
            </p:cNvPr>
            <p:cNvCxnSpPr>
              <a:cxnSpLocks/>
            </p:cNvCxnSpPr>
            <p:nvPr/>
          </p:nvCxnSpPr>
          <p:spPr>
            <a:xfrm>
              <a:off x="10778096" y="2433800"/>
              <a:ext cx="241942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Straight Arrow Connector 2089">
              <a:extLst>
                <a:ext uri="{FF2B5EF4-FFF2-40B4-BE49-F238E27FC236}">
                  <a16:creationId xmlns:a16="http://schemas.microsoft.com/office/drawing/2014/main" id="{3633D0C9-B267-38B7-FFDA-E8CE9FC8D154}"/>
                </a:ext>
              </a:extLst>
            </p:cNvPr>
            <p:cNvCxnSpPr>
              <a:cxnSpLocks/>
            </p:cNvCxnSpPr>
            <p:nvPr/>
          </p:nvCxnSpPr>
          <p:spPr>
            <a:xfrm>
              <a:off x="11444796" y="2443564"/>
              <a:ext cx="241942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91" name="TextBox 2090">
              <a:extLst>
                <a:ext uri="{FF2B5EF4-FFF2-40B4-BE49-F238E27FC236}">
                  <a16:creationId xmlns:a16="http://schemas.microsoft.com/office/drawing/2014/main" id="{332F11DC-F480-FFF5-71C5-3FB59BCFB316}"/>
                </a:ext>
              </a:extLst>
            </p:cNvPr>
            <p:cNvSpPr txBox="1"/>
            <p:nvPr/>
          </p:nvSpPr>
          <p:spPr>
            <a:xfrm>
              <a:off x="403471" y="510723"/>
              <a:ext cx="1952970" cy="18466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Today’s mailroom journey</a:t>
              </a:r>
              <a:endPara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B4CCFDBF-EF1F-DFCA-5452-60D5BD54E622}"/>
              </a:ext>
            </a:extLst>
          </p:cNvPr>
          <p:cNvSpPr txBox="1">
            <a:spLocks/>
          </p:cNvSpPr>
          <p:nvPr/>
        </p:nvSpPr>
        <p:spPr>
          <a:xfrm>
            <a:off x="192067" y="239394"/>
            <a:ext cx="12922354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ts val="3240"/>
              </a:lnSpc>
              <a:spcBef>
                <a:spcPct val="0"/>
              </a:spcBef>
              <a:buNone/>
              <a:defRPr lang="en-US" sz="3200" b="0" i="0" kern="1200" spc="-80" baseline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/>
              <a:t>Today we manually classify &amp; process incoming mailroom transactions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5F5E16-1D9C-F5A6-22D1-0A0698B87686}"/>
              </a:ext>
            </a:extLst>
          </p:cNvPr>
          <p:cNvSpPr txBox="1"/>
          <p:nvPr/>
        </p:nvSpPr>
        <p:spPr>
          <a:xfrm>
            <a:off x="348477" y="4774457"/>
            <a:ext cx="6136545" cy="184666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Goal state: AI-enhanced mailroom journey </a:t>
            </a: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7" name="Graphic 16" descr="Envelope outline">
            <a:extLst>
              <a:ext uri="{FF2B5EF4-FFF2-40B4-BE49-F238E27FC236}">
                <a16:creationId xmlns:a16="http://schemas.microsoft.com/office/drawing/2014/main" id="{0DDE9B79-E8F5-CE82-24AB-C3CA1572CF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2520" y="5772439"/>
            <a:ext cx="334967" cy="269511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57D4A15-3738-4376-9041-BCAF96C87DF4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805766" y="5844650"/>
            <a:ext cx="494273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A361F73-9A74-BB94-3BA5-CA3295AF6E63}"/>
              </a:ext>
            </a:extLst>
          </p:cNvPr>
          <p:cNvSpPr txBox="1"/>
          <p:nvPr/>
        </p:nvSpPr>
        <p:spPr>
          <a:xfrm>
            <a:off x="892329" y="5701537"/>
            <a:ext cx="270427" cy="1538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Paper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FCF1DA-A42D-C336-EC02-2BF70D2B1C3A}"/>
              </a:ext>
            </a:extLst>
          </p:cNvPr>
          <p:cNvSpPr/>
          <p:nvPr/>
        </p:nvSpPr>
        <p:spPr>
          <a:xfrm>
            <a:off x="160613" y="5556650"/>
            <a:ext cx="645153" cy="576000"/>
          </a:xfrm>
          <a:prstGeom prst="rect">
            <a:avLst/>
          </a:prstGeom>
          <a:noFill/>
          <a:ln w="9525">
            <a:solidFill>
              <a:srgbClr val="3C17C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286160-FC3C-74C8-9D0C-D9E0246E6063}"/>
              </a:ext>
            </a:extLst>
          </p:cNvPr>
          <p:cNvSpPr txBox="1"/>
          <p:nvPr/>
        </p:nvSpPr>
        <p:spPr>
          <a:xfrm>
            <a:off x="255864" y="5618101"/>
            <a:ext cx="452613" cy="12311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Mail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5EC4800-1150-1557-01CB-08475AA0B506}"/>
              </a:ext>
            </a:extLst>
          </p:cNvPr>
          <p:cNvSpPr/>
          <p:nvPr/>
        </p:nvSpPr>
        <p:spPr>
          <a:xfrm>
            <a:off x="1299022" y="5036429"/>
            <a:ext cx="1386128" cy="1658269"/>
          </a:xfrm>
          <a:prstGeom prst="rect">
            <a:avLst/>
          </a:prstGeom>
          <a:noFill/>
          <a:ln w="9525">
            <a:solidFill>
              <a:srgbClr val="3C17C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7A991A-3C10-28F4-0694-73A94A7EC7E1}"/>
              </a:ext>
            </a:extLst>
          </p:cNvPr>
          <p:cNvSpPr txBox="1"/>
          <p:nvPr/>
        </p:nvSpPr>
        <p:spPr>
          <a:xfrm>
            <a:off x="1527116" y="5078207"/>
            <a:ext cx="1211043" cy="369332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NO classification, only physical checks conducted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FC477A0-9C64-BD00-D2A1-62A33C28349D}"/>
              </a:ext>
            </a:extLst>
          </p:cNvPr>
          <p:cNvSpPr txBox="1"/>
          <p:nvPr/>
        </p:nvSpPr>
        <p:spPr>
          <a:xfrm>
            <a:off x="1299022" y="5419177"/>
            <a:ext cx="1386128" cy="861774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800" i="1" noProof="0">
                <a:solidFill>
                  <a:srgbClr val="93186C"/>
                </a:solidFill>
                <a:latin typeface="Aptos" panose="02110004020202020204"/>
              </a:rPr>
              <a:t>-  </a:t>
            </a:r>
            <a:r>
              <a:rPr kumimoji="0" lang="en-US" sz="800" i="1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Medallion checks, Check amount ok, verification, stamping and hole-punching certificates 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800" i="1">
                <a:solidFill>
                  <a:schemeClr val="accent4"/>
                </a:solidFill>
                <a:latin typeface="Aptos" panose="02110004020202020204"/>
              </a:rPr>
              <a:t>Stamp if copy or certified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800" i="1">
                <a:solidFill>
                  <a:schemeClr val="accent4"/>
                </a:solidFill>
                <a:latin typeface="Aptos" panose="02110004020202020204"/>
              </a:rPr>
              <a:t>envelopes that can’t be shredded</a:t>
            </a:r>
            <a:endParaRPr kumimoji="0" lang="en-US" sz="800" i="1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B37E04-F217-2643-F4B1-C7B01277A53E}"/>
              </a:ext>
            </a:extLst>
          </p:cNvPr>
          <p:cNvSpPr/>
          <p:nvPr/>
        </p:nvSpPr>
        <p:spPr>
          <a:xfrm>
            <a:off x="4434076" y="5415843"/>
            <a:ext cx="1305071" cy="837247"/>
          </a:xfrm>
          <a:prstGeom prst="rect">
            <a:avLst/>
          </a:prstGeom>
          <a:noFill/>
          <a:ln w="9525">
            <a:solidFill>
              <a:srgbClr val="3C17C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FD0898-5392-B18D-C370-95C5FFD2D9E4}"/>
              </a:ext>
            </a:extLst>
          </p:cNvPr>
          <p:cNvSpPr txBox="1"/>
          <p:nvPr/>
        </p:nvSpPr>
        <p:spPr>
          <a:xfrm>
            <a:off x="4434076" y="5718252"/>
            <a:ext cx="1386128" cy="307777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Tungsten OCR + AI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i="1">
                <a:solidFill>
                  <a:schemeClr val="accent4"/>
                </a:solidFill>
                <a:latin typeface="Aptos" panose="02110004020202020204"/>
              </a:rPr>
              <a:t>Envelope intent extracted, classified, relevant data extracted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31CF64F-BC8A-9B1A-DFFB-DA50047F4333}"/>
              </a:ext>
            </a:extLst>
          </p:cNvPr>
          <p:cNvSpPr/>
          <p:nvPr/>
        </p:nvSpPr>
        <p:spPr>
          <a:xfrm>
            <a:off x="3076805" y="5415844"/>
            <a:ext cx="1016537" cy="864559"/>
          </a:xfrm>
          <a:prstGeom prst="rect">
            <a:avLst/>
          </a:prstGeom>
          <a:noFill/>
          <a:ln w="9525">
            <a:solidFill>
              <a:srgbClr val="3C17C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E91D06-E63A-CE53-6C5D-6B4542A5BB64}"/>
              </a:ext>
            </a:extLst>
          </p:cNvPr>
          <p:cNvSpPr txBox="1"/>
          <p:nvPr/>
        </p:nvSpPr>
        <p:spPr>
          <a:xfrm>
            <a:off x="3039841" y="5726405"/>
            <a:ext cx="1134414" cy="55399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chemeClr val="accent4"/>
                </a:solidFill>
                <a:latin typeface="Aptos" panose="02110004020202020204"/>
              </a:rPr>
              <a:t>Image scans of envelope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chemeClr val="accent4"/>
                </a:solidFill>
                <a:latin typeface="Aptos" panose="02110004020202020204"/>
              </a:rPr>
              <a:t> </a:t>
            </a:r>
            <a:r>
              <a:rPr lang="en-US" sz="600" i="1">
                <a:solidFill>
                  <a:schemeClr val="accent4"/>
                </a:solidFill>
                <a:latin typeface="Aptos" panose="02110004020202020204"/>
              </a:rPr>
              <a:t>are scanned and verified by human to ensure papers are complete</a:t>
            </a:r>
            <a:endParaRPr kumimoji="0" lang="en-US" sz="600" i="1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9" name="Graphic 38" descr="Photocopier outline">
            <a:extLst>
              <a:ext uri="{FF2B5EF4-FFF2-40B4-BE49-F238E27FC236}">
                <a16:creationId xmlns:a16="http://schemas.microsoft.com/office/drawing/2014/main" id="{788A4661-D179-0CAB-DA39-477910003B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9687" y="5389604"/>
            <a:ext cx="368927" cy="368927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5D09C7D3-3D7E-BE9A-BA7E-A28A13B39215}"/>
              </a:ext>
            </a:extLst>
          </p:cNvPr>
          <p:cNvSpPr/>
          <p:nvPr/>
        </p:nvSpPr>
        <p:spPr>
          <a:xfrm>
            <a:off x="6069366" y="5432741"/>
            <a:ext cx="621459" cy="837250"/>
          </a:xfrm>
          <a:prstGeom prst="rect">
            <a:avLst/>
          </a:prstGeom>
          <a:noFill/>
          <a:ln w="9525">
            <a:solidFill>
              <a:srgbClr val="3C17C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4" name="Graphic 43" descr="User outline">
            <a:extLst>
              <a:ext uri="{FF2B5EF4-FFF2-40B4-BE49-F238E27FC236}">
                <a16:creationId xmlns:a16="http://schemas.microsoft.com/office/drawing/2014/main" id="{5F56EBFE-48FF-770A-22D9-9E660CEC8F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76466" y="6294087"/>
            <a:ext cx="431239" cy="431239"/>
          </a:xfrm>
          <a:prstGeom prst="rect">
            <a:avLst/>
          </a:prstGeom>
        </p:spPr>
      </p:pic>
      <p:pic>
        <p:nvPicPr>
          <p:cNvPr id="45" name="Graphic 44" descr="Magnifying glass with solid fill">
            <a:extLst>
              <a:ext uri="{FF2B5EF4-FFF2-40B4-BE49-F238E27FC236}">
                <a16:creationId xmlns:a16="http://schemas.microsoft.com/office/drawing/2014/main" id="{63D57701-AD0F-5242-F12C-2BD29E56F8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44485" y="6550051"/>
            <a:ext cx="131511" cy="131511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5974D272-439F-FD50-BC37-167F3146BBAE}"/>
              </a:ext>
            </a:extLst>
          </p:cNvPr>
          <p:cNvSpPr txBox="1"/>
          <p:nvPr/>
        </p:nvSpPr>
        <p:spPr>
          <a:xfrm>
            <a:off x="6063875" y="5576058"/>
            <a:ext cx="632439" cy="615553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chemeClr val="accent4"/>
                </a:solidFill>
                <a:latin typeface="Aptos" panose="02110004020202020204"/>
              </a:rPr>
              <a:t>Data verification checks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chemeClr val="accent4"/>
                </a:solidFill>
                <a:latin typeface="Aptos" panose="02110004020202020204"/>
              </a:rPr>
              <a:t>(EDC or other)</a:t>
            </a:r>
            <a:endParaRPr lang="en-US" sz="600" i="1">
              <a:solidFill>
                <a:schemeClr val="accent4"/>
              </a:solidFill>
              <a:latin typeface="Aptos" panose="02110004020202020204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C3E1FFB-CE6F-67C6-1D90-F81F38FE2D2D}"/>
              </a:ext>
            </a:extLst>
          </p:cNvPr>
          <p:cNvSpPr/>
          <p:nvPr/>
        </p:nvSpPr>
        <p:spPr>
          <a:xfrm>
            <a:off x="6952379" y="5427130"/>
            <a:ext cx="1091670" cy="837251"/>
          </a:xfrm>
          <a:prstGeom prst="rect">
            <a:avLst/>
          </a:prstGeom>
          <a:noFill/>
          <a:ln w="9525">
            <a:solidFill>
              <a:srgbClr val="3C17C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63E6BA-5F72-9462-C01B-271B0FB021B9}"/>
              </a:ext>
            </a:extLst>
          </p:cNvPr>
          <p:cNvSpPr txBox="1"/>
          <p:nvPr/>
        </p:nvSpPr>
        <p:spPr>
          <a:xfrm>
            <a:off x="6894808" y="5741212"/>
            <a:ext cx="1149241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chemeClr val="accent4"/>
                </a:solidFill>
                <a:latin typeface="Aptos" panose="02110004020202020204"/>
              </a:rPr>
              <a:t>Workflow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chemeClr val="accent4"/>
                </a:solidFill>
                <a:latin typeface="Aptos" panose="02110004020202020204"/>
              </a:rPr>
              <a:t>Ready for processing</a:t>
            </a:r>
            <a:endParaRPr lang="en-US" sz="600">
              <a:solidFill>
                <a:schemeClr val="accent4"/>
              </a:solidFill>
              <a:latin typeface="Aptos" panose="02110004020202020204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E6C17AE-A749-08B4-63DE-54ACC4DF63BA}"/>
              </a:ext>
            </a:extLst>
          </p:cNvPr>
          <p:cNvCxnSpPr>
            <a:cxnSpLocks/>
          </p:cNvCxnSpPr>
          <p:nvPr/>
        </p:nvCxnSpPr>
        <p:spPr>
          <a:xfrm>
            <a:off x="5820204" y="5841602"/>
            <a:ext cx="241942" cy="0"/>
          </a:xfrm>
          <a:prstGeom prst="straightConnector1">
            <a:avLst/>
          </a:prstGeom>
          <a:ln w="28575">
            <a:solidFill>
              <a:srgbClr val="3C17C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A1497AA-297C-C274-5898-1C6C49C993CA}"/>
              </a:ext>
            </a:extLst>
          </p:cNvPr>
          <p:cNvCxnSpPr>
            <a:cxnSpLocks/>
          </p:cNvCxnSpPr>
          <p:nvPr/>
        </p:nvCxnSpPr>
        <p:spPr>
          <a:xfrm>
            <a:off x="6690107" y="5851366"/>
            <a:ext cx="241942" cy="0"/>
          </a:xfrm>
          <a:prstGeom prst="straightConnector1">
            <a:avLst/>
          </a:prstGeom>
          <a:ln w="28575">
            <a:solidFill>
              <a:srgbClr val="3C17C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A0A1A8E-CA86-DC2D-E8B4-D93FD0780C1F}"/>
              </a:ext>
            </a:extLst>
          </p:cNvPr>
          <p:cNvCxnSpPr>
            <a:cxnSpLocks/>
          </p:cNvCxnSpPr>
          <p:nvPr/>
        </p:nvCxnSpPr>
        <p:spPr>
          <a:xfrm>
            <a:off x="4168328" y="5826010"/>
            <a:ext cx="249475" cy="0"/>
          </a:xfrm>
          <a:prstGeom prst="straightConnector1">
            <a:avLst/>
          </a:prstGeom>
          <a:ln w="28575">
            <a:solidFill>
              <a:srgbClr val="3C17C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681DF7E-85CE-9B64-85BC-3502D40F0E87}"/>
              </a:ext>
            </a:extLst>
          </p:cNvPr>
          <p:cNvCxnSpPr>
            <a:cxnSpLocks/>
          </p:cNvCxnSpPr>
          <p:nvPr/>
        </p:nvCxnSpPr>
        <p:spPr>
          <a:xfrm>
            <a:off x="2697519" y="5826010"/>
            <a:ext cx="386442" cy="0"/>
          </a:xfrm>
          <a:prstGeom prst="straightConnector1">
            <a:avLst/>
          </a:prstGeom>
          <a:ln w="28575">
            <a:solidFill>
              <a:srgbClr val="3C17C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B688AAA-0015-6E04-778C-E40548EA9315}"/>
              </a:ext>
            </a:extLst>
          </p:cNvPr>
          <p:cNvCxnSpPr>
            <a:cxnSpLocks/>
          </p:cNvCxnSpPr>
          <p:nvPr/>
        </p:nvCxnSpPr>
        <p:spPr>
          <a:xfrm>
            <a:off x="8053349" y="5849954"/>
            <a:ext cx="241942" cy="0"/>
          </a:xfrm>
          <a:prstGeom prst="straightConnector1">
            <a:avLst/>
          </a:prstGeom>
          <a:ln w="28575">
            <a:solidFill>
              <a:srgbClr val="3C17C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045C8E35-6C84-7BC7-9C26-E3E65CC2EE42}"/>
              </a:ext>
            </a:extLst>
          </p:cNvPr>
          <p:cNvSpPr/>
          <p:nvPr/>
        </p:nvSpPr>
        <p:spPr>
          <a:xfrm>
            <a:off x="8301991" y="5427130"/>
            <a:ext cx="1149241" cy="837251"/>
          </a:xfrm>
          <a:prstGeom prst="rect">
            <a:avLst/>
          </a:prstGeom>
          <a:noFill/>
          <a:ln w="9525">
            <a:solidFill>
              <a:srgbClr val="3C17C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73E919D-958D-7A50-F050-6296C9E1F495}"/>
              </a:ext>
            </a:extLst>
          </p:cNvPr>
          <p:cNvSpPr txBox="1"/>
          <p:nvPr/>
        </p:nvSpPr>
        <p:spPr>
          <a:xfrm>
            <a:off x="8302126" y="5741212"/>
            <a:ext cx="1149241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chemeClr val="accent4"/>
                </a:solidFill>
                <a:latin typeface="Aptos" panose="02110004020202020204"/>
              </a:rPr>
              <a:t>Processing automated via RPA, </a:t>
            </a:r>
            <a:r>
              <a:rPr lang="en-US" sz="800" b="1" err="1">
                <a:solidFill>
                  <a:schemeClr val="accent4"/>
                </a:solidFill>
                <a:latin typeface="Aptos" panose="02110004020202020204"/>
              </a:rPr>
              <a:t>Scripcomms</a:t>
            </a:r>
            <a:endParaRPr lang="en-US" sz="600">
              <a:solidFill>
                <a:schemeClr val="accent4"/>
              </a:solidFill>
              <a:latin typeface="Aptos" panose="02110004020202020204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03289E7E-4FC7-2098-45D4-DF343CD19321}"/>
              </a:ext>
            </a:extLst>
          </p:cNvPr>
          <p:cNvSpPr/>
          <p:nvPr/>
        </p:nvSpPr>
        <p:spPr>
          <a:xfrm>
            <a:off x="158747" y="1069313"/>
            <a:ext cx="9151904" cy="3487020"/>
          </a:xfrm>
          <a:prstGeom prst="roundRect">
            <a:avLst/>
          </a:prstGeom>
          <a:noFill/>
          <a:ln w="12700">
            <a:solidFill>
              <a:srgbClr val="3C17CF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0C7704E4-2770-A8D9-EF22-7310846BF50B}"/>
              </a:ext>
            </a:extLst>
          </p:cNvPr>
          <p:cNvSpPr/>
          <p:nvPr/>
        </p:nvSpPr>
        <p:spPr>
          <a:xfrm>
            <a:off x="11448260" y="1069313"/>
            <a:ext cx="645153" cy="3427892"/>
          </a:xfrm>
          <a:prstGeom prst="roundRect">
            <a:avLst/>
          </a:prstGeom>
          <a:noFill/>
          <a:ln w="12700">
            <a:solidFill>
              <a:srgbClr val="3C17CF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F3CF324-C230-5541-26A4-651F65F6A814}"/>
              </a:ext>
            </a:extLst>
          </p:cNvPr>
          <p:cNvSpPr txBox="1"/>
          <p:nvPr/>
        </p:nvSpPr>
        <p:spPr>
          <a:xfrm>
            <a:off x="6485022" y="4600310"/>
            <a:ext cx="2340012" cy="184666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be automated (Classification)</a:t>
            </a: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ADE2B37-F40C-1CCC-72C8-075AEA23FCD1}"/>
              </a:ext>
            </a:extLst>
          </p:cNvPr>
          <p:cNvSpPr txBox="1"/>
          <p:nvPr/>
        </p:nvSpPr>
        <p:spPr>
          <a:xfrm>
            <a:off x="10968582" y="4497205"/>
            <a:ext cx="1170006" cy="369332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be automated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(Processing)</a:t>
            </a: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6951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04D99-A0C3-EA15-7771-BDA16A4CB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351FAF11-E233-9849-00B3-3741D78BDD96}"/>
              </a:ext>
            </a:extLst>
          </p:cNvPr>
          <p:cNvSpPr/>
          <p:nvPr/>
        </p:nvSpPr>
        <p:spPr>
          <a:xfrm>
            <a:off x="9743413" y="3429000"/>
            <a:ext cx="2244173" cy="19841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74" name="Rectangle 2173">
            <a:extLst>
              <a:ext uri="{FF2B5EF4-FFF2-40B4-BE49-F238E27FC236}">
                <a16:creationId xmlns:a16="http://schemas.microsoft.com/office/drawing/2014/main" id="{C62D1120-EEFE-5070-23D0-07AFC738F2E1}"/>
              </a:ext>
            </a:extLst>
          </p:cNvPr>
          <p:cNvSpPr/>
          <p:nvPr/>
        </p:nvSpPr>
        <p:spPr>
          <a:xfrm>
            <a:off x="10549658" y="1869033"/>
            <a:ext cx="275641" cy="194167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66E2C3-9113-4FBA-6BC4-7D844A60B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89" y="239394"/>
            <a:ext cx="11555037" cy="924164"/>
          </a:xfrm>
        </p:spPr>
        <p:txBody>
          <a:bodyPr/>
          <a:lstStyle/>
          <a:p>
            <a:r>
              <a:rPr lang="en-US"/>
              <a:t>Phase 1 with Tungsten is almost complete; we are working on automating Phase 2 and 3</a:t>
            </a:r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054D7-310A-6032-9FD7-FEFA40C21B5C}"/>
              </a:ext>
            </a:extLst>
          </p:cNvPr>
          <p:cNvSpPr txBox="1"/>
          <p:nvPr/>
        </p:nvSpPr>
        <p:spPr>
          <a:xfrm>
            <a:off x="2257560" y="2586036"/>
            <a:ext cx="628523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Proxy?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E0327DE-BFBE-39A1-8716-FDC7D363BB7C}"/>
              </a:ext>
            </a:extLst>
          </p:cNvPr>
          <p:cNvCxnSpPr>
            <a:cxnSpLocks/>
            <a:stCxn id="55" idx="3"/>
            <a:endCxn id="67" idx="1"/>
          </p:cNvCxnSpPr>
          <p:nvPr/>
        </p:nvCxnSpPr>
        <p:spPr>
          <a:xfrm>
            <a:off x="985622" y="4437363"/>
            <a:ext cx="311654" cy="433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AD1CAF9-8794-D2C5-8B87-A0318C99C02F}"/>
              </a:ext>
            </a:extLst>
          </p:cNvPr>
          <p:cNvSpPr txBox="1"/>
          <p:nvPr/>
        </p:nvSpPr>
        <p:spPr>
          <a:xfrm>
            <a:off x="961705" y="4506743"/>
            <a:ext cx="560693" cy="369332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Image (TIF)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+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Text (JSON)</a:t>
            </a:r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D7A97FB9-1988-6817-FEC4-A2B9A0697186}"/>
              </a:ext>
            </a:extLst>
          </p:cNvPr>
          <p:cNvCxnSpPr>
            <a:cxnSpLocks/>
            <a:stCxn id="47" idx="3"/>
            <a:endCxn id="53" idx="1"/>
          </p:cNvCxnSpPr>
          <p:nvPr/>
        </p:nvCxnSpPr>
        <p:spPr>
          <a:xfrm>
            <a:off x="5126198" y="2643500"/>
            <a:ext cx="1001927" cy="280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F6FCE5B-C1B3-3599-9DFF-233E54223F2F}"/>
              </a:ext>
            </a:extLst>
          </p:cNvPr>
          <p:cNvSpPr txBox="1"/>
          <p:nvPr/>
        </p:nvSpPr>
        <p:spPr>
          <a:xfrm>
            <a:off x="309575" y="4128051"/>
            <a:ext cx="729715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OCR 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(+MSDI)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8E6D2B-D29C-3F3F-AE3D-6EAB652E9D70}"/>
              </a:ext>
            </a:extLst>
          </p:cNvPr>
          <p:cNvSpPr txBox="1"/>
          <p:nvPr/>
        </p:nvSpPr>
        <p:spPr>
          <a:xfrm>
            <a:off x="5290074" y="2361673"/>
            <a:ext cx="737816" cy="2923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Image (TIF)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+ Text (JSON)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56298494-23CC-1DDB-39C5-51607300D690}"/>
              </a:ext>
            </a:extLst>
          </p:cNvPr>
          <p:cNvCxnSpPr>
            <a:cxnSpLocks/>
            <a:endCxn id="53" idx="3"/>
          </p:cNvCxnSpPr>
          <p:nvPr/>
        </p:nvCxnSpPr>
        <p:spPr>
          <a:xfrm flipH="1" flipV="1">
            <a:off x="9427924" y="2646300"/>
            <a:ext cx="2559662" cy="1774761"/>
          </a:xfrm>
          <a:prstGeom prst="bentConnector3">
            <a:avLst>
              <a:gd name="adj1" fmla="val -4848"/>
            </a:avLst>
          </a:prstGeom>
          <a:ln w="28575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31F9C4E0-47C3-3168-88ED-C18B244292C4}"/>
              </a:ext>
            </a:extLst>
          </p:cNvPr>
          <p:cNvSpPr/>
          <p:nvPr/>
        </p:nvSpPr>
        <p:spPr>
          <a:xfrm>
            <a:off x="4480596" y="2135968"/>
            <a:ext cx="645602" cy="1015063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7044D79-2902-19FF-6508-FE2DE4836527}"/>
              </a:ext>
            </a:extLst>
          </p:cNvPr>
          <p:cNvGrpSpPr/>
          <p:nvPr/>
        </p:nvGrpSpPr>
        <p:grpSpPr>
          <a:xfrm>
            <a:off x="4408498" y="2180944"/>
            <a:ext cx="848790" cy="645919"/>
            <a:chOff x="3131745" y="1328917"/>
            <a:chExt cx="848790" cy="645919"/>
          </a:xfrm>
        </p:grpSpPr>
        <p:pic>
          <p:nvPicPr>
            <p:cNvPr id="49" name="Graphic 48" descr="Document outline">
              <a:extLst>
                <a:ext uri="{FF2B5EF4-FFF2-40B4-BE49-F238E27FC236}">
                  <a16:creationId xmlns:a16="http://schemas.microsoft.com/office/drawing/2014/main" id="{3D777FF2-61A3-5E4C-1196-2C923187AB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68304" y="1621617"/>
              <a:ext cx="353219" cy="353219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90B1BFA-6D15-4171-869B-41DB53E6FBBA}"/>
                </a:ext>
              </a:extLst>
            </p:cNvPr>
            <p:cNvSpPr txBox="1"/>
            <p:nvPr/>
          </p:nvSpPr>
          <p:spPr>
            <a:xfrm>
              <a:off x="3131745" y="1328917"/>
              <a:ext cx="848790" cy="2923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36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Known</a:t>
              </a:r>
              <a:b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</a:b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Form Codes</a:t>
              </a:r>
              <a:endParaRPr kumimoji="0" lang="en-GB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AC8864B7-065F-BC74-395B-5FC0D36C258D}"/>
              </a:ext>
            </a:extLst>
          </p:cNvPr>
          <p:cNvCxnSpPr>
            <a:cxnSpLocks/>
            <a:stCxn id="67" idx="0"/>
          </p:cNvCxnSpPr>
          <p:nvPr/>
        </p:nvCxnSpPr>
        <p:spPr>
          <a:xfrm rot="16200000" flipV="1">
            <a:off x="1123302" y="3668986"/>
            <a:ext cx="1036756" cy="844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DBEA4BD8-A907-E167-2969-EEA52FD2D87C}"/>
              </a:ext>
            </a:extLst>
          </p:cNvPr>
          <p:cNvCxnSpPr>
            <a:cxnSpLocks/>
            <a:stCxn id="67" idx="2"/>
          </p:cNvCxnSpPr>
          <p:nvPr/>
        </p:nvCxnSpPr>
        <p:spPr>
          <a:xfrm rot="5400000" flipH="1" flipV="1">
            <a:off x="1779080" y="4284082"/>
            <a:ext cx="274555" cy="548513"/>
          </a:xfrm>
          <a:prstGeom prst="bentConnector4">
            <a:avLst>
              <a:gd name="adj1" fmla="val -83262"/>
              <a:gd name="adj2" fmla="val 81433"/>
            </a:avLst>
          </a:prstGeom>
          <a:ln w="28575">
            <a:solidFill>
              <a:srgbClr val="3C17C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408455D8-E879-68B7-1277-9C1AA5C6C834}"/>
              </a:ext>
            </a:extLst>
          </p:cNvPr>
          <p:cNvSpPr/>
          <p:nvPr/>
        </p:nvSpPr>
        <p:spPr>
          <a:xfrm>
            <a:off x="6128125" y="1949666"/>
            <a:ext cx="3299799" cy="1393268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EDC8F23-5A72-9042-1A3D-C9DF6F24E519}"/>
              </a:ext>
            </a:extLst>
          </p:cNvPr>
          <p:cNvSpPr txBox="1"/>
          <p:nvPr/>
        </p:nvSpPr>
        <p:spPr>
          <a:xfrm>
            <a:off x="8567987" y="2633289"/>
            <a:ext cx="786407" cy="66172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Documents manually processed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from work items in Workflow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F1A8C4A-2D1E-4D1E-1F78-51A36F4149C6}"/>
              </a:ext>
            </a:extLst>
          </p:cNvPr>
          <p:cNvSpPr/>
          <p:nvPr/>
        </p:nvSpPr>
        <p:spPr>
          <a:xfrm>
            <a:off x="340469" y="4106503"/>
            <a:ext cx="645153" cy="66172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6" name="Graphic 55" descr="Magnifying glass with solid fill">
            <a:extLst>
              <a:ext uri="{FF2B5EF4-FFF2-40B4-BE49-F238E27FC236}">
                <a16:creationId xmlns:a16="http://schemas.microsoft.com/office/drawing/2014/main" id="{59B6519E-59BB-6EA3-43AB-6CD232857A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0943" y="4381649"/>
            <a:ext cx="352066" cy="352066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C2F8602F-0EE4-CFCB-E4E1-94C1912A7E79}"/>
              </a:ext>
            </a:extLst>
          </p:cNvPr>
          <p:cNvSpPr txBox="1"/>
          <p:nvPr/>
        </p:nvSpPr>
        <p:spPr>
          <a:xfrm>
            <a:off x="4523667" y="2866218"/>
            <a:ext cx="611421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E.g., W8, Direct Credit  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065" name="Group 2064">
            <a:extLst>
              <a:ext uri="{FF2B5EF4-FFF2-40B4-BE49-F238E27FC236}">
                <a16:creationId xmlns:a16="http://schemas.microsoft.com/office/drawing/2014/main" id="{BA39D19B-57FF-4BE4-238C-C5629CB34845}"/>
              </a:ext>
            </a:extLst>
          </p:cNvPr>
          <p:cNvGrpSpPr/>
          <p:nvPr/>
        </p:nvGrpSpPr>
        <p:grpSpPr>
          <a:xfrm>
            <a:off x="2294387" y="3976488"/>
            <a:ext cx="739408" cy="1093879"/>
            <a:chOff x="3707858" y="4087319"/>
            <a:chExt cx="739408" cy="109387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B529245-4044-7ABE-2C84-C5E9C1473A94}"/>
                </a:ext>
              </a:extLst>
            </p:cNvPr>
            <p:cNvGrpSpPr/>
            <p:nvPr/>
          </p:nvGrpSpPr>
          <p:grpSpPr>
            <a:xfrm>
              <a:off x="3716942" y="4200780"/>
              <a:ext cx="730324" cy="528105"/>
              <a:chOff x="3213886" y="2239956"/>
              <a:chExt cx="730324" cy="528105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DFB7234-C458-5964-3EDB-3CA3737F6D65}"/>
                  </a:ext>
                </a:extLst>
              </p:cNvPr>
              <p:cNvSpPr txBox="1"/>
              <p:nvPr/>
            </p:nvSpPr>
            <p:spPr>
              <a:xfrm>
                <a:off x="3213886" y="2239956"/>
                <a:ext cx="730324" cy="16927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36000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C17C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Unknown</a:t>
                </a:r>
                <a:endParaRPr kumimoji="0" lang="en-GB" sz="800" b="1" i="0" u="none" strike="noStrike" kern="1200" cap="none" spc="0" normalizeH="0" baseline="0" noProof="0">
                  <a:ln>
                    <a:noFill/>
                  </a:ln>
                  <a:solidFill>
                    <a:srgbClr val="3C17C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45" name="Graphic 44" descr="Paper outline">
                <a:extLst>
                  <a:ext uri="{FF2B5EF4-FFF2-40B4-BE49-F238E27FC236}">
                    <a16:creationId xmlns:a16="http://schemas.microsoft.com/office/drawing/2014/main" id="{0F990FD4-5E80-0370-0EE3-A0146B6E29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360886" y="2392388"/>
                <a:ext cx="375673" cy="375673"/>
              </a:xfrm>
              <a:prstGeom prst="rect">
                <a:avLst/>
              </a:prstGeom>
            </p:spPr>
          </p:pic>
        </p:grp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952773B-0085-76ED-8A5D-85A92FFB86E6}"/>
                </a:ext>
              </a:extLst>
            </p:cNvPr>
            <p:cNvSpPr/>
            <p:nvPr/>
          </p:nvSpPr>
          <p:spPr>
            <a:xfrm>
              <a:off x="3707858" y="4087319"/>
              <a:ext cx="645602" cy="1093879"/>
            </a:xfrm>
            <a:prstGeom prst="rect">
              <a:avLst/>
            </a:prstGeom>
            <a:noFill/>
            <a:ln w="9525">
              <a:solidFill>
                <a:schemeClr val="accent4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62D1061-23B3-8960-AF34-7A5952136CA8}"/>
                </a:ext>
              </a:extLst>
            </p:cNvPr>
            <p:cNvSpPr txBox="1"/>
            <p:nvPr/>
          </p:nvSpPr>
          <p:spPr>
            <a:xfrm>
              <a:off x="3750929" y="4776329"/>
              <a:ext cx="611421" cy="3693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E.g., Share Certificate, Death Cert.</a:t>
              </a: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C36C66B-E962-499B-81AA-F61304A70DC3}"/>
              </a:ext>
            </a:extLst>
          </p:cNvPr>
          <p:cNvCxnSpPr>
            <a:cxnSpLocks/>
          </p:cNvCxnSpPr>
          <p:nvPr/>
        </p:nvCxnSpPr>
        <p:spPr>
          <a:xfrm>
            <a:off x="2939989" y="4523428"/>
            <a:ext cx="263083" cy="0"/>
          </a:xfrm>
          <a:prstGeom prst="straightConnector1">
            <a:avLst/>
          </a:prstGeom>
          <a:ln w="38100">
            <a:solidFill>
              <a:srgbClr val="3C17C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2031F197-ADB4-754D-3623-875C18135149}"/>
              </a:ext>
            </a:extLst>
          </p:cNvPr>
          <p:cNvCxnSpPr>
            <a:cxnSpLocks/>
            <a:stCxn id="47" idx="2"/>
          </p:cNvCxnSpPr>
          <p:nvPr/>
        </p:nvCxnSpPr>
        <p:spPr>
          <a:xfrm rot="5400000">
            <a:off x="3410776" y="2583866"/>
            <a:ext cx="825457" cy="1959787"/>
          </a:xfrm>
          <a:prstGeom prst="bentConnector3">
            <a:avLst>
              <a:gd name="adj1" fmla="val 29594"/>
            </a:avLst>
          </a:prstGeom>
          <a:ln w="28575">
            <a:solidFill>
              <a:schemeClr val="accent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4EC4090-73F4-A9E0-6150-EC6487BF3686}"/>
              </a:ext>
            </a:extLst>
          </p:cNvPr>
          <p:cNvGrpSpPr/>
          <p:nvPr/>
        </p:nvGrpSpPr>
        <p:grpSpPr>
          <a:xfrm>
            <a:off x="1297276" y="4187786"/>
            <a:ext cx="689651" cy="507830"/>
            <a:chOff x="2304673" y="3446141"/>
            <a:chExt cx="689651" cy="507830"/>
          </a:xfrm>
        </p:grpSpPr>
        <p:sp>
          <p:nvSpPr>
            <p:cNvPr id="67" name="Flowchart: Decision 66">
              <a:extLst>
                <a:ext uri="{FF2B5EF4-FFF2-40B4-BE49-F238E27FC236}">
                  <a16:creationId xmlns:a16="http://schemas.microsoft.com/office/drawing/2014/main" id="{D7BE6B3D-E9D8-CFC7-5496-BCCA7A4F64BF}"/>
                </a:ext>
              </a:extLst>
            </p:cNvPr>
            <p:cNvSpPr/>
            <p:nvPr/>
          </p:nvSpPr>
          <p:spPr>
            <a:xfrm>
              <a:off x="2304673" y="3446141"/>
              <a:ext cx="689651" cy="507830"/>
            </a:xfrm>
            <a:prstGeom prst="flowChartDecision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6719774-B26A-EF20-E5C7-8051FD9AD32F}"/>
                </a:ext>
              </a:extLst>
            </p:cNvPr>
            <p:cNvSpPr txBox="1"/>
            <p:nvPr/>
          </p:nvSpPr>
          <p:spPr>
            <a:xfrm>
              <a:off x="2362212" y="3545320"/>
              <a:ext cx="628523" cy="2923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36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Barcode recognized?</a:t>
              </a: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E59B7AFF-B478-CBBD-50F6-7BF0429216A5}"/>
              </a:ext>
            </a:extLst>
          </p:cNvPr>
          <p:cNvSpPr txBox="1"/>
          <p:nvPr/>
        </p:nvSpPr>
        <p:spPr>
          <a:xfrm>
            <a:off x="1677384" y="3908559"/>
            <a:ext cx="241435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Yes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B3C5FDE-3BBB-3201-66A9-18214908F592}"/>
              </a:ext>
            </a:extLst>
          </p:cNvPr>
          <p:cNvSpPr txBox="1"/>
          <p:nvPr/>
        </p:nvSpPr>
        <p:spPr>
          <a:xfrm>
            <a:off x="1519912" y="4876075"/>
            <a:ext cx="241435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C84A1D1-4430-5E00-A75F-F3BB73F5B3DB}"/>
              </a:ext>
            </a:extLst>
          </p:cNvPr>
          <p:cNvGrpSpPr/>
          <p:nvPr/>
        </p:nvGrpSpPr>
        <p:grpSpPr>
          <a:xfrm>
            <a:off x="6301053" y="2006748"/>
            <a:ext cx="2185480" cy="1219668"/>
            <a:chOff x="7163905" y="807903"/>
            <a:chExt cx="2185480" cy="1219668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C2B96BD-E73A-B9ED-8BCA-60307F7DC1B2}"/>
                </a:ext>
              </a:extLst>
            </p:cNvPr>
            <p:cNvSpPr txBox="1"/>
            <p:nvPr/>
          </p:nvSpPr>
          <p:spPr>
            <a:xfrm>
              <a:off x="7998646" y="914597"/>
              <a:ext cx="682548" cy="162553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36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‘High Volume’</a:t>
              </a: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73" name="Connector: Elbow 72">
              <a:extLst>
                <a:ext uri="{FF2B5EF4-FFF2-40B4-BE49-F238E27FC236}">
                  <a16:creationId xmlns:a16="http://schemas.microsoft.com/office/drawing/2014/main" id="{119D06C2-64AD-E0EA-49D7-3A14E55025F6}"/>
                </a:ext>
              </a:extLst>
            </p:cNvPr>
            <p:cNvCxnSpPr>
              <a:cxnSpLocks/>
              <a:stCxn id="87" idx="3"/>
              <a:endCxn id="81" idx="1"/>
            </p:cNvCxnSpPr>
            <p:nvPr/>
          </p:nvCxnSpPr>
          <p:spPr>
            <a:xfrm flipV="1">
              <a:off x="7736843" y="1093033"/>
              <a:ext cx="1024139" cy="354769"/>
            </a:xfrm>
            <a:prstGeom prst="bentConnector3">
              <a:avLst>
                <a:gd name="adj1" fmla="val 68247"/>
              </a:avLst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8FCF586E-C8BA-6BA8-191E-A5E723EA9D16}"/>
                </a:ext>
              </a:extLst>
            </p:cNvPr>
            <p:cNvGrpSpPr/>
            <p:nvPr/>
          </p:nvGrpSpPr>
          <p:grpSpPr>
            <a:xfrm>
              <a:off x="7163905" y="1162672"/>
              <a:ext cx="572938" cy="570259"/>
              <a:chOff x="6545060" y="1269352"/>
              <a:chExt cx="572938" cy="570259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A399BD8E-F887-4366-AC26-DA5C5D997F2F}"/>
                  </a:ext>
                </a:extLst>
              </p:cNvPr>
              <p:cNvGrpSpPr/>
              <p:nvPr/>
            </p:nvGrpSpPr>
            <p:grpSpPr>
              <a:xfrm>
                <a:off x="6619237" y="1341412"/>
                <a:ext cx="435263" cy="414861"/>
                <a:chOff x="4967053" y="3335479"/>
                <a:chExt cx="548961" cy="528549"/>
              </a:xfrm>
            </p:grpSpPr>
            <p:pic>
              <p:nvPicPr>
                <p:cNvPr id="88" name="Graphic 87" descr="Database outline">
                  <a:extLst>
                    <a:ext uri="{FF2B5EF4-FFF2-40B4-BE49-F238E27FC236}">
                      <a16:creationId xmlns:a16="http://schemas.microsoft.com/office/drawing/2014/main" id="{5403521C-DDFD-5E02-6495-081BCF696E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67053" y="3335479"/>
                  <a:ext cx="528549" cy="528549"/>
                </a:xfrm>
                <a:prstGeom prst="rect">
                  <a:avLst/>
                </a:prstGeom>
              </p:spPr>
            </p:pic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E69304F7-53EF-3AAB-8083-4A1B5F4DA280}"/>
                    </a:ext>
                  </a:extLst>
                </p:cNvPr>
                <p:cNvSpPr txBox="1"/>
                <p:nvPr/>
              </p:nvSpPr>
              <p:spPr>
                <a:xfrm>
                  <a:off x="5251425" y="3582992"/>
                  <a:ext cx="264589" cy="117636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6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444444">
                          <a:lumMod val="5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EDC</a:t>
                  </a:r>
                  <a:endParaRPr kumimoji="0" lang="en-GB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444444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9DDE68A7-AC8C-F984-5256-827F51EE5735}"/>
                  </a:ext>
                </a:extLst>
              </p:cNvPr>
              <p:cNvSpPr/>
              <p:nvPr/>
            </p:nvSpPr>
            <p:spPr>
              <a:xfrm>
                <a:off x="6545060" y="1269352"/>
                <a:ext cx="572938" cy="570259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DE4A61A5-7E33-F402-BCAD-B012949262BB}"/>
                </a:ext>
              </a:extLst>
            </p:cNvPr>
            <p:cNvGrpSpPr/>
            <p:nvPr/>
          </p:nvGrpSpPr>
          <p:grpSpPr>
            <a:xfrm>
              <a:off x="8760982" y="807903"/>
              <a:ext cx="588403" cy="1219668"/>
              <a:chOff x="9178457" y="767263"/>
              <a:chExt cx="588403" cy="1219668"/>
            </a:xfrm>
          </p:grpSpPr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8CBDFB60-7EDE-569A-4C38-D4D3D6ECC179}"/>
                  </a:ext>
                </a:extLst>
              </p:cNvPr>
              <p:cNvGrpSpPr/>
              <p:nvPr/>
            </p:nvGrpSpPr>
            <p:grpSpPr>
              <a:xfrm>
                <a:off x="9204219" y="1427520"/>
                <a:ext cx="523981" cy="518708"/>
                <a:chOff x="12278528" y="114300"/>
                <a:chExt cx="660854" cy="660854"/>
              </a:xfrm>
            </p:grpSpPr>
            <p:pic>
              <p:nvPicPr>
                <p:cNvPr id="84" name="Graphic 83" descr="Programmer male outline">
                  <a:extLst>
                    <a:ext uri="{FF2B5EF4-FFF2-40B4-BE49-F238E27FC236}">
                      <a16:creationId xmlns:a16="http://schemas.microsoft.com/office/drawing/2014/main" id="{1C428DF2-99D1-F168-52A2-B2611BC60A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278528" y="114300"/>
                  <a:ext cx="660854" cy="660854"/>
                </a:xfrm>
                <a:prstGeom prst="rect">
                  <a:avLst/>
                </a:prstGeom>
              </p:spPr>
            </p:pic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5DA88633-3C4D-7F0A-B599-43D27974A9CF}"/>
                    </a:ext>
                  </a:extLst>
                </p:cNvPr>
                <p:cNvSpPr txBox="1"/>
                <p:nvPr/>
              </p:nvSpPr>
              <p:spPr>
                <a:xfrm>
                  <a:off x="12343471" y="586948"/>
                  <a:ext cx="530970" cy="117636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6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444444">
                          <a:lumMod val="5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Workflow</a:t>
                  </a:r>
                  <a:endParaRPr kumimoji="0" lang="en-GB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444444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53C1A94A-93AA-B62B-23F8-C3ADB884AF2D}"/>
                  </a:ext>
                </a:extLst>
              </p:cNvPr>
              <p:cNvGrpSpPr/>
              <p:nvPr/>
            </p:nvGrpSpPr>
            <p:grpSpPr>
              <a:xfrm>
                <a:off x="9178457" y="767263"/>
                <a:ext cx="588403" cy="570259"/>
                <a:chOff x="8696783" y="1269352"/>
                <a:chExt cx="588403" cy="570259"/>
              </a:xfrm>
            </p:grpSpPr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AF6BE890-C759-FC5C-0025-8951BF3FBB53}"/>
                    </a:ext>
                  </a:extLst>
                </p:cNvPr>
                <p:cNvGrpSpPr/>
                <p:nvPr/>
              </p:nvGrpSpPr>
              <p:grpSpPr>
                <a:xfrm>
                  <a:off x="8757302" y="1358519"/>
                  <a:ext cx="527884" cy="414861"/>
                  <a:chOff x="8792668" y="5006416"/>
                  <a:chExt cx="665777" cy="528549"/>
                </a:xfrm>
              </p:grpSpPr>
              <p:pic>
                <p:nvPicPr>
                  <p:cNvPr id="82" name="Graphic 81" descr="Database outline">
                    <a:extLst>
                      <a:ext uri="{FF2B5EF4-FFF2-40B4-BE49-F238E27FC236}">
                        <a16:creationId xmlns:a16="http://schemas.microsoft.com/office/drawing/2014/main" id="{899E30A7-D641-FB8A-44B1-8981400070A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792668" y="5006416"/>
                    <a:ext cx="528549" cy="528549"/>
                  </a:xfrm>
                  <a:prstGeom prst="rect">
                    <a:avLst/>
                  </a:prstGeom>
                </p:spPr>
              </p:pic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7C7FC2BB-A306-08CE-DA7B-4903B8D82187}"/>
                      </a:ext>
                    </a:extLst>
                  </p:cNvPr>
                  <p:cNvSpPr txBox="1"/>
                  <p:nvPr/>
                </p:nvSpPr>
                <p:spPr>
                  <a:xfrm>
                    <a:off x="9086504" y="5256279"/>
                    <a:ext cx="371941" cy="117636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noFill/>
                  </a:ln>
                </p:spPr>
                <p:txBody>
                  <a:bodyPr wrap="square" lIns="0" tIns="0" rIns="0" bIns="0" rtlCol="0" anchor="ctr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4444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SCRIP</a:t>
                    </a:r>
                    <a:endParaRPr kumimoji="0" lang="en-GB" sz="6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444444">
                          <a:lumMod val="5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BD9EA53E-4594-5E2F-B83F-806906C54AF8}"/>
                    </a:ext>
                  </a:extLst>
                </p:cNvPr>
                <p:cNvSpPr/>
                <p:nvPr/>
              </p:nvSpPr>
              <p:spPr>
                <a:xfrm>
                  <a:off x="8696783" y="1269352"/>
                  <a:ext cx="572938" cy="570259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444444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9FA1C16C-7E93-981F-073A-854481EDC91B}"/>
                  </a:ext>
                </a:extLst>
              </p:cNvPr>
              <p:cNvSpPr/>
              <p:nvPr/>
            </p:nvSpPr>
            <p:spPr>
              <a:xfrm>
                <a:off x="9182314" y="1416672"/>
                <a:ext cx="572938" cy="570259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76" name="Connector: Elbow 75">
              <a:extLst>
                <a:ext uri="{FF2B5EF4-FFF2-40B4-BE49-F238E27FC236}">
                  <a16:creationId xmlns:a16="http://schemas.microsoft.com/office/drawing/2014/main" id="{FB09E435-B888-1157-7BB2-6F3D1A22CBD0}"/>
                </a:ext>
              </a:extLst>
            </p:cNvPr>
            <p:cNvCxnSpPr>
              <a:cxnSpLocks/>
              <a:stCxn id="87" idx="3"/>
              <a:endCxn id="79" idx="1"/>
            </p:cNvCxnSpPr>
            <p:nvPr/>
          </p:nvCxnSpPr>
          <p:spPr>
            <a:xfrm>
              <a:off x="7736843" y="1447802"/>
              <a:ext cx="1027996" cy="294640"/>
            </a:xfrm>
            <a:prstGeom prst="bentConnector3">
              <a:avLst>
                <a:gd name="adj1" fmla="val 67870"/>
              </a:avLst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36FC9DA1-BD9D-900B-61CF-C21D6C201C0C}"/>
              </a:ext>
            </a:extLst>
          </p:cNvPr>
          <p:cNvSpPr txBox="1"/>
          <p:nvPr/>
        </p:nvSpPr>
        <p:spPr>
          <a:xfrm>
            <a:off x="4577693" y="3098816"/>
            <a:ext cx="434274" cy="130246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Fall-outs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7C53005-DBD1-5464-0888-11831B817609}"/>
              </a:ext>
            </a:extLst>
          </p:cNvPr>
          <p:cNvSpPr/>
          <p:nvPr/>
        </p:nvSpPr>
        <p:spPr>
          <a:xfrm>
            <a:off x="7996994" y="3602524"/>
            <a:ext cx="800274" cy="868852"/>
          </a:xfrm>
          <a:prstGeom prst="rect">
            <a:avLst/>
          </a:prstGeom>
          <a:noFill/>
          <a:ln w="9525">
            <a:solidFill>
              <a:srgbClr val="3C17C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C5BC1CE8-98A0-3697-9A46-4A39047D9F7C}"/>
              </a:ext>
            </a:extLst>
          </p:cNvPr>
          <p:cNvCxnSpPr>
            <a:cxnSpLocks/>
            <a:stCxn id="94" idx="3"/>
            <a:endCxn id="79" idx="2"/>
          </p:cNvCxnSpPr>
          <p:nvPr/>
        </p:nvCxnSpPr>
        <p:spPr>
          <a:xfrm flipH="1" flipV="1">
            <a:off x="8188456" y="3226416"/>
            <a:ext cx="608812" cy="810534"/>
          </a:xfrm>
          <a:prstGeom prst="bentConnector4">
            <a:avLst>
              <a:gd name="adj1" fmla="val -37549"/>
              <a:gd name="adj2" fmla="val 76799"/>
            </a:avLst>
          </a:prstGeom>
          <a:ln w="28575">
            <a:solidFill>
              <a:srgbClr val="3C17CF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9" name="Graphic 98" descr="User outline">
            <a:extLst>
              <a:ext uri="{FF2B5EF4-FFF2-40B4-BE49-F238E27FC236}">
                <a16:creationId xmlns:a16="http://schemas.microsoft.com/office/drawing/2014/main" id="{FDAC9C6E-D584-3EAC-47ED-858E4E0973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74656" y="3969421"/>
            <a:ext cx="431239" cy="431239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CABE1ADB-D121-5D90-C6ED-134C32EFC065}"/>
              </a:ext>
            </a:extLst>
          </p:cNvPr>
          <p:cNvSpPr txBox="1"/>
          <p:nvPr/>
        </p:nvSpPr>
        <p:spPr>
          <a:xfrm>
            <a:off x="8115223" y="3637003"/>
            <a:ext cx="527517" cy="2923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Manual review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3C17C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0F0C898-1FB8-336E-2251-718F7216AC08}"/>
              </a:ext>
            </a:extLst>
          </p:cNvPr>
          <p:cNvSpPr txBox="1"/>
          <p:nvPr/>
        </p:nvSpPr>
        <p:spPr>
          <a:xfrm>
            <a:off x="755671" y="3827202"/>
            <a:ext cx="567238" cy="1538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Image (TIF)</a:t>
            </a:r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7" name="Graphic 106" descr="Photocopier outline">
            <a:extLst>
              <a:ext uri="{FF2B5EF4-FFF2-40B4-BE49-F238E27FC236}">
                <a16:creationId xmlns:a16="http://schemas.microsoft.com/office/drawing/2014/main" id="{D7947DF5-E079-2B88-16A5-DD86F93BA8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2332" y="3295902"/>
            <a:ext cx="368927" cy="368927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33CB25C1-67EC-0BA3-6A73-5CCA83056146}"/>
              </a:ext>
            </a:extLst>
          </p:cNvPr>
          <p:cNvSpPr txBox="1"/>
          <p:nvPr/>
        </p:nvSpPr>
        <p:spPr>
          <a:xfrm>
            <a:off x="435720" y="3199354"/>
            <a:ext cx="452613" cy="12311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Scanner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9" name="Graphic 108" descr="Envelope outline">
            <a:extLst>
              <a:ext uri="{FF2B5EF4-FFF2-40B4-BE49-F238E27FC236}">
                <a16:creationId xmlns:a16="http://schemas.microsoft.com/office/drawing/2014/main" id="{FD6B4274-5C91-6D07-4C52-36E6CCC1DE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6936" y="2465817"/>
            <a:ext cx="334967" cy="269511"/>
          </a:xfrm>
          <a:prstGeom prst="rect">
            <a:avLst/>
          </a:prstGeom>
        </p:spPr>
      </p:pic>
      <p:sp>
        <p:nvSpPr>
          <p:cNvPr id="110" name="Rectangle 109">
            <a:extLst>
              <a:ext uri="{FF2B5EF4-FFF2-40B4-BE49-F238E27FC236}">
                <a16:creationId xmlns:a16="http://schemas.microsoft.com/office/drawing/2014/main" id="{85B52993-EB21-0030-E668-A0C7BC52D122}"/>
              </a:ext>
            </a:extLst>
          </p:cNvPr>
          <p:cNvSpPr/>
          <p:nvPr/>
        </p:nvSpPr>
        <p:spPr>
          <a:xfrm>
            <a:off x="340469" y="3134616"/>
            <a:ext cx="645153" cy="57600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71A487DB-EE23-2656-B452-C306B4437E73}"/>
              </a:ext>
            </a:extLst>
          </p:cNvPr>
          <p:cNvCxnSpPr>
            <a:cxnSpLocks/>
            <a:stCxn id="110" idx="2"/>
            <a:endCxn id="55" idx="0"/>
          </p:cNvCxnSpPr>
          <p:nvPr/>
        </p:nvCxnSpPr>
        <p:spPr>
          <a:xfrm>
            <a:off x="663046" y="3710616"/>
            <a:ext cx="0" cy="39588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4152939-6B67-89FB-8AF2-224F299752BC}"/>
              </a:ext>
            </a:extLst>
          </p:cNvPr>
          <p:cNvCxnSpPr>
            <a:cxnSpLocks/>
            <a:stCxn id="114" idx="2"/>
            <a:endCxn id="110" idx="0"/>
          </p:cNvCxnSpPr>
          <p:nvPr/>
        </p:nvCxnSpPr>
        <p:spPr>
          <a:xfrm>
            <a:off x="663046" y="2804764"/>
            <a:ext cx="0" cy="32985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291854EF-F077-6A08-EA4F-37AA83D11783}"/>
              </a:ext>
            </a:extLst>
          </p:cNvPr>
          <p:cNvSpPr txBox="1"/>
          <p:nvPr/>
        </p:nvSpPr>
        <p:spPr>
          <a:xfrm>
            <a:off x="722716" y="2897031"/>
            <a:ext cx="270427" cy="1538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Paper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08EF60A-5AEB-16C6-A262-F96A2A296A6E}"/>
              </a:ext>
            </a:extLst>
          </p:cNvPr>
          <p:cNvSpPr/>
          <p:nvPr/>
        </p:nvSpPr>
        <p:spPr>
          <a:xfrm>
            <a:off x="340469" y="2228764"/>
            <a:ext cx="645153" cy="57600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E116028-ECFA-95F3-7494-B14FF1D02A7C}"/>
              </a:ext>
            </a:extLst>
          </p:cNvPr>
          <p:cNvSpPr txBox="1"/>
          <p:nvPr/>
        </p:nvSpPr>
        <p:spPr>
          <a:xfrm>
            <a:off x="435720" y="2290215"/>
            <a:ext cx="452613" cy="12311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Mail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624D08DA-56B6-9D17-D454-308BD9BD2AC1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3766272" y="1969812"/>
            <a:ext cx="714324" cy="673688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8FD7ED13-06D2-E545-FCAA-855BE661DD73}"/>
              </a:ext>
            </a:extLst>
          </p:cNvPr>
          <p:cNvCxnSpPr>
            <a:cxnSpLocks/>
            <a:stCxn id="134" idx="0"/>
          </p:cNvCxnSpPr>
          <p:nvPr/>
        </p:nvCxnSpPr>
        <p:spPr>
          <a:xfrm rot="5400000" flipH="1" flipV="1">
            <a:off x="2578271" y="1943534"/>
            <a:ext cx="489013" cy="541571"/>
          </a:xfrm>
          <a:prstGeom prst="bentConnector2">
            <a:avLst/>
          </a:prstGeom>
          <a:ln w="28575">
            <a:solidFill>
              <a:schemeClr val="accent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2" name="Picture 121">
            <a:extLst>
              <a:ext uri="{FF2B5EF4-FFF2-40B4-BE49-F238E27FC236}">
                <a16:creationId xmlns:a16="http://schemas.microsoft.com/office/drawing/2014/main" id="{F45882EB-C4EC-B352-8202-819A9D5B668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87995" y="3577549"/>
            <a:ext cx="624815" cy="156204"/>
          </a:xfrm>
          <a:prstGeom prst="rect">
            <a:avLst/>
          </a:prstGeom>
        </p:spPr>
      </p:pic>
      <p:grpSp>
        <p:nvGrpSpPr>
          <p:cNvPr id="123" name="Group 122">
            <a:extLst>
              <a:ext uri="{FF2B5EF4-FFF2-40B4-BE49-F238E27FC236}">
                <a16:creationId xmlns:a16="http://schemas.microsoft.com/office/drawing/2014/main" id="{E66C5467-CFB0-48AB-AA68-5323BE7DA1E9}"/>
              </a:ext>
            </a:extLst>
          </p:cNvPr>
          <p:cNvGrpSpPr/>
          <p:nvPr/>
        </p:nvGrpSpPr>
        <p:grpSpPr>
          <a:xfrm>
            <a:off x="3093563" y="1341342"/>
            <a:ext cx="672709" cy="1089622"/>
            <a:chOff x="8786398" y="5816078"/>
            <a:chExt cx="672709" cy="1089622"/>
          </a:xfrm>
        </p:grpSpPr>
        <p:pic>
          <p:nvPicPr>
            <p:cNvPr id="124" name="Graphic 123" descr="Artificial Intelligence outline">
              <a:extLst>
                <a:ext uri="{FF2B5EF4-FFF2-40B4-BE49-F238E27FC236}">
                  <a16:creationId xmlns:a16="http://schemas.microsoft.com/office/drawing/2014/main" id="{C0499695-51A4-81BA-3019-278C31F4F3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956012" y="6151453"/>
              <a:ext cx="386585" cy="386585"/>
            </a:xfrm>
            <a:prstGeom prst="rect">
              <a:avLst/>
            </a:prstGeom>
          </p:spPr>
        </p:pic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E5073AF-749E-FF5D-D256-C3037C14F45F}"/>
                </a:ext>
              </a:extLst>
            </p:cNvPr>
            <p:cNvSpPr txBox="1"/>
            <p:nvPr/>
          </p:nvSpPr>
          <p:spPr>
            <a:xfrm>
              <a:off x="8888366" y="6010766"/>
              <a:ext cx="485262" cy="12311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LLM</a:t>
              </a:r>
              <a:endParaRPr kumimoji="0" lang="en-GB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4A735A66-AE07-4E5C-B9B8-EE5FB6955ECB}"/>
                </a:ext>
              </a:extLst>
            </p:cNvPr>
            <p:cNvSpPr/>
            <p:nvPr/>
          </p:nvSpPr>
          <p:spPr>
            <a:xfrm>
              <a:off x="8786398" y="5983396"/>
              <a:ext cx="672709" cy="922304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127" name="Picture 4" descr="OpenAI Logo, symbol, meaning, history, PNG, brand">
              <a:extLst>
                <a:ext uri="{FF2B5EF4-FFF2-40B4-BE49-F238E27FC236}">
                  <a16:creationId xmlns:a16="http://schemas.microsoft.com/office/drawing/2014/main" id="{888072A2-8970-FE8E-7FC6-CE8AECF746B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594" b="19955"/>
            <a:stretch>
              <a:fillRect/>
            </a:stretch>
          </p:blipFill>
          <p:spPr bwMode="auto">
            <a:xfrm>
              <a:off x="8956012" y="5816078"/>
              <a:ext cx="496374" cy="1520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83FCF360-7553-9ECD-2F96-9F75AF68075F}"/>
                </a:ext>
              </a:extLst>
            </p:cNvPr>
            <p:cNvSpPr txBox="1"/>
            <p:nvPr/>
          </p:nvSpPr>
          <p:spPr>
            <a:xfrm>
              <a:off x="8798600" y="6520136"/>
              <a:ext cx="655270" cy="3693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Extracts fields for all Proxy variations</a:t>
              </a: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DD296AF7-0681-8C9B-950C-2FF8751CDB3B}"/>
              </a:ext>
            </a:extLst>
          </p:cNvPr>
          <p:cNvSpPr txBox="1"/>
          <p:nvPr/>
        </p:nvSpPr>
        <p:spPr>
          <a:xfrm>
            <a:off x="1354659" y="2365847"/>
            <a:ext cx="590617" cy="41549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Matching logic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template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7A6B6657-A367-75A0-70D2-79617E6CED49}"/>
              </a:ext>
            </a:extLst>
          </p:cNvPr>
          <p:cNvSpPr/>
          <p:nvPr/>
        </p:nvSpPr>
        <p:spPr>
          <a:xfrm>
            <a:off x="1349480" y="2135968"/>
            <a:ext cx="600973" cy="1015062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31" name="Graphic 130" descr="Checkmark with solid fill">
            <a:extLst>
              <a:ext uri="{FF2B5EF4-FFF2-40B4-BE49-F238E27FC236}">
                <a16:creationId xmlns:a16="http://schemas.microsoft.com/office/drawing/2014/main" id="{C6F38C3B-C059-698C-426B-CAF6437EE3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40219" y="2734006"/>
            <a:ext cx="251083" cy="251083"/>
          </a:xfrm>
          <a:prstGeom prst="rect">
            <a:avLst/>
          </a:prstGeom>
        </p:spPr>
      </p:pic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DD0865A0-5CA1-7A0E-9A6C-8982B0AAE4CE}"/>
              </a:ext>
            </a:extLst>
          </p:cNvPr>
          <p:cNvCxnSpPr>
            <a:cxnSpLocks/>
            <a:stCxn id="130" idx="3"/>
            <a:endCxn id="134" idx="1"/>
          </p:cNvCxnSpPr>
          <p:nvPr/>
        </p:nvCxnSpPr>
        <p:spPr>
          <a:xfrm>
            <a:off x="1950453" y="2643499"/>
            <a:ext cx="376747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3" name="Picture 132">
            <a:extLst>
              <a:ext uri="{FF2B5EF4-FFF2-40B4-BE49-F238E27FC236}">
                <a16:creationId xmlns:a16="http://schemas.microsoft.com/office/drawing/2014/main" id="{BA659B40-F1BF-6E23-FFBC-1715A140E73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37559" y="1926803"/>
            <a:ext cx="624815" cy="156204"/>
          </a:xfrm>
          <a:prstGeom prst="rect">
            <a:avLst/>
          </a:prstGeom>
        </p:spPr>
      </p:pic>
      <p:sp>
        <p:nvSpPr>
          <p:cNvPr id="134" name="Flowchart: Decision 133">
            <a:extLst>
              <a:ext uri="{FF2B5EF4-FFF2-40B4-BE49-F238E27FC236}">
                <a16:creationId xmlns:a16="http://schemas.microsoft.com/office/drawing/2014/main" id="{1CD775AB-9FFE-D946-E0A9-96137EA09BEB}"/>
              </a:ext>
            </a:extLst>
          </p:cNvPr>
          <p:cNvSpPr/>
          <p:nvPr/>
        </p:nvSpPr>
        <p:spPr>
          <a:xfrm>
            <a:off x="2327200" y="2458825"/>
            <a:ext cx="449583" cy="369347"/>
          </a:xfrm>
          <a:prstGeom prst="flowChartDecision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0E3EF49D-B9C8-CCA4-51AC-DF5618C1C3C4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2764075" y="2643499"/>
            <a:ext cx="1716521" cy="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69FA9523-42B7-5479-A584-13BDEBDF20BF}"/>
              </a:ext>
            </a:extLst>
          </p:cNvPr>
          <p:cNvSpPr txBox="1"/>
          <p:nvPr/>
        </p:nvSpPr>
        <p:spPr>
          <a:xfrm>
            <a:off x="2413000" y="2192508"/>
            <a:ext cx="241435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Yes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5383CCC-52F4-F2F4-F2EB-91D7F28DCA31}"/>
              </a:ext>
            </a:extLst>
          </p:cNvPr>
          <p:cNvSpPr txBox="1"/>
          <p:nvPr/>
        </p:nvSpPr>
        <p:spPr>
          <a:xfrm>
            <a:off x="2849923" y="2581943"/>
            <a:ext cx="241435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BE4A4E63-AB1B-7917-C437-61A93983C4F7}"/>
              </a:ext>
            </a:extLst>
          </p:cNvPr>
          <p:cNvGrpSpPr/>
          <p:nvPr/>
        </p:nvGrpSpPr>
        <p:grpSpPr>
          <a:xfrm>
            <a:off x="10549647" y="1027587"/>
            <a:ext cx="275641" cy="194381"/>
            <a:chOff x="9515474" y="9885"/>
            <a:chExt cx="276214" cy="288588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C13BDABF-F27A-62ED-9936-4C473ADE10F3}"/>
                </a:ext>
              </a:extLst>
            </p:cNvPr>
            <p:cNvSpPr/>
            <p:nvPr/>
          </p:nvSpPr>
          <p:spPr>
            <a:xfrm>
              <a:off x="9515474" y="10044"/>
              <a:ext cx="276214" cy="28827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149" name="Graphic 148" descr="Transfer with solid fill">
              <a:extLst>
                <a:ext uri="{FF2B5EF4-FFF2-40B4-BE49-F238E27FC236}">
                  <a16:creationId xmlns:a16="http://schemas.microsoft.com/office/drawing/2014/main" id="{A4D86D05-E879-BAE7-EFBB-166786444F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534865" y="9885"/>
              <a:ext cx="217728" cy="288588"/>
            </a:xfrm>
            <a:prstGeom prst="rect">
              <a:avLst/>
            </a:prstGeom>
          </p:spPr>
        </p:pic>
      </p:grpSp>
      <p:sp>
        <p:nvSpPr>
          <p:cNvPr id="141" name="Rectangle 140">
            <a:extLst>
              <a:ext uri="{FF2B5EF4-FFF2-40B4-BE49-F238E27FC236}">
                <a16:creationId xmlns:a16="http://schemas.microsoft.com/office/drawing/2014/main" id="{4AD0A9BF-01DE-D90C-BD9F-978626D51FAB}"/>
              </a:ext>
            </a:extLst>
          </p:cNvPr>
          <p:cNvSpPr/>
          <p:nvPr/>
        </p:nvSpPr>
        <p:spPr>
          <a:xfrm>
            <a:off x="10549658" y="1292715"/>
            <a:ext cx="275641" cy="194167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42" name="Graphic 141" descr="Transfer with solid fill">
            <a:extLst>
              <a:ext uri="{FF2B5EF4-FFF2-40B4-BE49-F238E27FC236}">
                <a16:creationId xmlns:a16="http://schemas.microsoft.com/office/drawing/2014/main" id="{97309273-312F-CEC2-1EB6-73B6807C2F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569010" y="1292608"/>
            <a:ext cx="221627" cy="194381"/>
          </a:xfrm>
          <a:prstGeom prst="rect">
            <a:avLst/>
          </a:prstGeom>
        </p:spPr>
      </p:pic>
      <p:sp>
        <p:nvSpPr>
          <p:cNvPr id="143" name="Rectangle 142">
            <a:extLst>
              <a:ext uri="{FF2B5EF4-FFF2-40B4-BE49-F238E27FC236}">
                <a16:creationId xmlns:a16="http://schemas.microsoft.com/office/drawing/2014/main" id="{18BF6C7D-F0C8-D594-4490-A57004877408}"/>
              </a:ext>
            </a:extLst>
          </p:cNvPr>
          <p:cNvSpPr/>
          <p:nvPr/>
        </p:nvSpPr>
        <p:spPr>
          <a:xfrm>
            <a:off x="10549658" y="1569315"/>
            <a:ext cx="275641" cy="194167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44" name="Graphic 143" descr="Transfer with solid fill">
            <a:extLst>
              <a:ext uri="{FF2B5EF4-FFF2-40B4-BE49-F238E27FC236}">
                <a16:creationId xmlns:a16="http://schemas.microsoft.com/office/drawing/2014/main" id="{59BD5768-F193-0420-40A9-BC2A548E7B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569010" y="1569208"/>
            <a:ext cx="230294" cy="194381"/>
          </a:xfrm>
          <a:prstGeom prst="rect">
            <a:avLst/>
          </a:prstGeom>
        </p:spPr>
      </p:pic>
      <p:sp>
        <p:nvSpPr>
          <p:cNvPr id="145" name="TextBox 144">
            <a:extLst>
              <a:ext uri="{FF2B5EF4-FFF2-40B4-BE49-F238E27FC236}">
                <a16:creationId xmlns:a16="http://schemas.microsoft.com/office/drawing/2014/main" id="{29AD1D0A-D820-F4D0-E2EB-418056EBE053}"/>
              </a:ext>
            </a:extLst>
          </p:cNvPr>
          <p:cNvSpPr txBox="1"/>
          <p:nvPr/>
        </p:nvSpPr>
        <p:spPr>
          <a:xfrm>
            <a:off x="10881306" y="1066256"/>
            <a:ext cx="1089020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Phase 1 – known forms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063D1EF-8AC0-D478-FD7F-0DAC0DE89D72}"/>
              </a:ext>
            </a:extLst>
          </p:cNvPr>
          <p:cNvSpPr txBox="1"/>
          <p:nvPr/>
        </p:nvSpPr>
        <p:spPr>
          <a:xfrm>
            <a:off x="10887181" y="1315436"/>
            <a:ext cx="1046465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Phase 2 - Classification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0D4DB33E-D01B-041C-BDBE-0FDB4C45DDDC}"/>
              </a:ext>
            </a:extLst>
          </p:cNvPr>
          <p:cNvSpPr txBox="1"/>
          <p:nvPr/>
        </p:nvSpPr>
        <p:spPr>
          <a:xfrm>
            <a:off x="10900814" y="1594675"/>
            <a:ext cx="998009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Phase 3 - Processing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8C27F6B-0B4C-EBC3-4477-5E4510087B26}"/>
              </a:ext>
            </a:extLst>
          </p:cNvPr>
          <p:cNvSpPr txBox="1"/>
          <p:nvPr/>
        </p:nvSpPr>
        <p:spPr>
          <a:xfrm>
            <a:off x="9791459" y="3445692"/>
            <a:ext cx="1518253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Processing (RPA automation)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93" name="Rectangle: Rounded Corners 2092">
            <a:extLst>
              <a:ext uri="{FF2B5EF4-FFF2-40B4-BE49-F238E27FC236}">
                <a16:creationId xmlns:a16="http://schemas.microsoft.com/office/drawing/2014/main" id="{5BBAC147-B93E-DD4A-6ADB-35ACEC410935}"/>
              </a:ext>
            </a:extLst>
          </p:cNvPr>
          <p:cNvSpPr/>
          <p:nvPr/>
        </p:nvSpPr>
        <p:spPr>
          <a:xfrm>
            <a:off x="3248695" y="3493243"/>
            <a:ext cx="2267494" cy="185470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3C17CF"/>
            </a:solidFill>
            <a:prstDash val="soli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2" name="Graphic 21" descr="Artificial Intelligence outline">
            <a:extLst>
              <a:ext uri="{FF2B5EF4-FFF2-40B4-BE49-F238E27FC236}">
                <a16:creationId xmlns:a16="http://schemas.microsoft.com/office/drawing/2014/main" id="{FB0F8CA1-1A9A-CA78-12F2-AA76CCE0D0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456081" y="4216434"/>
            <a:ext cx="313260" cy="31326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F33FB5E-EDA4-B0AC-476C-D44A26182F31}"/>
              </a:ext>
            </a:extLst>
          </p:cNvPr>
          <p:cNvSpPr txBox="1"/>
          <p:nvPr/>
        </p:nvSpPr>
        <p:spPr>
          <a:xfrm>
            <a:off x="3490646" y="4093351"/>
            <a:ext cx="485262" cy="12311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LLM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C50BFD-3F3A-B75C-1237-2F4313EE6681}"/>
              </a:ext>
            </a:extLst>
          </p:cNvPr>
          <p:cNvSpPr/>
          <p:nvPr/>
        </p:nvSpPr>
        <p:spPr>
          <a:xfrm>
            <a:off x="3423030" y="4068244"/>
            <a:ext cx="1897927" cy="972999"/>
          </a:xfrm>
          <a:prstGeom prst="rect">
            <a:avLst/>
          </a:prstGeom>
          <a:noFill/>
          <a:ln w="9525">
            <a:solidFill>
              <a:srgbClr val="3C17C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5" name="Picture 4" descr="OpenAI Logo, symbol, meaning, history, PNG, brand">
            <a:extLst>
              <a:ext uri="{FF2B5EF4-FFF2-40B4-BE49-F238E27FC236}">
                <a16:creationId xmlns:a16="http://schemas.microsoft.com/office/drawing/2014/main" id="{42AB07EC-4F8A-8584-F6FC-E312A574A9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94" b="19955"/>
          <a:stretch>
            <a:fillRect/>
          </a:stretch>
        </p:blipFill>
        <p:spPr bwMode="auto">
          <a:xfrm>
            <a:off x="3592644" y="3908187"/>
            <a:ext cx="496374" cy="152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5F02B6D-778A-BBB5-DE38-D0D267CDDE2A}"/>
              </a:ext>
            </a:extLst>
          </p:cNvPr>
          <p:cNvSpPr txBox="1"/>
          <p:nvPr/>
        </p:nvSpPr>
        <p:spPr>
          <a:xfrm>
            <a:off x="3513196" y="4581252"/>
            <a:ext cx="655270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Extracts </a:t>
            </a:r>
            <a:r>
              <a:rPr lang="en-US" sz="800">
                <a:solidFill>
                  <a:srgbClr val="444444"/>
                </a:solidFill>
                <a:latin typeface="Aptos" panose="02110004020202020204"/>
              </a:rPr>
              <a:t>intent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and fields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E3DF526-11EC-6E69-9F15-8807571CF5E2}"/>
              </a:ext>
            </a:extLst>
          </p:cNvPr>
          <p:cNvCxnSpPr>
            <a:cxnSpLocks/>
          </p:cNvCxnSpPr>
          <p:nvPr/>
        </p:nvCxnSpPr>
        <p:spPr>
          <a:xfrm>
            <a:off x="4168466" y="4670071"/>
            <a:ext cx="208508" cy="0"/>
          </a:xfrm>
          <a:prstGeom prst="straightConnector1">
            <a:avLst/>
          </a:prstGeom>
          <a:ln w="38100">
            <a:solidFill>
              <a:srgbClr val="3C17C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537404A-F283-6C3D-D00E-B42479D2F419}"/>
              </a:ext>
            </a:extLst>
          </p:cNvPr>
          <p:cNvSpPr txBox="1"/>
          <p:nvPr/>
        </p:nvSpPr>
        <p:spPr>
          <a:xfrm>
            <a:off x="4443950" y="4507498"/>
            <a:ext cx="877007" cy="492443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Transforms unstructured data into a structured output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F876CA8-A9FF-EDFF-F593-08D40E2EC1E3}"/>
              </a:ext>
            </a:extLst>
          </p:cNvPr>
          <p:cNvCxnSpPr>
            <a:cxnSpLocks/>
          </p:cNvCxnSpPr>
          <p:nvPr/>
        </p:nvCxnSpPr>
        <p:spPr>
          <a:xfrm>
            <a:off x="5514974" y="4523868"/>
            <a:ext cx="209724" cy="0"/>
          </a:xfrm>
          <a:prstGeom prst="straightConnector1">
            <a:avLst/>
          </a:prstGeom>
          <a:ln w="38100">
            <a:solidFill>
              <a:srgbClr val="3C17C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21816A2-3309-A573-8656-2ABFEA895F77}"/>
              </a:ext>
            </a:extLst>
          </p:cNvPr>
          <p:cNvSpPr txBox="1"/>
          <p:nvPr/>
        </p:nvSpPr>
        <p:spPr>
          <a:xfrm>
            <a:off x="5812555" y="4373659"/>
            <a:ext cx="877007" cy="369332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444444"/>
                </a:solidFill>
                <a:latin typeface="Aptos" panose="02110004020202020204"/>
              </a:rPr>
              <a:t>Logic to verify data matches with our database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18FC7F-2EDA-513B-9AB0-176237C16E0C}"/>
              </a:ext>
            </a:extLst>
          </p:cNvPr>
          <p:cNvSpPr txBox="1"/>
          <p:nvPr/>
        </p:nvSpPr>
        <p:spPr>
          <a:xfrm>
            <a:off x="5968141" y="4220763"/>
            <a:ext cx="485262" cy="12311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&lt;/&gt;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EBA0600-D10F-016D-61EA-1A56EC9EC821}"/>
              </a:ext>
            </a:extLst>
          </p:cNvPr>
          <p:cNvSpPr/>
          <p:nvPr/>
        </p:nvSpPr>
        <p:spPr>
          <a:xfrm>
            <a:off x="5759875" y="4197680"/>
            <a:ext cx="929687" cy="629793"/>
          </a:xfrm>
          <a:prstGeom prst="rect">
            <a:avLst/>
          </a:prstGeom>
          <a:noFill/>
          <a:ln w="9525">
            <a:solidFill>
              <a:srgbClr val="3C17C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8E5C722E-14B2-FEAB-D189-7C36A93705BE}"/>
              </a:ext>
            </a:extLst>
          </p:cNvPr>
          <p:cNvSpPr/>
          <p:nvPr/>
        </p:nvSpPr>
        <p:spPr>
          <a:xfrm>
            <a:off x="7996993" y="4693087"/>
            <a:ext cx="803651" cy="486442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3C17CF"/>
            </a:solidFill>
            <a:prstDash val="soli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3F028930-4B78-CC04-E819-8F434ECC9C89}"/>
              </a:ext>
            </a:extLst>
          </p:cNvPr>
          <p:cNvSpPr txBox="1"/>
          <p:nvPr/>
        </p:nvSpPr>
        <p:spPr>
          <a:xfrm>
            <a:off x="8122497" y="4876075"/>
            <a:ext cx="527517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rgbClr val="3C17CF"/>
                </a:solidFill>
                <a:latin typeface="Aptos" panose="02110004020202020204"/>
              </a:rPr>
              <a:t>Workflow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3C17C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5113445D-6EBE-970C-03D9-077DEAFBA886}"/>
              </a:ext>
            </a:extLst>
          </p:cNvPr>
          <p:cNvSpPr/>
          <p:nvPr/>
        </p:nvSpPr>
        <p:spPr>
          <a:xfrm>
            <a:off x="9938052" y="3929391"/>
            <a:ext cx="842643" cy="1151446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BBE5319-F10A-DB77-22F9-D19C30A6439D}"/>
              </a:ext>
            </a:extLst>
          </p:cNvPr>
          <p:cNvSpPr txBox="1"/>
          <p:nvPr/>
        </p:nvSpPr>
        <p:spPr>
          <a:xfrm>
            <a:off x="10039804" y="4542228"/>
            <a:ext cx="726202" cy="538609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Transcation approved manually for Processing </a:t>
            </a:r>
          </a:p>
        </p:txBody>
      </p:sp>
      <p:pic>
        <p:nvPicPr>
          <p:cNvPr id="2061" name="Graphic 2060" descr="Programmer male outline">
            <a:extLst>
              <a:ext uri="{FF2B5EF4-FFF2-40B4-BE49-F238E27FC236}">
                <a16:creationId xmlns:a16="http://schemas.microsoft.com/office/drawing/2014/main" id="{A53CFC95-2636-79CD-6A94-A0B39F95C2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42416" y="3957080"/>
            <a:ext cx="523981" cy="518708"/>
          </a:xfrm>
          <a:prstGeom prst="rect">
            <a:avLst/>
          </a:prstGeom>
        </p:spPr>
      </p:pic>
      <p:sp>
        <p:nvSpPr>
          <p:cNvPr id="2062" name="TextBox 2061">
            <a:extLst>
              <a:ext uri="{FF2B5EF4-FFF2-40B4-BE49-F238E27FC236}">
                <a16:creationId xmlns:a16="http://schemas.microsoft.com/office/drawing/2014/main" id="{2C90C6A4-CAD5-9E96-1F5F-02288B7C89B0}"/>
              </a:ext>
            </a:extLst>
          </p:cNvPr>
          <p:cNvSpPr txBox="1"/>
          <p:nvPr/>
        </p:nvSpPr>
        <p:spPr>
          <a:xfrm>
            <a:off x="10089418" y="4327520"/>
            <a:ext cx="420998" cy="9233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444444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Workflow</a:t>
            </a:r>
            <a:endParaRPr kumimoji="0" lang="en-GB" sz="600" b="1" i="0" u="none" strike="noStrike" kern="1200" cap="none" spc="0" normalizeH="0" baseline="0" noProof="0">
              <a:ln>
                <a:noFill/>
              </a:ln>
              <a:solidFill>
                <a:srgbClr val="444444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42880B32-6572-0503-FF34-F6D2BBFD1192}"/>
              </a:ext>
            </a:extLst>
          </p:cNvPr>
          <p:cNvSpPr/>
          <p:nvPr/>
        </p:nvSpPr>
        <p:spPr>
          <a:xfrm>
            <a:off x="10957349" y="3929391"/>
            <a:ext cx="926250" cy="1151446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69" name="TextBox 2068">
            <a:extLst>
              <a:ext uri="{FF2B5EF4-FFF2-40B4-BE49-F238E27FC236}">
                <a16:creationId xmlns:a16="http://schemas.microsoft.com/office/drawing/2014/main" id="{C9B0D1E3-8CA7-5F08-04E6-4CB2DBFFD701}"/>
              </a:ext>
            </a:extLst>
          </p:cNvPr>
          <p:cNvSpPr txBox="1"/>
          <p:nvPr/>
        </p:nvSpPr>
        <p:spPr>
          <a:xfrm>
            <a:off x="11015568" y="4219224"/>
            <a:ext cx="832289" cy="784830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RPA automations in </a:t>
            </a:r>
            <a:r>
              <a:rPr kumimoji="0" lang="en-GB" sz="800" b="0" i="0" u="none" strike="noStrike" kern="1200" cap="none" spc="0" normalizeH="0" baseline="0" noProof="0" err="1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BluePrism</a:t>
            </a: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complete transaction processing, using APIs to SCRIP</a:t>
            </a:r>
          </a:p>
        </p:txBody>
      </p:sp>
      <p:pic>
        <p:nvPicPr>
          <p:cNvPr id="2071" name="Picture 2070">
            <a:extLst>
              <a:ext uri="{FF2B5EF4-FFF2-40B4-BE49-F238E27FC236}">
                <a16:creationId xmlns:a16="http://schemas.microsoft.com/office/drawing/2014/main" id="{A29FC54A-B26F-CD49-A73E-EB67BE9914D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17" t="31329" r="15246" b="29464"/>
          <a:stretch>
            <a:fillRect/>
          </a:stretch>
        </p:blipFill>
        <p:spPr>
          <a:xfrm>
            <a:off x="11057612" y="3960164"/>
            <a:ext cx="702125" cy="240510"/>
          </a:xfrm>
          <a:prstGeom prst="rect">
            <a:avLst/>
          </a:prstGeom>
        </p:spPr>
      </p:pic>
      <p:cxnSp>
        <p:nvCxnSpPr>
          <p:cNvPr id="2072" name="Straight Arrow Connector 2071">
            <a:extLst>
              <a:ext uri="{FF2B5EF4-FFF2-40B4-BE49-F238E27FC236}">
                <a16:creationId xmlns:a16="http://schemas.microsoft.com/office/drawing/2014/main" id="{A7616F89-F9FB-71A6-B975-96831E671EFC}"/>
              </a:ext>
            </a:extLst>
          </p:cNvPr>
          <p:cNvCxnSpPr>
            <a:cxnSpLocks/>
            <a:stCxn id="183" idx="3"/>
            <a:endCxn id="2063" idx="1"/>
          </p:cNvCxnSpPr>
          <p:nvPr/>
        </p:nvCxnSpPr>
        <p:spPr>
          <a:xfrm>
            <a:off x="10780695" y="4505114"/>
            <a:ext cx="176654" cy="0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5" name="Connector: Elbow 2074">
            <a:extLst>
              <a:ext uri="{FF2B5EF4-FFF2-40B4-BE49-F238E27FC236}">
                <a16:creationId xmlns:a16="http://schemas.microsoft.com/office/drawing/2014/main" id="{BDFABE6A-4C9A-A65D-FEF5-98DA33A8AC77}"/>
              </a:ext>
            </a:extLst>
          </p:cNvPr>
          <p:cNvCxnSpPr>
            <a:cxnSpLocks/>
            <a:stCxn id="4" idx="3"/>
            <a:endCxn id="183" idx="1"/>
          </p:cNvCxnSpPr>
          <p:nvPr/>
        </p:nvCxnSpPr>
        <p:spPr>
          <a:xfrm flipV="1">
            <a:off x="9694328" y="4505114"/>
            <a:ext cx="243724" cy="330681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0" name="TextBox 2089">
            <a:extLst>
              <a:ext uri="{FF2B5EF4-FFF2-40B4-BE49-F238E27FC236}">
                <a16:creationId xmlns:a16="http://schemas.microsoft.com/office/drawing/2014/main" id="{1119DFC6-8762-E725-A96A-B139E6574984}"/>
              </a:ext>
            </a:extLst>
          </p:cNvPr>
          <p:cNvSpPr txBox="1"/>
          <p:nvPr/>
        </p:nvSpPr>
        <p:spPr>
          <a:xfrm>
            <a:off x="2222718" y="3452682"/>
            <a:ext cx="715406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Classification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3C17C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05" name="TextBox 2104">
            <a:extLst>
              <a:ext uri="{FF2B5EF4-FFF2-40B4-BE49-F238E27FC236}">
                <a16:creationId xmlns:a16="http://schemas.microsoft.com/office/drawing/2014/main" id="{23679B27-8B9E-2438-DAB3-6A06B3C5AD15}"/>
              </a:ext>
            </a:extLst>
          </p:cNvPr>
          <p:cNvSpPr txBox="1"/>
          <p:nvPr/>
        </p:nvSpPr>
        <p:spPr>
          <a:xfrm>
            <a:off x="7379989" y="4821376"/>
            <a:ext cx="560693" cy="1538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XML</a:t>
            </a:r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3C17C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06" name="TextBox 2105">
            <a:extLst>
              <a:ext uri="{FF2B5EF4-FFF2-40B4-BE49-F238E27FC236}">
                <a16:creationId xmlns:a16="http://schemas.microsoft.com/office/drawing/2014/main" id="{9D9FF147-9FCB-A767-B020-531473CAB829}"/>
              </a:ext>
            </a:extLst>
          </p:cNvPr>
          <p:cNvSpPr txBox="1"/>
          <p:nvPr/>
        </p:nvSpPr>
        <p:spPr>
          <a:xfrm>
            <a:off x="6922061" y="3835494"/>
            <a:ext cx="1186489" cy="1538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Doc </a:t>
            </a:r>
            <a:r>
              <a:rPr lang="en-US" sz="700">
                <a:solidFill>
                  <a:srgbClr val="3C17CF"/>
                </a:solidFill>
                <a:latin typeface="Aptos" panose="02110004020202020204"/>
              </a:rPr>
              <a:t>IMG + extracted data</a:t>
            </a:r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3C17C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107" name="Straight Arrow Connector 2106">
            <a:extLst>
              <a:ext uri="{FF2B5EF4-FFF2-40B4-BE49-F238E27FC236}">
                <a16:creationId xmlns:a16="http://schemas.microsoft.com/office/drawing/2014/main" id="{7D16E4BA-610C-E83C-762D-555E82A374A1}"/>
              </a:ext>
            </a:extLst>
          </p:cNvPr>
          <p:cNvCxnSpPr>
            <a:cxnSpLocks/>
          </p:cNvCxnSpPr>
          <p:nvPr/>
        </p:nvCxnSpPr>
        <p:spPr>
          <a:xfrm>
            <a:off x="6079011" y="4827473"/>
            <a:ext cx="0" cy="816002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0" name="Straight Arrow Connector 2109">
            <a:extLst>
              <a:ext uri="{FF2B5EF4-FFF2-40B4-BE49-F238E27FC236}">
                <a16:creationId xmlns:a16="http://schemas.microsoft.com/office/drawing/2014/main" id="{E8F39570-5680-0D82-F349-9E8574746B62}"/>
              </a:ext>
            </a:extLst>
          </p:cNvPr>
          <p:cNvCxnSpPr>
            <a:cxnSpLocks/>
          </p:cNvCxnSpPr>
          <p:nvPr/>
        </p:nvCxnSpPr>
        <p:spPr>
          <a:xfrm flipV="1">
            <a:off x="6349217" y="4844000"/>
            <a:ext cx="0" cy="782645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7" name="TextBox 2116">
            <a:extLst>
              <a:ext uri="{FF2B5EF4-FFF2-40B4-BE49-F238E27FC236}">
                <a16:creationId xmlns:a16="http://schemas.microsoft.com/office/drawing/2014/main" id="{18CDE3B4-70CC-9C76-552D-7A7C264CDDCB}"/>
              </a:ext>
            </a:extLst>
          </p:cNvPr>
          <p:cNvSpPr txBox="1"/>
          <p:nvPr/>
        </p:nvSpPr>
        <p:spPr>
          <a:xfrm>
            <a:off x="5831531" y="5723784"/>
            <a:ext cx="978362" cy="169277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chemeClr val="accent3"/>
                </a:solidFill>
                <a:latin typeface="Aptos" panose="02110004020202020204"/>
              </a:rPr>
              <a:t>COSMOS Company 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18" name="TextBox 2117">
            <a:extLst>
              <a:ext uri="{FF2B5EF4-FFF2-40B4-BE49-F238E27FC236}">
                <a16:creationId xmlns:a16="http://schemas.microsoft.com/office/drawing/2014/main" id="{655FC5F2-4BDB-E4F9-2020-90CDB12338F1}"/>
              </a:ext>
            </a:extLst>
          </p:cNvPr>
          <p:cNvSpPr txBox="1"/>
          <p:nvPr/>
        </p:nvSpPr>
        <p:spPr>
          <a:xfrm>
            <a:off x="11087544" y="5618315"/>
            <a:ext cx="723181" cy="169277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chemeClr val="accent3"/>
                </a:solidFill>
                <a:latin typeface="Aptos" panose="02110004020202020204"/>
              </a:rPr>
              <a:t>SCRIP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119" name="Straight Arrow Connector 2118">
            <a:extLst>
              <a:ext uri="{FF2B5EF4-FFF2-40B4-BE49-F238E27FC236}">
                <a16:creationId xmlns:a16="http://schemas.microsoft.com/office/drawing/2014/main" id="{9705D15B-6ABD-57BF-664A-469DE1538B47}"/>
              </a:ext>
            </a:extLst>
          </p:cNvPr>
          <p:cNvCxnSpPr>
            <a:cxnSpLocks/>
          </p:cNvCxnSpPr>
          <p:nvPr/>
        </p:nvCxnSpPr>
        <p:spPr>
          <a:xfrm>
            <a:off x="11288375" y="5072057"/>
            <a:ext cx="0" cy="531856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0" name="Straight Arrow Connector 2119">
            <a:extLst>
              <a:ext uri="{FF2B5EF4-FFF2-40B4-BE49-F238E27FC236}">
                <a16:creationId xmlns:a16="http://schemas.microsoft.com/office/drawing/2014/main" id="{3085926A-6D49-8973-AB7C-CF89B1A84378}"/>
              </a:ext>
            </a:extLst>
          </p:cNvPr>
          <p:cNvCxnSpPr>
            <a:cxnSpLocks/>
          </p:cNvCxnSpPr>
          <p:nvPr/>
        </p:nvCxnSpPr>
        <p:spPr>
          <a:xfrm flipV="1">
            <a:off x="11558581" y="5088584"/>
            <a:ext cx="0" cy="504312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9" name="TextBox 2128">
            <a:extLst>
              <a:ext uri="{FF2B5EF4-FFF2-40B4-BE49-F238E27FC236}">
                <a16:creationId xmlns:a16="http://schemas.microsoft.com/office/drawing/2014/main" id="{5C51C33B-9672-53A5-78E3-04987D391C5E}"/>
              </a:ext>
            </a:extLst>
          </p:cNvPr>
          <p:cNvSpPr txBox="1"/>
          <p:nvPr/>
        </p:nvSpPr>
        <p:spPr>
          <a:xfrm>
            <a:off x="5821264" y="5966180"/>
            <a:ext cx="988629" cy="169277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chemeClr val="accent3"/>
                </a:solidFill>
                <a:latin typeface="Aptos" panose="02110004020202020204"/>
              </a:rPr>
              <a:t>COSMOS Investor 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30" name="TextBox 2129">
            <a:extLst>
              <a:ext uri="{FF2B5EF4-FFF2-40B4-BE49-F238E27FC236}">
                <a16:creationId xmlns:a16="http://schemas.microsoft.com/office/drawing/2014/main" id="{BA235E14-6B92-565A-91C3-BF2FAF194CA6}"/>
              </a:ext>
            </a:extLst>
          </p:cNvPr>
          <p:cNvSpPr txBox="1"/>
          <p:nvPr/>
        </p:nvSpPr>
        <p:spPr>
          <a:xfrm>
            <a:off x="5810177" y="6196594"/>
            <a:ext cx="989151" cy="538609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chemeClr val="accent3"/>
                </a:solidFill>
                <a:latin typeface="Aptos" panose="02110004020202020204"/>
              </a:rPr>
              <a:t>Elastic in lieu of Cosmos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accent3"/>
                </a:solidFill>
                <a:latin typeface="Aptos" panose="02110004020202020204"/>
              </a:rPr>
              <a:t>(dev only, not prod) but easy to set up</a:t>
            </a:r>
            <a:endParaRPr kumimoji="0" lang="en-GB" sz="800" i="0" u="none" strike="noStrike" kern="120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31" name="TextBox 2130">
            <a:extLst>
              <a:ext uri="{FF2B5EF4-FFF2-40B4-BE49-F238E27FC236}">
                <a16:creationId xmlns:a16="http://schemas.microsoft.com/office/drawing/2014/main" id="{3CDC94DC-7F4B-17DD-6C4D-DD79C14BB5E9}"/>
              </a:ext>
            </a:extLst>
          </p:cNvPr>
          <p:cNvSpPr txBox="1"/>
          <p:nvPr/>
        </p:nvSpPr>
        <p:spPr>
          <a:xfrm>
            <a:off x="6907509" y="5701581"/>
            <a:ext cx="1327895" cy="415498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Open question - </a:t>
            </a: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What load can it handle? We expect to send many requests per day </a:t>
            </a:r>
            <a:endParaRPr kumimoji="0" lang="en-GB" sz="80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134" name="Group 2133">
            <a:extLst>
              <a:ext uri="{FF2B5EF4-FFF2-40B4-BE49-F238E27FC236}">
                <a16:creationId xmlns:a16="http://schemas.microsoft.com/office/drawing/2014/main" id="{CA94231E-8957-CCDF-D559-A781F45CEB3D}"/>
              </a:ext>
            </a:extLst>
          </p:cNvPr>
          <p:cNvGrpSpPr/>
          <p:nvPr/>
        </p:nvGrpSpPr>
        <p:grpSpPr>
          <a:xfrm>
            <a:off x="6840593" y="4324305"/>
            <a:ext cx="628523" cy="361617"/>
            <a:chOff x="4771822" y="6086808"/>
            <a:chExt cx="628523" cy="361617"/>
          </a:xfrm>
        </p:grpSpPr>
        <p:sp>
          <p:nvSpPr>
            <p:cNvPr id="2132" name="Flowchart: Decision 2131">
              <a:extLst>
                <a:ext uri="{FF2B5EF4-FFF2-40B4-BE49-F238E27FC236}">
                  <a16:creationId xmlns:a16="http://schemas.microsoft.com/office/drawing/2014/main" id="{97D18904-2F80-D510-DA37-655AFB0374F7}"/>
                </a:ext>
              </a:extLst>
            </p:cNvPr>
            <p:cNvSpPr/>
            <p:nvPr/>
          </p:nvSpPr>
          <p:spPr>
            <a:xfrm>
              <a:off x="4829377" y="6086808"/>
              <a:ext cx="460697" cy="361617"/>
            </a:xfrm>
            <a:prstGeom prst="flowChartDecision">
              <a:avLst/>
            </a:prstGeom>
            <a:noFill/>
            <a:ln>
              <a:solidFill>
                <a:srgbClr val="3C17CF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33" name="TextBox 2132">
              <a:extLst>
                <a:ext uri="{FF2B5EF4-FFF2-40B4-BE49-F238E27FC236}">
                  <a16:creationId xmlns:a16="http://schemas.microsoft.com/office/drawing/2014/main" id="{B82F5C3C-A7D6-F341-5BD8-106199E2F822}"/>
                </a:ext>
              </a:extLst>
            </p:cNvPr>
            <p:cNvSpPr txBox="1"/>
            <p:nvPr/>
          </p:nvSpPr>
          <p:spPr>
            <a:xfrm>
              <a:off x="4771822" y="6188060"/>
              <a:ext cx="628523" cy="16927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36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Match?</a:t>
              </a: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cxnSp>
        <p:nvCxnSpPr>
          <p:cNvPr id="2135" name="Straight Arrow Connector 2134">
            <a:extLst>
              <a:ext uri="{FF2B5EF4-FFF2-40B4-BE49-F238E27FC236}">
                <a16:creationId xmlns:a16="http://schemas.microsoft.com/office/drawing/2014/main" id="{339E3B6E-B867-1C0A-465C-8AF86B7A4179}"/>
              </a:ext>
            </a:extLst>
          </p:cNvPr>
          <p:cNvCxnSpPr>
            <a:cxnSpLocks/>
          </p:cNvCxnSpPr>
          <p:nvPr/>
        </p:nvCxnSpPr>
        <p:spPr>
          <a:xfrm>
            <a:off x="6689562" y="4512576"/>
            <a:ext cx="209724" cy="0"/>
          </a:xfrm>
          <a:prstGeom prst="straightConnector1">
            <a:avLst/>
          </a:prstGeom>
          <a:ln w="38100">
            <a:solidFill>
              <a:srgbClr val="3C17C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8" name="Connector: Elbow 2137">
            <a:extLst>
              <a:ext uri="{FF2B5EF4-FFF2-40B4-BE49-F238E27FC236}">
                <a16:creationId xmlns:a16="http://schemas.microsoft.com/office/drawing/2014/main" id="{D631CB18-3461-23F6-206B-C7FD4C52E335}"/>
              </a:ext>
            </a:extLst>
          </p:cNvPr>
          <p:cNvCxnSpPr>
            <a:cxnSpLocks/>
            <a:stCxn id="2132" idx="0"/>
          </p:cNvCxnSpPr>
          <p:nvPr/>
        </p:nvCxnSpPr>
        <p:spPr>
          <a:xfrm rot="5400000" flipH="1" flipV="1">
            <a:off x="7388837" y="3716149"/>
            <a:ext cx="347817" cy="868496"/>
          </a:xfrm>
          <a:prstGeom prst="bentConnector2">
            <a:avLst/>
          </a:prstGeom>
          <a:ln w="28575">
            <a:solidFill>
              <a:srgbClr val="3C17CF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6" name="TextBox 2135">
            <a:extLst>
              <a:ext uri="{FF2B5EF4-FFF2-40B4-BE49-F238E27FC236}">
                <a16:creationId xmlns:a16="http://schemas.microsoft.com/office/drawing/2014/main" id="{2732D92A-EE63-85F4-697D-3C5D6D8989CF}"/>
              </a:ext>
            </a:extLst>
          </p:cNvPr>
          <p:cNvSpPr txBox="1"/>
          <p:nvPr/>
        </p:nvSpPr>
        <p:spPr>
          <a:xfrm>
            <a:off x="7000329" y="4089578"/>
            <a:ext cx="241435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144" name="Connector: Elbow 2143">
            <a:extLst>
              <a:ext uri="{FF2B5EF4-FFF2-40B4-BE49-F238E27FC236}">
                <a16:creationId xmlns:a16="http://schemas.microsoft.com/office/drawing/2014/main" id="{BE8642DB-8917-462F-FE3B-84A967941427}"/>
              </a:ext>
            </a:extLst>
          </p:cNvPr>
          <p:cNvCxnSpPr>
            <a:cxnSpLocks/>
            <a:endCxn id="168" idx="1"/>
          </p:cNvCxnSpPr>
          <p:nvPr/>
        </p:nvCxnSpPr>
        <p:spPr>
          <a:xfrm>
            <a:off x="7128497" y="4685921"/>
            <a:ext cx="868496" cy="250387"/>
          </a:xfrm>
          <a:prstGeom prst="bentConnector3">
            <a:avLst>
              <a:gd name="adj1" fmla="val 867"/>
            </a:avLst>
          </a:prstGeom>
          <a:ln w="28575">
            <a:solidFill>
              <a:srgbClr val="3C17CF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7" name="TextBox 2136">
            <a:extLst>
              <a:ext uri="{FF2B5EF4-FFF2-40B4-BE49-F238E27FC236}">
                <a16:creationId xmlns:a16="http://schemas.microsoft.com/office/drawing/2014/main" id="{4F5F4489-6052-DE11-041F-4829AAC6C274}"/>
              </a:ext>
            </a:extLst>
          </p:cNvPr>
          <p:cNvSpPr txBox="1"/>
          <p:nvPr/>
        </p:nvSpPr>
        <p:spPr>
          <a:xfrm>
            <a:off x="7006246" y="4752964"/>
            <a:ext cx="241435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Yes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172" name="Graphic 2171" descr="Transfer with solid fill">
            <a:extLst>
              <a:ext uri="{FF2B5EF4-FFF2-40B4-BE49-F238E27FC236}">
                <a16:creationId xmlns:a16="http://schemas.microsoft.com/office/drawing/2014/main" id="{47432DC6-4096-4F57-14C0-350A961E9E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569010" y="1868926"/>
            <a:ext cx="230294" cy="194381"/>
          </a:xfrm>
          <a:prstGeom prst="rect">
            <a:avLst/>
          </a:prstGeom>
        </p:spPr>
      </p:pic>
      <p:sp>
        <p:nvSpPr>
          <p:cNvPr id="2173" name="TextBox 2172">
            <a:extLst>
              <a:ext uri="{FF2B5EF4-FFF2-40B4-BE49-F238E27FC236}">
                <a16:creationId xmlns:a16="http://schemas.microsoft.com/office/drawing/2014/main" id="{BE5C48C6-D386-B29D-AE26-B38795D609D2}"/>
              </a:ext>
            </a:extLst>
          </p:cNvPr>
          <p:cNvSpPr txBox="1"/>
          <p:nvPr/>
        </p:nvSpPr>
        <p:spPr>
          <a:xfrm>
            <a:off x="10900814" y="1894393"/>
            <a:ext cx="998009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API calls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75" name="Rectangle: Rounded Corners 2174">
            <a:extLst>
              <a:ext uri="{FF2B5EF4-FFF2-40B4-BE49-F238E27FC236}">
                <a16:creationId xmlns:a16="http://schemas.microsoft.com/office/drawing/2014/main" id="{5A521913-2C9B-99D3-BC80-CF610855BC41}"/>
              </a:ext>
            </a:extLst>
          </p:cNvPr>
          <p:cNvSpPr/>
          <p:nvPr/>
        </p:nvSpPr>
        <p:spPr>
          <a:xfrm>
            <a:off x="5523683" y="5450478"/>
            <a:ext cx="6463903" cy="1407522"/>
          </a:xfrm>
          <a:prstGeom prst="round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Graphic 1" descr="Database outline">
            <a:extLst>
              <a:ext uri="{FF2B5EF4-FFF2-40B4-BE49-F238E27FC236}">
                <a16:creationId xmlns:a16="http://schemas.microsoft.com/office/drawing/2014/main" id="{BBB5F99F-3A20-1349-725D-D18E1BDF0B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54560" y="4595354"/>
            <a:ext cx="419079" cy="4148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D3279E-2AC3-5E0D-49C7-FB6523B92321}"/>
              </a:ext>
            </a:extLst>
          </p:cNvPr>
          <p:cNvSpPr txBox="1"/>
          <p:nvPr/>
        </p:nvSpPr>
        <p:spPr>
          <a:xfrm>
            <a:off x="9484539" y="4789628"/>
            <a:ext cx="209789" cy="9233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444444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EDC</a:t>
            </a:r>
            <a:endParaRPr kumimoji="0" lang="en-GB" sz="600" b="1" i="0" u="none" strike="noStrike" kern="1200" cap="none" spc="0" normalizeH="0" baseline="0" noProof="0">
              <a:ln>
                <a:noFill/>
              </a:ln>
              <a:solidFill>
                <a:srgbClr val="444444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9D284F-9866-7E04-ECEC-3474C7C38A18}"/>
              </a:ext>
            </a:extLst>
          </p:cNvPr>
          <p:cNvSpPr/>
          <p:nvPr/>
        </p:nvSpPr>
        <p:spPr>
          <a:xfrm>
            <a:off x="9190829" y="4581252"/>
            <a:ext cx="504466" cy="45999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B6D2660-ECB0-6C33-E05C-1E169E464D7A}"/>
              </a:ext>
            </a:extLst>
          </p:cNvPr>
          <p:cNvSpPr/>
          <p:nvPr/>
        </p:nvSpPr>
        <p:spPr>
          <a:xfrm>
            <a:off x="2190615" y="3429000"/>
            <a:ext cx="6898313" cy="1984121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  <a:alpha val="18000"/>
            </a:schemeClr>
          </a:solidFill>
          <a:ln w="12700">
            <a:solidFill>
              <a:srgbClr val="3C17CF"/>
            </a:solidFill>
            <a:prstDash val="soli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D3979355-A3C9-9E04-98C7-C6D0F4010DE0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8797268" y="4811248"/>
            <a:ext cx="393561" cy="124309"/>
          </a:xfrm>
          <a:prstGeom prst="bentConnector3">
            <a:avLst>
              <a:gd name="adj1" fmla="val 50000"/>
            </a:avLst>
          </a:prstGeom>
          <a:ln w="28575">
            <a:solidFill>
              <a:srgbClr val="3C17C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01A4AFA-37AF-C517-8F39-DDE8474001E8}"/>
              </a:ext>
            </a:extLst>
          </p:cNvPr>
          <p:cNvSpPr txBox="1"/>
          <p:nvPr/>
        </p:nvSpPr>
        <p:spPr>
          <a:xfrm>
            <a:off x="9257959" y="4400756"/>
            <a:ext cx="449712" cy="169277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Audit log</a:t>
            </a:r>
            <a:endParaRPr kumimoji="0" lang="en-GB" sz="80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753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0578B-3572-03FB-8936-54A551FE1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A5247891-7DE4-D8D3-7EC7-5C397042ED2C}"/>
              </a:ext>
            </a:extLst>
          </p:cNvPr>
          <p:cNvGraphicFramePr>
            <a:graphicFrameLocks/>
          </p:cNvGraphicFramePr>
          <p:nvPr/>
        </p:nvGraphicFramePr>
        <p:xfrm>
          <a:off x="546833" y="1169176"/>
          <a:ext cx="9863732" cy="5147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090">
                  <a:extLst>
                    <a:ext uri="{9D8B030D-6E8A-4147-A177-3AD203B41FA5}">
                      <a16:colId xmlns:a16="http://schemas.microsoft.com/office/drawing/2014/main" val="1997159740"/>
                    </a:ext>
                  </a:extLst>
                </a:gridCol>
                <a:gridCol w="461369">
                  <a:extLst>
                    <a:ext uri="{9D8B030D-6E8A-4147-A177-3AD203B41FA5}">
                      <a16:colId xmlns:a16="http://schemas.microsoft.com/office/drawing/2014/main" val="1274496857"/>
                    </a:ext>
                  </a:extLst>
                </a:gridCol>
                <a:gridCol w="461369">
                  <a:extLst>
                    <a:ext uri="{9D8B030D-6E8A-4147-A177-3AD203B41FA5}">
                      <a16:colId xmlns:a16="http://schemas.microsoft.com/office/drawing/2014/main" val="4264611287"/>
                    </a:ext>
                  </a:extLst>
                </a:gridCol>
                <a:gridCol w="461369">
                  <a:extLst>
                    <a:ext uri="{9D8B030D-6E8A-4147-A177-3AD203B41FA5}">
                      <a16:colId xmlns:a16="http://schemas.microsoft.com/office/drawing/2014/main" val="1060132694"/>
                    </a:ext>
                  </a:extLst>
                </a:gridCol>
                <a:gridCol w="461369">
                  <a:extLst>
                    <a:ext uri="{9D8B030D-6E8A-4147-A177-3AD203B41FA5}">
                      <a16:colId xmlns:a16="http://schemas.microsoft.com/office/drawing/2014/main" val="3002877475"/>
                    </a:ext>
                  </a:extLst>
                </a:gridCol>
                <a:gridCol w="461369">
                  <a:extLst>
                    <a:ext uri="{9D8B030D-6E8A-4147-A177-3AD203B41FA5}">
                      <a16:colId xmlns:a16="http://schemas.microsoft.com/office/drawing/2014/main" val="759246713"/>
                    </a:ext>
                  </a:extLst>
                </a:gridCol>
                <a:gridCol w="461369">
                  <a:extLst>
                    <a:ext uri="{9D8B030D-6E8A-4147-A177-3AD203B41FA5}">
                      <a16:colId xmlns:a16="http://schemas.microsoft.com/office/drawing/2014/main" val="1657934580"/>
                    </a:ext>
                  </a:extLst>
                </a:gridCol>
                <a:gridCol w="461369">
                  <a:extLst>
                    <a:ext uri="{9D8B030D-6E8A-4147-A177-3AD203B41FA5}">
                      <a16:colId xmlns:a16="http://schemas.microsoft.com/office/drawing/2014/main" val="2198696321"/>
                    </a:ext>
                  </a:extLst>
                </a:gridCol>
                <a:gridCol w="461369">
                  <a:extLst>
                    <a:ext uri="{9D8B030D-6E8A-4147-A177-3AD203B41FA5}">
                      <a16:colId xmlns:a16="http://schemas.microsoft.com/office/drawing/2014/main" val="2546454069"/>
                    </a:ext>
                  </a:extLst>
                </a:gridCol>
                <a:gridCol w="461369">
                  <a:extLst>
                    <a:ext uri="{9D8B030D-6E8A-4147-A177-3AD203B41FA5}">
                      <a16:colId xmlns:a16="http://schemas.microsoft.com/office/drawing/2014/main" val="601192927"/>
                    </a:ext>
                  </a:extLst>
                </a:gridCol>
                <a:gridCol w="461369">
                  <a:extLst>
                    <a:ext uri="{9D8B030D-6E8A-4147-A177-3AD203B41FA5}">
                      <a16:colId xmlns:a16="http://schemas.microsoft.com/office/drawing/2014/main" val="3156380766"/>
                    </a:ext>
                  </a:extLst>
                </a:gridCol>
                <a:gridCol w="461369">
                  <a:extLst>
                    <a:ext uri="{9D8B030D-6E8A-4147-A177-3AD203B41FA5}">
                      <a16:colId xmlns:a16="http://schemas.microsoft.com/office/drawing/2014/main" val="3774636756"/>
                    </a:ext>
                  </a:extLst>
                </a:gridCol>
                <a:gridCol w="461369">
                  <a:extLst>
                    <a:ext uri="{9D8B030D-6E8A-4147-A177-3AD203B41FA5}">
                      <a16:colId xmlns:a16="http://schemas.microsoft.com/office/drawing/2014/main" val="2555306122"/>
                    </a:ext>
                  </a:extLst>
                </a:gridCol>
                <a:gridCol w="461369">
                  <a:extLst>
                    <a:ext uri="{9D8B030D-6E8A-4147-A177-3AD203B41FA5}">
                      <a16:colId xmlns:a16="http://schemas.microsoft.com/office/drawing/2014/main" val="1398949520"/>
                    </a:ext>
                  </a:extLst>
                </a:gridCol>
                <a:gridCol w="461369">
                  <a:extLst>
                    <a:ext uri="{9D8B030D-6E8A-4147-A177-3AD203B41FA5}">
                      <a16:colId xmlns:a16="http://schemas.microsoft.com/office/drawing/2014/main" val="968218616"/>
                    </a:ext>
                  </a:extLst>
                </a:gridCol>
                <a:gridCol w="461369">
                  <a:extLst>
                    <a:ext uri="{9D8B030D-6E8A-4147-A177-3AD203B41FA5}">
                      <a16:colId xmlns:a16="http://schemas.microsoft.com/office/drawing/2014/main" val="843515375"/>
                    </a:ext>
                  </a:extLst>
                </a:gridCol>
                <a:gridCol w="461369">
                  <a:extLst>
                    <a:ext uri="{9D8B030D-6E8A-4147-A177-3AD203B41FA5}">
                      <a16:colId xmlns:a16="http://schemas.microsoft.com/office/drawing/2014/main" val="2125570400"/>
                    </a:ext>
                  </a:extLst>
                </a:gridCol>
                <a:gridCol w="461369">
                  <a:extLst>
                    <a:ext uri="{9D8B030D-6E8A-4147-A177-3AD203B41FA5}">
                      <a16:colId xmlns:a16="http://schemas.microsoft.com/office/drawing/2014/main" val="2246881811"/>
                    </a:ext>
                  </a:extLst>
                </a:gridCol>
                <a:gridCol w="461369">
                  <a:extLst>
                    <a:ext uri="{9D8B030D-6E8A-4147-A177-3AD203B41FA5}">
                      <a16:colId xmlns:a16="http://schemas.microsoft.com/office/drawing/2014/main" val="3359139022"/>
                    </a:ext>
                  </a:extLst>
                </a:gridCol>
              </a:tblGrid>
              <a:tr h="250811">
                <a:tc rowSpan="3">
                  <a:txBody>
                    <a:bodyPr/>
                    <a:lstStyle/>
                    <a:p>
                      <a:pPr algn="ctr"/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GB" sz="1100" b="1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FY 26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GB" sz="1100" b="1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FY 27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276205"/>
                  </a:ext>
                </a:extLst>
              </a:tr>
              <a:tr h="413099">
                <a:tc vMerge="1">
                  <a:txBody>
                    <a:bodyPr/>
                    <a:lstStyle/>
                    <a:p>
                      <a:pPr algn="ctr"/>
                      <a:endParaRPr lang="en-GB" sz="1100" b="0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GB" sz="1100" b="1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Q2 </a:t>
                      </a:r>
                      <a:r>
                        <a:rPr lang="en-GB" sz="1100" b="0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OCT-DEC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GB" sz="1100" b="1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Q3 </a:t>
                      </a:r>
                      <a:r>
                        <a:rPr lang="en-GB" sz="1100" b="0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JAN-MAR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GB" sz="1100" b="1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Q4 </a:t>
                      </a:r>
                      <a:r>
                        <a:rPr lang="en-GB" sz="1100" b="0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APR-JUN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GB" sz="1100" b="1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Q1 </a:t>
                      </a:r>
                      <a:r>
                        <a:rPr lang="en-GB" sz="1100" b="0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JUL-SEP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Q2 </a:t>
                      </a:r>
                      <a:r>
                        <a:rPr lang="en-GB" sz="1100" b="0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OCT-DEC</a:t>
                      </a:r>
                    </a:p>
                    <a:p>
                      <a:pPr algn="ctr"/>
                      <a:endParaRPr lang="en-GB" sz="1100" b="1" kern="1200" baseline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Q3 </a:t>
                      </a:r>
                      <a:r>
                        <a:rPr lang="en-GB" sz="1100" b="0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JAN-MAR</a:t>
                      </a:r>
                    </a:p>
                    <a:p>
                      <a:pPr algn="ctr"/>
                      <a:endParaRPr lang="en-GB" sz="1100" b="1" kern="1200" baseline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587335"/>
                  </a:ext>
                </a:extLst>
              </a:tr>
              <a:tr h="206550">
                <a:tc vMerge="1">
                  <a:txBody>
                    <a:bodyPr/>
                    <a:lstStyle/>
                    <a:p>
                      <a:pPr algn="ctr"/>
                      <a:endParaRPr lang="en-GB" sz="800" b="0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OCT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NOV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DEC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JAN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FEB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MAR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APR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MAY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JUN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JUL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AUG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SEP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OCT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NOV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DEC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JAN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FEB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 kern="1200" baseline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MAR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70666"/>
                  </a:ext>
                </a:extLst>
              </a:tr>
              <a:tr h="4248246">
                <a:tc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100" b="1" kern="1200" baseline="0">
                        <a:solidFill>
                          <a:schemeClr val="accent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319066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2384483E-9368-49BB-EFD4-A2E694728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89" y="239394"/>
            <a:ext cx="11555037" cy="513795"/>
          </a:xfrm>
        </p:spPr>
        <p:txBody>
          <a:bodyPr/>
          <a:lstStyle/>
          <a:p>
            <a:r>
              <a:rPr lang="en-US"/>
              <a:t>Overview of Document Processing workplan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AE203F-2AFB-1033-F5A9-58A82BF68D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BDC51F-5D11-B24C-B440-508FFDF318C8}" type="slidenum">
              <a:rPr kumimoji="0" lang="en-AU" sz="1000" b="1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AU" sz="10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09EA3CB-E4EF-2D54-AD41-73F22A12A397}"/>
              </a:ext>
            </a:extLst>
          </p:cNvPr>
          <p:cNvGrpSpPr/>
          <p:nvPr/>
        </p:nvGrpSpPr>
        <p:grpSpPr>
          <a:xfrm>
            <a:off x="3323710" y="942509"/>
            <a:ext cx="932483" cy="415538"/>
            <a:chOff x="3397029" y="998602"/>
            <a:chExt cx="932483" cy="415538"/>
          </a:xfrm>
          <a:solidFill>
            <a:schemeClr val="accent1"/>
          </a:solidFill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BA24259-0186-6E12-FB06-01F6C943DCFF}"/>
                </a:ext>
              </a:extLst>
            </p:cNvPr>
            <p:cNvSpPr txBox="1">
              <a:spLocks/>
            </p:cNvSpPr>
            <p:nvPr/>
          </p:nvSpPr>
          <p:spPr>
            <a:xfrm>
              <a:off x="3397029" y="998602"/>
              <a:ext cx="932483" cy="184666"/>
            </a:xfrm>
            <a:prstGeom prst="rect">
              <a:avLst/>
            </a:prstGeom>
            <a:grpFill/>
            <a:ln w="25400">
              <a:solidFill>
                <a:schemeClr val="accent1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Today</a:t>
              </a:r>
            </a:p>
          </p:txBody>
        </p:sp>
        <p:sp>
          <p:nvSpPr>
            <p:cNvPr id="69" name="Isosceles Triangle 68">
              <a:extLst>
                <a:ext uri="{FF2B5EF4-FFF2-40B4-BE49-F238E27FC236}">
                  <a16:creationId xmlns:a16="http://schemas.microsoft.com/office/drawing/2014/main" id="{7C2DE443-CBE1-5BBB-0F88-63ECF1331C55}"/>
                </a:ext>
              </a:extLst>
            </p:cNvPr>
            <p:cNvSpPr>
              <a:spLocks/>
            </p:cNvSpPr>
            <p:nvPr/>
          </p:nvSpPr>
          <p:spPr>
            <a:xfrm rot="10800000">
              <a:off x="3739446" y="1175582"/>
              <a:ext cx="247650" cy="238558"/>
            </a:xfrm>
            <a:prstGeom prst="triangle">
              <a:avLst/>
            </a:prstGeom>
            <a:grpFill/>
            <a:ln w="285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80F3296-7628-BDFB-1CEC-283A1CA66001}"/>
              </a:ext>
            </a:extLst>
          </p:cNvPr>
          <p:cNvGrpSpPr/>
          <p:nvPr/>
        </p:nvGrpSpPr>
        <p:grpSpPr>
          <a:xfrm>
            <a:off x="546833" y="2259269"/>
            <a:ext cx="9800555" cy="4028612"/>
            <a:chOff x="546833" y="2259269"/>
            <a:chExt cx="9800555" cy="402861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46FC689-90E9-7379-85D8-B4287FAE8667}"/>
                </a:ext>
              </a:extLst>
            </p:cNvPr>
            <p:cNvSpPr/>
            <p:nvPr/>
          </p:nvSpPr>
          <p:spPr>
            <a:xfrm>
              <a:off x="546833" y="3357468"/>
              <a:ext cx="9800555" cy="1505026"/>
            </a:xfrm>
            <a:prstGeom prst="rect">
              <a:avLst/>
            </a:prstGeom>
            <a:solidFill>
              <a:srgbClr val="FFE4DD"/>
            </a:solidFill>
            <a:ln w="6350">
              <a:solidFill>
                <a:schemeClr val="accent5"/>
              </a:solidFill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tIns="0" rIns="3600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3700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Processing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F62A31BE-0AD1-7961-1B32-0CE5CE049F2B}"/>
                </a:ext>
              </a:extLst>
            </p:cNvPr>
            <p:cNvSpPr>
              <a:spLocks/>
            </p:cNvSpPr>
            <p:nvPr/>
          </p:nvSpPr>
          <p:spPr>
            <a:xfrm>
              <a:off x="546833" y="2259269"/>
              <a:ext cx="9800555" cy="92295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 w="6350">
              <a:solidFill>
                <a:schemeClr val="accent1"/>
              </a:solidFill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tIns="0" rIns="3600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Upgrade to Tungsten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D8253FB6-2EC1-1ADE-FD7A-3E07F5100F08}"/>
                </a:ext>
              </a:extLst>
            </p:cNvPr>
            <p:cNvSpPr>
              <a:spLocks/>
            </p:cNvSpPr>
            <p:nvPr/>
          </p:nvSpPr>
          <p:spPr>
            <a:xfrm>
              <a:off x="553821" y="5032574"/>
              <a:ext cx="9793567" cy="1255307"/>
            </a:xfrm>
            <a:prstGeom prst="rect">
              <a:avLst/>
            </a:prstGeom>
            <a:solidFill>
              <a:srgbClr val="E1ECFF">
                <a:alpha val="54000"/>
              </a:srgbClr>
            </a:solidFill>
            <a:ln w="6350">
              <a:solidFill>
                <a:srgbClr val="3C17CF"/>
              </a:solidFill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tIns="0" rIns="3600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3C17C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Classification</a:t>
              </a:r>
            </a:p>
          </p:txBody>
        </p:sp>
      </p:grp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F99388FA-5EEA-7FB8-B880-53FE4544274F}"/>
              </a:ext>
            </a:extLst>
          </p:cNvPr>
          <p:cNvSpPr>
            <a:spLocks/>
          </p:cNvSpPr>
          <p:nvPr/>
        </p:nvSpPr>
        <p:spPr>
          <a:xfrm>
            <a:off x="9925161" y="5654911"/>
            <a:ext cx="369303" cy="238558"/>
          </a:xfrm>
          <a:prstGeom prst="triangle">
            <a:avLst/>
          </a:prstGeom>
          <a:solidFill>
            <a:schemeClr val="tx1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0037BC-D431-227E-D180-97F76529703C}"/>
              </a:ext>
            </a:extLst>
          </p:cNvPr>
          <p:cNvSpPr txBox="1">
            <a:spLocks/>
          </p:cNvSpPr>
          <p:nvPr/>
        </p:nvSpPr>
        <p:spPr>
          <a:xfrm>
            <a:off x="9408465" y="5933305"/>
            <a:ext cx="1402703" cy="307777"/>
          </a:xfrm>
          <a:prstGeom prst="rect">
            <a:avLst/>
          </a:prstGeom>
          <a:solidFill>
            <a:srgbClr val="EFF5FF"/>
          </a:solidFill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US Mailroom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(est. ~10-15 FTE impact)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6EA550-08B4-2677-BB8B-006D97839E11}"/>
              </a:ext>
            </a:extLst>
          </p:cNvPr>
          <p:cNvSpPr txBox="1">
            <a:spLocks/>
          </p:cNvSpPr>
          <p:nvPr/>
        </p:nvSpPr>
        <p:spPr>
          <a:xfrm>
            <a:off x="10654683" y="3932677"/>
            <a:ext cx="1012593" cy="307777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Processing team Immediate focus</a:t>
            </a: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EAA96007-4B29-833D-ACA3-4B3774AB1374}"/>
              </a:ext>
            </a:extLst>
          </p:cNvPr>
          <p:cNvSpPr/>
          <p:nvPr/>
        </p:nvSpPr>
        <p:spPr>
          <a:xfrm>
            <a:off x="10261200" y="3312285"/>
            <a:ext cx="332358" cy="1609619"/>
          </a:xfrm>
          <a:prstGeom prst="rightBrace">
            <a:avLst>
              <a:gd name="adj1" fmla="val 3058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B36B305-0F9B-385D-A6CD-F6AD1AAFC5B7}"/>
              </a:ext>
            </a:extLst>
          </p:cNvPr>
          <p:cNvGrpSpPr/>
          <p:nvPr/>
        </p:nvGrpSpPr>
        <p:grpSpPr>
          <a:xfrm>
            <a:off x="9925161" y="773749"/>
            <a:ext cx="1664828" cy="299040"/>
            <a:chOff x="10493357" y="917500"/>
            <a:chExt cx="1664828" cy="299040"/>
          </a:xfrm>
        </p:grpSpPr>
        <p:pic>
          <p:nvPicPr>
            <p:cNvPr id="62" name="Graphic 61" descr="Diamond Suit with solid fill">
              <a:extLst>
                <a:ext uri="{FF2B5EF4-FFF2-40B4-BE49-F238E27FC236}">
                  <a16:creationId xmlns:a16="http://schemas.microsoft.com/office/drawing/2014/main" id="{A2314AF0-3EF5-CD4D-9950-91DE2317F0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493357" y="917500"/>
              <a:ext cx="299040" cy="299040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13ABDA6-FBB7-B5C6-6E2D-380B05E08A9B}"/>
                </a:ext>
              </a:extLst>
            </p:cNvPr>
            <p:cNvSpPr txBox="1">
              <a:spLocks/>
            </p:cNvSpPr>
            <p:nvPr/>
          </p:nvSpPr>
          <p:spPr>
            <a:xfrm>
              <a:off x="10725504" y="993803"/>
              <a:ext cx="1432681" cy="1538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Critical dependencies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18E719E-77E1-9D7D-66D5-33A7B7C1DA5E}"/>
              </a:ext>
            </a:extLst>
          </p:cNvPr>
          <p:cNvGrpSpPr/>
          <p:nvPr/>
        </p:nvGrpSpPr>
        <p:grpSpPr>
          <a:xfrm>
            <a:off x="2301562" y="2321959"/>
            <a:ext cx="7743569" cy="3889215"/>
            <a:chOff x="2301562" y="2321959"/>
            <a:chExt cx="7743569" cy="3889215"/>
          </a:xfrm>
        </p:grpSpPr>
        <p:sp>
          <p:nvSpPr>
            <p:cNvPr id="56" name="Arrow: Pentagon 55">
              <a:extLst>
                <a:ext uri="{FF2B5EF4-FFF2-40B4-BE49-F238E27FC236}">
                  <a16:creationId xmlns:a16="http://schemas.microsoft.com/office/drawing/2014/main" id="{B1D1F75C-4D6B-0D8A-379B-9E5DBE394BD7}"/>
                </a:ext>
              </a:extLst>
            </p:cNvPr>
            <p:cNvSpPr>
              <a:spLocks/>
            </p:cNvSpPr>
            <p:nvPr/>
          </p:nvSpPr>
          <p:spPr>
            <a:xfrm>
              <a:off x="2726607" y="2380714"/>
              <a:ext cx="1247365" cy="37800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Production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(US)</a:t>
              </a:r>
            </a:p>
          </p:txBody>
        </p:sp>
        <p:sp>
          <p:nvSpPr>
            <p:cNvPr id="7" name="Arrow: Pentagon 6">
              <a:extLst>
                <a:ext uri="{FF2B5EF4-FFF2-40B4-BE49-F238E27FC236}">
                  <a16:creationId xmlns:a16="http://schemas.microsoft.com/office/drawing/2014/main" id="{3F0AE550-A559-0D1A-D588-20D9BDF4D6DD}"/>
                </a:ext>
              </a:extLst>
            </p:cNvPr>
            <p:cNvSpPr>
              <a:spLocks/>
            </p:cNvSpPr>
            <p:nvPr/>
          </p:nvSpPr>
          <p:spPr>
            <a:xfrm>
              <a:off x="3682737" y="2751006"/>
              <a:ext cx="1176646" cy="37800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000" b="1">
                  <a:solidFill>
                    <a:srgbClr val="93186C"/>
                  </a:solidFill>
                  <a:latin typeface="Aptos" panose="02110004020202020204"/>
                </a:rPr>
                <a:t>Production</a:t>
              </a:r>
            </a:p>
            <a:p>
              <a:pPr algn="ctr"/>
              <a:r>
                <a:rPr lang="en-GB" sz="1000" b="1">
                  <a:solidFill>
                    <a:srgbClr val="93186C"/>
                  </a:solidFill>
                  <a:latin typeface="Aptos" panose="02110004020202020204"/>
                </a:rPr>
                <a:t>(Global)</a:t>
              </a:r>
            </a:p>
          </p:txBody>
        </p:sp>
        <p:sp>
          <p:nvSpPr>
            <p:cNvPr id="57" name="Arrow: Pentagon 56">
              <a:extLst>
                <a:ext uri="{FF2B5EF4-FFF2-40B4-BE49-F238E27FC236}">
                  <a16:creationId xmlns:a16="http://schemas.microsoft.com/office/drawing/2014/main" id="{16A75997-802D-BB1A-7C63-583BB2F71594}"/>
                </a:ext>
              </a:extLst>
            </p:cNvPr>
            <p:cNvSpPr>
              <a:spLocks/>
            </p:cNvSpPr>
            <p:nvPr/>
          </p:nvSpPr>
          <p:spPr>
            <a:xfrm>
              <a:off x="2573014" y="5442090"/>
              <a:ext cx="1190312" cy="378000"/>
            </a:xfrm>
            <a:prstGeom prst="homePlat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Design</a:t>
              </a:r>
            </a:p>
          </p:txBody>
        </p:sp>
        <p:sp>
          <p:nvSpPr>
            <p:cNvPr id="58" name="Arrow: Pentagon 57">
              <a:extLst>
                <a:ext uri="{FF2B5EF4-FFF2-40B4-BE49-F238E27FC236}">
                  <a16:creationId xmlns:a16="http://schemas.microsoft.com/office/drawing/2014/main" id="{845577E8-7985-96D9-7293-05BB238E8A10}"/>
                </a:ext>
              </a:extLst>
            </p:cNvPr>
            <p:cNvSpPr>
              <a:spLocks/>
            </p:cNvSpPr>
            <p:nvPr/>
          </p:nvSpPr>
          <p:spPr>
            <a:xfrm>
              <a:off x="5108231" y="5440448"/>
              <a:ext cx="2029238" cy="378000"/>
            </a:xfrm>
            <a:prstGeom prst="homePlat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000">
                  <a:solidFill>
                    <a:schemeClr val="tx1"/>
                  </a:solidFill>
                  <a:latin typeface="Aptos" panose="02110004020202020204"/>
                </a:rPr>
                <a:t>Pilot</a:t>
              </a:r>
            </a:p>
            <a:p>
              <a:pPr algn="ctr"/>
              <a:r>
                <a:rPr lang="en-GB" sz="1000">
                  <a:solidFill>
                    <a:schemeClr val="tx1"/>
                  </a:solidFill>
                  <a:latin typeface="Aptos" panose="02110004020202020204"/>
                </a:rPr>
                <a:t>(auto-classification)</a:t>
              </a:r>
            </a:p>
          </p:txBody>
        </p:sp>
        <p:sp>
          <p:nvSpPr>
            <p:cNvPr id="60" name="Arrow: Pentagon 59">
              <a:extLst>
                <a:ext uri="{FF2B5EF4-FFF2-40B4-BE49-F238E27FC236}">
                  <a16:creationId xmlns:a16="http://schemas.microsoft.com/office/drawing/2014/main" id="{9CE5CE98-5D04-7801-8900-C2822BEB3079}"/>
                </a:ext>
              </a:extLst>
            </p:cNvPr>
            <p:cNvSpPr>
              <a:spLocks/>
            </p:cNvSpPr>
            <p:nvPr/>
          </p:nvSpPr>
          <p:spPr>
            <a:xfrm>
              <a:off x="7199580" y="5440448"/>
              <a:ext cx="2845551" cy="378000"/>
            </a:xfrm>
            <a:prstGeom prst="homePlat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20000"/>
                  <a:lumOff val="80000"/>
                </a:schemeClr>
              </a:solidFill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000">
                  <a:solidFill>
                    <a:schemeClr val="tx1"/>
                  </a:solidFill>
                  <a:latin typeface="Aptos" panose="02110004020202020204"/>
                </a:rPr>
                <a:t>Build and prepare for production</a:t>
              </a:r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E3870494-06DA-6507-FED7-F58573AAD7ED}"/>
                </a:ext>
              </a:extLst>
            </p:cNvPr>
            <p:cNvSpPr>
              <a:spLocks/>
            </p:cNvSpPr>
            <p:nvPr/>
          </p:nvSpPr>
          <p:spPr>
            <a:xfrm>
              <a:off x="7237533" y="4570954"/>
              <a:ext cx="369303" cy="238558"/>
            </a:xfrm>
            <a:prstGeom prst="triangle">
              <a:avLst/>
            </a:prstGeom>
            <a:solidFill>
              <a:schemeClr val="tx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22122D1-3343-E7EB-2325-EE88C9C04EF2}"/>
                </a:ext>
              </a:extLst>
            </p:cNvPr>
            <p:cNvSpPr txBox="1">
              <a:spLocks/>
            </p:cNvSpPr>
            <p:nvPr/>
          </p:nvSpPr>
          <p:spPr>
            <a:xfrm>
              <a:off x="7739387" y="4517894"/>
              <a:ext cx="1432679" cy="307777"/>
            </a:xfrm>
            <a:prstGeom prst="rect">
              <a:avLst/>
            </a:prstGeom>
            <a:solidFill>
              <a:srgbClr val="FFE4DD"/>
            </a:solidFill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US Account </a:t>
              </a:r>
              <a:r>
                <a:rPr kumimoji="0" lang="en-US" sz="1000" b="1" i="0" u="none" strike="noStrike" kern="1200" cap="none" spc="0" normalizeH="0" baseline="0" noProof="0" err="1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R’keeping</a:t>
              </a:r>
              <a:endPara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(est.  2-4M impact)</a:t>
              </a:r>
            </a:p>
          </p:txBody>
        </p:sp>
        <p:sp>
          <p:nvSpPr>
            <p:cNvPr id="20" name="Arrow: Pentagon 19">
              <a:extLst>
                <a:ext uri="{FF2B5EF4-FFF2-40B4-BE49-F238E27FC236}">
                  <a16:creationId xmlns:a16="http://schemas.microsoft.com/office/drawing/2014/main" id="{E846FE34-EF2E-BF4A-99EE-A5CF05635885}"/>
                </a:ext>
              </a:extLst>
            </p:cNvPr>
            <p:cNvSpPr>
              <a:spLocks/>
            </p:cNvSpPr>
            <p:nvPr/>
          </p:nvSpPr>
          <p:spPr>
            <a:xfrm>
              <a:off x="4571593" y="3895881"/>
              <a:ext cx="859196" cy="378000"/>
            </a:xfrm>
            <a:prstGeom prst="homePlate">
              <a:avLst/>
            </a:prstGeom>
            <a:solidFill>
              <a:schemeClr val="bg2">
                <a:lumMod val="95000"/>
              </a:schemeClr>
            </a:solidFill>
            <a:ln>
              <a:solidFill>
                <a:schemeClr val="tx1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Tranche 2</a:t>
              </a: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Arrow: Pentagon 14">
              <a:extLst>
                <a:ext uri="{FF2B5EF4-FFF2-40B4-BE49-F238E27FC236}">
                  <a16:creationId xmlns:a16="http://schemas.microsoft.com/office/drawing/2014/main" id="{A42DC115-79B6-4B44-CFE7-4910C7EAEC68}"/>
                </a:ext>
              </a:extLst>
            </p:cNvPr>
            <p:cNvSpPr>
              <a:spLocks/>
            </p:cNvSpPr>
            <p:nvPr/>
          </p:nvSpPr>
          <p:spPr>
            <a:xfrm>
              <a:off x="4145400" y="3488712"/>
              <a:ext cx="1273487" cy="378000"/>
            </a:xfrm>
            <a:prstGeom prst="homePlat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/>
              </a:solidFill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Tranche 1</a:t>
              </a:r>
              <a:endParaRPr lang="en-GB" sz="900" b="1">
                <a:solidFill>
                  <a:schemeClr val="tx1"/>
                </a:solidFill>
                <a:latin typeface="Aptos" panose="02110004020202020204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600" b="1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      DRIP OCP and Sell Stock)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700">
                  <a:solidFill>
                    <a:schemeClr val="tx1"/>
                  </a:solidFill>
                  <a:latin typeface="Aptos" panose="02110004020202020204"/>
                </a:rPr>
                <a:t>12 weeks</a:t>
              </a:r>
              <a:endParaRPr kumimoji="0" lang="en-GB" sz="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EF814A8C-59A6-1C59-4188-959D415FA052}"/>
                </a:ext>
              </a:extLst>
            </p:cNvPr>
            <p:cNvSpPr>
              <a:spLocks/>
            </p:cNvSpPr>
            <p:nvPr/>
          </p:nvSpPr>
          <p:spPr>
            <a:xfrm>
              <a:off x="3554088" y="3487018"/>
              <a:ext cx="775691" cy="378000"/>
            </a:xfrm>
            <a:prstGeom prst="homePlate">
              <a:avLst/>
            </a:prstGeom>
            <a:solidFill>
              <a:schemeClr val="bg1"/>
            </a:solidFill>
            <a:ln>
              <a:solidFill>
                <a:schemeClr val="accent5"/>
              </a:solidFill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Prep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phase</a:t>
              </a: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" name="Arrow: Pentagon 23">
              <a:extLst>
                <a:ext uri="{FF2B5EF4-FFF2-40B4-BE49-F238E27FC236}">
                  <a16:creationId xmlns:a16="http://schemas.microsoft.com/office/drawing/2014/main" id="{20882686-89F8-A2F1-0263-4B400FE004E5}"/>
                </a:ext>
              </a:extLst>
            </p:cNvPr>
            <p:cNvSpPr>
              <a:spLocks/>
            </p:cNvSpPr>
            <p:nvPr/>
          </p:nvSpPr>
          <p:spPr>
            <a:xfrm>
              <a:off x="5928144" y="3765315"/>
              <a:ext cx="859196" cy="378000"/>
            </a:xfrm>
            <a:prstGeom prst="homePlate">
              <a:avLst/>
            </a:prstGeom>
            <a:solidFill>
              <a:schemeClr val="bg2">
                <a:lumMod val="95000"/>
              </a:schemeClr>
            </a:solidFill>
            <a:ln>
              <a:solidFill>
                <a:schemeClr val="tx1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000" b="1">
                  <a:solidFill>
                    <a:schemeClr val="tx1">
                      <a:lumMod val="60000"/>
                      <a:lumOff val="40000"/>
                    </a:schemeClr>
                  </a:solidFill>
                  <a:latin typeface="Aptos" panose="02110004020202020204"/>
                </a:rPr>
                <a:t>Tranche 3</a:t>
              </a:r>
            </a:p>
          </p:txBody>
        </p:sp>
        <p:sp>
          <p:nvSpPr>
            <p:cNvPr id="25" name="Arrow: Pentagon 24">
              <a:extLst>
                <a:ext uri="{FF2B5EF4-FFF2-40B4-BE49-F238E27FC236}">
                  <a16:creationId xmlns:a16="http://schemas.microsoft.com/office/drawing/2014/main" id="{67F1749B-732B-49B6-581B-329BC940A1B6}"/>
                </a:ext>
              </a:extLst>
            </p:cNvPr>
            <p:cNvSpPr>
              <a:spLocks/>
            </p:cNvSpPr>
            <p:nvPr/>
          </p:nvSpPr>
          <p:spPr>
            <a:xfrm>
              <a:off x="6222853" y="4051454"/>
              <a:ext cx="887183" cy="378000"/>
            </a:xfrm>
            <a:prstGeom prst="homePlate">
              <a:avLst/>
            </a:prstGeom>
            <a:solidFill>
              <a:schemeClr val="bg2">
                <a:lumMod val="95000"/>
              </a:schemeClr>
            </a:solidFill>
            <a:ln>
              <a:solidFill>
                <a:schemeClr val="tx1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000" b="1">
                  <a:solidFill>
                    <a:schemeClr val="tx1">
                      <a:lumMod val="60000"/>
                      <a:lumOff val="40000"/>
                    </a:schemeClr>
                  </a:solidFill>
                  <a:latin typeface="Aptos" panose="02110004020202020204"/>
                </a:rPr>
                <a:t>Tranche 4</a:t>
              </a:r>
            </a:p>
          </p:txBody>
        </p:sp>
        <p:sp>
          <p:nvSpPr>
            <p:cNvPr id="26" name="Arrow: Pentagon 25">
              <a:extLst>
                <a:ext uri="{FF2B5EF4-FFF2-40B4-BE49-F238E27FC236}">
                  <a16:creationId xmlns:a16="http://schemas.microsoft.com/office/drawing/2014/main" id="{5926378A-D827-1926-59FB-073913AEAB46}"/>
                </a:ext>
              </a:extLst>
            </p:cNvPr>
            <p:cNvSpPr>
              <a:spLocks/>
            </p:cNvSpPr>
            <p:nvPr/>
          </p:nvSpPr>
          <p:spPr>
            <a:xfrm>
              <a:off x="6519471" y="4330498"/>
              <a:ext cx="848129" cy="378000"/>
            </a:xfrm>
            <a:prstGeom prst="homePlate">
              <a:avLst/>
            </a:prstGeom>
            <a:solidFill>
              <a:schemeClr val="bg2">
                <a:lumMod val="95000"/>
              </a:schemeClr>
            </a:solidFill>
            <a:ln>
              <a:solidFill>
                <a:schemeClr val="tx1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000" b="1">
                  <a:solidFill>
                    <a:schemeClr val="tx1">
                      <a:lumMod val="60000"/>
                      <a:lumOff val="40000"/>
                    </a:schemeClr>
                  </a:solidFill>
                  <a:latin typeface="Aptos" panose="02110004020202020204"/>
                </a:rPr>
                <a:t>Tranche 5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00D9EF4-ECB1-D9A7-5BCA-F81F55700A23}"/>
                </a:ext>
              </a:extLst>
            </p:cNvPr>
            <p:cNvSpPr/>
            <p:nvPr/>
          </p:nvSpPr>
          <p:spPr>
            <a:xfrm>
              <a:off x="5154477" y="3429210"/>
              <a:ext cx="232747" cy="223417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accent5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GB" sz="800" b="1">
                  <a:solidFill>
                    <a:schemeClr val="tx1"/>
                  </a:solidFill>
                </a:rPr>
                <a:t>$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4D4A2AC-28C4-B088-36C7-DA5A53304D31}"/>
                </a:ext>
              </a:extLst>
            </p:cNvPr>
            <p:cNvSpPr/>
            <p:nvPr/>
          </p:nvSpPr>
          <p:spPr>
            <a:xfrm>
              <a:off x="6096486" y="3460778"/>
              <a:ext cx="232747" cy="223417"/>
            </a:xfrm>
            <a:prstGeom prst="ellipse">
              <a:avLst/>
            </a:prstGeom>
            <a:solidFill>
              <a:schemeClr val="bg2">
                <a:lumMod val="85000"/>
              </a:schemeClr>
            </a:solidFill>
            <a:ln w="9525"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GB" sz="800" b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$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EC28B79-520E-E9BA-953F-505DDB71AA14}"/>
                </a:ext>
              </a:extLst>
            </p:cNvPr>
            <p:cNvSpPr/>
            <p:nvPr/>
          </p:nvSpPr>
          <p:spPr>
            <a:xfrm>
              <a:off x="6595750" y="3730458"/>
              <a:ext cx="232747" cy="223417"/>
            </a:xfrm>
            <a:prstGeom prst="ellipse">
              <a:avLst/>
            </a:prstGeom>
            <a:solidFill>
              <a:schemeClr val="bg2">
                <a:lumMod val="85000"/>
              </a:schemeClr>
            </a:solidFill>
            <a:ln w="9525"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GB" sz="800" b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$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66A9658-FB85-3616-86B2-C14055E2E841}"/>
                </a:ext>
              </a:extLst>
            </p:cNvPr>
            <p:cNvSpPr/>
            <p:nvPr/>
          </p:nvSpPr>
          <p:spPr>
            <a:xfrm>
              <a:off x="6922855" y="4017037"/>
              <a:ext cx="232747" cy="223417"/>
            </a:xfrm>
            <a:prstGeom prst="ellipse">
              <a:avLst/>
            </a:prstGeom>
            <a:solidFill>
              <a:schemeClr val="bg2">
                <a:lumMod val="85000"/>
              </a:schemeClr>
            </a:solidFill>
            <a:ln w="9525"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GB" sz="800" b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$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BD72925-B5DC-396D-3866-EEE3C0A27253}"/>
                </a:ext>
              </a:extLst>
            </p:cNvPr>
            <p:cNvSpPr/>
            <p:nvPr/>
          </p:nvSpPr>
          <p:spPr>
            <a:xfrm>
              <a:off x="7158539" y="4270138"/>
              <a:ext cx="232747" cy="223417"/>
            </a:xfrm>
            <a:prstGeom prst="ellipse">
              <a:avLst/>
            </a:prstGeom>
            <a:solidFill>
              <a:schemeClr val="bg2">
                <a:lumMod val="85000"/>
              </a:schemeClr>
            </a:solidFill>
            <a:ln w="9525"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GB" sz="800" b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$</a:t>
              </a:r>
            </a:p>
          </p:txBody>
        </p:sp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id="{94669629-C982-2531-D4F5-D7FA06AF4752}"/>
                </a:ext>
              </a:extLst>
            </p:cNvPr>
            <p:cNvCxnSpPr>
              <a:cxnSpLocks/>
              <a:stCxn id="73" idx="2"/>
              <a:endCxn id="35" idx="1"/>
            </p:cNvCxnSpPr>
            <p:nvPr/>
          </p:nvCxnSpPr>
          <p:spPr>
            <a:xfrm rot="16200000" flipH="1">
              <a:off x="3824283" y="4843929"/>
              <a:ext cx="1359309" cy="211727"/>
            </a:xfrm>
            <a:prstGeom prst="bentConnector2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Arrow: Pentagon 34">
              <a:extLst>
                <a:ext uri="{FF2B5EF4-FFF2-40B4-BE49-F238E27FC236}">
                  <a16:creationId xmlns:a16="http://schemas.microsoft.com/office/drawing/2014/main" id="{F9551080-1FCB-D14B-2198-94AB7D49D663}"/>
                </a:ext>
              </a:extLst>
            </p:cNvPr>
            <p:cNvSpPr>
              <a:spLocks/>
            </p:cNvSpPr>
            <p:nvPr/>
          </p:nvSpPr>
          <p:spPr>
            <a:xfrm>
              <a:off x="4609801" y="5440448"/>
              <a:ext cx="974164" cy="378000"/>
            </a:xfrm>
            <a:prstGeom prst="homePlat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000">
                  <a:solidFill>
                    <a:schemeClr val="tx1"/>
                  </a:solidFill>
                  <a:latin typeface="Aptos" panose="02110004020202020204"/>
                </a:rPr>
                <a:t>Permissions &amp; Design</a:t>
              </a:r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4A67E188-251B-9219-836C-B2649318C550}"/>
                </a:ext>
              </a:extLst>
            </p:cNvPr>
            <p:cNvSpPr>
              <a:spLocks/>
            </p:cNvSpPr>
            <p:nvPr/>
          </p:nvSpPr>
          <p:spPr>
            <a:xfrm>
              <a:off x="3323710" y="3239449"/>
              <a:ext cx="2148728" cy="1030690"/>
            </a:xfrm>
            <a:prstGeom prst="roundRect">
              <a:avLst>
                <a:gd name="adj" fmla="val 0"/>
              </a:avLst>
            </a:prstGeom>
            <a:noFill/>
            <a:ln w="28575">
              <a:solidFill>
                <a:schemeClr val="tx2"/>
              </a:solidFill>
              <a:prstDash val="sysDash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3E1B415-0E1C-D22A-991F-F9D34D849753}"/>
                </a:ext>
              </a:extLst>
            </p:cNvPr>
            <p:cNvSpPr txBox="1">
              <a:spLocks/>
            </p:cNvSpPr>
            <p:nvPr/>
          </p:nvSpPr>
          <p:spPr>
            <a:xfrm>
              <a:off x="4427463" y="5079330"/>
              <a:ext cx="727014" cy="2154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>
                  <a:solidFill>
                    <a:srgbClr val="444444"/>
                  </a:solidFill>
                  <a:latin typeface="Aptos" panose="020B0004020202020204" pitchFamily="34" charset="0"/>
                </a:rPr>
                <a:t>Learnings from Tranche 1 as input</a:t>
              </a:r>
              <a:endParaRPr kumimoji="0" lang="en-US" sz="70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CE19672-9329-148C-30FD-F864BC9981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98713" y="4099443"/>
              <a:ext cx="308473" cy="364009"/>
            </a:xfrm>
            <a:prstGeom prst="line">
              <a:avLst/>
            </a:prstGeom>
            <a:ln w="12700">
              <a:solidFill>
                <a:schemeClr val="accent5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91AE4D54-CAED-C612-8016-B1690F07CB22}"/>
                </a:ext>
              </a:extLst>
            </p:cNvPr>
            <p:cNvSpPr/>
            <p:nvPr/>
          </p:nvSpPr>
          <p:spPr>
            <a:xfrm>
              <a:off x="4515062" y="5356801"/>
              <a:ext cx="5282207" cy="545850"/>
            </a:xfrm>
            <a:prstGeom prst="roundRect">
              <a:avLst/>
            </a:prstGeom>
            <a:solidFill>
              <a:schemeClr val="lt1">
                <a:alpha val="71000"/>
              </a:schemeClr>
            </a:solidFill>
            <a:ln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200"/>
                <a:t>Preliminary timings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493C9D0-234A-68C4-9C5D-5461CC5618A5}"/>
                </a:ext>
              </a:extLst>
            </p:cNvPr>
            <p:cNvSpPr txBox="1">
              <a:spLocks/>
            </p:cNvSpPr>
            <p:nvPr/>
          </p:nvSpPr>
          <p:spPr>
            <a:xfrm>
              <a:off x="4640121" y="4230670"/>
              <a:ext cx="727014" cy="138499"/>
            </a:xfrm>
            <a:prstGeom prst="rect">
              <a:avLst/>
            </a:prstGeom>
            <a:solidFill>
              <a:srgbClr val="FFE4DD"/>
            </a:solidFill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b="1">
                  <a:solidFill>
                    <a:schemeClr val="accent5"/>
                  </a:solidFill>
                  <a:latin typeface="Aptos" panose="020B0004020202020204" pitchFamily="34" charset="0"/>
                </a:rPr>
                <a:t>Details next</a:t>
              </a:r>
              <a:endParaRPr kumimoji="0" lang="en-US" sz="900" b="1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pic>
          <p:nvPicPr>
            <p:cNvPr id="48" name="Graphic 47" descr="Diamond Suit with solid fill">
              <a:extLst>
                <a:ext uri="{FF2B5EF4-FFF2-40B4-BE49-F238E27FC236}">
                  <a16:creationId xmlns:a16="http://schemas.microsoft.com/office/drawing/2014/main" id="{D6DBC8CA-9FED-97F5-2105-BEF7449EC8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855751" y="2417512"/>
              <a:ext cx="299040" cy="299040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3FE903A-99A9-BD3A-C47B-7EE0E0A7958C}"/>
                </a:ext>
              </a:extLst>
            </p:cNvPr>
            <p:cNvSpPr txBox="1">
              <a:spLocks/>
            </p:cNvSpPr>
            <p:nvPr/>
          </p:nvSpPr>
          <p:spPr>
            <a:xfrm>
              <a:off x="4348473" y="2321959"/>
              <a:ext cx="2690755" cy="16927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Access to TTA 25.2 before Feb 9 (on track)</a:t>
              </a:r>
            </a:p>
          </p:txBody>
        </p:sp>
        <p:pic>
          <p:nvPicPr>
            <p:cNvPr id="64" name="Graphic 63" descr="Diamond Suit with solid fill">
              <a:extLst>
                <a:ext uri="{FF2B5EF4-FFF2-40B4-BE49-F238E27FC236}">
                  <a16:creationId xmlns:a16="http://schemas.microsoft.com/office/drawing/2014/main" id="{3993C605-FF14-2F81-8513-8632692035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894230" y="5505391"/>
              <a:ext cx="299040" cy="299040"/>
            </a:xfrm>
            <a:prstGeom prst="rect">
              <a:avLst/>
            </a:prstGeom>
          </p:spPr>
        </p:pic>
        <p:pic>
          <p:nvPicPr>
            <p:cNvPr id="65" name="Graphic 64" descr="Diamond Suit with solid fill">
              <a:extLst>
                <a:ext uri="{FF2B5EF4-FFF2-40B4-BE49-F238E27FC236}">
                  <a16:creationId xmlns:a16="http://schemas.microsoft.com/office/drawing/2014/main" id="{E2455E15-29B4-1612-93F2-AF2C4D7823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028721" y="3865018"/>
              <a:ext cx="299040" cy="299040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8865530-EAB8-2573-A762-657D7F32A0A6}"/>
                </a:ext>
              </a:extLst>
            </p:cNvPr>
            <p:cNvSpPr txBox="1">
              <a:spLocks/>
            </p:cNvSpPr>
            <p:nvPr/>
          </p:nvSpPr>
          <p:spPr>
            <a:xfrm>
              <a:off x="2301562" y="4463452"/>
              <a:ext cx="2690755" cy="33855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100" u="none" strike="noStrike" cap="none" spc="0" normalizeH="0" baseline="0">
                  <a:ln>
                    <a:noFill/>
                  </a:ln>
                  <a:effectLst/>
                  <a:uLnTx/>
                  <a:uFillTx/>
                  <a:latin typeface="Aptos" panose="020B0004020202020204" pitchFamily="34" charset="0"/>
                </a:defRPr>
              </a:lvl1pPr>
            </a:lstStyle>
            <a:p>
              <a:r>
                <a:rPr lang="en-US"/>
                <a:t>TTA Resource required by mid-Feb</a:t>
              </a:r>
            </a:p>
            <a:p>
              <a:r>
                <a:rPr lang="en-US"/>
                <a:t>(on track)</a:t>
              </a:r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E9A7BB9-E667-F864-CED6-C30C9FF1CA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62915" y="5777930"/>
              <a:ext cx="220546" cy="260252"/>
            </a:xfrm>
            <a:prstGeom prst="line">
              <a:avLst/>
            </a:prstGeom>
            <a:ln w="12700">
              <a:solidFill>
                <a:schemeClr val="accent5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76D2439-8592-A4A2-3C39-A89AFBB89EF4}"/>
                </a:ext>
              </a:extLst>
            </p:cNvPr>
            <p:cNvSpPr txBox="1">
              <a:spLocks/>
            </p:cNvSpPr>
            <p:nvPr/>
          </p:nvSpPr>
          <p:spPr>
            <a:xfrm>
              <a:off x="2893097" y="6041897"/>
              <a:ext cx="2910752" cy="16927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100" u="none" strike="noStrike" cap="none" spc="0" normalizeH="0" baseline="0">
                  <a:ln>
                    <a:noFill/>
                  </a:ln>
                  <a:effectLst/>
                  <a:uLnTx/>
                  <a:uFillTx/>
                  <a:latin typeface="Aptos" panose="020B0004020202020204" pitchFamily="34" charset="0"/>
                </a:defRPr>
              </a:lvl1pPr>
            </a:lstStyle>
            <a:p>
              <a:r>
                <a:rPr lang="en-US"/>
                <a:t>CPU Infrastructure Solutions Architect required</a:t>
              </a: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4406129-5EA4-2955-BBDE-2B1F1ED7A51F}"/>
              </a:ext>
            </a:extLst>
          </p:cNvPr>
          <p:cNvCxnSpPr>
            <a:cxnSpLocks/>
          </p:cNvCxnSpPr>
          <p:nvPr/>
        </p:nvCxnSpPr>
        <p:spPr>
          <a:xfrm flipV="1">
            <a:off x="4004537" y="2417512"/>
            <a:ext cx="282805" cy="128849"/>
          </a:xfrm>
          <a:prstGeom prst="line">
            <a:avLst/>
          </a:prstGeom>
          <a:ln w="12700">
            <a:solidFill>
              <a:schemeClr val="accent5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016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3F0DD-7B0D-4090-0B69-F6F0A5B6E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47F6B24-1A0E-AD3F-C8A2-9A66FDB68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90" y="1071024"/>
            <a:ext cx="10776685" cy="546011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B754880-5AEF-BBBA-946C-BC7EFAC1E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Weekly workplan for Tranche 1 (DRIP OCP &amp; </a:t>
            </a:r>
            <a:r>
              <a:rPr lang="en-GB" err="1"/>
              <a:t>SellStock</a:t>
            </a:r>
            <a:r>
              <a:rPr lang="en-GB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5A0ED0-0E5F-7386-6D6E-543ECF724E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37142" y="6540034"/>
            <a:ext cx="317716" cy="246221"/>
          </a:xfrm>
        </p:spPr>
        <p:txBody>
          <a:bodyPr/>
          <a:lstStyle/>
          <a:p>
            <a:fld id="{0BBDC51F-5D11-B24C-B440-508FFDF318C8}" type="slidenum">
              <a:rPr lang="en-AU" smtClean="0"/>
              <a:pPr/>
              <a:t>12</a:t>
            </a:fld>
            <a:endParaRPr lang="en-AU"/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3A4718C4-C414-4BA1-E32D-B8539D4C3612}"/>
              </a:ext>
            </a:extLst>
          </p:cNvPr>
          <p:cNvSpPr/>
          <p:nvPr/>
        </p:nvSpPr>
        <p:spPr>
          <a:xfrm>
            <a:off x="5644663" y="2136442"/>
            <a:ext cx="2415190" cy="815764"/>
          </a:xfrm>
          <a:prstGeom prst="wedgeRectCallout">
            <a:avLst>
              <a:gd name="adj1" fmla="val -62803"/>
              <a:gd name="adj2" fmla="val -2796"/>
            </a:avLst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100" b="1" u="sng"/>
              <a:t>Define Phase Exit Dependencies</a:t>
            </a:r>
            <a:r>
              <a:rPr lang="en-GB" sz="110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/>
              <a:t>Tungsten resource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/>
              <a:t>Infrastructure Solutions Architect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/>
              <a:t>TTA Platform access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/>
              <a:t>SCRIP comms sign off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0790C763-DFE6-83BB-68C2-257908812554}"/>
              </a:ext>
            </a:extLst>
          </p:cNvPr>
          <p:cNvSpPr/>
          <p:nvPr/>
        </p:nvSpPr>
        <p:spPr>
          <a:xfrm>
            <a:off x="10034642" y="4784648"/>
            <a:ext cx="1935684" cy="478466"/>
          </a:xfrm>
          <a:prstGeom prst="wedgeRectCallout">
            <a:avLst>
              <a:gd name="adj1" fmla="val -68011"/>
              <a:gd name="adj2" fmla="val 43904"/>
            </a:avLst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100" b="1" u="sng"/>
              <a:t>UAT Phase Dependency</a:t>
            </a:r>
            <a:r>
              <a:rPr lang="en-GB" sz="110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/>
              <a:t>SME availability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9176A5-3FB7-7950-DCCA-7350C24903C0}"/>
              </a:ext>
            </a:extLst>
          </p:cNvPr>
          <p:cNvSpPr txBox="1"/>
          <p:nvPr/>
        </p:nvSpPr>
        <p:spPr>
          <a:xfrm>
            <a:off x="415289" y="737986"/>
            <a:ext cx="6729776" cy="3077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1400" b="1" i="1">
                <a:highlight>
                  <a:srgbClr val="FFFF00"/>
                </a:highlight>
                <a:latin typeface="Aptos" panose="020B0004020202020204" pitchFamily="34" charset="0"/>
              </a:rPr>
              <a:t>This is a repeatable workplan module applicable to all transaction tranches</a:t>
            </a:r>
          </a:p>
        </p:txBody>
      </p:sp>
    </p:spTree>
    <p:extLst>
      <p:ext uri="{BB962C8B-B14F-4D97-AF65-F5344CB8AC3E}">
        <p14:creationId xmlns:p14="http://schemas.microsoft.com/office/powerpoint/2010/main" val="1910308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03A36-F3F5-8020-6429-4A1649D0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C7EEB-F2CE-7EA2-66FF-A9DB4C8B2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Processing – DRIP OCP flow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3E8F0E-7CBD-4B7B-31BC-0AE5BF8C7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BDC51F-5D11-B24C-B440-508FFDF318C8}" type="slidenum">
              <a:rPr kumimoji="0" lang="en-AU" sz="1000" b="1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AU" sz="10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4BE6DB-9A9D-BB57-DF04-1E50B9B967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724" y="1252666"/>
            <a:ext cx="12081276" cy="51394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FF25A3-0B56-B836-304D-D8404F59AA37}"/>
              </a:ext>
            </a:extLst>
          </p:cNvPr>
          <p:cNvSpPr txBox="1"/>
          <p:nvPr/>
        </p:nvSpPr>
        <p:spPr>
          <a:xfrm>
            <a:off x="110723" y="827003"/>
            <a:ext cx="7572777" cy="338554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Automate processing transactions after human verifies classification 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15AFCA-F8F4-07B7-D49D-662ECCA09AA9}"/>
              </a:ext>
            </a:extLst>
          </p:cNvPr>
          <p:cNvCxnSpPr>
            <a:cxnSpLocks/>
          </p:cNvCxnSpPr>
          <p:nvPr/>
        </p:nvCxnSpPr>
        <p:spPr>
          <a:xfrm>
            <a:off x="110723" y="1252666"/>
            <a:ext cx="12081277" cy="0"/>
          </a:xfrm>
          <a:prstGeom prst="line">
            <a:avLst/>
          </a:prstGeom>
          <a:ln w="19050">
            <a:solidFill>
              <a:srgbClr val="9318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8617360-FC67-7222-8929-D6FD4E9BF968}"/>
              </a:ext>
            </a:extLst>
          </p:cNvPr>
          <p:cNvSpPr txBox="1"/>
          <p:nvPr/>
        </p:nvSpPr>
        <p:spPr>
          <a:xfrm>
            <a:off x="3645817" y="2866113"/>
            <a:ext cx="3600441" cy="307777"/>
          </a:xfrm>
          <a:prstGeom prst="rect">
            <a:avLst/>
          </a:prstGeom>
          <a:solidFill>
            <a:srgbClr val="FFFF00"/>
          </a:solidFill>
          <a:ln w="2540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To be replaced with Ben’s updated diagram</a:t>
            </a:r>
          </a:p>
        </p:txBody>
      </p:sp>
      <p:pic>
        <p:nvPicPr>
          <p:cNvPr id="20" name="Picture 19" descr="A computer screen with colorful rectangular shapes">
            <a:extLst>
              <a:ext uri="{FF2B5EF4-FFF2-40B4-BE49-F238E27FC236}">
                <a16:creationId xmlns:a16="http://schemas.microsoft.com/office/drawing/2014/main" id="{11984B0A-183D-4044-D26E-DEFCAF899D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38" y="1855239"/>
            <a:ext cx="11895538" cy="2334863"/>
          </a:xfrm>
          <a:prstGeom prst="rect">
            <a:avLst/>
          </a:prstGeom>
        </p:spPr>
      </p:pic>
      <p:sp>
        <p:nvSpPr>
          <p:cNvPr id="22" name="Left Bracket 21">
            <a:extLst>
              <a:ext uri="{FF2B5EF4-FFF2-40B4-BE49-F238E27FC236}">
                <a16:creationId xmlns:a16="http://schemas.microsoft.com/office/drawing/2014/main" id="{80DF1A6A-3A6F-9831-8453-9C8C1E352085}"/>
              </a:ext>
            </a:extLst>
          </p:cNvPr>
          <p:cNvSpPr/>
          <p:nvPr/>
        </p:nvSpPr>
        <p:spPr>
          <a:xfrm rot="16200000">
            <a:off x="1657913" y="3403814"/>
            <a:ext cx="137084" cy="1983248"/>
          </a:xfrm>
          <a:prstGeom prst="leftBracket">
            <a:avLst>
              <a:gd name="adj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Left Bracket 22">
            <a:extLst>
              <a:ext uri="{FF2B5EF4-FFF2-40B4-BE49-F238E27FC236}">
                <a16:creationId xmlns:a16="http://schemas.microsoft.com/office/drawing/2014/main" id="{F50DCD62-0D1E-DE06-BF39-9F5BD401A464}"/>
              </a:ext>
            </a:extLst>
          </p:cNvPr>
          <p:cNvSpPr/>
          <p:nvPr/>
        </p:nvSpPr>
        <p:spPr>
          <a:xfrm rot="16200000">
            <a:off x="3883060" y="3330690"/>
            <a:ext cx="137084" cy="2129496"/>
          </a:xfrm>
          <a:prstGeom prst="leftBracket">
            <a:avLst>
              <a:gd name="adj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01F549-91B4-827C-F112-052E7B1EE99D}"/>
              </a:ext>
            </a:extLst>
          </p:cNvPr>
          <p:cNvSpPr txBox="1">
            <a:spLocks/>
          </p:cNvSpPr>
          <p:nvPr/>
        </p:nvSpPr>
        <p:spPr>
          <a:xfrm>
            <a:off x="734830" y="4600774"/>
            <a:ext cx="1983249" cy="276999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>
                <a:solidFill>
                  <a:schemeClr val="accent1"/>
                </a:solidFill>
                <a:latin typeface="Aptos" panose="020B0004020202020204" pitchFamily="34" charset="0"/>
              </a:rPr>
              <a:t>Mailroom scanning process does not change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1A4236-CBE0-FA3F-C165-0451653216C0}"/>
              </a:ext>
            </a:extLst>
          </p:cNvPr>
          <p:cNvSpPr txBox="1">
            <a:spLocks/>
          </p:cNvSpPr>
          <p:nvPr/>
        </p:nvSpPr>
        <p:spPr>
          <a:xfrm>
            <a:off x="2987780" y="4600774"/>
            <a:ext cx="1983249" cy="138499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>
                <a:solidFill>
                  <a:schemeClr val="accent1"/>
                </a:solidFill>
                <a:latin typeface="Aptos" panose="020B0004020202020204" pitchFamily="34" charset="0"/>
              </a:rPr>
              <a:t>Data extraction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in TTA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8" name="Left Bracket 27">
            <a:extLst>
              <a:ext uri="{FF2B5EF4-FFF2-40B4-BE49-F238E27FC236}">
                <a16:creationId xmlns:a16="http://schemas.microsoft.com/office/drawing/2014/main" id="{613ECE7C-092D-22D8-2283-3CDEA31B9BBC}"/>
              </a:ext>
            </a:extLst>
          </p:cNvPr>
          <p:cNvSpPr/>
          <p:nvPr/>
        </p:nvSpPr>
        <p:spPr>
          <a:xfrm rot="16200000">
            <a:off x="6122441" y="3388166"/>
            <a:ext cx="138498" cy="2013130"/>
          </a:xfrm>
          <a:prstGeom prst="leftBracket">
            <a:avLst>
              <a:gd name="adj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2E2A57-387B-29E9-EE14-D315BE45BA5D}"/>
              </a:ext>
            </a:extLst>
          </p:cNvPr>
          <p:cNvSpPr txBox="1">
            <a:spLocks/>
          </p:cNvSpPr>
          <p:nvPr/>
        </p:nvSpPr>
        <p:spPr>
          <a:xfrm>
            <a:off x="5198438" y="4600773"/>
            <a:ext cx="1983249" cy="138499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>
                <a:solidFill>
                  <a:schemeClr val="accent1"/>
                </a:solidFill>
                <a:latin typeface="Aptos" panose="020B0004020202020204" pitchFamily="34" charset="0"/>
              </a:rPr>
              <a:t>Human verification (Workflow)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5" name="Left Bracket 34">
            <a:extLst>
              <a:ext uri="{FF2B5EF4-FFF2-40B4-BE49-F238E27FC236}">
                <a16:creationId xmlns:a16="http://schemas.microsoft.com/office/drawing/2014/main" id="{D8D4318D-4D38-8783-CBB4-12DDBB975FD0}"/>
              </a:ext>
            </a:extLst>
          </p:cNvPr>
          <p:cNvSpPr/>
          <p:nvPr/>
        </p:nvSpPr>
        <p:spPr>
          <a:xfrm rot="16200000">
            <a:off x="9492902" y="2230027"/>
            <a:ext cx="137084" cy="4330821"/>
          </a:xfrm>
          <a:prstGeom prst="leftBracket">
            <a:avLst>
              <a:gd name="adj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0D9951-5589-B13F-B9BD-2EBB1DA0ADD4}"/>
              </a:ext>
            </a:extLst>
          </p:cNvPr>
          <p:cNvSpPr txBox="1">
            <a:spLocks/>
          </p:cNvSpPr>
          <p:nvPr/>
        </p:nvSpPr>
        <p:spPr>
          <a:xfrm>
            <a:off x="8843759" y="4600772"/>
            <a:ext cx="1983249" cy="276999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>
                <a:solidFill>
                  <a:schemeClr val="accent1"/>
                </a:solidFill>
                <a:latin typeface="Aptos" panose="020B0004020202020204" pitchFamily="34" charset="0"/>
              </a:rPr>
              <a:t>Processing (RPA to SCRIP, Workflow)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1">
                <a:solidFill>
                  <a:schemeClr val="tx2"/>
                </a:solidFill>
                <a:latin typeface="Aptos" panose="020B0004020202020204" pitchFamily="34" charset="0"/>
              </a:rPr>
              <a:t>75% of savings impact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7" name="Left Bracket 36">
            <a:extLst>
              <a:ext uri="{FF2B5EF4-FFF2-40B4-BE49-F238E27FC236}">
                <a16:creationId xmlns:a16="http://schemas.microsoft.com/office/drawing/2014/main" id="{0D1C19BC-DDC1-97D2-3D02-50B368E3D2BF}"/>
              </a:ext>
            </a:extLst>
          </p:cNvPr>
          <p:cNvSpPr/>
          <p:nvPr/>
        </p:nvSpPr>
        <p:spPr>
          <a:xfrm rot="16200000">
            <a:off x="3813068" y="1868312"/>
            <a:ext cx="277000" cy="6460243"/>
          </a:xfrm>
          <a:prstGeom prst="leftBracket">
            <a:avLst>
              <a:gd name="adj" fmla="val 0"/>
            </a:avLst>
          </a:prstGeom>
          <a:ln>
            <a:solidFill>
              <a:srgbClr val="3C17C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472FAE9-0495-4C5F-6AA8-40B775ABDCF2}"/>
              </a:ext>
            </a:extLst>
          </p:cNvPr>
          <p:cNvSpPr txBox="1">
            <a:spLocks/>
          </p:cNvSpPr>
          <p:nvPr/>
        </p:nvSpPr>
        <p:spPr>
          <a:xfrm>
            <a:off x="1954512" y="5373726"/>
            <a:ext cx="4005874" cy="276999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Classification automation pilot to start after Tranche 1 of </a:t>
            </a:r>
            <a:r>
              <a:rPr lang="en-US" sz="900" b="1">
                <a:solidFill>
                  <a:schemeClr val="accent4"/>
                </a:solidFill>
                <a:latin typeface="Aptos" panose="020B0004020202020204" pitchFamily="34" charset="0"/>
              </a:rPr>
              <a:t>Processing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25% of savings impact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2DD775F-C154-9AC1-30C4-A12563CC9493}"/>
              </a:ext>
            </a:extLst>
          </p:cNvPr>
          <p:cNvCxnSpPr>
            <a:cxnSpLocks/>
          </p:cNvCxnSpPr>
          <p:nvPr/>
        </p:nvCxnSpPr>
        <p:spPr>
          <a:xfrm>
            <a:off x="632713" y="5898097"/>
            <a:ext cx="11148161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CC9CF19-C4CC-A006-B250-1977CD8705E6}"/>
              </a:ext>
            </a:extLst>
          </p:cNvPr>
          <p:cNvSpPr txBox="1">
            <a:spLocks/>
          </p:cNvSpPr>
          <p:nvPr/>
        </p:nvSpPr>
        <p:spPr>
          <a:xfrm>
            <a:off x="4271836" y="6006616"/>
            <a:ext cx="4729289" cy="138499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STP achieved once Classification and Processing automation is complete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11B10E-DE2B-01FA-1B6D-6A3700A9AC30}"/>
              </a:ext>
            </a:extLst>
          </p:cNvPr>
          <p:cNvSpPr/>
          <p:nvPr/>
        </p:nvSpPr>
        <p:spPr>
          <a:xfrm>
            <a:off x="249872" y="2240155"/>
            <a:ext cx="4766478" cy="190713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A1D797-7B9B-E150-8E19-7745A160CEC0}"/>
              </a:ext>
            </a:extLst>
          </p:cNvPr>
          <p:cNvSpPr/>
          <p:nvPr/>
        </p:nvSpPr>
        <p:spPr>
          <a:xfrm>
            <a:off x="5091364" y="2272993"/>
            <a:ext cx="2304669" cy="190713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9985A6-34D4-37B6-F2AA-8300D6BE3C77}"/>
              </a:ext>
            </a:extLst>
          </p:cNvPr>
          <p:cNvSpPr/>
          <p:nvPr/>
        </p:nvSpPr>
        <p:spPr>
          <a:xfrm>
            <a:off x="7471047" y="2282966"/>
            <a:ext cx="4720953" cy="190713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291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4BA02-798C-E307-39AB-625A1BDC5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D4EE2D2-76FA-5584-80D7-7AEED0D407DD}"/>
              </a:ext>
            </a:extLst>
          </p:cNvPr>
          <p:cNvSpPr/>
          <p:nvPr/>
        </p:nvSpPr>
        <p:spPr>
          <a:xfrm>
            <a:off x="6723017" y="1088571"/>
            <a:ext cx="5129349" cy="5138058"/>
          </a:xfrm>
          <a:prstGeom prst="rect">
            <a:avLst/>
          </a:prstGeom>
          <a:solidFill>
            <a:schemeClr val="accent1">
              <a:lumMod val="20000"/>
              <a:lumOff val="80000"/>
              <a:alpha val="21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CFA19A-1671-C40D-E58A-12F4D0FE3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Status update</a:t>
            </a:r>
            <a:endParaRPr lang="en-GB" b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CF8DCA-AAE0-2EE4-1B66-1C56884B1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BDC51F-5D11-B24C-B440-508FFDF318C8}" type="slidenum">
              <a:rPr kumimoji="0" lang="en-AU" sz="1000" b="1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AU" sz="10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7AEED9-44F3-5D53-7295-A399AFAD68EF}"/>
              </a:ext>
            </a:extLst>
          </p:cNvPr>
          <p:cNvSpPr/>
          <p:nvPr/>
        </p:nvSpPr>
        <p:spPr>
          <a:xfrm>
            <a:off x="6781254" y="1169445"/>
            <a:ext cx="4975317" cy="50030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pPr marL="0" indent="0" algn="l" rtl="0" eaLnBrk="1" latinLnBrk="0" hangingPunct="1">
              <a:buNone/>
            </a:pPr>
            <a:r>
              <a:rPr lang="en-US" sz="1100" b="1" u="sng"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Re-Cap of Last Meeting</a:t>
            </a:r>
            <a:endParaRPr lang="en-US" sz="1100" u="sng"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indent="0" algn="l" rtl="0" eaLnBrk="1" latinLnBrk="0" hangingPunct="1">
              <a:buNone/>
            </a:pPr>
            <a:r>
              <a:rPr lang="en-US" sz="1100">
                <a:solidFill>
                  <a:srgbClr val="444444"/>
                </a:solidFill>
                <a:effectLst/>
                <a:latin typeface="Aptos" panose="020B0004020202020204" pitchFamily="34" charset="0"/>
              </a:rPr>
              <a:t>​</a:t>
            </a:r>
          </a:p>
          <a:p>
            <a:pPr marL="0" indent="0" algn="l" rtl="0" eaLnBrk="1" latinLnBrk="0" hangingPunct="1">
              <a:buNone/>
            </a:pPr>
            <a:r>
              <a:rPr lang="en-US" sz="1100" b="1" u="sng">
                <a:solidFill>
                  <a:schemeClr val="accent1"/>
                </a:solidFill>
                <a:effectLst/>
                <a:latin typeface="Aptos" panose="020B0004020202020204" pitchFamily="34" charset="0"/>
              </a:rPr>
              <a:t>Goal</a:t>
            </a:r>
          </a:p>
          <a:p>
            <a:pPr marL="0" indent="0" algn="l" rtl="0" eaLnBrk="1" latinLnBrk="0" hangingPunct="1">
              <a:buNone/>
            </a:pPr>
            <a:r>
              <a:rPr lang="en-US" sz="1100">
                <a:solidFill>
                  <a:srgbClr val="444444"/>
                </a:solidFill>
                <a:effectLst/>
                <a:latin typeface="Aptos" panose="020B0004020202020204" pitchFamily="34" charset="0"/>
              </a:rPr>
              <a:t>Minimize manual work in Account Recordkeeping by automating the </a:t>
            </a:r>
            <a:r>
              <a:rPr lang="en-US" sz="1100" b="1">
                <a:solidFill>
                  <a:srgbClr val="444444"/>
                </a:solidFill>
                <a:effectLst/>
                <a:latin typeface="Aptos" panose="020B0004020202020204" pitchFamily="34" charset="0"/>
              </a:rPr>
              <a:t>processing</a:t>
            </a:r>
            <a:r>
              <a:rPr lang="en-US" sz="1100">
                <a:solidFill>
                  <a:srgbClr val="444444"/>
                </a:solidFill>
                <a:effectLst/>
                <a:latin typeface="Aptos" panose="020B0004020202020204" pitchFamily="34" charset="0"/>
              </a:rPr>
              <a:t> of incoming transactions using the new Document Scanning Platform – </a:t>
            </a:r>
            <a:r>
              <a:rPr lang="en-US" sz="1100" b="1">
                <a:solidFill>
                  <a:srgbClr val="444444"/>
                </a:solidFill>
                <a:effectLst/>
                <a:latin typeface="Aptos" panose="020B0004020202020204" pitchFamily="34" charset="0"/>
              </a:rPr>
              <a:t>Tungsten Total Agility (TTA)</a:t>
            </a:r>
          </a:p>
          <a:p>
            <a:pPr marL="0" indent="0" algn="l" rtl="0" eaLnBrk="1" latinLnBrk="0" hangingPunct="1">
              <a:buNone/>
            </a:pPr>
            <a:r>
              <a:rPr lang="en-US" sz="1100">
                <a:solidFill>
                  <a:srgbClr val="444444"/>
                </a:solidFill>
                <a:effectLst/>
                <a:latin typeface="Aptos" panose="020B0004020202020204" pitchFamily="34" charset="0"/>
              </a:rPr>
              <a:t>​</a:t>
            </a:r>
          </a:p>
          <a:p>
            <a:pPr marL="0" indent="0" algn="l" rtl="0" eaLnBrk="1" latinLnBrk="0" hangingPunct="1">
              <a:buNone/>
            </a:pPr>
            <a:r>
              <a:rPr lang="en-US" sz="1100" b="1" u="sng">
                <a:solidFill>
                  <a:schemeClr val="accent1"/>
                </a:solidFill>
                <a:effectLst/>
                <a:latin typeface="Aptos" panose="020B0004020202020204" pitchFamily="34" charset="0"/>
              </a:rPr>
              <a:t>Objective</a:t>
            </a:r>
            <a:endParaRPr lang="en-US" sz="1100" u="sng">
              <a:solidFill>
                <a:schemeClr val="accent1"/>
              </a:solidFill>
              <a:effectLst/>
              <a:latin typeface="Aptos" panose="020B0004020202020204" pitchFamily="34" charset="0"/>
            </a:endParaRPr>
          </a:p>
          <a:p>
            <a:pPr marL="0" indent="0" algn="l" rtl="0" eaLnBrk="1" latinLnBrk="0" hangingPunct="1">
              <a:buNone/>
            </a:pPr>
            <a:r>
              <a:rPr lang="en-US" sz="1100">
                <a:solidFill>
                  <a:srgbClr val="444444"/>
                </a:solidFill>
                <a:effectLst/>
                <a:latin typeface="Aptos" panose="020B0004020202020204" pitchFamily="34" charset="0"/>
              </a:rPr>
              <a:t>Our focus is on </a:t>
            </a:r>
            <a:r>
              <a:rPr lang="en-US" sz="1100" b="1">
                <a:solidFill>
                  <a:srgbClr val="444444"/>
                </a:solidFill>
                <a:effectLst/>
                <a:latin typeface="Aptos" panose="020B0004020202020204" pitchFamily="34" charset="0"/>
              </a:rPr>
              <a:t>processing</a:t>
            </a:r>
            <a:r>
              <a:rPr lang="en-US" sz="1100">
                <a:solidFill>
                  <a:srgbClr val="444444"/>
                </a:solidFill>
                <a:effectLst/>
                <a:latin typeface="Aptos" panose="020B0004020202020204" pitchFamily="34" charset="0"/>
              </a:rPr>
              <a:t> initially, as it has the greatest FTE impact, by converting extracted data into the format needed for the current </a:t>
            </a:r>
            <a:r>
              <a:rPr lang="en-US" sz="1100" b="1">
                <a:solidFill>
                  <a:srgbClr val="444444"/>
                </a:solidFill>
                <a:effectLst/>
                <a:latin typeface="Aptos" panose="020B0004020202020204" pitchFamily="34" charset="0"/>
              </a:rPr>
              <a:t>SRIPCOMMs</a:t>
            </a:r>
            <a:r>
              <a:rPr lang="en-US" sz="1100">
                <a:solidFill>
                  <a:srgbClr val="444444"/>
                </a:solidFill>
                <a:effectLst/>
                <a:latin typeface="Aptos" panose="020B0004020202020204" pitchFamily="34" charset="0"/>
              </a:rPr>
              <a:t> and </a:t>
            </a:r>
            <a:r>
              <a:rPr lang="en-US" sz="1100" b="1">
                <a:solidFill>
                  <a:srgbClr val="444444"/>
                </a:solidFill>
                <a:effectLst/>
                <a:latin typeface="Aptos" panose="020B0004020202020204" pitchFamily="34" charset="0"/>
              </a:rPr>
              <a:t>Workflow automation</a:t>
            </a:r>
            <a:r>
              <a:rPr lang="en-US" sz="1100">
                <a:solidFill>
                  <a:srgbClr val="444444"/>
                </a:solidFill>
                <a:effectLst/>
                <a:latin typeface="Aptos" panose="020B0004020202020204" pitchFamily="34" charset="0"/>
              </a:rPr>
              <a:t>.</a:t>
            </a:r>
          </a:p>
          <a:p>
            <a:pPr marL="0" indent="0" algn="l" rtl="0" eaLnBrk="1" latinLnBrk="0" hangingPunct="1">
              <a:buNone/>
            </a:pPr>
            <a:r>
              <a:rPr lang="en-US" sz="1100">
                <a:solidFill>
                  <a:srgbClr val="444444"/>
                </a:solidFill>
                <a:effectLst/>
                <a:latin typeface="Aptos" panose="020B0004020202020204" pitchFamily="34" charset="0"/>
              </a:rPr>
              <a:t>​</a:t>
            </a:r>
          </a:p>
          <a:p>
            <a:pPr marL="0" indent="0" algn="l" rtl="0" eaLnBrk="1" latinLnBrk="0" hangingPunct="1">
              <a:buNone/>
            </a:pPr>
            <a:r>
              <a:rPr lang="en-US" sz="1100" b="1" u="sng">
                <a:solidFill>
                  <a:schemeClr val="accent1"/>
                </a:solidFill>
                <a:effectLst/>
                <a:latin typeface="Aptos" panose="020B0004020202020204" pitchFamily="34" charset="0"/>
              </a:rPr>
              <a:t>Scope</a:t>
            </a:r>
            <a:endParaRPr lang="en-US" sz="1100" b="1" u="sng">
              <a:solidFill>
                <a:srgbClr val="444444"/>
              </a:solidFill>
              <a:effectLst/>
              <a:latin typeface="Aptos" panose="020B0004020202020204" pitchFamily="34" charset="0"/>
            </a:endParaRPr>
          </a:p>
          <a:p>
            <a:pPr marL="347472" indent="-347472" algn="l" rtl="0" eaLnBrk="1" latinLnBrk="0" hangingPunct="1"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rgbClr val="444444"/>
                </a:solidFill>
                <a:effectLst/>
                <a:latin typeface="Aptos" panose="020B0004020202020204" pitchFamily="34" charset="0"/>
              </a:rPr>
              <a:t>Processing Tranch</a:t>
            </a:r>
            <a:r>
              <a:rPr lang="en-US" sz="1100" b="1">
                <a:solidFill>
                  <a:srgbClr val="444444"/>
                </a:solidFill>
                <a:latin typeface="Aptos" panose="020B0004020202020204" pitchFamily="34" charset="0"/>
              </a:rPr>
              <a:t>e</a:t>
            </a:r>
            <a:r>
              <a:rPr lang="en-US" sz="1100" b="1">
                <a:solidFill>
                  <a:srgbClr val="444444"/>
                </a:solidFill>
                <a:effectLst/>
                <a:latin typeface="Aptos" panose="020B0004020202020204" pitchFamily="34" charset="0"/>
              </a:rPr>
              <a:t> 1:</a:t>
            </a:r>
            <a:r>
              <a:rPr lang="en-US" sz="1100">
                <a:solidFill>
                  <a:srgbClr val="444444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US" sz="1100" b="1" err="1">
                <a:solidFill>
                  <a:schemeClr val="accent1"/>
                </a:solidFill>
                <a:effectLst/>
                <a:latin typeface="Aptos" panose="020B0004020202020204" pitchFamily="34" charset="0"/>
              </a:rPr>
              <a:t>DripOCP</a:t>
            </a:r>
            <a:r>
              <a:rPr lang="en-US" sz="1100">
                <a:solidFill>
                  <a:srgbClr val="444444"/>
                </a:solidFill>
                <a:effectLst/>
                <a:latin typeface="Aptos" panose="020B0004020202020204" pitchFamily="34" charset="0"/>
              </a:rPr>
              <a:t> and </a:t>
            </a:r>
            <a:r>
              <a:rPr lang="en-US" sz="1100" b="1" err="1">
                <a:solidFill>
                  <a:schemeClr val="accent1"/>
                </a:solidFill>
                <a:effectLst/>
                <a:latin typeface="Aptos" panose="020B0004020202020204" pitchFamily="34" charset="0"/>
              </a:rPr>
              <a:t>SellStock</a:t>
            </a:r>
            <a:endParaRPr lang="en-US" sz="1100" b="1">
              <a:solidFill>
                <a:schemeClr val="accent1"/>
              </a:solidFill>
              <a:effectLst/>
              <a:latin typeface="Aptos" panose="020B0004020202020204" pitchFamily="34" charset="0"/>
            </a:endParaRPr>
          </a:p>
          <a:p>
            <a:pPr marL="804672" lvl="1" indent="-347472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444444"/>
                </a:solidFill>
                <a:effectLst/>
                <a:latin typeface="Aptos" panose="020B0004020202020204" pitchFamily="34" charset="0"/>
              </a:rPr>
              <a:t>Concentrate on two transaction groups—ranked 2nd and 10th in FTE effort to process.</a:t>
            </a:r>
          </a:p>
          <a:p>
            <a:pPr marL="804672" lvl="1" indent="-347472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444444"/>
                </a:solidFill>
                <a:effectLst/>
                <a:latin typeface="Aptos" panose="020B0004020202020204" pitchFamily="34" charset="0"/>
              </a:rPr>
              <a:t>This phase will establish a scalable framework for prompting and automation, paving the way for subsequent phases.</a:t>
            </a:r>
          </a:p>
          <a:p>
            <a:pPr marL="347472" indent="-347472" algn="l" rtl="0" eaLnBrk="1" latinLnBrk="0" hangingPunct="1"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rgbClr val="444444"/>
                </a:solidFill>
                <a:effectLst/>
                <a:latin typeface="Aptos" panose="020B0004020202020204" pitchFamily="34" charset="0"/>
              </a:rPr>
              <a:t>Processing Trance 2, 3, 4, and others</a:t>
            </a:r>
            <a:r>
              <a:rPr lang="en-US" sz="1100" b="1">
                <a:solidFill>
                  <a:srgbClr val="444444"/>
                </a:solidFill>
                <a:latin typeface="Aptos" panose="020B0004020202020204" pitchFamily="34" charset="0"/>
              </a:rPr>
              <a:t>: TBD Transactions</a:t>
            </a:r>
          </a:p>
          <a:p>
            <a:pPr marL="804672" lvl="1" indent="-347472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In parallel to Tranche 1, the team is analyzing the remaining transactions and will propose a sequencing of transactions based on volumes and complexity to maximize benefit realization</a:t>
            </a:r>
          </a:p>
          <a:p>
            <a:pPr marL="804672" lvl="1" indent="-347472">
              <a:buFont typeface="Arial" panose="020B0604020202020204" pitchFamily="34" charset="0"/>
              <a:buChar char="•"/>
            </a:pPr>
            <a:endParaRPr lang="en-US" sz="1100">
              <a:solidFill>
                <a:srgbClr val="444444"/>
              </a:solidFill>
              <a:latin typeface="Aptos" panose="020B0004020202020204" pitchFamily="34" charset="0"/>
            </a:endParaRPr>
          </a:p>
          <a:p>
            <a:r>
              <a:rPr lang="en-US" sz="1100" b="1" u="sng">
                <a:solidFill>
                  <a:schemeClr val="accent1"/>
                </a:solidFill>
                <a:latin typeface="Aptos" panose="020B0004020202020204" pitchFamily="34" charset="0"/>
              </a:rPr>
              <a:t>Targeted Results</a:t>
            </a:r>
            <a:endParaRPr lang="en-US" sz="1100" u="sng">
              <a:solidFill>
                <a:schemeClr val="accent1"/>
              </a:solidFill>
              <a:latin typeface="Aptos" panose="020B0004020202020204" pitchFamily="34" charset="0"/>
            </a:endParaRPr>
          </a:p>
          <a:p>
            <a:pPr marL="347472" indent="-347472"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rgbClr val="444444"/>
                </a:solidFill>
                <a:latin typeface="Aptos" panose="020B0004020202020204" pitchFamily="34" charset="0"/>
              </a:rPr>
              <a:t>Processing:</a:t>
            </a:r>
            <a:r>
              <a:rPr lang="en-US" sz="1100">
                <a:solidFill>
                  <a:srgbClr val="444444"/>
                </a:solidFill>
                <a:latin typeface="Aptos" panose="020B0004020202020204" pitchFamily="34" charset="0"/>
              </a:rPr>
              <a:t> Achieve a 50% reduction in manual effort for the AR team.</a:t>
            </a:r>
          </a:p>
          <a:p>
            <a:endParaRPr lang="en-US" sz="1100">
              <a:solidFill>
                <a:srgbClr val="444444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F63B45-7804-945D-F3E2-68FEC53ACA70}"/>
              </a:ext>
            </a:extLst>
          </p:cNvPr>
          <p:cNvSpPr txBox="1"/>
          <p:nvPr/>
        </p:nvSpPr>
        <p:spPr>
          <a:xfrm>
            <a:off x="261258" y="1169445"/>
            <a:ext cx="5338354" cy="2462213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buNone/>
            </a:pPr>
            <a:r>
              <a:rPr lang="en-US" sz="1100" b="1">
                <a:solidFill>
                  <a:srgbClr val="93186C"/>
                </a:solidFill>
                <a:effectLst/>
                <a:latin typeface="Aptos" panose="020B0004020202020204" pitchFamily="34" charset="0"/>
              </a:rPr>
              <a:t>Today’s Agenda</a:t>
            </a:r>
            <a:endParaRPr lang="en-US" sz="1100">
              <a:solidFill>
                <a:srgbClr val="93186C"/>
              </a:solidFill>
              <a:effectLst/>
              <a:latin typeface="Aptos" panose="020B0004020202020204" pitchFamily="34" charset="0"/>
            </a:endParaRPr>
          </a:p>
          <a:p>
            <a:pPr marL="0" indent="0" algn="l" rtl="0" eaLnBrk="1" latinLnBrk="0" hangingPunct="1">
              <a:buNone/>
            </a:pPr>
            <a:r>
              <a:rPr lang="en-US" sz="1100">
                <a:solidFill>
                  <a:srgbClr val="93186C"/>
                </a:solidFill>
                <a:effectLst/>
                <a:latin typeface="Aptos" panose="020B0004020202020204" pitchFamily="34" charset="0"/>
              </a:rPr>
              <a:t>​</a:t>
            </a:r>
          </a:p>
          <a:p>
            <a:pPr marL="283464" indent="-283464" algn="l" rtl="0" eaLnBrk="1" latinLnBrk="0" hangingPunct="1">
              <a:buFont typeface="+mj-lt"/>
              <a:buAutoNum type="arabicPeriod"/>
            </a:pPr>
            <a:r>
              <a:rPr lang="en-US" sz="1100" b="1">
                <a:effectLst/>
                <a:latin typeface="Aptos" panose="020B0004020202020204" pitchFamily="34" charset="0"/>
              </a:rPr>
              <a:t>Re-cap of last meeting (Goals, Objectives, Scope, &amp; Targeted Results)</a:t>
            </a:r>
          </a:p>
          <a:p>
            <a:pPr marL="228600" indent="-228600" algn="l" rtl="0" eaLnBrk="1" latinLnBrk="0" hangingPunct="1">
              <a:buFont typeface="+mj-lt"/>
              <a:buAutoNum type="arabicPeriod"/>
            </a:pPr>
            <a:endParaRPr lang="en-US" sz="1100" b="1">
              <a:effectLst/>
              <a:latin typeface="Aptos" panose="020B0004020202020204" pitchFamily="34" charset="0"/>
            </a:endParaRPr>
          </a:p>
          <a:p>
            <a:pPr marL="283464" indent="-283464" algn="l" rtl="0" eaLnBrk="1" latinLnBrk="0" hangingPunct="1">
              <a:buFont typeface="+mj-lt"/>
              <a:buAutoNum type="arabicPeriod"/>
            </a:pPr>
            <a:r>
              <a:rPr lang="en-US" sz="1100" b="1">
                <a:effectLst/>
                <a:latin typeface="Aptos" panose="020B0004020202020204" pitchFamily="34" charset="0"/>
              </a:rPr>
              <a:t>Walkthrough of Plan &amp; Timeline for Prep Phase &amp; Tranche 1 (Slides 3 &amp; 4)</a:t>
            </a:r>
            <a:endParaRPr lang="en-US" sz="1100">
              <a:latin typeface="Aptos" panose="020B0004020202020204" pitchFamily="34" charset="0"/>
            </a:endParaRPr>
          </a:p>
          <a:p>
            <a:pPr marL="283464" indent="-283464" algn="l" rtl="0" eaLnBrk="1" latinLnBrk="0" hangingPunct="1">
              <a:buFont typeface="+mj-lt"/>
              <a:buAutoNum type="arabicPeriod"/>
            </a:pPr>
            <a:endParaRPr lang="en-US" sz="1100" b="1">
              <a:solidFill>
                <a:schemeClr val="accent1"/>
              </a:solidFill>
              <a:effectLst/>
              <a:latin typeface="Aptos" panose="020B0004020202020204" pitchFamily="34" charset="0"/>
            </a:endParaRPr>
          </a:p>
          <a:p>
            <a:pPr marL="283464" indent="-283464" algn="l" rtl="0" eaLnBrk="1" latinLnBrk="0" hangingPunct="1">
              <a:buFont typeface="+mj-lt"/>
              <a:buAutoNum type="arabicPeriod"/>
            </a:pPr>
            <a:r>
              <a:rPr lang="en-US" sz="1100" b="1">
                <a:effectLst/>
                <a:latin typeface="Aptos" panose="020B0004020202020204" pitchFamily="34" charset="0"/>
              </a:rPr>
              <a:t>Critical Dependencies </a:t>
            </a:r>
            <a:r>
              <a:rPr lang="en-US" sz="1100" b="1" i="1">
                <a:effectLst/>
                <a:latin typeface="Aptos" panose="020B0004020202020204" pitchFamily="34" charset="0"/>
              </a:rPr>
              <a:t>(included in Slides 3&amp;4 with dependency due dates)</a:t>
            </a:r>
            <a:endParaRPr lang="en-US" sz="1100" i="1">
              <a:effectLst/>
              <a:latin typeface="Aptos" panose="020B0004020202020204" pitchFamily="34" charset="0"/>
            </a:endParaRPr>
          </a:p>
          <a:p>
            <a:pPr marL="740664" lvl="1" indent="-283464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444444"/>
                </a:solidFill>
                <a:effectLst/>
                <a:latin typeface="Aptos" panose="020B0004020202020204" pitchFamily="34" charset="0"/>
              </a:rPr>
              <a:t>Tungsten Platform 2025.02 Availability</a:t>
            </a:r>
          </a:p>
          <a:p>
            <a:pPr marL="740664" lvl="1" indent="-283464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444444"/>
                </a:solidFill>
                <a:effectLst/>
                <a:latin typeface="Aptos" panose="020B0004020202020204" pitchFamily="34" charset="0"/>
              </a:rPr>
              <a:t>Tungsten Engineer</a:t>
            </a:r>
          </a:p>
          <a:p>
            <a:pPr marL="740664" lvl="1" indent="-283464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444444"/>
                </a:solidFill>
                <a:effectLst/>
                <a:latin typeface="Aptos" panose="020B0004020202020204" pitchFamily="34" charset="0"/>
              </a:rPr>
              <a:t>CPU Solutions Architect</a:t>
            </a:r>
          </a:p>
          <a:p>
            <a:pPr marL="685800" lvl="1" indent="-228600">
              <a:buFont typeface="+mj-lt"/>
              <a:buAutoNum type="arabicPeriod"/>
            </a:pPr>
            <a:endParaRPr lang="en-US" sz="1100" b="1">
              <a:solidFill>
                <a:srgbClr val="444444"/>
              </a:solidFill>
              <a:latin typeface="Aptos" panose="020B0004020202020204" pitchFamily="34" charset="0"/>
            </a:endParaRPr>
          </a:p>
          <a:p>
            <a:pPr marL="283464" indent="-283464">
              <a:buFont typeface="+mj-lt"/>
              <a:buAutoNum type="arabicPeriod"/>
            </a:pPr>
            <a:r>
              <a:rPr lang="en-US" sz="1100" b="1">
                <a:effectLst/>
                <a:latin typeface="Aptos" panose="020B0004020202020204" pitchFamily="34" charset="0"/>
              </a:rPr>
              <a:t>Team Updates &amp; Resource Needs (Slide 5)</a:t>
            </a:r>
          </a:p>
          <a:p>
            <a:pPr marL="283464" indent="-283464">
              <a:buFont typeface="+mj-lt"/>
              <a:buAutoNum type="arabicPeriod"/>
            </a:pPr>
            <a:endParaRPr lang="en-US" sz="1100" b="1">
              <a:effectLst/>
              <a:latin typeface="Aptos" panose="020B0004020202020204" pitchFamily="34" charset="0"/>
            </a:endParaRPr>
          </a:p>
          <a:p>
            <a:pPr marL="283464" indent="-283464">
              <a:buFont typeface="+mj-lt"/>
              <a:buAutoNum type="arabicPeriod"/>
            </a:pPr>
            <a:r>
              <a:rPr lang="en-US" sz="1100" b="1" err="1">
                <a:latin typeface="Aptos" panose="020B0004020202020204" pitchFamily="34" charset="0"/>
              </a:rPr>
              <a:t>DripOCP</a:t>
            </a:r>
            <a:r>
              <a:rPr lang="en-US" sz="1100" b="1">
                <a:latin typeface="Aptos" panose="020B0004020202020204" pitchFamily="34" charset="0"/>
              </a:rPr>
              <a:t> Process Flow</a:t>
            </a:r>
            <a:endParaRPr lang="en-US" sz="1100"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232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909CC-63CE-EE6B-6BD3-0CBD21F05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E83EBBD-3575-3031-BE46-7D3EBEB04059}"/>
              </a:ext>
            </a:extLst>
          </p:cNvPr>
          <p:cNvSpPr txBox="1">
            <a:spLocks/>
          </p:cNvSpPr>
          <p:nvPr/>
        </p:nvSpPr>
        <p:spPr>
          <a:xfrm>
            <a:off x="192067" y="239394"/>
            <a:ext cx="12922354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ts val="3240"/>
              </a:lnSpc>
              <a:spcBef>
                <a:spcPct val="0"/>
              </a:spcBef>
              <a:buNone/>
              <a:defRPr lang="en-US" sz="3200" b="0" i="0" kern="1200" spc="-80" baseline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/>
              <a:t>AI tool strategy and approach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692C048-7E0F-4C22-3E6A-99939E7310D3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3375748589"/>
              </p:ext>
            </p:extLst>
          </p:nvPr>
        </p:nvGraphicFramePr>
        <p:xfrm>
          <a:off x="181194" y="1483097"/>
          <a:ext cx="11915555" cy="4579874"/>
        </p:xfrm>
        <a:graphic>
          <a:graphicData uri="http://schemas.openxmlformats.org/drawingml/2006/table">
            <a:tbl>
              <a:tblPr firstRow="1" firstCol="1">
                <a:tableStyleId>{3B4B98B0-60AC-42C2-AFA5-B58CD77FA1E5}</a:tableStyleId>
              </a:tblPr>
              <a:tblGrid>
                <a:gridCol w="1094153">
                  <a:extLst>
                    <a:ext uri="{9D8B030D-6E8A-4147-A177-3AD203B41FA5}">
                      <a16:colId xmlns:a16="http://schemas.microsoft.com/office/drawing/2014/main" val="374322866"/>
                    </a:ext>
                  </a:extLst>
                </a:gridCol>
                <a:gridCol w="3711766">
                  <a:extLst>
                    <a:ext uri="{9D8B030D-6E8A-4147-A177-3AD203B41FA5}">
                      <a16:colId xmlns:a16="http://schemas.microsoft.com/office/drawing/2014/main" val="2261069113"/>
                    </a:ext>
                  </a:extLst>
                </a:gridCol>
                <a:gridCol w="3593804">
                  <a:extLst>
                    <a:ext uri="{9D8B030D-6E8A-4147-A177-3AD203B41FA5}">
                      <a16:colId xmlns:a16="http://schemas.microsoft.com/office/drawing/2014/main" val="2150783287"/>
                    </a:ext>
                  </a:extLst>
                </a:gridCol>
                <a:gridCol w="3515832">
                  <a:extLst>
                    <a:ext uri="{9D8B030D-6E8A-4147-A177-3AD203B41FA5}">
                      <a16:colId xmlns:a16="http://schemas.microsoft.com/office/drawing/2014/main" val="1692035901"/>
                    </a:ext>
                  </a:extLst>
                </a:gridCol>
              </a:tblGrid>
              <a:tr h="161027">
                <a:tc>
                  <a:txBody>
                    <a:bodyPr/>
                    <a:lstStyle/>
                    <a:p>
                      <a:pPr algn="ctr"/>
                      <a:endParaRPr lang="en-GB" sz="120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Option 1- multiple specialised agents</a:t>
                      </a: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Option 2- One agent + RAG</a:t>
                      </a: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Option 3- Orchestrator agent + specialised agent</a:t>
                      </a: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0049950"/>
                  </a:ext>
                </a:extLst>
              </a:tr>
              <a:tr h="766317">
                <a:tc>
                  <a:txBody>
                    <a:bodyPr/>
                    <a:lstStyle/>
                    <a:p>
                      <a:r>
                        <a:rPr lang="en-GB" sz="12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Documents classified by human operators, then routed to the specialised AI agent to extract data and sent to workflow for the RPA bot to complete the transaction. 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One agent that identifies document intent, and refers to a knowledge base of DOPs to classify and extract data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Intent and categorization handled by the first agent, and then classification and data extraction handled by a second agent (possibly using RAG).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530280"/>
                  </a:ext>
                </a:extLst>
              </a:tr>
              <a:tr h="1399669">
                <a:tc>
                  <a:txBody>
                    <a:bodyPr/>
                    <a:lstStyle/>
                    <a:p>
                      <a:r>
                        <a:rPr lang="en-GB" sz="1200"/>
                        <a:t>Schematic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GB" sz="1200"/>
                    </a:p>
                  </a:txBody>
                  <a:tcPr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GB" sz="1200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GB" sz="1200" b="1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548320"/>
                  </a:ext>
                </a:extLst>
              </a:tr>
              <a:tr h="766317">
                <a:tc>
                  <a:txBody>
                    <a:bodyPr/>
                    <a:lstStyle/>
                    <a:p>
                      <a:r>
                        <a:rPr lang="en-GB" sz="1200"/>
                        <a:t>Automation efficiency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High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Medium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029544"/>
                  </a:ext>
                </a:extLst>
              </a:tr>
              <a:tr h="566864">
                <a:tc>
                  <a:txBody>
                    <a:bodyPr/>
                    <a:lstStyle/>
                    <a:p>
                      <a:r>
                        <a:rPr lang="en-GB" sz="1200"/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Simple (prompt only)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Medium (one or more RAG agents needed)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Medium (one or more RAG agents needed)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162420"/>
                  </a:ext>
                </a:extLst>
              </a:tr>
              <a:tr h="566864">
                <a:tc>
                  <a:txBody>
                    <a:bodyPr/>
                    <a:lstStyle/>
                    <a:p>
                      <a:r>
                        <a:rPr lang="en-GB" sz="1200"/>
                        <a:t>OKRs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Accuracy, speed, cost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Accuracy, speed, cost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Accuracy, speed, cost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89507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27B67A7-A2A4-BAE0-29AA-FA0907E69C7A}"/>
              </a:ext>
            </a:extLst>
          </p:cNvPr>
          <p:cNvSpPr txBox="1"/>
          <p:nvPr/>
        </p:nvSpPr>
        <p:spPr>
          <a:xfrm>
            <a:off x="276445" y="907769"/>
            <a:ext cx="11820303" cy="307777"/>
          </a:xfrm>
          <a:prstGeom prst="rect">
            <a:avLst/>
          </a:prstGeom>
          <a:solidFill>
            <a:srgbClr val="F2EAF0"/>
          </a:solidFill>
          <a:ln w="2540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l"/>
            <a:r>
              <a:rPr lang="en-GB" sz="1400">
                <a:solidFill>
                  <a:schemeClr val="accent1"/>
                </a:solidFill>
                <a:latin typeface="Aptos" panose="020B0004020202020204" pitchFamily="34" charset="0"/>
              </a:rPr>
              <a:t>Depending on initial test results, the preferred option will be based on a trade-off between LLM accuracy, speed and cost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B9DF46A-38BB-3393-641C-84710DFE264A}"/>
              </a:ext>
            </a:extLst>
          </p:cNvPr>
          <p:cNvGrpSpPr/>
          <p:nvPr/>
        </p:nvGrpSpPr>
        <p:grpSpPr>
          <a:xfrm>
            <a:off x="9504834" y="2800415"/>
            <a:ext cx="715917" cy="715917"/>
            <a:chOff x="2933661" y="5478818"/>
            <a:chExt cx="715917" cy="715917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66A813F-759E-BA4D-E072-B926DFAFA49A}"/>
                </a:ext>
              </a:extLst>
            </p:cNvPr>
            <p:cNvGrpSpPr/>
            <p:nvPr/>
          </p:nvGrpSpPr>
          <p:grpSpPr>
            <a:xfrm>
              <a:off x="2933661" y="5478818"/>
              <a:ext cx="715917" cy="715917"/>
              <a:chOff x="2823128" y="5562141"/>
              <a:chExt cx="915711" cy="915711"/>
            </a:xfrm>
          </p:grpSpPr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8A970BB2-DE47-5E4D-674F-EAB51DCCEB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grayscl/>
                <a:alphaModFix amt="35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45215" y1="27637" x2="45215" y2="27637"/>
                            <a14:foregroundMark x1="57910" y1="26758" x2="57910" y2="26758"/>
                            <a14:foregroundMark x1="62305" y1="28613" x2="62305" y2="28613"/>
                            <a14:foregroundMark x1="45117" y1="27539" x2="45117" y2="27539"/>
                            <a14:foregroundMark x1="44141" y1="72266" x2="37500" y2="70215"/>
                            <a14:foregroundMark x1="37500" y1="70215" x2="30469" y2="64063"/>
                            <a14:foregroundMark x1="30469" y1="64063" x2="26465" y2="47852"/>
                            <a14:foregroundMark x1="26465" y1="47852" x2="31641" y2="34766"/>
                            <a14:foregroundMark x1="31641" y1="34766" x2="37988" y2="29980"/>
                            <a14:foregroundMark x1="37988" y1="29980" x2="46777" y2="27051"/>
                            <a14:foregroundMark x1="46777" y1="27051" x2="54199" y2="26855"/>
                            <a14:foregroundMark x1="54199" y1="26855" x2="62402" y2="29688"/>
                            <a14:foregroundMark x1="62402" y1="29688" x2="68750" y2="35059"/>
                            <a14:foregroundMark x1="68750" y1="35059" x2="72070" y2="42188"/>
                            <a14:foregroundMark x1="72070" y1="42188" x2="71387" y2="62109"/>
                            <a14:foregroundMark x1="71387" y1="62109" x2="64551" y2="68457"/>
                            <a14:foregroundMark x1="64551" y1="68457" x2="41895" y2="73633"/>
                            <a14:foregroundMark x1="41504" y1="33496" x2="51563" y2="32031"/>
                            <a14:foregroundMark x1="51563" y1="32031" x2="59570" y2="34668"/>
                            <a14:foregroundMark x1="59570" y1="34668" x2="66211" y2="40430"/>
                            <a14:foregroundMark x1="66211" y1="40430" x2="67773" y2="49121"/>
                            <a14:foregroundMark x1="67773" y1="49121" x2="66406" y2="56934"/>
                            <a14:foregroundMark x1="66406" y1="56934" x2="61621" y2="62793"/>
                            <a14:foregroundMark x1="61621" y1="62793" x2="54883" y2="67285"/>
                            <a14:foregroundMark x1="54883" y1="67285" x2="45996" y2="66797"/>
                            <a14:foregroundMark x1="45996" y1="66797" x2="37598" y2="63086"/>
                            <a14:foregroundMark x1="37598" y1="63086" x2="33105" y2="55664"/>
                            <a14:foregroundMark x1="33105" y1="55664" x2="31836" y2="45703"/>
                            <a14:foregroundMark x1="31836" y1="45703" x2="35449" y2="39063"/>
                            <a14:foregroundMark x1="35449" y1="39063" x2="42188" y2="332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23128" y="5562141"/>
                <a:ext cx="915711" cy="915711"/>
              </a:xfrm>
              <a:prstGeom prst="rect">
                <a:avLst/>
              </a:prstGeom>
            </p:spPr>
          </p:pic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2BD5C4B-1E06-CAC4-816E-870AE14C1FA1}"/>
                  </a:ext>
                </a:extLst>
              </p:cNvPr>
              <p:cNvSpPr/>
              <p:nvPr/>
            </p:nvSpPr>
            <p:spPr>
              <a:xfrm>
                <a:off x="2966077" y="5698062"/>
                <a:ext cx="629815" cy="629815"/>
              </a:xfrm>
              <a:prstGeom prst="ellipse">
                <a:avLst/>
              </a:prstGeom>
              <a:noFill/>
              <a:ln w="9525">
                <a:solidFill>
                  <a:srgbClr val="3C17CF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39" name="Graphic 38" descr="Artificial Intelligence outline">
              <a:extLst>
                <a:ext uri="{FF2B5EF4-FFF2-40B4-BE49-F238E27FC236}">
                  <a16:creationId xmlns:a16="http://schemas.microsoft.com/office/drawing/2014/main" id="{63584606-1D80-3DBC-5A2B-83CA36F433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99794" y="5735110"/>
              <a:ext cx="203331" cy="203331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3B5A8B0-8F39-AA14-95C2-EA5F387D6F8B}"/>
                </a:ext>
              </a:extLst>
            </p:cNvPr>
            <p:cNvSpPr txBox="1"/>
            <p:nvPr/>
          </p:nvSpPr>
          <p:spPr>
            <a:xfrm>
              <a:off x="2999994" y="5961818"/>
              <a:ext cx="602932" cy="7049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400" b="1">
                  <a:solidFill>
                    <a:srgbClr val="3C17CF"/>
                  </a:solidFill>
                  <a:latin typeface="Aptos" panose="020B0004020202020204" pitchFamily="34" charset="0"/>
                </a:rPr>
                <a:t>Orchestrator </a:t>
              </a:r>
            </a:p>
            <a:p>
              <a:pPr algn="ctr"/>
              <a:r>
                <a:rPr lang="en-GB" sz="400" b="1">
                  <a:solidFill>
                    <a:srgbClr val="3C17CF"/>
                  </a:solidFill>
                  <a:latin typeface="Aptos" panose="020B0004020202020204" pitchFamily="34" charset="0"/>
                </a:rPr>
                <a:t>agent</a:t>
              </a:r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16942CB3-1E81-9251-5E8D-98EDA6411EC1}"/>
              </a:ext>
            </a:extLst>
          </p:cNvPr>
          <p:cNvGrpSpPr/>
          <p:nvPr/>
        </p:nvGrpSpPr>
        <p:grpSpPr>
          <a:xfrm>
            <a:off x="6277876" y="3661023"/>
            <a:ext cx="390032" cy="375530"/>
            <a:chOff x="6277876" y="3661023"/>
            <a:chExt cx="390032" cy="375530"/>
          </a:xfrm>
        </p:grpSpPr>
        <p:pic>
          <p:nvPicPr>
            <p:cNvPr id="46" name="Graphic 45" descr="Database outline">
              <a:extLst>
                <a:ext uri="{FF2B5EF4-FFF2-40B4-BE49-F238E27FC236}">
                  <a16:creationId xmlns:a16="http://schemas.microsoft.com/office/drawing/2014/main" id="{52601462-779B-B595-DB20-8CF9D6108BF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77876" y="3661023"/>
              <a:ext cx="375529" cy="37553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BAC399D-DFDE-E49D-4919-87F48EC949D4}"/>
                </a:ext>
              </a:extLst>
            </p:cNvPr>
            <p:cNvSpPr txBox="1"/>
            <p:nvPr/>
          </p:nvSpPr>
          <p:spPr>
            <a:xfrm>
              <a:off x="6479919" y="3832504"/>
              <a:ext cx="187989" cy="92333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srgbClr val="444444">
                      <a:lumMod val="50000"/>
                    </a:srgb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Data</a:t>
              </a:r>
              <a:endParaRPr kumimoji="0" lang="en-GB" sz="600" b="1" i="0" u="none" strike="noStrike" kern="1200" cap="none" spc="0" normalizeH="0" baseline="0" noProof="0">
                <a:ln>
                  <a:noFill/>
                </a:ln>
                <a:solidFill>
                  <a:srgbClr val="444444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60" name="Oval 59">
            <a:extLst>
              <a:ext uri="{FF2B5EF4-FFF2-40B4-BE49-F238E27FC236}">
                <a16:creationId xmlns:a16="http://schemas.microsoft.com/office/drawing/2014/main" id="{E15B662E-C245-B656-4E04-37C112E203A4}"/>
              </a:ext>
            </a:extLst>
          </p:cNvPr>
          <p:cNvSpPr/>
          <p:nvPr/>
        </p:nvSpPr>
        <p:spPr>
          <a:xfrm>
            <a:off x="6226057" y="3607904"/>
            <a:ext cx="492399" cy="492399"/>
          </a:xfrm>
          <a:prstGeom prst="ellipse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7E82F3B-4879-837C-CEDB-B4052CA7D154}"/>
              </a:ext>
            </a:extLst>
          </p:cNvPr>
          <p:cNvSpPr txBox="1"/>
          <p:nvPr/>
        </p:nvSpPr>
        <p:spPr>
          <a:xfrm>
            <a:off x="1851629" y="3299808"/>
            <a:ext cx="628888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500" i="1">
                <a:latin typeface="Aptos" panose="020B0004020202020204" pitchFamily="34" charset="0"/>
              </a:rPr>
              <a:t>Doc</a:t>
            </a:r>
            <a:r>
              <a:rPr lang="en-GB" sz="500">
                <a:latin typeface="Aptos" panose="020B0004020202020204" pitchFamily="34" charset="0"/>
              </a:rPr>
              <a:t> </a:t>
            </a:r>
            <a:r>
              <a:rPr lang="en-GB" sz="500" i="1">
                <a:latin typeface="Aptos" panose="020B0004020202020204" pitchFamily="34" charset="0"/>
              </a:rPr>
              <a:t>scanned</a:t>
            </a: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98ABF3D3-B17B-8B39-95F2-D2F10A9EE9C8}"/>
              </a:ext>
            </a:extLst>
          </p:cNvPr>
          <p:cNvGrpSpPr/>
          <p:nvPr/>
        </p:nvGrpSpPr>
        <p:grpSpPr>
          <a:xfrm>
            <a:off x="1423985" y="3067900"/>
            <a:ext cx="492399" cy="492399"/>
            <a:chOff x="1455349" y="5520880"/>
            <a:chExt cx="492399" cy="492399"/>
          </a:xfrm>
        </p:grpSpPr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328D9842-2F46-D8EA-2BDB-C625DAF3F1B2}"/>
                </a:ext>
              </a:extLst>
            </p:cNvPr>
            <p:cNvSpPr/>
            <p:nvPr/>
          </p:nvSpPr>
          <p:spPr>
            <a:xfrm>
              <a:off x="1455349" y="5520880"/>
              <a:ext cx="492399" cy="492399"/>
            </a:xfrm>
            <a:prstGeom prst="ellipse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57" name="Graphic 156" descr="Contract outline">
              <a:extLst>
                <a:ext uri="{FF2B5EF4-FFF2-40B4-BE49-F238E27FC236}">
                  <a16:creationId xmlns:a16="http://schemas.microsoft.com/office/drawing/2014/main" id="{AC400F1B-A516-0BA1-F635-9A533E5BA5C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521098" y="5589329"/>
              <a:ext cx="360902" cy="360902"/>
            </a:xfrm>
            <a:prstGeom prst="rect">
              <a:avLst/>
            </a:prstGeom>
          </p:spPr>
        </p:pic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5766109-42AF-32D2-242A-B680C1668A86}"/>
              </a:ext>
            </a:extLst>
          </p:cNvPr>
          <p:cNvGrpSpPr/>
          <p:nvPr/>
        </p:nvGrpSpPr>
        <p:grpSpPr>
          <a:xfrm>
            <a:off x="4382787" y="3208878"/>
            <a:ext cx="602932" cy="492399"/>
            <a:chOff x="5483556" y="5921181"/>
            <a:chExt cx="602932" cy="492399"/>
          </a:xfrm>
        </p:grpSpPr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35E78BEA-723E-4BBA-C7A6-0BA2C90A24B0}"/>
                </a:ext>
              </a:extLst>
            </p:cNvPr>
            <p:cNvGrpSpPr/>
            <p:nvPr/>
          </p:nvGrpSpPr>
          <p:grpSpPr>
            <a:xfrm>
              <a:off x="5568478" y="5965700"/>
              <a:ext cx="401492" cy="305509"/>
              <a:chOff x="4716950" y="5685930"/>
              <a:chExt cx="507671" cy="386304"/>
            </a:xfrm>
          </p:grpSpPr>
          <p:pic>
            <p:nvPicPr>
              <p:cNvPr id="154" name="Picture 153">
                <a:extLst>
                  <a:ext uri="{FF2B5EF4-FFF2-40B4-BE49-F238E27FC236}">
                    <a16:creationId xmlns:a16="http://schemas.microsoft.com/office/drawing/2014/main" id="{3E36F02F-71E2-A141-B3D3-4922127BD6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10000" b="90000" l="10000" r="90000">
                            <a14:foregroundMark x1="28758" y1="42857" x2="28758" y2="42857"/>
                            <a14:foregroundMark x1="76797" y1="42143" x2="76797" y2="42143"/>
                            <a14:backgroundMark x1="44444" y1="42500" x2="44444" y2="42500"/>
                            <a14:backgroundMark x1="44444" y1="42857" x2="44118" y2="40357"/>
                            <a14:backgroundMark x1="62418" y1="40357" x2="57843" y2="38929"/>
                            <a14:backgroundMark x1="45425" y1="39643" x2="47059" y2="42857"/>
                          </a14:backgroundRemoval>
                        </a14:imgEffect>
                      </a14:imgLayer>
                    </a14:imgProps>
                  </a:ext>
                </a:extLst>
              </a:blip>
              <a:srcRect l="18577" t="9862" r="16309" b="35991"/>
              <a:stretch>
                <a:fillRect/>
              </a:stretch>
            </p:blipFill>
            <p:spPr>
              <a:xfrm>
                <a:off x="4716950" y="5685930"/>
                <a:ext cx="507671" cy="386304"/>
              </a:xfrm>
              <a:prstGeom prst="rect">
                <a:avLst/>
              </a:prstGeom>
            </p:spPr>
          </p:pic>
          <p:sp>
            <p:nvSpPr>
              <p:cNvPr id="155" name="Rectangle: Rounded Corners 154">
                <a:extLst>
                  <a:ext uri="{FF2B5EF4-FFF2-40B4-BE49-F238E27FC236}">
                    <a16:creationId xmlns:a16="http://schemas.microsoft.com/office/drawing/2014/main" id="{94BB9975-C099-4E5D-8D4B-1C94B5601EA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40588" y="5857929"/>
                <a:ext cx="294349" cy="144020"/>
              </a:xfrm>
              <a:prstGeom prst="roundRect">
                <a:avLst/>
              </a:prstGeom>
              <a:solidFill>
                <a:srgbClr val="CDCDCD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r>
                  <a:rPr lang="en-GB" sz="200" b="1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&lt;/&gt;</a:t>
                </a:r>
              </a:p>
            </p:txBody>
          </p:sp>
        </p:grp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615D03F2-8555-2AA7-6260-ED9E92CBBF8B}"/>
                </a:ext>
              </a:extLst>
            </p:cNvPr>
            <p:cNvSpPr/>
            <p:nvPr/>
          </p:nvSpPr>
          <p:spPr>
            <a:xfrm>
              <a:off x="5528983" y="5921181"/>
              <a:ext cx="492399" cy="49239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FAB1898D-F065-DF37-8F10-0D6478EB63B7}"/>
                </a:ext>
              </a:extLst>
            </p:cNvPr>
            <p:cNvSpPr txBox="1"/>
            <p:nvPr/>
          </p:nvSpPr>
          <p:spPr>
            <a:xfrm>
              <a:off x="5483556" y="6297916"/>
              <a:ext cx="602932" cy="7049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400" b="1">
                  <a:latin typeface="Aptos" panose="020B0004020202020204" pitchFamily="34" charset="0"/>
                </a:rPr>
                <a:t>RPA</a:t>
              </a:r>
            </a:p>
            <a:p>
              <a:pPr algn="ctr"/>
              <a:r>
                <a:rPr lang="en-GB" sz="400" b="1">
                  <a:latin typeface="Aptos" panose="020B0004020202020204" pitchFamily="34" charset="0"/>
                </a:rPr>
                <a:t>bot</a:t>
              </a:r>
            </a:p>
          </p:txBody>
        </p:sp>
      </p:grp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665978DF-809E-D3A6-781F-D6FB7406D7A3}"/>
              </a:ext>
            </a:extLst>
          </p:cNvPr>
          <p:cNvCxnSpPr>
            <a:cxnSpLocks/>
            <a:stCxn id="156" idx="6"/>
            <a:endCxn id="149" idx="2"/>
          </p:cNvCxnSpPr>
          <p:nvPr/>
        </p:nvCxnSpPr>
        <p:spPr>
          <a:xfrm flipV="1">
            <a:off x="1916384" y="3309858"/>
            <a:ext cx="427990" cy="4242"/>
          </a:xfrm>
          <a:prstGeom prst="straightConnector1">
            <a:avLst/>
          </a:prstGeom>
          <a:ln w="12700">
            <a:solidFill>
              <a:schemeClr val="tx1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3A31B60A-34DD-1F35-53A2-C99A68378298}"/>
              </a:ext>
            </a:extLst>
          </p:cNvPr>
          <p:cNvCxnSpPr>
            <a:cxnSpLocks/>
            <a:stCxn id="213" idx="6"/>
            <a:endCxn id="152" idx="2"/>
          </p:cNvCxnSpPr>
          <p:nvPr/>
        </p:nvCxnSpPr>
        <p:spPr>
          <a:xfrm flipV="1">
            <a:off x="3663115" y="3455078"/>
            <a:ext cx="765099" cy="1727"/>
          </a:xfrm>
          <a:prstGeom prst="straightConnector1">
            <a:avLst/>
          </a:prstGeom>
          <a:ln w="12700">
            <a:solidFill>
              <a:schemeClr val="tx1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B60450EB-0939-5B85-D2EC-5956AAA44B4C}"/>
              </a:ext>
            </a:extLst>
          </p:cNvPr>
          <p:cNvGrpSpPr/>
          <p:nvPr/>
        </p:nvGrpSpPr>
        <p:grpSpPr>
          <a:xfrm>
            <a:off x="2294158" y="3059399"/>
            <a:ext cx="602932" cy="496658"/>
            <a:chOff x="3685388" y="5505605"/>
            <a:chExt cx="602932" cy="496658"/>
          </a:xfrm>
        </p:grpSpPr>
        <p:pic>
          <p:nvPicPr>
            <p:cNvPr id="148" name="Graphic 147" descr="User with solid fill">
              <a:extLst>
                <a:ext uri="{FF2B5EF4-FFF2-40B4-BE49-F238E27FC236}">
                  <a16:creationId xmlns:a16="http://schemas.microsoft.com/office/drawing/2014/main" id="{4EC3A78F-BC04-E602-C71D-46F2F63B74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96545" y="5505605"/>
              <a:ext cx="382612" cy="382612"/>
            </a:xfrm>
            <a:prstGeom prst="rect">
              <a:avLst/>
            </a:prstGeom>
          </p:spPr>
        </p:pic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265F01D1-31C0-F778-D787-E89DC7CC51E5}"/>
                </a:ext>
              </a:extLst>
            </p:cNvPr>
            <p:cNvSpPr/>
            <p:nvPr/>
          </p:nvSpPr>
          <p:spPr>
            <a:xfrm>
              <a:off x="3735604" y="5509864"/>
              <a:ext cx="492399" cy="492399"/>
            </a:xfrm>
            <a:prstGeom prst="ellipse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3637557C-F69D-AA86-9FA1-DEA3C4C32220}"/>
                </a:ext>
              </a:extLst>
            </p:cNvPr>
            <p:cNvSpPr txBox="1"/>
            <p:nvPr/>
          </p:nvSpPr>
          <p:spPr>
            <a:xfrm>
              <a:off x="3685388" y="5872062"/>
              <a:ext cx="602932" cy="7049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400" b="1">
                  <a:latin typeface="Aptos" panose="020B0004020202020204" pitchFamily="34" charset="0"/>
                </a:rPr>
                <a:t>Human </a:t>
              </a:r>
            </a:p>
            <a:p>
              <a:pPr algn="ctr"/>
              <a:r>
                <a:rPr lang="en-GB" sz="400" b="1">
                  <a:latin typeface="Aptos" panose="020B0004020202020204" pitchFamily="34" charset="0"/>
                </a:rPr>
                <a:t>operator</a:t>
              </a:r>
            </a:p>
          </p:txBody>
        </p:sp>
      </p:grp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48A28A5B-0B27-0A2D-3BCB-92DD35D2E76A}"/>
              </a:ext>
            </a:extLst>
          </p:cNvPr>
          <p:cNvCxnSpPr>
            <a:cxnSpLocks/>
            <a:stCxn id="149" idx="6"/>
            <a:endCxn id="207" idx="2"/>
          </p:cNvCxnSpPr>
          <p:nvPr/>
        </p:nvCxnSpPr>
        <p:spPr>
          <a:xfrm flipV="1">
            <a:off x="2836773" y="3011904"/>
            <a:ext cx="420261" cy="297954"/>
          </a:xfrm>
          <a:prstGeom prst="straightConnector1">
            <a:avLst/>
          </a:prstGeom>
          <a:ln w="12700">
            <a:solidFill>
              <a:schemeClr val="bg2">
                <a:lumMod val="85000"/>
              </a:schemeClr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EB0966E1-9902-1EDA-FE7D-30D0D75D3A51}"/>
              </a:ext>
            </a:extLst>
          </p:cNvPr>
          <p:cNvSpPr txBox="1"/>
          <p:nvPr/>
        </p:nvSpPr>
        <p:spPr>
          <a:xfrm>
            <a:off x="2312170" y="3543912"/>
            <a:ext cx="669814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500" i="1">
                <a:latin typeface="Aptos" panose="020B0004020202020204" pitchFamily="34" charset="0"/>
              </a:rPr>
              <a:t>Doc</a:t>
            </a:r>
            <a:r>
              <a:rPr lang="en-GB" sz="500">
                <a:latin typeface="Aptos" panose="020B0004020202020204" pitchFamily="34" charset="0"/>
              </a:rPr>
              <a:t> </a:t>
            </a:r>
            <a:r>
              <a:rPr lang="en-GB" sz="500" i="1">
                <a:latin typeface="Aptos" panose="020B0004020202020204" pitchFamily="34" charset="0"/>
              </a:rPr>
              <a:t>classified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DB39941-C014-E8F4-88B6-A46038D8D6C8}"/>
              </a:ext>
            </a:extLst>
          </p:cNvPr>
          <p:cNvSpPr txBox="1"/>
          <p:nvPr/>
        </p:nvSpPr>
        <p:spPr>
          <a:xfrm>
            <a:off x="3740787" y="3434323"/>
            <a:ext cx="669814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500" i="1">
                <a:latin typeface="Aptos" panose="020B0004020202020204" pitchFamily="34" charset="0"/>
              </a:rPr>
              <a:t>data</a:t>
            </a:r>
            <a:r>
              <a:rPr lang="en-GB" sz="500">
                <a:latin typeface="Aptos" panose="020B0004020202020204" pitchFamily="34" charset="0"/>
              </a:rPr>
              <a:t> </a:t>
            </a:r>
            <a:r>
              <a:rPr lang="en-GB" sz="500" i="1">
                <a:latin typeface="Aptos" panose="020B0004020202020204" pitchFamily="34" charset="0"/>
              </a:rPr>
              <a:t>extracted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927135B6-48F9-1C0A-943A-F5B8EB81955F}"/>
              </a:ext>
            </a:extLst>
          </p:cNvPr>
          <p:cNvSpPr txBox="1"/>
          <p:nvPr/>
        </p:nvSpPr>
        <p:spPr>
          <a:xfrm>
            <a:off x="4167021" y="3684736"/>
            <a:ext cx="1029719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500" i="1">
                <a:latin typeface="Aptos" panose="020B0004020202020204" pitchFamily="34" charset="0"/>
              </a:rPr>
              <a:t>Transaction </a:t>
            </a:r>
          </a:p>
          <a:p>
            <a:pPr algn="ctr"/>
            <a:r>
              <a:rPr lang="en-GB" sz="500" i="1">
                <a:latin typeface="Aptos" panose="020B0004020202020204" pitchFamily="34" charset="0"/>
              </a:rPr>
              <a:t>processed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13EF162F-9CC2-93F2-2267-0668FEDCF90E}"/>
              </a:ext>
            </a:extLst>
          </p:cNvPr>
          <p:cNvSpPr/>
          <p:nvPr/>
        </p:nvSpPr>
        <p:spPr>
          <a:xfrm>
            <a:off x="5313011" y="2888166"/>
            <a:ext cx="492399" cy="492399"/>
          </a:xfrm>
          <a:prstGeom prst="ellipse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4" name="Graphic 183" descr="Contract outline">
            <a:extLst>
              <a:ext uri="{FF2B5EF4-FFF2-40B4-BE49-F238E27FC236}">
                <a16:creationId xmlns:a16="http://schemas.microsoft.com/office/drawing/2014/main" id="{BA4AC656-9752-C0B0-84E2-C925B75AAD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78760" y="2956615"/>
            <a:ext cx="360902" cy="360902"/>
          </a:xfrm>
          <a:prstGeom prst="rect">
            <a:avLst/>
          </a:prstGeom>
        </p:spPr>
      </p:pic>
      <p:pic>
        <p:nvPicPr>
          <p:cNvPr id="181" name="Picture 180">
            <a:extLst>
              <a:ext uri="{FF2B5EF4-FFF2-40B4-BE49-F238E27FC236}">
                <a16:creationId xmlns:a16="http://schemas.microsoft.com/office/drawing/2014/main" id="{A08FB0E2-CE98-D249-8761-A6BB996A7741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28758" y1="42857" x2="28758" y2="42857"/>
                        <a14:foregroundMark x1="76797" y1="42143" x2="76797" y2="42143"/>
                        <a14:backgroundMark x1="44444" y1="42500" x2="44444" y2="42500"/>
                        <a14:backgroundMark x1="44444" y1="42857" x2="44118" y2="40357"/>
                        <a14:backgroundMark x1="62418" y1="40357" x2="57843" y2="38929"/>
                        <a14:backgroundMark x1="45425" y1="39643" x2="47059" y2="42857"/>
                      </a14:backgroundRemoval>
                    </a14:imgEffect>
                  </a14:imgLayer>
                </a14:imgProps>
              </a:ext>
            </a:extLst>
          </a:blip>
          <a:srcRect l="18577" t="9862" r="16309" b="35991"/>
          <a:stretch>
            <a:fillRect/>
          </a:stretch>
        </p:blipFill>
        <p:spPr>
          <a:xfrm>
            <a:off x="7653667" y="2928985"/>
            <a:ext cx="401492" cy="305509"/>
          </a:xfrm>
          <a:prstGeom prst="rect">
            <a:avLst/>
          </a:prstGeom>
        </p:spPr>
      </p:pic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D8EBE62A-EA3D-FC83-2168-95FF1D6BFAF9}"/>
              </a:ext>
            </a:extLst>
          </p:cNvPr>
          <p:cNvSpPr>
            <a:spLocks noChangeAspect="1"/>
          </p:cNvSpPr>
          <p:nvPr/>
        </p:nvSpPr>
        <p:spPr>
          <a:xfrm>
            <a:off x="7751446" y="3065011"/>
            <a:ext cx="232786" cy="113898"/>
          </a:xfrm>
          <a:prstGeom prst="roundRect">
            <a:avLst/>
          </a:prstGeom>
          <a:solidFill>
            <a:srgbClr val="CDCDCD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200" b="1">
                <a:solidFill>
                  <a:schemeClr val="tx1">
                    <a:lumMod val="60000"/>
                    <a:lumOff val="40000"/>
                  </a:schemeClr>
                </a:solidFill>
              </a:rPr>
              <a:t>&lt;/&gt;</a:t>
            </a: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8D9D8CE7-BEA8-B3DE-7E5A-649BED8684BF}"/>
              </a:ext>
            </a:extLst>
          </p:cNvPr>
          <p:cNvSpPr/>
          <p:nvPr/>
        </p:nvSpPr>
        <p:spPr>
          <a:xfrm>
            <a:off x="7614172" y="2884466"/>
            <a:ext cx="492399" cy="492399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C8E70DB5-072D-002B-51F1-446965635AEB}"/>
              </a:ext>
            </a:extLst>
          </p:cNvPr>
          <p:cNvSpPr txBox="1"/>
          <p:nvPr/>
        </p:nvSpPr>
        <p:spPr>
          <a:xfrm>
            <a:off x="7568745" y="3261201"/>
            <a:ext cx="602932" cy="70498"/>
          </a:xfrm>
          <a:prstGeom prst="rect">
            <a:avLst/>
          </a:prstGeom>
          <a:noFill/>
          <a:ln w="25400"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GB" sz="400" b="1">
                <a:latin typeface="Aptos" panose="020B0004020202020204" pitchFamily="34" charset="0"/>
              </a:rPr>
              <a:t>RPA</a:t>
            </a:r>
          </a:p>
          <a:p>
            <a:pPr algn="ctr"/>
            <a:r>
              <a:rPr lang="en-GB" sz="400" b="1">
                <a:latin typeface="Aptos" panose="020B0004020202020204" pitchFamily="34" charset="0"/>
              </a:rPr>
              <a:t>bot</a:t>
            </a: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C8314695-487E-304E-27EA-190DA102DCD6}"/>
              </a:ext>
            </a:extLst>
          </p:cNvPr>
          <p:cNvGrpSpPr/>
          <p:nvPr/>
        </p:nvGrpSpPr>
        <p:grpSpPr>
          <a:xfrm>
            <a:off x="6112172" y="2777686"/>
            <a:ext cx="715917" cy="715917"/>
            <a:chOff x="6112172" y="2777686"/>
            <a:chExt cx="715917" cy="715917"/>
          </a:xfrm>
        </p:grpSpPr>
        <p:pic>
          <p:nvPicPr>
            <p:cNvPr id="173" name="Picture 172">
              <a:extLst>
                <a:ext uri="{FF2B5EF4-FFF2-40B4-BE49-F238E27FC236}">
                  <a16:creationId xmlns:a16="http://schemas.microsoft.com/office/drawing/2014/main" id="{D65F6D76-E133-DBEE-8F18-8E7470D56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alphaModFix amt="3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>
                          <a14:foregroundMark x1="45215" y1="27637" x2="45215" y2="27637"/>
                          <a14:foregroundMark x1="57910" y1="26758" x2="57910" y2="26758"/>
                          <a14:foregroundMark x1="62305" y1="28613" x2="62305" y2="28613"/>
                          <a14:foregroundMark x1="45117" y1="27539" x2="45117" y2="27539"/>
                          <a14:foregroundMark x1="44141" y1="72266" x2="37500" y2="70215"/>
                          <a14:foregroundMark x1="37500" y1="70215" x2="30469" y2="64063"/>
                          <a14:foregroundMark x1="30469" y1="64063" x2="26465" y2="47852"/>
                          <a14:foregroundMark x1="26465" y1="47852" x2="31641" y2="34766"/>
                          <a14:foregroundMark x1="31641" y1="34766" x2="37988" y2="29980"/>
                          <a14:foregroundMark x1="37988" y1="29980" x2="46777" y2="27051"/>
                          <a14:foregroundMark x1="46777" y1="27051" x2="54199" y2="26855"/>
                          <a14:foregroundMark x1="54199" y1="26855" x2="62402" y2="29688"/>
                          <a14:foregroundMark x1="62402" y1="29688" x2="68750" y2="35059"/>
                          <a14:foregroundMark x1="68750" y1="35059" x2="72070" y2="42188"/>
                          <a14:foregroundMark x1="72070" y1="42188" x2="71387" y2="62109"/>
                          <a14:foregroundMark x1="71387" y1="62109" x2="64551" y2="68457"/>
                          <a14:foregroundMark x1="64551" y1="68457" x2="41895" y2="73633"/>
                          <a14:foregroundMark x1="41504" y1="33496" x2="51563" y2="32031"/>
                          <a14:foregroundMark x1="51563" y1="32031" x2="59570" y2="34668"/>
                          <a14:foregroundMark x1="59570" y1="34668" x2="66211" y2="40430"/>
                          <a14:foregroundMark x1="66211" y1="40430" x2="67773" y2="49121"/>
                          <a14:foregroundMark x1="67773" y1="49121" x2="66406" y2="56934"/>
                          <a14:foregroundMark x1="66406" y1="56934" x2="61621" y2="62793"/>
                          <a14:foregroundMark x1="61621" y1="62793" x2="54883" y2="67285"/>
                          <a14:foregroundMark x1="54883" y1="67285" x2="45996" y2="66797"/>
                          <a14:foregroundMark x1="45996" y1="66797" x2="37598" y2="63086"/>
                          <a14:foregroundMark x1="37598" y1="63086" x2="33105" y2="55664"/>
                          <a14:foregroundMark x1="33105" y1="55664" x2="31836" y2="45703"/>
                          <a14:foregroundMark x1="31836" y1="45703" x2="35449" y2="39063"/>
                          <a14:foregroundMark x1="35449" y1="39063" x2="42188" y2="3320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2172" y="2777686"/>
              <a:ext cx="715917" cy="715917"/>
            </a:xfrm>
            <a:prstGeom prst="rect">
              <a:avLst/>
            </a:prstGeom>
          </p:spPr>
        </p:pic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B995EB88-1B2E-54C3-C36F-C1A36B60A859}"/>
                </a:ext>
              </a:extLst>
            </p:cNvPr>
            <p:cNvSpPr/>
            <p:nvPr/>
          </p:nvSpPr>
          <p:spPr>
            <a:xfrm>
              <a:off x="6223932" y="2883951"/>
              <a:ext cx="492399" cy="492399"/>
            </a:xfrm>
            <a:prstGeom prst="ellipse">
              <a:avLst/>
            </a:prstGeom>
            <a:noFill/>
            <a:ln w="12700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71" name="Graphic 170" descr="Artificial Intelligence outline">
            <a:extLst>
              <a:ext uri="{FF2B5EF4-FFF2-40B4-BE49-F238E27FC236}">
                <a16:creationId xmlns:a16="http://schemas.microsoft.com/office/drawing/2014/main" id="{34FDFFE3-7766-86EC-B5F3-09E9AC5B1B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78305" y="3033978"/>
            <a:ext cx="203331" cy="203331"/>
          </a:xfrm>
          <a:prstGeom prst="rect">
            <a:avLst/>
          </a:prstGeom>
        </p:spPr>
      </p:pic>
      <p:sp>
        <p:nvSpPr>
          <p:cNvPr id="172" name="TextBox 171">
            <a:extLst>
              <a:ext uri="{FF2B5EF4-FFF2-40B4-BE49-F238E27FC236}">
                <a16:creationId xmlns:a16="http://schemas.microsoft.com/office/drawing/2014/main" id="{B0B9051D-DB42-401B-C408-D0A0340214CF}"/>
              </a:ext>
            </a:extLst>
          </p:cNvPr>
          <p:cNvSpPr txBox="1"/>
          <p:nvPr/>
        </p:nvSpPr>
        <p:spPr>
          <a:xfrm>
            <a:off x="6178505" y="3260686"/>
            <a:ext cx="602932" cy="70498"/>
          </a:xfrm>
          <a:prstGeom prst="rect">
            <a:avLst/>
          </a:prstGeom>
          <a:noFill/>
          <a:ln w="25400"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GB" sz="400" b="1">
                <a:solidFill>
                  <a:schemeClr val="tx2"/>
                </a:solidFill>
                <a:latin typeface="Aptos" panose="020B0004020202020204" pitchFamily="34" charset="0"/>
              </a:rPr>
              <a:t>Classifier</a:t>
            </a:r>
          </a:p>
          <a:p>
            <a:pPr algn="ctr"/>
            <a:r>
              <a:rPr lang="en-GB" sz="400" b="1">
                <a:solidFill>
                  <a:schemeClr val="tx2"/>
                </a:solidFill>
                <a:latin typeface="Aptos" panose="020B0004020202020204" pitchFamily="34" charset="0"/>
              </a:rPr>
              <a:t>agent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894EC7E-FFF3-A3BB-F7BE-7F4293D9AEB4}"/>
              </a:ext>
            </a:extLst>
          </p:cNvPr>
          <p:cNvSpPr txBox="1"/>
          <p:nvPr/>
        </p:nvSpPr>
        <p:spPr>
          <a:xfrm>
            <a:off x="6653183" y="3117527"/>
            <a:ext cx="1047633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500" i="1">
                <a:latin typeface="Aptos" panose="020B0004020202020204" pitchFamily="34" charset="0"/>
              </a:rPr>
              <a:t>Doc</a:t>
            </a:r>
            <a:r>
              <a:rPr lang="en-GB" sz="500">
                <a:latin typeface="Aptos" panose="020B0004020202020204" pitchFamily="34" charset="0"/>
              </a:rPr>
              <a:t> </a:t>
            </a:r>
            <a:r>
              <a:rPr lang="en-GB" sz="500" i="1">
                <a:latin typeface="Aptos" panose="020B0004020202020204" pitchFamily="34" charset="0"/>
              </a:rPr>
              <a:t>classified, data extracted</a:t>
            </a:r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83E4BABA-C28E-9889-02B3-BFBC5B28F5B1}"/>
              </a:ext>
            </a:extLst>
          </p:cNvPr>
          <p:cNvCxnSpPr>
            <a:cxnSpLocks/>
            <a:stCxn id="174" idx="6"/>
            <a:endCxn id="179" idx="2"/>
          </p:cNvCxnSpPr>
          <p:nvPr/>
        </p:nvCxnSpPr>
        <p:spPr>
          <a:xfrm>
            <a:off x="6716331" y="3130151"/>
            <a:ext cx="897841" cy="515"/>
          </a:xfrm>
          <a:prstGeom prst="straightConnector1">
            <a:avLst/>
          </a:prstGeom>
          <a:ln w="12700">
            <a:solidFill>
              <a:schemeClr val="tx1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C106ABB8-AA2E-6193-0546-8A57412D846B}"/>
              </a:ext>
            </a:extLst>
          </p:cNvPr>
          <p:cNvCxnSpPr>
            <a:cxnSpLocks/>
            <a:stCxn id="183" idx="6"/>
            <a:endCxn id="174" idx="2"/>
          </p:cNvCxnSpPr>
          <p:nvPr/>
        </p:nvCxnSpPr>
        <p:spPr>
          <a:xfrm flipV="1">
            <a:off x="5805410" y="3130151"/>
            <a:ext cx="418522" cy="4215"/>
          </a:xfrm>
          <a:prstGeom prst="straightConnector1">
            <a:avLst/>
          </a:prstGeom>
          <a:ln w="12700">
            <a:solidFill>
              <a:schemeClr val="tx1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A037155F-84DA-9B96-A38E-EA4871EDD102}"/>
              </a:ext>
            </a:extLst>
          </p:cNvPr>
          <p:cNvSpPr txBox="1"/>
          <p:nvPr/>
        </p:nvSpPr>
        <p:spPr>
          <a:xfrm>
            <a:off x="5726433" y="3124470"/>
            <a:ext cx="669814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500" i="1">
                <a:latin typeface="Aptos" panose="020B0004020202020204" pitchFamily="34" charset="0"/>
              </a:rPr>
              <a:t>Doc</a:t>
            </a:r>
            <a:r>
              <a:rPr lang="en-GB" sz="500">
                <a:latin typeface="Aptos" panose="020B0004020202020204" pitchFamily="34" charset="0"/>
              </a:rPr>
              <a:t> </a:t>
            </a:r>
            <a:r>
              <a:rPr lang="en-GB" sz="500" i="1">
                <a:latin typeface="Aptos" panose="020B0004020202020204" pitchFamily="34" charset="0"/>
              </a:rPr>
              <a:t>scanned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A40A85F2-9EDE-C405-377C-4F11A5BB0931}"/>
              </a:ext>
            </a:extLst>
          </p:cNvPr>
          <p:cNvSpPr txBox="1"/>
          <p:nvPr/>
        </p:nvSpPr>
        <p:spPr>
          <a:xfrm>
            <a:off x="7370093" y="3383660"/>
            <a:ext cx="1029719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500" i="1">
                <a:latin typeface="Aptos" panose="020B0004020202020204" pitchFamily="34" charset="0"/>
              </a:rPr>
              <a:t>Transaction </a:t>
            </a:r>
          </a:p>
          <a:p>
            <a:pPr algn="ctr"/>
            <a:r>
              <a:rPr lang="en-GB" sz="500" i="1">
                <a:latin typeface="Aptos" panose="020B0004020202020204" pitchFamily="34" charset="0"/>
              </a:rPr>
              <a:t>processed</a:t>
            </a:r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FECB0141-D310-4B1D-D0FF-2627107FD4AE}"/>
              </a:ext>
            </a:extLst>
          </p:cNvPr>
          <p:cNvCxnSpPr>
            <a:cxnSpLocks/>
          </p:cNvCxnSpPr>
          <p:nvPr/>
        </p:nvCxnSpPr>
        <p:spPr>
          <a:xfrm>
            <a:off x="6392120" y="3389431"/>
            <a:ext cx="0" cy="208344"/>
          </a:xfrm>
          <a:prstGeom prst="straightConnector1">
            <a:avLst/>
          </a:prstGeom>
          <a:ln w="12700">
            <a:solidFill>
              <a:schemeClr val="tx1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B2C8A33B-7E6C-C166-C041-AF61B73D3DDC}"/>
              </a:ext>
            </a:extLst>
          </p:cNvPr>
          <p:cNvCxnSpPr>
            <a:cxnSpLocks/>
          </p:cNvCxnSpPr>
          <p:nvPr/>
        </p:nvCxnSpPr>
        <p:spPr>
          <a:xfrm flipV="1">
            <a:off x="6534205" y="3374866"/>
            <a:ext cx="0" cy="209828"/>
          </a:xfrm>
          <a:prstGeom prst="straightConnector1">
            <a:avLst/>
          </a:prstGeom>
          <a:ln w="12700">
            <a:solidFill>
              <a:schemeClr val="tx1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004B7071-94AE-5E01-6435-14AA5C6718A3}"/>
              </a:ext>
            </a:extLst>
          </p:cNvPr>
          <p:cNvSpPr txBox="1"/>
          <p:nvPr/>
        </p:nvSpPr>
        <p:spPr>
          <a:xfrm>
            <a:off x="6101026" y="3392021"/>
            <a:ext cx="375529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500" i="1">
                <a:latin typeface="Aptos" panose="020B0004020202020204" pitchFamily="34" charset="0"/>
              </a:rPr>
              <a:t>Query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2676B705-4C94-3B6C-4828-13782CF2C86A}"/>
              </a:ext>
            </a:extLst>
          </p:cNvPr>
          <p:cNvSpPr txBox="1"/>
          <p:nvPr/>
        </p:nvSpPr>
        <p:spPr>
          <a:xfrm>
            <a:off x="6502165" y="3402395"/>
            <a:ext cx="431959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500" i="1">
                <a:latin typeface="Aptos" panose="020B0004020202020204" pitchFamily="34" charset="0"/>
              </a:rPr>
              <a:t>Answer</a:t>
            </a:r>
          </a:p>
        </p:txBody>
      </p: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BAF1ED76-B7B5-14E1-68EB-7CF822287483}"/>
              </a:ext>
            </a:extLst>
          </p:cNvPr>
          <p:cNvGrpSpPr/>
          <p:nvPr/>
        </p:nvGrpSpPr>
        <p:grpSpPr>
          <a:xfrm>
            <a:off x="3169540" y="2735966"/>
            <a:ext cx="560476" cy="560476"/>
            <a:chOff x="2933661" y="5478818"/>
            <a:chExt cx="715917" cy="715917"/>
          </a:xfrm>
        </p:grpSpPr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E11AFAE2-E340-4ED5-1B15-FB5A4F3579E2}"/>
                </a:ext>
              </a:extLst>
            </p:cNvPr>
            <p:cNvGrpSpPr/>
            <p:nvPr/>
          </p:nvGrpSpPr>
          <p:grpSpPr>
            <a:xfrm>
              <a:off x="2933661" y="5478818"/>
              <a:ext cx="715917" cy="715917"/>
              <a:chOff x="2823128" y="5562141"/>
              <a:chExt cx="915711" cy="915711"/>
            </a:xfrm>
          </p:grpSpPr>
          <p:pic>
            <p:nvPicPr>
              <p:cNvPr id="206" name="Picture 205">
                <a:extLst>
                  <a:ext uri="{FF2B5EF4-FFF2-40B4-BE49-F238E27FC236}">
                    <a16:creationId xmlns:a16="http://schemas.microsoft.com/office/drawing/2014/main" id="{E8FEAC49-5A52-1D22-CCA9-AC797312A7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grayscl/>
                <a:alphaModFix amt="35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45215" y1="27637" x2="45215" y2="27637"/>
                            <a14:foregroundMark x1="57910" y1="26758" x2="57910" y2="26758"/>
                            <a14:foregroundMark x1="62305" y1="28613" x2="62305" y2="28613"/>
                            <a14:foregroundMark x1="45117" y1="27539" x2="45117" y2="27539"/>
                            <a14:foregroundMark x1="44141" y1="72266" x2="37500" y2="70215"/>
                            <a14:foregroundMark x1="37500" y1="70215" x2="30469" y2="64063"/>
                            <a14:foregroundMark x1="30469" y1="64063" x2="26465" y2="47852"/>
                            <a14:foregroundMark x1="26465" y1="47852" x2="31641" y2="34766"/>
                            <a14:foregroundMark x1="31641" y1="34766" x2="37988" y2="29980"/>
                            <a14:foregroundMark x1="37988" y1="29980" x2="46777" y2="27051"/>
                            <a14:foregroundMark x1="46777" y1="27051" x2="54199" y2="26855"/>
                            <a14:foregroundMark x1="54199" y1="26855" x2="62402" y2="29688"/>
                            <a14:foregroundMark x1="62402" y1="29688" x2="68750" y2="35059"/>
                            <a14:foregroundMark x1="68750" y1="35059" x2="72070" y2="42188"/>
                            <a14:foregroundMark x1="72070" y1="42188" x2="71387" y2="62109"/>
                            <a14:foregroundMark x1="71387" y1="62109" x2="64551" y2="68457"/>
                            <a14:foregroundMark x1="64551" y1="68457" x2="41895" y2="73633"/>
                            <a14:foregroundMark x1="41504" y1="33496" x2="51563" y2="32031"/>
                            <a14:foregroundMark x1="51563" y1="32031" x2="59570" y2="34668"/>
                            <a14:foregroundMark x1="59570" y1="34668" x2="66211" y2="40430"/>
                            <a14:foregroundMark x1="66211" y1="40430" x2="67773" y2="49121"/>
                            <a14:foregroundMark x1="67773" y1="49121" x2="66406" y2="56934"/>
                            <a14:foregroundMark x1="66406" y1="56934" x2="61621" y2="62793"/>
                            <a14:foregroundMark x1="61621" y1="62793" x2="54883" y2="67285"/>
                            <a14:foregroundMark x1="54883" y1="67285" x2="45996" y2="66797"/>
                            <a14:foregroundMark x1="45996" y1="66797" x2="37598" y2="63086"/>
                            <a14:foregroundMark x1="37598" y1="63086" x2="33105" y2="55664"/>
                            <a14:foregroundMark x1="33105" y1="55664" x2="31836" y2="45703"/>
                            <a14:foregroundMark x1="31836" y1="45703" x2="35449" y2="39063"/>
                            <a14:foregroundMark x1="35449" y1="39063" x2="42188" y2="332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23128" y="5562141"/>
                <a:ext cx="915711" cy="915711"/>
              </a:xfrm>
              <a:prstGeom prst="rect">
                <a:avLst/>
              </a:prstGeom>
            </p:spPr>
          </p:pic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94BC2371-C54D-F9C9-478F-0002038E8B39}"/>
                  </a:ext>
                </a:extLst>
              </p:cNvPr>
              <p:cNvSpPr/>
              <p:nvPr/>
            </p:nvSpPr>
            <p:spPr>
              <a:xfrm>
                <a:off x="2966077" y="5698062"/>
                <a:ext cx="629815" cy="629815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8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04" name="Graphic 203" descr="Artificial Intelligence outline">
              <a:extLst>
                <a:ext uri="{FF2B5EF4-FFF2-40B4-BE49-F238E27FC236}">
                  <a16:creationId xmlns:a16="http://schemas.microsoft.com/office/drawing/2014/main" id="{D0310B62-A2C7-C23D-F172-7DC7C0E76F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99794" y="5735110"/>
              <a:ext cx="203331" cy="203331"/>
            </a:xfrm>
            <a:prstGeom prst="rect">
              <a:avLst/>
            </a:prstGeom>
          </p:spPr>
        </p:pic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35A0DD67-58FD-BA0A-8DE6-2A59E2EA6957}"/>
                </a:ext>
              </a:extLst>
            </p:cNvPr>
            <p:cNvSpPr txBox="1"/>
            <p:nvPr/>
          </p:nvSpPr>
          <p:spPr>
            <a:xfrm>
              <a:off x="2999994" y="5961818"/>
              <a:ext cx="602932" cy="7049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400" b="1">
                  <a:solidFill>
                    <a:schemeClr val="tx1">
                      <a:lumMod val="60000"/>
                      <a:lumOff val="40000"/>
                    </a:schemeClr>
                  </a:solidFill>
                  <a:latin typeface="Aptos" panose="020B0004020202020204" pitchFamily="34" charset="0"/>
                </a:rPr>
                <a:t>Transaction </a:t>
              </a:r>
            </a:p>
            <a:p>
              <a:pPr algn="ctr"/>
              <a:r>
                <a:rPr lang="en-GB" sz="400" b="1">
                  <a:solidFill>
                    <a:schemeClr val="tx1">
                      <a:lumMod val="60000"/>
                      <a:lumOff val="40000"/>
                    </a:schemeClr>
                  </a:solidFill>
                  <a:latin typeface="Aptos" panose="020B0004020202020204" pitchFamily="34" charset="0"/>
                </a:rPr>
                <a:t>agent</a:t>
              </a:r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F93F4F0B-481C-69DF-FAD0-D43A098DA8FD}"/>
              </a:ext>
            </a:extLst>
          </p:cNvPr>
          <p:cNvGrpSpPr/>
          <p:nvPr/>
        </p:nvGrpSpPr>
        <p:grpSpPr>
          <a:xfrm>
            <a:off x="3190132" y="3180867"/>
            <a:ext cx="560476" cy="560476"/>
            <a:chOff x="2933661" y="5478818"/>
            <a:chExt cx="715917" cy="715917"/>
          </a:xfrm>
        </p:grpSpPr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200BE3A9-9821-EFAE-3826-2A1884F593FC}"/>
                </a:ext>
              </a:extLst>
            </p:cNvPr>
            <p:cNvGrpSpPr/>
            <p:nvPr/>
          </p:nvGrpSpPr>
          <p:grpSpPr>
            <a:xfrm>
              <a:off x="2933661" y="5478818"/>
              <a:ext cx="715917" cy="715917"/>
              <a:chOff x="2823128" y="5562141"/>
              <a:chExt cx="915711" cy="915711"/>
            </a:xfrm>
          </p:grpSpPr>
          <p:pic>
            <p:nvPicPr>
              <p:cNvPr id="212" name="Picture 211">
                <a:extLst>
                  <a:ext uri="{FF2B5EF4-FFF2-40B4-BE49-F238E27FC236}">
                    <a16:creationId xmlns:a16="http://schemas.microsoft.com/office/drawing/2014/main" id="{D3A0BE8E-E4D5-E511-C2D4-D8A7EC6D06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grayscl/>
                <a:alphaModFix amt="35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45215" y1="27637" x2="45215" y2="27637"/>
                            <a14:foregroundMark x1="57910" y1="26758" x2="57910" y2="26758"/>
                            <a14:foregroundMark x1="62305" y1="28613" x2="62305" y2="28613"/>
                            <a14:foregroundMark x1="45117" y1="27539" x2="45117" y2="27539"/>
                            <a14:foregroundMark x1="44141" y1="72266" x2="37500" y2="70215"/>
                            <a14:foregroundMark x1="37500" y1="70215" x2="30469" y2="64063"/>
                            <a14:foregroundMark x1="30469" y1="64063" x2="26465" y2="47852"/>
                            <a14:foregroundMark x1="26465" y1="47852" x2="31641" y2="34766"/>
                            <a14:foregroundMark x1="31641" y1="34766" x2="37988" y2="29980"/>
                            <a14:foregroundMark x1="37988" y1="29980" x2="46777" y2="27051"/>
                            <a14:foregroundMark x1="46777" y1="27051" x2="54199" y2="26855"/>
                            <a14:foregroundMark x1="54199" y1="26855" x2="62402" y2="29688"/>
                            <a14:foregroundMark x1="62402" y1="29688" x2="68750" y2="35059"/>
                            <a14:foregroundMark x1="68750" y1="35059" x2="72070" y2="42188"/>
                            <a14:foregroundMark x1="72070" y1="42188" x2="71387" y2="62109"/>
                            <a14:foregroundMark x1="71387" y1="62109" x2="64551" y2="68457"/>
                            <a14:foregroundMark x1="64551" y1="68457" x2="41895" y2="73633"/>
                            <a14:foregroundMark x1="41504" y1="33496" x2="51563" y2="32031"/>
                            <a14:foregroundMark x1="51563" y1="32031" x2="59570" y2="34668"/>
                            <a14:foregroundMark x1="59570" y1="34668" x2="66211" y2="40430"/>
                            <a14:foregroundMark x1="66211" y1="40430" x2="67773" y2="49121"/>
                            <a14:foregroundMark x1="67773" y1="49121" x2="66406" y2="56934"/>
                            <a14:foregroundMark x1="66406" y1="56934" x2="61621" y2="62793"/>
                            <a14:foregroundMark x1="61621" y1="62793" x2="54883" y2="67285"/>
                            <a14:foregroundMark x1="54883" y1="67285" x2="45996" y2="66797"/>
                            <a14:foregroundMark x1="45996" y1="66797" x2="37598" y2="63086"/>
                            <a14:foregroundMark x1="37598" y1="63086" x2="33105" y2="55664"/>
                            <a14:foregroundMark x1="33105" y1="55664" x2="31836" y2="45703"/>
                            <a14:foregroundMark x1="31836" y1="45703" x2="35449" y2="39063"/>
                            <a14:foregroundMark x1="35449" y1="39063" x2="42188" y2="332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23128" y="5562141"/>
                <a:ext cx="915711" cy="915711"/>
              </a:xfrm>
              <a:prstGeom prst="rect">
                <a:avLst/>
              </a:prstGeom>
            </p:spPr>
          </p:pic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2B6EFECC-FE5A-EF0D-504D-792150CBD91B}"/>
                  </a:ext>
                </a:extLst>
              </p:cNvPr>
              <p:cNvSpPr/>
              <p:nvPr/>
            </p:nvSpPr>
            <p:spPr>
              <a:xfrm>
                <a:off x="2966077" y="5698062"/>
                <a:ext cx="629815" cy="629815"/>
              </a:xfrm>
              <a:prstGeom prst="ellipse">
                <a:avLst/>
              </a:prstGeom>
              <a:noFill/>
              <a:ln w="9525"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10" name="Graphic 209" descr="Artificial Intelligence outline">
              <a:extLst>
                <a:ext uri="{FF2B5EF4-FFF2-40B4-BE49-F238E27FC236}">
                  <a16:creationId xmlns:a16="http://schemas.microsoft.com/office/drawing/2014/main" id="{264FAAAE-D213-EA3A-4FB5-931607978B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99794" y="5735110"/>
              <a:ext cx="203331" cy="203331"/>
            </a:xfrm>
            <a:prstGeom prst="rect">
              <a:avLst/>
            </a:prstGeom>
          </p:spPr>
        </p:pic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BE444292-484B-E6D6-0596-0FF3EC53F4D2}"/>
                </a:ext>
              </a:extLst>
            </p:cNvPr>
            <p:cNvSpPr txBox="1"/>
            <p:nvPr/>
          </p:nvSpPr>
          <p:spPr>
            <a:xfrm>
              <a:off x="2999994" y="5961818"/>
              <a:ext cx="602932" cy="7049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400" b="1">
                  <a:solidFill>
                    <a:schemeClr val="accent1"/>
                  </a:solidFill>
                  <a:latin typeface="Aptos" panose="020B0004020202020204" pitchFamily="34" charset="0"/>
                </a:rPr>
                <a:t>Transaction </a:t>
              </a:r>
            </a:p>
            <a:p>
              <a:pPr algn="ctr"/>
              <a:r>
                <a:rPr lang="en-GB" sz="400" b="1">
                  <a:solidFill>
                    <a:schemeClr val="accent1"/>
                  </a:solidFill>
                  <a:latin typeface="Aptos" panose="020B0004020202020204" pitchFamily="34" charset="0"/>
                </a:rPr>
                <a:t>agent</a:t>
              </a:r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BB4E5AD3-2290-C30B-DB7C-CE21F0C5447C}"/>
              </a:ext>
            </a:extLst>
          </p:cNvPr>
          <p:cNvGrpSpPr/>
          <p:nvPr/>
        </p:nvGrpSpPr>
        <p:grpSpPr>
          <a:xfrm>
            <a:off x="3192893" y="3625398"/>
            <a:ext cx="560476" cy="560476"/>
            <a:chOff x="2933661" y="5478818"/>
            <a:chExt cx="715917" cy="715917"/>
          </a:xfrm>
        </p:grpSpPr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4D802810-530E-92FE-CD11-9F619080027E}"/>
                </a:ext>
              </a:extLst>
            </p:cNvPr>
            <p:cNvGrpSpPr/>
            <p:nvPr/>
          </p:nvGrpSpPr>
          <p:grpSpPr>
            <a:xfrm>
              <a:off x="2933661" y="5478818"/>
              <a:ext cx="715917" cy="715917"/>
              <a:chOff x="2823128" y="5562141"/>
              <a:chExt cx="915711" cy="915711"/>
            </a:xfrm>
          </p:grpSpPr>
          <p:pic>
            <p:nvPicPr>
              <p:cNvPr id="218" name="Picture 217">
                <a:extLst>
                  <a:ext uri="{FF2B5EF4-FFF2-40B4-BE49-F238E27FC236}">
                    <a16:creationId xmlns:a16="http://schemas.microsoft.com/office/drawing/2014/main" id="{73E403C8-9BB0-7C45-B685-BEABA7A798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grayscl/>
                <a:alphaModFix amt="35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45215" y1="27637" x2="45215" y2="27637"/>
                            <a14:foregroundMark x1="57910" y1="26758" x2="57910" y2="26758"/>
                            <a14:foregroundMark x1="62305" y1="28613" x2="62305" y2="28613"/>
                            <a14:foregroundMark x1="45117" y1="27539" x2="45117" y2="27539"/>
                            <a14:foregroundMark x1="44141" y1="72266" x2="37500" y2="70215"/>
                            <a14:foregroundMark x1="37500" y1="70215" x2="30469" y2="64063"/>
                            <a14:foregroundMark x1="30469" y1="64063" x2="26465" y2="47852"/>
                            <a14:foregroundMark x1="26465" y1="47852" x2="31641" y2="34766"/>
                            <a14:foregroundMark x1="31641" y1="34766" x2="37988" y2="29980"/>
                            <a14:foregroundMark x1="37988" y1="29980" x2="46777" y2="27051"/>
                            <a14:foregroundMark x1="46777" y1="27051" x2="54199" y2="26855"/>
                            <a14:foregroundMark x1="54199" y1="26855" x2="62402" y2="29688"/>
                            <a14:foregroundMark x1="62402" y1="29688" x2="68750" y2="35059"/>
                            <a14:foregroundMark x1="68750" y1="35059" x2="72070" y2="42188"/>
                            <a14:foregroundMark x1="72070" y1="42188" x2="71387" y2="62109"/>
                            <a14:foregroundMark x1="71387" y1="62109" x2="64551" y2="68457"/>
                            <a14:foregroundMark x1="64551" y1="68457" x2="41895" y2="73633"/>
                            <a14:foregroundMark x1="41504" y1="33496" x2="51563" y2="32031"/>
                            <a14:foregroundMark x1="51563" y1="32031" x2="59570" y2="34668"/>
                            <a14:foregroundMark x1="59570" y1="34668" x2="66211" y2="40430"/>
                            <a14:foregroundMark x1="66211" y1="40430" x2="67773" y2="49121"/>
                            <a14:foregroundMark x1="67773" y1="49121" x2="66406" y2="56934"/>
                            <a14:foregroundMark x1="66406" y1="56934" x2="61621" y2="62793"/>
                            <a14:foregroundMark x1="61621" y1="62793" x2="54883" y2="67285"/>
                            <a14:foregroundMark x1="54883" y1="67285" x2="45996" y2="66797"/>
                            <a14:foregroundMark x1="45996" y1="66797" x2="37598" y2="63086"/>
                            <a14:foregroundMark x1="37598" y1="63086" x2="33105" y2="55664"/>
                            <a14:foregroundMark x1="33105" y1="55664" x2="31836" y2="45703"/>
                            <a14:foregroundMark x1="31836" y1="45703" x2="35449" y2="39063"/>
                            <a14:foregroundMark x1="35449" y1="39063" x2="42188" y2="332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23128" y="5562141"/>
                <a:ext cx="915711" cy="915711"/>
              </a:xfrm>
              <a:prstGeom prst="rect">
                <a:avLst/>
              </a:prstGeom>
            </p:spPr>
          </p:pic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3F96DD3D-5402-57C4-4495-C075246A5EBA}"/>
                  </a:ext>
                </a:extLst>
              </p:cNvPr>
              <p:cNvSpPr/>
              <p:nvPr/>
            </p:nvSpPr>
            <p:spPr>
              <a:xfrm>
                <a:off x="2966077" y="5698062"/>
                <a:ext cx="629815" cy="629815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8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pic>
          <p:nvPicPr>
            <p:cNvPr id="216" name="Graphic 215" descr="Artificial Intelligence outline">
              <a:extLst>
                <a:ext uri="{FF2B5EF4-FFF2-40B4-BE49-F238E27FC236}">
                  <a16:creationId xmlns:a16="http://schemas.microsoft.com/office/drawing/2014/main" id="{B094195B-5882-D9D3-EB99-A9646965D6D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99794" y="5735110"/>
              <a:ext cx="203331" cy="203331"/>
            </a:xfrm>
            <a:prstGeom prst="rect">
              <a:avLst/>
            </a:prstGeom>
          </p:spPr>
        </p:pic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20768F0B-008E-B271-3206-1DF9A7065B8D}"/>
                </a:ext>
              </a:extLst>
            </p:cNvPr>
            <p:cNvSpPr txBox="1"/>
            <p:nvPr/>
          </p:nvSpPr>
          <p:spPr>
            <a:xfrm>
              <a:off x="2999994" y="5961818"/>
              <a:ext cx="602932" cy="7049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400" b="1">
                  <a:solidFill>
                    <a:schemeClr val="tx1">
                      <a:lumMod val="60000"/>
                      <a:lumOff val="40000"/>
                    </a:schemeClr>
                  </a:solidFill>
                  <a:latin typeface="Aptos" panose="020B0004020202020204" pitchFamily="34" charset="0"/>
                </a:rPr>
                <a:t>Transaction </a:t>
              </a:r>
            </a:p>
            <a:p>
              <a:pPr algn="ctr"/>
              <a:r>
                <a:rPr lang="en-GB" sz="400" b="1">
                  <a:solidFill>
                    <a:schemeClr val="tx1">
                      <a:lumMod val="60000"/>
                      <a:lumOff val="40000"/>
                    </a:schemeClr>
                  </a:solidFill>
                  <a:latin typeface="Aptos" panose="020B0004020202020204" pitchFamily="34" charset="0"/>
                </a:rPr>
                <a:t>agent</a:t>
              </a:r>
            </a:p>
          </p:txBody>
        </p:sp>
      </p:grp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64565719-7472-F5C2-DB20-B2BFA93D8E38}"/>
              </a:ext>
            </a:extLst>
          </p:cNvPr>
          <p:cNvCxnSpPr>
            <a:cxnSpLocks/>
            <a:stCxn id="149" idx="6"/>
            <a:endCxn id="213" idx="2"/>
          </p:cNvCxnSpPr>
          <p:nvPr/>
        </p:nvCxnSpPr>
        <p:spPr>
          <a:xfrm>
            <a:off x="2836773" y="3309858"/>
            <a:ext cx="440853" cy="146947"/>
          </a:xfrm>
          <a:prstGeom prst="straightConnector1">
            <a:avLst/>
          </a:prstGeom>
          <a:ln w="12700">
            <a:solidFill>
              <a:schemeClr val="tx1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EB72E275-5BD1-C7FE-B52C-7EB270DE856C}"/>
              </a:ext>
            </a:extLst>
          </p:cNvPr>
          <p:cNvCxnSpPr>
            <a:cxnSpLocks/>
            <a:stCxn id="149" idx="6"/>
            <a:endCxn id="219" idx="2"/>
          </p:cNvCxnSpPr>
          <p:nvPr/>
        </p:nvCxnSpPr>
        <p:spPr>
          <a:xfrm>
            <a:off x="2836773" y="3309858"/>
            <a:ext cx="443614" cy="591478"/>
          </a:xfrm>
          <a:prstGeom prst="straightConnector1">
            <a:avLst/>
          </a:prstGeom>
          <a:ln w="12700">
            <a:solidFill>
              <a:schemeClr val="bg2">
                <a:lumMod val="85000"/>
              </a:schemeClr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4364E0E7-BE44-7491-1369-F91BCFE9485E}"/>
              </a:ext>
            </a:extLst>
          </p:cNvPr>
          <p:cNvGrpSpPr/>
          <p:nvPr/>
        </p:nvGrpSpPr>
        <p:grpSpPr>
          <a:xfrm>
            <a:off x="9609765" y="3633434"/>
            <a:ext cx="492399" cy="492399"/>
            <a:chOff x="6226057" y="3607904"/>
            <a:chExt cx="492399" cy="492399"/>
          </a:xfrm>
        </p:grpSpPr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280B2CD8-83AA-3D36-3EA2-28888B025FEA}"/>
                </a:ext>
              </a:extLst>
            </p:cNvPr>
            <p:cNvGrpSpPr/>
            <p:nvPr/>
          </p:nvGrpSpPr>
          <p:grpSpPr>
            <a:xfrm>
              <a:off x="6277876" y="3661023"/>
              <a:ext cx="390032" cy="375530"/>
              <a:chOff x="6277876" y="3661023"/>
              <a:chExt cx="390032" cy="375530"/>
            </a:xfrm>
          </p:grpSpPr>
          <p:pic>
            <p:nvPicPr>
              <p:cNvPr id="260" name="Graphic 259" descr="Database outline">
                <a:extLst>
                  <a:ext uri="{FF2B5EF4-FFF2-40B4-BE49-F238E27FC236}">
                    <a16:creationId xmlns:a16="http://schemas.microsoft.com/office/drawing/2014/main" id="{B0BE7CAD-7A69-778B-1A95-00B2EAFD36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277876" y="3661023"/>
                <a:ext cx="375529" cy="375530"/>
              </a:xfrm>
              <a:prstGeom prst="rect">
                <a:avLst/>
              </a:prstGeom>
            </p:spPr>
          </p:pic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61461CB4-8997-542C-5431-A8B1C44ECB00}"/>
                  </a:ext>
                </a:extLst>
              </p:cNvPr>
              <p:cNvSpPr txBox="1"/>
              <p:nvPr/>
            </p:nvSpPr>
            <p:spPr>
              <a:xfrm>
                <a:off x="6479919" y="3832504"/>
                <a:ext cx="187989" cy="92333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444444">
                        <a:lumMod val="50000"/>
                      </a:srgb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Data</a:t>
                </a:r>
                <a:endParaRPr kumimoji="0" lang="en-GB" sz="600" b="1" i="0" u="none" strike="noStrike" kern="1200" cap="none" spc="0" normalizeH="0" baseline="0" noProof="0">
                  <a:ln>
                    <a:noFill/>
                  </a:ln>
                  <a:solidFill>
                    <a:srgbClr val="444444">
                      <a:lumMod val="50000"/>
                    </a:srgb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DF95EAE0-F786-582A-0B28-760137932C67}"/>
                </a:ext>
              </a:extLst>
            </p:cNvPr>
            <p:cNvSpPr/>
            <p:nvPr/>
          </p:nvSpPr>
          <p:spPr>
            <a:xfrm>
              <a:off x="6226057" y="3607904"/>
              <a:ext cx="492399" cy="492399"/>
            </a:xfrm>
            <a:prstGeom prst="ellipse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4B65E92E-1519-D9C3-2ABD-7AB981D541F8}"/>
              </a:ext>
            </a:extLst>
          </p:cNvPr>
          <p:cNvGrpSpPr/>
          <p:nvPr/>
        </p:nvGrpSpPr>
        <p:grpSpPr>
          <a:xfrm>
            <a:off x="8696719" y="2913696"/>
            <a:ext cx="492399" cy="492399"/>
            <a:chOff x="5313011" y="2888166"/>
            <a:chExt cx="492399" cy="492399"/>
          </a:xfrm>
        </p:grpSpPr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2DE9515D-2E11-2FCE-5D4F-6080A2EC16E3}"/>
                </a:ext>
              </a:extLst>
            </p:cNvPr>
            <p:cNvSpPr/>
            <p:nvPr/>
          </p:nvSpPr>
          <p:spPr>
            <a:xfrm>
              <a:off x="5313011" y="2888166"/>
              <a:ext cx="492399" cy="492399"/>
            </a:xfrm>
            <a:prstGeom prst="ellipse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64" name="Graphic 263" descr="Contract outline">
              <a:extLst>
                <a:ext uri="{FF2B5EF4-FFF2-40B4-BE49-F238E27FC236}">
                  <a16:creationId xmlns:a16="http://schemas.microsoft.com/office/drawing/2014/main" id="{BD340034-9999-919B-97CB-BB306EFE66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378760" y="2956615"/>
              <a:ext cx="360902" cy="360902"/>
            </a:xfrm>
            <a:prstGeom prst="rect">
              <a:avLst/>
            </a:prstGeom>
          </p:spPr>
        </p:pic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20B0519A-3192-4EB5-3A34-331838891355}"/>
              </a:ext>
            </a:extLst>
          </p:cNvPr>
          <p:cNvGrpSpPr/>
          <p:nvPr/>
        </p:nvGrpSpPr>
        <p:grpSpPr>
          <a:xfrm>
            <a:off x="11471479" y="3169287"/>
            <a:ext cx="602932" cy="492399"/>
            <a:chOff x="11303240" y="2909996"/>
            <a:chExt cx="602932" cy="492399"/>
          </a:xfrm>
        </p:grpSpPr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FB5CF785-6EB2-506C-FC40-53FD7D3D0ACA}"/>
                </a:ext>
              </a:extLst>
            </p:cNvPr>
            <p:cNvGrpSpPr/>
            <p:nvPr/>
          </p:nvGrpSpPr>
          <p:grpSpPr>
            <a:xfrm>
              <a:off x="11388162" y="2954515"/>
              <a:ext cx="401492" cy="305509"/>
              <a:chOff x="7653667" y="2928985"/>
              <a:chExt cx="401492" cy="305509"/>
            </a:xfrm>
          </p:grpSpPr>
          <p:pic>
            <p:nvPicPr>
              <p:cNvPr id="266" name="Picture 265">
                <a:extLst>
                  <a:ext uri="{FF2B5EF4-FFF2-40B4-BE49-F238E27FC236}">
                    <a16:creationId xmlns:a16="http://schemas.microsoft.com/office/drawing/2014/main" id="{917C5D0B-B934-ABD2-E8F3-656D32122B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10000" b="90000" l="10000" r="90000">
                            <a14:foregroundMark x1="28758" y1="42857" x2="28758" y2="42857"/>
                            <a14:foregroundMark x1="76797" y1="42143" x2="76797" y2="42143"/>
                            <a14:backgroundMark x1="44444" y1="42500" x2="44444" y2="42500"/>
                            <a14:backgroundMark x1="44444" y1="42857" x2="44118" y2="40357"/>
                            <a14:backgroundMark x1="62418" y1="40357" x2="57843" y2="38929"/>
                            <a14:backgroundMark x1="45425" y1="39643" x2="47059" y2="42857"/>
                          </a14:backgroundRemoval>
                        </a14:imgEffect>
                      </a14:imgLayer>
                    </a14:imgProps>
                  </a:ext>
                </a:extLst>
              </a:blip>
              <a:srcRect l="18577" t="9862" r="16309" b="35991"/>
              <a:stretch>
                <a:fillRect/>
              </a:stretch>
            </p:blipFill>
            <p:spPr>
              <a:xfrm>
                <a:off x="7653667" y="2928985"/>
                <a:ext cx="401492" cy="305509"/>
              </a:xfrm>
              <a:prstGeom prst="rect">
                <a:avLst/>
              </a:prstGeom>
            </p:spPr>
          </p:pic>
          <p:sp>
            <p:nvSpPr>
              <p:cNvPr id="267" name="Rectangle: Rounded Corners 266">
                <a:extLst>
                  <a:ext uri="{FF2B5EF4-FFF2-40B4-BE49-F238E27FC236}">
                    <a16:creationId xmlns:a16="http://schemas.microsoft.com/office/drawing/2014/main" id="{E20B48BB-8E98-B158-A1C9-780754B17D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751446" y="3065011"/>
                <a:ext cx="232786" cy="113898"/>
              </a:xfrm>
              <a:prstGeom prst="roundRect">
                <a:avLst/>
              </a:prstGeom>
              <a:solidFill>
                <a:srgbClr val="CDCDCD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r>
                  <a:rPr lang="en-GB" sz="200" b="1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&lt;/&gt;</a:t>
                </a:r>
              </a:p>
            </p:txBody>
          </p:sp>
        </p:grpSp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CADAD2A0-B440-D7F8-5A19-839200C28D7E}"/>
                </a:ext>
              </a:extLst>
            </p:cNvPr>
            <p:cNvGrpSpPr/>
            <p:nvPr/>
          </p:nvGrpSpPr>
          <p:grpSpPr>
            <a:xfrm>
              <a:off x="11303240" y="2909996"/>
              <a:ext cx="602932" cy="492399"/>
              <a:chOff x="7568745" y="2884466"/>
              <a:chExt cx="602932" cy="492399"/>
            </a:xfrm>
          </p:grpSpPr>
          <p:sp>
            <p:nvSpPr>
              <p:cNvPr id="269" name="Oval 268">
                <a:extLst>
                  <a:ext uri="{FF2B5EF4-FFF2-40B4-BE49-F238E27FC236}">
                    <a16:creationId xmlns:a16="http://schemas.microsoft.com/office/drawing/2014/main" id="{0CD745FC-C6BF-9869-F6CF-1FEBE337D1B7}"/>
                  </a:ext>
                </a:extLst>
              </p:cNvPr>
              <p:cNvSpPr/>
              <p:nvPr/>
            </p:nvSpPr>
            <p:spPr>
              <a:xfrm>
                <a:off x="7614172" y="2884466"/>
                <a:ext cx="492399" cy="49239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983718A5-4424-3175-90E0-4776BD1E71A6}"/>
                  </a:ext>
                </a:extLst>
              </p:cNvPr>
              <p:cNvSpPr txBox="1"/>
              <p:nvPr/>
            </p:nvSpPr>
            <p:spPr>
              <a:xfrm>
                <a:off x="7568745" y="3261201"/>
                <a:ext cx="602932" cy="7049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GB" sz="400" b="1">
                    <a:latin typeface="Aptos" panose="020B0004020202020204" pitchFamily="34" charset="0"/>
                  </a:rPr>
                  <a:t>RPA</a:t>
                </a:r>
              </a:p>
              <a:p>
                <a:pPr algn="ctr"/>
                <a:r>
                  <a:rPr lang="en-GB" sz="400" b="1">
                    <a:latin typeface="Aptos" panose="020B0004020202020204" pitchFamily="34" charset="0"/>
                  </a:rPr>
                  <a:t>bot</a:t>
                </a:r>
              </a:p>
            </p:txBody>
          </p:sp>
        </p:grpSp>
      </p:grpSp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1F848207-60D2-90E3-1A24-CAD138C64569}"/>
              </a:ext>
            </a:extLst>
          </p:cNvPr>
          <p:cNvCxnSpPr>
            <a:cxnSpLocks/>
          </p:cNvCxnSpPr>
          <p:nvPr/>
        </p:nvCxnSpPr>
        <p:spPr>
          <a:xfrm>
            <a:off x="9775828" y="3414961"/>
            <a:ext cx="0" cy="208344"/>
          </a:xfrm>
          <a:prstGeom prst="straightConnector1">
            <a:avLst/>
          </a:prstGeom>
          <a:ln w="12700">
            <a:solidFill>
              <a:schemeClr val="tx1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F9BA8556-1F55-4974-1A6A-65FF641FE5FE}"/>
              </a:ext>
            </a:extLst>
          </p:cNvPr>
          <p:cNvCxnSpPr>
            <a:cxnSpLocks/>
          </p:cNvCxnSpPr>
          <p:nvPr/>
        </p:nvCxnSpPr>
        <p:spPr>
          <a:xfrm flipV="1">
            <a:off x="9917913" y="3400396"/>
            <a:ext cx="0" cy="209828"/>
          </a:xfrm>
          <a:prstGeom prst="straightConnector1">
            <a:avLst/>
          </a:prstGeom>
          <a:ln w="12700">
            <a:solidFill>
              <a:schemeClr val="tx1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TextBox 278">
            <a:extLst>
              <a:ext uri="{FF2B5EF4-FFF2-40B4-BE49-F238E27FC236}">
                <a16:creationId xmlns:a16="http://schemas.microsoft.com/office/drawing/2014/main" id="{85573E01-E07E-8C7A-897C-F3996223A44E}"/>
              </a:ext>
            </a:extLst>
          </p:cNvPr>
          <p:cNvSpPr txBox="1"/>
          <p:nvPr/>
        </p:nvSpPr>
        <p:spPr>
          <a:xfrm>
            <a:off x="9484734" y="3417551"/>
            <a:ext cx="375529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500" i="1">
                <a:latin typeface="Aptos" panose="020B0004020202020204" pitchFamily="34" charset="0"/>
              </a:rPr>
              <a:t>Query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55931C59-A4A8-AE35-CD37-0F54119B9D5C}"/>
              </a:ext>
            </a:extLst>
          </p:cNvPr>
          <p:cNvSpPr txBox="1"/>
          <p:nvPr/>
        </p:nvSpPr>
        <p:spPr>
          <a:xfrm>
            <a:off x="9885873" y="3427925"/>
            <a:ext cx="431959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500" i="1">
                <a:latin typeface="Aptos" panose="020B0004020202020204" pitchFamily="34" charset="0"/>
              </a:rPr>
              <a:t>Answer</a:t>
            </a:r>
          </a:p>
        </p:txBody>
      </p:sp>
      <p:cxnSp>
        <p:nvCxnSpPr>
          <p:cNvPr id="281" name="Straight Arrow Connector 280">
            <a:extLst>
              <a:ext uri="{FF2B5EF4-FFF2-40B4-BE49-F238E27FC236}">
                <a16:creationId xmlns:a16="http://schemas.microsoft.com/office/drawing/2014/main" id="{EFA4BFF6-1BC4-D802-02B3-0D9684AD641B}"/>
              </a:ext>
            </a:extLst>
          </p:cNvPr>
          <p:cNvCxnSpPr>
            <a:cxnSpLocks/>
            <a:stCxn id="263" idx="6"/>
            <a:endCxn id="42" idx="2"/>
          </p:cNvCxnSpPr>
          <p:nvPr/>
        </p:nvCxnSpPr>
        <p:spPr>
          <a:xfrm flipV="1">
            <a:off x="9189118" y="3152880"/>
            <a:ext cx="427476" cy="7016"/>
          </a:xfrm>
          <a:prstGeom prst="straightConnector1">
            <a:avLst/>
          </a:prstGeom>
          <a:ln w="12700">
            <a:solidFill>
              <a:schemeClr val="tx1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TextBox 281">
            <a:extLst>
              <a:ext uri="{FF2B5EF4-FFF2-40B4-BE49-F238E27FC236}">
                <a16:creationId xmlns:a16="http://schemas.microsoft.com/office/drawing/2014/main" id="{A1D281E3-BFD6-6E1C-EB2D-D9BEF4C02D8E}"/>
              </a:ext>
            </a:extLst>
          </p:cNvPr>
          <p:cNvSpPr txBox="1"/>
          <p:nvPr/>
        </p:nvSpPr>
        <p:spPr>
          <a:xfrm>
            <a:off x="9113166" y="3131875"/>
            <a:ext cx="669814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500" i="1">
                <a:latin typeface="Aptos" panose="020B0004020202020204" pitchFamily="34" charset="0"/>
              </a:rPr>
              <a:t>Doc</a:t>
            </a:r>
            <a:r>
              <a:rPr lang="en-GB" sz="500">
                <a:latin typeface="Aptos" panose="020B0004020202020204" pitchFamily="34" charset="0"/>
              </a:rPr>
              <a:t> </a:t>
            </a:r>
            <a:r>
              <a:rPr lang="en-GB" sz="500" i="1">
                <a:latin typeface="Aptos" panose="020B0004020202020204" pitchFamily="34" charset="0"/>
              </a:rPr>
              <a:t>scanned</a:t>
            </a:r>
          </a:p>
        </p:txBody>
      </p: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75907DBC-1A86-9CE1-74DD-85342F7C449A}"/>
              </a:ext>
            </a:extLst>
          </p:cNvPr>
          <p:cNvGrpSpPr/>
          <p:nvPr/>
        </p:nvGrpSpPr>
        <p:grpSpPr>
          <a:xfrm>
            <a:off x="10595759" y="3140801"/>
            <a:ext cx="560476" cy="560476"/>
            <a:chOff x="2933661" y="5478818"/>
            <a:chExt cx="715917" cy="715917"/>
          </a:xfrm>
        </p:grpSpPr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3CF6FAD9-9925-E8BE-C6B1-4EF91F7C340E}"/>
                </a:ext>
              </a:extLst>
            </p:cNvPr>
            <p:cNvGrpSpPr/>
            <p:nvPr/>
          </p:nvGrpSpPr>
          <p:grpSpPr>
            <a:xfrm>
              <a:off x="2933661" y="5478818"/>
              <a:ext cx="715917" cy="715917"/>
              <a:chOff x="2823128" y="5562141"/>
              <a:chExt cx="915711" cy="915711"/>
            </a:xfrm>
          </p:grpSpPr>
          <p:pic>
            <p:nvPicPr>
              <p:cNvPr id="289" name="Picture 288">
                <a:extLst>
                  <a:ext uri="{FF2B5EF4-FFF2-40B4-BE49-F238E27FC236}">
                    <a16:creationId xmlns:a16="http://schemas.microsoft.com/office/drawing/2014/main" id="{722AC2DF-26B1-6097-2A4C-0108C7A7D3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grayscl/>
                <a:alphaModFix amt="35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45215" y1="27637" x2="45215" y2="27637"/>
                            <a14:foregroundMark x1="57910" y1="26758" x2="57910" y2="26758"/>
                            <a14:foregroundMark x1="62305" y1="28613" x2="62305" y2="28613"/>
                            <a14:foregroundMark x1="45117" y1="27539" x2="45117" y2="27539"/>
                            <a14:foregroundMark x1="44141" y1="72266" x2="37500" y2="70215"/>
                            <a14:foregroundMark x1="37500" y1="70215" x2="30469" y2="64063"/>
                            <a14:foregroundMark x1="30469" y1="64063" x2="26465" y2="47852"/>
                            <a14:foregroundMark x1="26465" y1="47852" x2="31641" y2="34766"/>
                            <a14:foregroundMark x1="31641" y1="34766" x2="37988" y2="29980"/>
                            <a14:foregroundMark x1="37988" y1="29980" x2="46777" y2="27051"/>
                            <a14:foregroundMark x1="46777" y1="27051" x2="54199" y2="26855"/>
                            <a14:foregroundMark x1="54199" y1="26855" x2="62402" y2="29688"/>
                            <a14:foregroundMark x1="62402" y1="29688" x2="68750" y2="35059"/>
                            <a14:foregroundMark x1="68750" y1="35059" x2="72070" y2="42188"/>
                            <a14:foregroundMark x1="72070" y1="42188" x2="71387" y2="62109"/>
                            <a14:foregroundMark x1="71387" y1="62109" x2="64551" y2="68457"/>
                            <a14:foregroundMark x1="64551" y1="68457" x2="41895" y2="73633"/>
                            <a14:foregroundMark x1="41504" y1="33496" x2="51563" y2="32031"/>
                            <a14:foregroundMark x1="51563" y1="32031" x2="59570" y2="34668"/>
                            <a14:foregroundMark x1="59570" y1="34668" x2="66211" y2="40430"/>
                            <a14:foregroundMark x1="66211" y1="40430" x2="67773" y2="49121"/>
                            <a14:foregroundMark x1="67773" y1="49121" x2="66406" y2="56934"/>
                            <a14:foregroundMark x1="66406" y1="56934" x2="61621" y2="62793"/>
                            <a14:foregroundMark x1="61621" y1="62793" x2="54883" y2="67285"/>
                            <a14:foregroundMark x1="54883" y1="67285" x2="45996" y2="66797"/>
                            <a14:foregroundMark x1="45996" y1="66797" x2="37598" y2="63086"/>
                            <a14:foregroundMark x1="37598" y1="63086" x2="33105" y2="55664"/>
                            <a14:foregroundMark x1="33105" y1="55664" x2="31836" y2="45703"/>
                            <a14:foregroundMark x1="31836" y1="45703" x2="35449" y2="39063"/>
                            <a14:foregroundMark x1="35449" y1="39063" x2="42188" y2="332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23128" y="5562141"/>
                <a:ext cx="915711" cy="915711"/>
              </a:xfrm>
              <a:prstGeom prst="rect">
                <a:avLst/>
              </a:prstGeom>
            </p:spPr>
          </p:pic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6A7778D7-E6D6-922D-B535-F1D2BB546A5E}"/>
                  </a:ext>
                </a:extLst>
              </p:cNvPr>
              <p:cNvSpPr/>
              <p:nvPr/>
            </p:nvSpPr>
            <p:spPr>
              <a:xfrm>
                <a:off x="2966077" y="5698062"/>
                <a:ext cx="629815" cy="629815"/>
              </a:xfrm>
              <a:prstGeom prst="ellipse">
                <a:avLst/>
              </a:prstGeom>
              <a:noFill/>
              <a:ln w="9525"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87" name="Graphic 286" descr="Artificial Intelligence outline">
              <a:extLst>
                <a:ext uri="{FF2B5EF4-FFF2-40B4-BE49-F238E27FC236}">
                  <a16:creationId xmlns:a16="http://schemas.microsoft.com/office/drawing/2014/main" id="{2BD9B233-6CFB-8585-CE01-F28C840EA4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99794" y="5735110"/>
              <a:ext cx="203331" cy="203331"/>
            </a:xfrm>
            <a:prstGeom prst="rect">
              <a:avLst/>
            </a:prstGeom>
          </p:spPr>
        </p:pic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DFCB9614-0763-E706-EC08-17CE8F422CEC}"/>
                </a:ext>
              </a:extLst>
            </p:cNvPr>
            <p:cNvSpPr txBox="1"/>
            <p:nvPr/>
          </p:nvSpPr>
          <p:spPr>
            <a:xfrm>
              <a:off x="2999994" y="5961818"/>
              <a:ext cx="602932" cy="7049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400" b="1">
                  <a:solidFill>
                    <a:schemeClr val="accent1"/>
                  </a:solidFill>
                  <a:latin typeface="Aptos" panose="020B0004020202020204" pitchFamily="34" charset="0"/>
                </a:rPr>
                <a:t>Transaction </a:t>
              </a:r>
            </a:p>
            <a:p>
              <a:pPr algn="ctr"/>
              <a:r>
                <a:rPr lang="en-GB" sz="400" b="1">
                  <a:solidFill>
                    <a:schemeClr val="accent1"/>
                  </a:solidFill>
                  <a:latin typeface="Aptos" panose="020B0004020202020204" pitchFamily="34" charset="0"/>
                </a:rPr>
                <a:t>agent</a:t>
              </a:r>
            </a:p>
          </p:txBody>
        </p:sp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8C984602-3D68-884E-D443-68F38FE1410B}"/>
              </a:ext>
            </a:extLst>
          </p:cNvPr>
          <p:cNvGrpSpPr/>
          <p:nvPr/>
        </p:nvGrpSpPr>
        <p:grpSpPr>
          <a:xfrm>
            <a:off x="10598520" y="3585332"/>
            <a:ext cx="560476" cy="560476"/>
            <a:chOff x="2933661" y="5478818"/>
            <a:chExt cx="715917" cy="715917"/>
          </a:xfrm>
        </p:grpSpPr>
        <p:grpSp>
          <p:nvGrpSpPr>
            <p:cNvPr id="292" name="Group 291">
              <a:extLst>
                <a:ext uri="{FF2B5EF4-FFF2-40B4-BE49-F238E27FC236}">
                  <a16:creationId xmlns:a16="http://schemas.microsoft.com/office/drawing/2014/main" id="{B6412CB1-DBD6-F1E8-A6A0-D320E2070E53}"/>
                </a:ext>
              </a:extLst>
            </p:cNvPr>
            <p:cNvGrpSpPr/>
            <p:nvPr/>
          </p:nvGrpSpPr>
          <p:grpSpPr>
            <a:xfrm>
              <a:off x="2933661" y="5478818"/>
              <a:ext cx="715917" cy="715917"/>
              <a:chOff x="2823128" y="5562141"/>
              <a:chExt cx="915711" cy="915711"/>
            </a:xfrm>
          </p:grpSpPr>
          <p:pic>
            <p:nvPicPr>
              <p:cNvPr id="295" name="Picture 294">
                <a:extLst>
                  <a:ext uri="{FF2B5EF4-FFF2-40B4-BE49-F238E27FC236}">
                    <a16:creationId xmlns:a16="http://schemas.microsoft.com/office/drawing/2014/main" id="{36D822CA-E14F-8001-EE11-0B717D10CB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grayscl/>
                <a:alphaModFix amt="35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45215" y1="27637" x2="45215" y2="27637"/>
                            <a14:foregroundMark x1="57910" y1="26758" x2="57910" y2="26758"/>
                            <a14:foregroundMark x1="62305" y1="28613" x2="62305" y2="28613"/>
                            <a14:foregroundMark x1="45117" y1="27539" x2="45117" y2="27539"/>
                            <a14:foregroundMark x1="44141" y1="72266" x2="37500" y2="70215"/>
                            <a14:foregroundMark x1="37500" y1="70215" x2="30469" y2="64063"/>
                            <a14:foregroundMark x1="30469" y1="64063" x2="26465" y2="47852"/>
                            <a14:foregroundMark x1="26465" y1="47852" x2="31641" y2="34766"/>
                            <a14:foregroundMark x1="31641" y1="34766" x2="37988" y2="29980"/>
                            <a14:foregroundMark x1="37988" y1="29980" x2="46777" y2="27051"/>
                            <a14:foregroundMark x1="46777" y1="27051" x2="54199" y2="26855"/>
                            <a14:foregroundMark x1="54199" y1="26855" x2="62402" y2="29688"/>
                            <a14:foregroundMark x1="62402" y1="29688" x2="68750" y2="35059"/>
                            <a14:foregroundMark x1="68750" y1="35059" x2="72070" y2="42188"/>
                            <a14:foregroundMark x1="72070" y1="42188" x2="71387" y2="62109"/>
                            <a14:foregroundMark x1="71387" y1="62109" x2="64551" y2="68457"/>
                            <a14:foregroundMark x1="64551" y1="68457" x2="41895" y2="73633"/>
                            <a14:foregroundMark x1="41504" y1="33496" x2="51563" y2="32031"/>
                            <a14:foregroundMark x1="51563" y1="32031" x2="59570" y2="34668"/>
                            <a14:foregroundMark x1="59570" y1="34668" x2="66211" y2="40430"/>
                            <a14:foregroundMark x1="66211" y1="40430" x2="67773" y2="49121"/>
                            <a14:foregroundMark x1="67773" y1="49121" x2="66406" y2="56934"/>
                            <a14:foregroundMark x1="66406" y1="56934" x2="61621" y2="62793"/>
                            <a14:foregroundMark x1="61621" y1="62793" x2="54883" y2="67285"/>
                            <a14:foregroundMark x1="54883" y1="67285" x2="45996" y2="66797"/>
                            <a14:foregroundMark x1="45996" y1="66797" x2="37598" y2="63086"/>
                            <a14:foregroundMark x1="37598" y1="63086" x2="33105" y2="55664"/>
                            <a14:foregroundMark x1="33105" y1="55664" x2="31836" y2="45703"/>
                            <a14:foregroundMark x1="31836" y1="45703" x2="35449" y2="39063"/>
                            <a14:foregroundMark x1="35449" y1="39063" x2="42188" y2="332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23128" y="5562141"/>
                <a:ext cx="915711" cy="915711"/>
              </a:xfrm>
              <a:prstGeom prst="rect">
                <a:avLst/>
              </a:prstGeom>
            </p:spPr>
          </p:pic>
          <p:sp>
            <p:nvSpPr>
              <p:cNvPr id="296" name="Oval 295">
                <a:extLst>
                  <a:ext uri="{FF2B5EF4-FFF2-40B4-BE49-F238E27FC236}">
                    <a16:creationId xmlns:a16="http://schemas.microsoft.com/office/drawing/2014/main" id="{51EF9526-7AA2-BC02-24FE-D66FEE9C6550}"/>
                  </a:ext>
                </a:extLst>
              </p:cNvPr>
              <p:cNvSpPr/>
              <p:nvPr/>
            </p:nvSpPr>
            <p:spPr>
              <a:xfrm>
                <a:off x="2966077" y="5698062"/>
                <a:ext cx="629815" cy="629815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8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pic>
          <p:nvPicPr>
            <p:cNvPr id="293" name="Graphic 292" descr="Artificial Intelligence outline">
              <a:extLst>
                <a:ext uri="{FF2B5EF4-FFF2-40B4-BE49-F238E27FC236}">
                  <a16:creationId xmlns:a16="http://schemas.microsoft.com/office/drawing/2014/main" id="{D2A14CF5-D1DC-5C68-9267-FA11174DD3F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99794" y="5735110"/>
              <a:ext cx="203331" cy="203331"/>
            </a:xfrm>
            <a:prstGeom prst="rect">
              <a:avLst/>
            </a:prstGeom>
          </p:spPr>
        </p:pic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796C0794-8BC6-4C46-0AA1-C88BC606EEC3}"/>
                </a:ext>
              </a:extLst>
            </p:cNvPr>
            <p:cNvSpPr txBox="1"/>
            <p:nvPr/>
          </p:nvSpPr>
          <p:spPr>
            <a:xfrm>
              <a:off x="2999994" y="5961818"/>
              <a:ext cx="602932" cy="7049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400" b="1">
                  <a:solidFill>
                    <a:schemeClr val="tx1">
                      <a:lumMod val="60000"/>
                      <a:lumOff val="40000"/>
                    </a:schemeClr>
                  </a:solidFill>
                  <a:latin typeface="Aptos" panose="020B0004020202020204" pitchFamily="34" charset="0"/>
                </a:rPr>
                <a:t>Transaction </a:t>
              </a:r>
            </a:p>
            <a:p>
              <a:pPr algn="ctr"/>
              <a:r>
                <a:rPr lang="en-GB" sz="400" b="1">
                  <a:solidFill>
                    <a:schemeClr val="tx1">
                      <a:lumMod val="60000"/>
                      <a:lumOff val="40000"/>
                    </a:schemeClr>
                  </a:solidFill>
                  <a:latin typeface="Aptos" panose="020B0004020202020204" pitchFamily="34" charset="0"/>
                </a:rPr>
                <a:t>agent</a:t>
              </a:r>
            </a:p>
          </p:txBody>
        </p:sp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AE0F9AB9-8827-C652-37FD-9F1BA0136E28}"/>
              </a:ext>
            </a:extLst>
          </p:cNvPr>
          <p:cNvGrpSpPr/>
          <p:nvPr/>
        </p:nvGrpSpPr>
        <p:grpSpPr>
          <a:xfrm>
            <a:off x="10585328" y="2696254"/>
            <a:ext cx="560476" cy="560476"/>
            <a:chOff x="2933661" y="5478818"/>
            <a:chExt cx="715917" cy="715917"/>
          </a:xfrm>
        </p:grpSpPr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id="{1188AE51-50F8-3E8F-C1DE-2B8E81CF26F7}"/>
                </a:ext>
              </a:extLst>
            </p:cNvPr>
            <p:cNvGrpSpPr/>
            <p:nvPr/>
          </p:nvGrpSpPr>
          <p:grpSpPr>
            <a:xfrm>
              <a:off x="2933661" y="5478818"/>
              <a:ext cx="715917" cy="715917"/>
              <a:chOff x="2823128" y="5562141"/>
              <a:chExt cx="915711" cy="915711"/>
            </a:xfrm>
          </p:grpSpPr>
          <p:pic>
            <p:nvPicPr>
              <p:cNvPr id="301" name="Picture 300">
                <a:extLst>
                  <a:ext uri="{FF2B5EF4-FFF2-40B4-BE49-F238E27FC236}">
                    <a16:creationId xmlns:a16="http://schemas.microsoft.com/office/drawing/2014/main" id="{77AC75D5-B2FB-86A8-B92A-65BFB81622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grayscl/>
                <a:alphaModFix amt="35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45215" y1="27637" x2="45215" y2="27637"/>
                            <a14:foregroundMark x1="57910" y1="26758" x2="57910" y2="26758"/>
                            <a14:foregroundMark x1="62305" y1="28613" x2="62305" y2="28613"/>
                            <a14:foregroundMark x1="45117" y1="27539" x2="45117" y2="27539"/>
                            <a14:foregroundMark x1="44141" y1="72266" x2="37500" y2="70215"/>
                            <a14:foregroundMark x1="37500" y1="70215" x2="30469" y2="64063"/>
                            <a14:foregroundMark x1="30469" y1="64063" x2="26465" y2="47852"/>
                            <a14:foregroundMark x1="26465" y1="47852" x2="31641" y2="34766"/>
                            <a14:foregroundMark x1="31641" y1="34766" x2="37988" y2="29980"/>
                            <a14:foregroundMark x1="37988" y1="29980" x2="46777" y2="27051"/>
                            <a14:foregroundMark x1="46777" y1="27051" x2="54199" y2="26855"/>
                            <a14:foregroundMark x1="54199" y1="26855" x2="62402" y2="29688"/>
                            <a14:foregroundMark x1="62402" y1="29688" x2="68750" y2="35059"/>
                            <a14:foregroundMark x1="68750" y1="35059" x2="72070" y2="42188"/>
                            <a14:foregroundMark x1="72070" y1="42188" x2="71387" y2="62109"/>
                            <a14:foregroundMark x1="71387" y1="62109" x2="64551" y2="68457"/>
                            <a14:foregroundMark x1="64551" y1="68457" x2="41895" y2="73633"/>
                            <a14:foregroundMark x1="41504" y1="33496" x2="51563" y2="32031"/>
                            <a14:foregroundMark x1="51563" y1="32031" x2="59570" y2="34668"/>
                            <a14:foregroundMark x1="59570" y1="34668" x2="66211" y2="40430"/>
                            <a14:foregroundMark x1="66211" y1="40430" x2="67773" y2="49121"/>
                            <a14:foregroundMark x1="67773" y1="49121" x2="66406" y2="56934"/>
                            <a14:foregroundMark x1="66406" y1="56934" x2="61621" y2="62793"/>
                            <a14:foregroundMark x1="61621" y1="62793" x2="54883" y2="67285"/>
                            <a14:foregroundMark x1="54883" y1="67285" x2="45996" y2="66797"/>
                            <a14:foregroundMark x1="45996" y1="66797" x2="37598" y2="63086"/>
                            <a14:foregroundMark x1="37598" y1="63086" x2="33105" y2="55664"/>
                            <a14:foregroundMark x1="33105" y1="55664" x2="31836" y2="45703"/>
                            <a14:foregroundMark x1="31836" y1="45703" x2="35449" y2="39063"/>
                            <a14:foregroundMark x1="35449" y1="39063" x2="42188" y2="332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23128" y="5562141"/>
                <a:ext cx="915711" cy="915711"/>
              </a:xfrm>
              <a:prstGeom prst="rect">
                <a:avLst/>
              </a:prstGeom>
            </p:spPr>
          </p:pic>
          <p:sp>
            <p:nvSpPr>
              <p:cNvPr id="302" name="Oval 301">
                <a:extLst>
                  <a:ext uri="{FF2B5EF4-FFF2-40B4-BE49-F238E27FC236}">
                    <a16:creationId xmlns:a16="http://schemas.microsoft.com/office/drawing/2014/main" id="{9BB5F488-C2AB-3BE0-6D40-53E1182AAD2B}"/>
                  </a:ext>
                </a:extLst>
              </p:cNvPr>
              <p:cNvSpPr/>
              <p:nvPr/>
            </p:nvSpPr>
            <p:spPr>
              <a:xfrm>
                <a:off x="2966077" y="5698062"/>
                <a:ext cx="629815" cy="629815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8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pic>
          <p:nvPicPr>
            <p:cNvPr id="299" name="Graphic 298" descr="Artificial Intelligence outline">
              <a:extLst>
                <a:ext uri="{FF2B5EF4-FFF2-40B4-BE49-F238E27FC236}">
                  <a16:creationId xmlns:a16="http://schemas.microsoft.com/office/drawing/2014/main" id="{15ACFFA7-2CD1-92EA-C646-ACA547D9E2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99794" y="5735110"/>
              <a:ext cx="203331" cy="203331"/>
            </a:xfrm>
            <a:prstGeom prst="rect">
              <a:avLst/>
            </a:prstGeom>
          </p:spPr>
        </p:pic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F9C070F2-74F3-F141-F9AF-11FF4D14EBD8}"/>
                </a:ext>
              </a:extLst>
            </p:cNvPr>
            <p:cNvSpPr txBox="1"/>
            <p:nvPr/>
          </p:nvSpPr>
          <p:spPr>
            <a:xfrm>
              <a:off x="2999994" y="5961818"/>
              <a:ext cx="602932" cy="7049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400" b="1">
                  <a:solidFill>
                    <a:schemeClr val="tx1">
                      <a:lumMod val="60000"/>
                      <a:lumOff val="40000"/>
                    </a:schemeClr>
                  </a:solidFill>
                  <a:latin typeface="Aptos" panose="020B0004020202020204" pitchFamily="34" charset="0"/>
                </a:rPr>
                <a:t>Transaction </a:t>
              </a:r>
            </a:p>
            <a:p>
              <a:pPr algn="ctr"/>
              <a:r>
                <a:rPr lang="en-GB" sz="400" b="1">
                  <a:solidFill>
                    <a:schemeClr val="tx1">
                      <a:lumMod val="60000"/>
                      <a:lumOff val="40000"/>
                    </a:schemeClr>
                  </a:solidFill>
                  <a:latin typeface="Aptos" panose="020B0004020202020204" pitchFamily="34" charset="0"/>
                </a:rPr>
                <a:t>agent</a:t>
              </a:r>
            </a:p>
          </p:txBody>
        </p:sp>
      </p:grp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6455B65E-A629-F9CF-2F2C-9131BEFCF139}"/>
              </a:ext>
            </a:extLst>
          </p:cNvPr>
          <p:cNvCxnSpPr>
            <a:cxnSpLocks/>
            <a:stCxn id="42" idx="6"/>
            <a:endCxn id="302" idx="2"/>
          </p:cNvCxnSpPr>
          <p:nvPr/>
        </p:nvCxnSpPr>
        <p:spPr>
          <a:xfrm flipV="1">
            <a:off x="10108993" y="2972192"/>
            <a:ext cx="563829" cy="180688"/>
          </a:xfrm>
          <a:prstGeom prst="straightConnector1">
            <a:avLst/>
          </a:prstGeom>
          <a:ln w="12700">
            <a:solidFill>
              <a:schemeClr val="bg2">
                <a:lumMod val="85000"/>
              </a:schemeClr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566D107D-1B06-4E4D-D701-565159B9AF6D}"/>
              </a:ext>
            </a:extLst>
          </p:cNvPr>
          <p:cNvCxnSpPr>
            <a:cxnSpLocks/>
            <a:stCxn id="42" idx="6"/>
            <a:endCxn id="290" idx="2"/>
          </p:cNvCxnSpPr>
          <p:nvPr/>
        </p:nvCxnSpPr>
        <p:spPr>
          <a:xfrm>
            <a:off x="10108993" y="3152880"/>
            <a:ext cx="574260" cy="263859"/>
          </a:xfrm>
          <a:prstGeom prst="straightConnector1">
            <a:avLst/>
          </a:prstGeom>
          <a:ln w="12700">
            <a:solidFill>
              <a:schemeClr val="tx1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Arrow Connector 311">
            <a:extLst>
              <a:ext uri="{FF2B5EF4-FFF2-40B4-BE49-F238E27FC236}">
                <a16:creationId xmlns:a16="http://schemas.microsoft.com/office/drawing/2014/main" id="{5A3627CF-9256-0AB6-F702-AF6DB8AB5E92}"/>
              </a:ext>
            </a:extLst>
          </p:cNvPr>
          <p:cNvCxnSpPr>
            <a:cxnSpLocks/>
            <a:stCxn id="42" idx="6"/>
            <a:endCxn id="296" idx="2"/>
          </p:cNvCxnSpPr>
          <p:nvPr/>
        </p:nvCxnSpPr>
        <p:spPr>
          <a:xfrm>
            <a:off x="10108993" y="3152880"/>
            <a:ext cx="577021" cy="708390"/>
          </a:xfrm>
          <a:prstGeom prst="straightConnector1">
            <a:avLst/>
          </a:prstGeom>
          <a:ln w="12700">
            <a:solidFill>
              <a:schemeClr val="bg2">
                <a:lumMod val="85000"/>
              </a:schemeClr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Arrow Connector 315">
            <a:extLst>
              <a:ext uri="{FF2B5EF4-FFF2-40B4-BE49-F238E27FC236}">
                <a16:creationId xmlns:a16="http://schemas.microsoft.com/office/drawing/2014/main" id="{3BA9FFEE-2291-2E8D-01FC-497BB9565FDB}"/>
              </a:ext>
            </a:extLst>
          </p:cNvPr>
          <p:cNvCxnSpPr>
            <a:cxnSpLocks/>
            <a:stCxn id="290" idx="6"/>
            <a:endCxn id="269" idx="2"/>
          </p:cNvCxnSpPr>
          <p:nvPr/>
        </p:nvCxnSpPr>
        <p:spPr>
          <a:xfrm flipV="1">
            <a:off x="11068742" y="3415487"/>
            <a:ext cx="448164" cy="1252"/>
          </a:xfrm>
          <a:prstGeom prst="straightConnector1">
            <a:avLst/>
          </a:prstGeom>
          <a:ln w="12700">
            <a:solidFill>
              <a:schemeClr val="tx1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0" name="TextBox 319">
            <a:extLst>
              <a:ext uri="{FF2B5EF4-FFF2-40B4-BE49-F238E27FC236}">
                <a16:creationId xmlns:a16="http://schemas.microsoft.com/office/drawing/2014/main" id="{63D33D8D-7AD3-F0C9-96FA-E4152C158F01}"/>
              </a:ext>
            </a:extLst>
          </p:cNvPr>
          <p:cNvSpPr txBox="1"/>
          <p:nvPr/>
        </p:nvSpPr>
        <p:spPr>
          <a:xfrm rot="1407104">
            <a:off x="10066017" y="3242243"/>
            <a:ext cx="669814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500" i="1">
                <a:latin typeface="Aptos" panose="020B0004020202020204" pitchFamily="34" charset="0"/>
              </a:rPr>
              <a:t>Doc</a:t>
            </a:r>
            <a:r>
              <a:rPr lang="en-GB" sz="500">
                <a:latin typeface="Aptos" panose="020B0004020202020204" pitchFamily="34" charset="0"/>
              </a:rPr>
              <a:t> </a:t>
            </a:r>
            <a:r>
              <a:rPr lang="en-GB" sz="500" i="1">
                <a:latin typeface="Aptos" panose="020B0004020202020204" pitchFamily="34" charset="0"/>
              </a:rPr>
              <a:t>categorized</a:t>
            </a: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F3A9BCDF-0A05-80F7-922D-5BBCF8F25A64}"/>
              </a:ext>
            </a:extLst>
          </p:cNvPr>
          <p:cNvSpPr txBox="1"/>
          <p:nvPr/>
        </p:nvSpPr>
        <p:spPr>
          <a:xfrm>
            <a:off x="11006686" y="3415417"/>
            <a:ext cx="669814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500" i="1">
                <a:latin typeface="Aptos" panose="020B0004020202020204" pitchFamily="34" charset="0"/>
              </a:rPr>
              <a:t>Data extracted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F55731E3-FD6C-F05F-EC48-3D5728B8EEE8}"/>
              </a:ext>
            </a:extLst>
          </p:cNvPr>
          <p:cNvSpPr txBox="1"/>
          <p:nvPr/>
        </p:nvSpPr>
        <p:spPr>
          <a:xfrm>
            <a:off x="11426934" y="3638569"/>
            <a:ext cx="669814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500" i="1">
                <a:latin typeface="Aptos" panose="020B0004020202020204" pitchFamily="34" charset="0"/>
              </a:rPr>
              <a:t>Transaction completed</a:t>
            </a:r>
          </a:p>
        </p:txBody>
      </p:sp>
    </p:spTree>
    <p:extLst>
      <p:ext uri="{BB962C8B-B14F-4D97-AF65-F5344CB8AC3E}">
        <p14:creationId xmlns:p14="http://schemas.microsoft.com/office/powerpoint/2010/main" val="1956091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0EBBF-DE45-6634-12C5-295866BEC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365650B7-7B09-3EE4-74FE-A34FA2568BBD}"/>
              </a:ext>
            </a:extLst>
          </p:cNvPr>
          <p:cNvCxnSpPr>
            <a:cxnSpLocks/>
          </p:cNvCxnSpPr>
          <p:nvPr/>
        </p:nvCxnSpPr>
        <p:spPr>
          <a:xfrm flipV="1">
            <a:off x="15173065" y="1624683"/>
            <a:ext cx="446238" cy="8128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1A53B372-6146-E6AB-A586-6F1B618B816B}"/>
              </a:ext>
            </a:extLst>
          </p:cNvPr>
          <p:cNvCxnSpPr>
            <a:cxnSpLocks/>
          </p:cNvCxnSpPr>
          <p:nvPr/>
        </p:nvCxnSpPr>
        <p:spPr>
          <a:xfrm>
            <a:off x="15173064" y="2448268"/>
            <a:ext cx="446238" cy="58971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B5F7C4A7-4CCB-B06F-72B3-0CF75DBEB70B}"/>
              </a:ext>
            </a:extLst>
          </p:cNvPr>
          <p:cNvSpPr txBox="1">
            <a:spLocks/>
          </p:cNvSpPr>
          <p:nvPr/>
        </p:nvSpPr>
        <p:spPr>
          <a:xfrm>
            <a:off x="192067" y="239394"/>
            <a:ext cx="12922354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ts val="3240"/>
              </a:lnSpc>
              <a:spcBef>
                <a:spcPct val="0"/>
              </a:spcBef>
              <a:buNone/>
              <a:defRPr lang="en-US" sz="3200" b="0" i="0" kern="1200" spc="-80" baseline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/>
              <a:t>AI tool strategy and approach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DF971A3-146A-C330-C276-882811AC56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292936"/>
              </p:ext>
            </p:extLst>
          </p:nvPr>
        </p:nvGraphicFramePr>
        <p:xfrm>
          <a:off x="276446" y="1540247"/>
          <a:ext cx="11440666" cy="4734685"/>
        </p:xfrm>
        <a:graphic>
          <a:graphicData uri="http://schemas.openxmlformats.org/drawingml/2006/table">
            <a:tbl>
              <a:tblPr firstRow="1" firstCol="1">
                <a:tableStyleId>{3B4B98B0-60AC-42C2-AFA5-B58CD77FA1E5}</a:tableStyleId>
              </a:tblPr>
              <a:tblGrid>
                <a:gridCol w="1480276">
                  <a:extLst>
                    <a:ext uri="{9D8B030D-6E8A-4147-A177-3AD203B41FA5}">
                      <a16:colId xmlns:a16="http://schemas.microsoft.com/office/drawing/2014/main" val="374322866"/>
                    </a:ext>
                  </a:extLst>
                </a:gridCol>
                <a:gridCol w="3279785">
                  <a:extLst>
                    <a:ext uri="{9D8B030D-6E8A-4147-A177-3AD203B41FA5}">
                      <a16:colId xmlns:a16="http://schemas.microsoft.com/office/drawing/2014/main" val="2261069113"/>
                    </a:ext>
                  </a:extLst>
                </a:gridCol>
                <a:gridCol w="3117219">
                  <a:extLst>
                    <a:ext uri="{9D8B030D-6E8A-4147-A177-3AD203B41FA5}">
                      <a16:colId xmlns:a16="http://schemas.microsoft.com/office/drawing/2014/main" val="2150783287"/>
                    </a:ext>
                  </a:extLst>
                </a:gridCol>
                <a:gridCol w="3563386">
                  <a:extLst>
                    <a:ext uri="{9D8B030D-6E8A-4147-A177-3AD203B41FA5}">
                      <a16:colId xmlns:a16="http://schemas.microsoft.com/office/drawing/2014/main" val="1692035901"/>
                    </a:ext>
                  </a:extLst>
                </a:gridCol>
              </a:tblGrid>
              <a:tr h="161027">
                <a:tc>
                  <a:txBody>
                    <a:bodyPr/>
                    <a:lstStyle/>
                    <a:p>
                      <a:pPr algn="ctr"/>
                      <a:endParaRPr lang="en-GB" sz="120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Option 1- multiple specialised agents</a:t>
                      </a: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Option 2- One agent + RAG</a:t>
                      </a: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Option 3- Orchestrator agent + specialised agent</a:t>
                      </a: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0049950"/>
                  </a:ext>
                </a:extLst>
              </a:tr>
              <a:tr h="766317">
                <a:tc>
                  <a:txBody>
                    <a:bodyPr/>
                    <a:lstStyle/>
                    <a:p>
                      <a:r>
                        <a:rPr lang="en-GB" sz="12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Documents classified by human operators, then routed to the specialised AI agent to extract data and sent to workflow for the RPA bot to complete the transaction. 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One agent that identifies document intent, and refers to a knowledge base of DOPs to classify and extract data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Intent and categorization handled by the first agent, and then classification and data extraction handled by a second agent (possibly using RAG).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530280"/>
                  </a:ext>
                </a:extLst>
              </a:tr>
              <a:tr h="766317">
                <a:tc>
                  <a:txBody>
                    <a:bodyPr/>
                    <a:lstStyle/>
                    <a:p>
                      <a:r>
                        <a:rPr lang="en-GB" sz="1200"/>
                        <a:t>Validation tests needed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/>
                        <a:t>Number of specialised agents: </a:t>
                      </a:r>
                      <a:r>
                        <a:rPr lang="en-GB" sz="1200"/>
                        <a:t>Do we need 73 specialised agents or can that number be reduced to cluster transactions?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/>
                        <a:t>LLM data extraction accuracy: </a:t>
                      </a:r>
                      <a:r>
                        <a:rPr lang="en-GB" sz="1200"/>
                        <a:t>Accuracy of data extraction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/>
                        <a:t>OCR only vs LLM: </a:t>
                      </a:r>
                      <a:r>
                        <a:rPr lang="en-GB" sz="1200"/>
                        <a:t>If classification is determined manually, then it may be faster to use TTA OCR without any LLMs to extract data deterministically)</a:t>
                      </a:r>
                    </a:p>
                  </a:txBody>
                  <a:tcPr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/>
                        <a:t>LLM Intent identification accuracy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/>
                        <a:t>LLM data extraction accuracy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/>
                        <a:t>LLM load tolerance:</a:t>
                      </a:r>
                      <a:r>
                        <a:rPr lang="en-GB" sz="1200"/>
                        <a:t> Is one agent sufficient to handle all cases? Or do we need multiple?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/>
                        <a:t>Number of specialised agents: </a:t>
                      </a:r>
                      <a:r>
                        <a:rPr lang="en-GB" sz="1200"/>
                        <a:t>Do we need 73 specialised agents or can that number be reduced to cluster transactions?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/>
                        <a:t>LLM Intent identification accuracy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200" b="1"/>
                        <a:t>LLM data extraction accuracy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548320"/>
                  </a:ext>
                </a:extLst>
              </a:tr>
              <a:tr h="766317">
                <a:tc>
                  <a:txBody>
                    <a:bodyPr/>
                    <a:lstStyle/>
                    <a:p>
                      <a:r>
                        <a:rPr lang="en-GB" sz="1200"/>
                        <a:t>Automation efficiency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High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Medium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029544"/>
                  </a:ext>
                </a:extLst>
              </a:tr>
              <a:tr h="566864">
                <a:tc>
                  <a:txBody>
                    <a:bodyPr/>
                    <a:lstStyle/>
                    <a:p>
                      <a:r>
                        <a:rPr lang="en-GB" sz="1200"/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Simple (prompt only)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Medium (one or more RAG agents needed)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Medium (one or more RAG agents needed)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162420"/>
                  </a:ext>
                </a:extLst>
              </a:tr>
              <a:tr h="566864">
                <a:tc>
                  <a:txBody>
                    <a:bodyPr/>
                    <a:lstStyle/>
                    <a:p>
                      <a:r>
                        <a:rPr lang="en-GB" sz="1200"/>
                        <a:t>OKRs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Accuracy, speed, cost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Accuracy, speed, cost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Accuracy, speed, cost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89507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77D5392-E651-146B-9F26-B07689CB9E9A}"/>
              </a:ext>
            </a:extLst>
          </p:cNvPr>
          <p:cNvSpPr txBox="1"/>
          <p:nvPr/>
        </p:nvSpPr>
        <p:spPr>
          <a:xfrm>
            <a:off x="276446" y="907769"/>
            <a:ext cx="11440666" cy="307777"/>
          </a:xfrm>
          <a:prstGeom prst="rect">
            <a:avLst/>
          </a:prstGeom>
          <a:solidFill>
            <a:srgbClr val="F2EAF0"/>
          </a:solidFill>
          <a:ln w="2540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l"/>
            <a:r>
              <a:rPr lang="en-GB" sz="1400">
                <a:solidFill>
                  <a:schemeClr val="accent1"/>
                </a:solidFill>
                <a:latin typeface="Aptos" panose="020B0004020202020204" pitchFamily="34" charset="0"/>
              </a:rPr>
              <a:t>Depending on initial test results, the preferred option will be based on a trade-off between LLM accuracy, speed and cost </a:t>
            </a:r>
          </a:p>
        </p:txBody>
      </p:sp>
    </p:spTree>
    <p:extLst>
      <p:ext uri="{BB962C8B-B14F-4D97-AF65-F5344CB8AC3E}">
        <p14:creationId xmlns:p14="http://schemas.microsoft.com/office/powerpoint/2010/main" val="3164551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22AB8-78FC-A483-D550-D80AC6DD3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0D5434-34BC-AD89-BDF8-0977BFB10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4" y="2664688"/>
            <a:ext cx="9534525" cy="1528624"/>
          </a:xfrm>
        </p:spPr>
        <p:txBody>
          <a:bodyPr wrap="square" anchor="ctr">
            <a:normAutofit fontScale="90000"/>
          </a:bodyPr>
          <a:lstStyle/>
          <a:p>
            <a:r>
              <a:rPr lang="en-GB"/>
              <a:t>Simple Transaction</a:t>
            </a:r>
            <a:br>
              <a:rPr lang="en-GB"/>
            </a:br>
            <a:br>
              <a:rPr lang="en-GB"/>
            </a:br>
            <a:r>
              <a:rPr lang="en-GB"/>
              <a:t>Recordkeeping (DRIP OCP)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283F0513-AAC5-3785-B5AF-FF5A1390503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fld id="{0BBDC51F-5D11-B24C-B440-508FFDF318C8}" type="slidenum">
              <a:rPr lang="en-AU" smtClean="0"/>
              <a:pPr>
                <a:spcAft>
                  <a:spcPts val="600"/>
                </a:spcAft>
              </a:pPr>
              <a:t>17</a:t>
            </a:fld>
            <a:endParaRPr lang="en-A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0101EE-C324-FF40-6FC6-B9304E896C4D}"/>
              </a:ext>
            </a:extLst>
          </p:cNvPr>
          <p:cNvSpPr txBox="1"/>
          <p:nvPr/>
        </p:nvSpPr>
        <p:spPr>
          <a:xfrm>
            <a:off x="5086348" y="5425559"/>
            <a:ext cx="2009775" cy="369332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10 mins</a:t>
            </a:r>
          </a:p>
        </p:txBody>
      </p:sp>
    </p:spTree>
    <p:extLst>
      <p:ext uri="{BB962C8B-B14F-4D97-AF65-F5344CB8AC3E}">
        <p14:creationId xmlns:p14="http://schemas.microsoft.com/office/powerpoint/2010/main" val="115483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63752-DCBF-1D43-C9FB-C5AC33DC3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2A06CFC5-5A7F-3F74-A674-03D339203B54}"/>
              </a:ext>
            </a:extLst>
          </p:cNvPr>
          <p:cNvSpPr/>
          <p:nvPr/>
        </p:nvSpPr>
        <p:spPr>
          <a:xfrm>
            <a:off x="6439710" y="0"/>
            <a:ext cx="5752289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0CEB63-AF5B-D43A-CE05-3E64F6A98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89" y="239394"/>
            <a:ext cx="11555037" cy="513795"/>
          </a:xfrm>
        </p:spPr>
        <p:txBody>
          <a:bodyPr/>
          <a:lstStyle/>
          <a:p>
            <a:r>
              <a:rPr lang="en-GB"/>
              <a:t>Recordkeeping: DRIP OCP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78FFA5E-6ECD-284B-B792-3D67320D88D7}"/>
              </a:ext>
            </a:extLst>
          </p:cNvPr>
          <p:cNvGraphicFramePr>
            <a:graphicFrameLocks noGrp="1"/>
          </p:cNvGraphicFramePr>
          <p:nvPr/>
        </p:nvGraphicFramePr>
        <p:xfrm>
          <a:off x="366449" y="899678"/>
          <a:ext cx="1530548" cy="640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65274">
                  <a:extLst>
                    <a:ext uri="{9D8B030D-6E8A-4147-A177-3AD203B41FA5}">
                      <a16:colId xmlns:a16="http://schemas.microsoft.com/office/drawing/2014/main" val="3797908833"/>
                    </a:ext>
                  </a:extLst>
                </a:gridCol>
                <a:gridCol w="765274">
                  <a:extLst>
                    <a:ext uri="{9D8B030D-6E8A-4147-A177-3AD203B41FA5}">
                      <a16:colId xmlns:a16="http://schemas.microsoft.com/office/drawing/2014/main" val="231834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GB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FTE Effort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990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accent1"/>
                          </a:solidFill>
                        </a:rPr>
                        <a:t>Classify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0.54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88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accent1"/>
                          </a:solidFill>
                        </a:rPr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0.60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21578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8C25896-0179-E6AD-644C-6FDF64C7CE81}"/>
              </a:ext>
            </a:extLst>
          </p:cNvPr>
          <p:cNvGraphicFramePr>
            <a:graphicFrameLocks noGrp="1"/>
          </p:cNvGraphicFramePr>
          <p:nvPr/>
        </p:nvGraphicFramePr>
        <p:xfrm>
          <a:off x="392651" y="4644073"/>
          <a:ext cx="5703349" cy="2148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9730">
                  <a:extLst>
                    <a:ext uri="{9D8B030D-6E8A-4147-A177-3AD203B41FA5}">
                      <a16:colId xmlns:a16="http://schemas.microsoft.com/office/drawing/2014/main" val="3797908833"/>
                    </a:ext>
                  </a:extLst>
                </a:gridCol>
                <a:gridCol w="962247">
                  <a:extLst>
                    <a:ext uri="{9D8B030D-6E8A-4147-A177-3AD203B41FA5}">
                      <a16:colId xmlns:a16="http://schemas.microsoft.com/office/drawing/2014/main" val="231834019"/>
                    </a:ext>
                  </a:extLst>
                </a:gridCol>
                <a:gridCol w="1233377">
                  <a:extLst>
                    <a:ext uri="{9D8B030D-6E8A-4147-A177-3AD203B41FA5}">
                      <a16:colId xmlns:a16="http://schemas.microsoft.com/office/drawing/2014/main" val="1129619057"/>
                    </a:ext>
                  </a:extLst>
                </a:gridCol>
                <a:gridCol w="1137683">
                  <a:extLst>
                    <a:ext uri="{9D8B030D-6E8A-4147-A177-3AD203B41FA5}">
                      <a16:colId xmlns:a16="http://schemas.microsoft.com/office/drawing/2014/main" val="1890311214"/>
                    </a:ext>
                  </a:extLst>
                </a:gridCol>
                <a:gridCol w="1057940">
                  <a:extLst>
                    <a:ext uri="{9D8B030D-6E8A-4147-A177-3AD203B41FA5}">
                      <a16:colId xmlns:a16="http://schemas.microsoft.com/office/drawing/2014/main" val="1003282592"/>
                    </a:ext>
                  </a:extLst>
                </a:gridCol>
                <a:gridCol w="992372">
                  <a:extLst>
                    <a:ext uri="{9D8B030D-6E8A-4147-A177-3AD203B41FA5}">
                      <a16:colId xmlns:a16="http://schemas.microsoft.com/office/drawing/2014/main" val="1679206510"/>
                    </a:ext>
                  </a:extLst>
                </a:gridCol>
              </a:tblGrid>
              <a:tr h="360199">
                <a:tc>
                  <a:txBody>
                    <a:bodyPr/>
                    <a:lstStyle/>
                    <a:p>
                      <a:pPr algn="ctr"/>
                      <a:endParaRPr lang="en-GB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/>
                        <a:t>Field extraction required per page</a:t>
                      </a:r>
                    </a:p>
                  </a:txBody>
                  <a:tcPr>
                    <a:solidFill>
                      <a:srgbClr val="3C1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Future categorization</a:t>
                      </a:r>
                      <a:br>
                        <a:rPr lang="en-GB" sz="800"/>
                      </a:br>
                      <a:r>
                        <a:rPr lang="en-GB" sz="800" b="0"/>
                        <a:t>(page level)</a:t>
                      </a:r>
                    </a:p>
                  </a:txBody>
                  <a:tcPr>
                    <a:solidFill>
                      <a:srgbClr val="3C1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Future categorization</a:t>
                      </a:r>
                      <a:br>
                        <a:rPr lang="en-GB" sz="800"/>
                      </a:br>
                      <a:r>
                        <a:rPr lang="en-GB" sz="800" b="0"/>
                        <a:t>(envelope level)</a:t>
                      </a:r>
                    </a:p>
                  </a:txBody>
                  <a:tcPr>
                    <a:solidFill>
                      <a:srgbClr val="3C17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990099"/>
                  </a:ext>
                </a:extLst>
              </a:tr>
              <a:tr h="132073">
                <a:tc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accent1"/>
                          </a:solidFill>
                        </a:rPr>
                        <a:t>A1</a:t>
                      </a:r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Cheque</a:t>
                      </a:r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Structured, unknown</a:t>
                      </a:r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/>
                        <a:t>Amount, Date, Name</a:t>
                      </a:r>
                    </a:p>
                  </a:txBody>
                  <a:tcPr marB="0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Cheque Front</a:t>
                      </a:r>
                    </a:p>
                  </a:txBody>
                  <a:tcPr marB="0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GB" sz="800"/>
                        <a:t>DSPP OCP</a:t>
                      </a:r>
                    </a:p>
                  </a:txBody>
                  <a:tcPr marB="0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883119"/>
                  </a:ext>
                </a:extLst>
              </a:tr>
              <a:tr h="132073">
                <a:tc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accent1"/>
                          </a:solidFill>
                        </a:rPr>
                        <a:t>A2</a:t>
                      </a:r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Cheque (back)</a:t>
                      </a:r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Unstructured, unknown</a:t>
                      </a:r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/>
                        <a:t>None</a:t>
                      </a:r>
                    </a:p>
                  </a:txBody>
                  <a:tcPr marB="0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Cheque Back</a:t>
                      </a:r>
                    </a:p>
                  </a:txBody>
                  <a:tcPr marB="0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228115"/>
                  </a:ext>
                </a:extLst>
              </a:tr>
              <a:tr h="420232">
                <a:tc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accent1"/>
                          </a:solidFill>
                        </a:rPr>
                        <a:t>B1</a:t>
                      </a:r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Handwritten instructions (back)</a:t>
                      </a:r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Unstructured, unknown</a:t>
                      </a:r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Name, Email, Phone Number, Company Name, Address, Account Number</a:t>
                      </a:r>
                    </a:p>
                  </a:txBody>
                  <a:tcPr marB="0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/>
                        <a:t>[Sell]/intent instruction letter</a:t>
                      </a:r>
                    </a:p>
                  </a:txBody>
                  <a:tcPr marB="0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215782"/>
                  </a:ext>
                </a:extLst>
              </a:tr>
              <a:tr h="132073">
                <a:tc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accent1"/>
                          </a:solidFill>
                        </a:rPr>
                        <a:t>B2</a:t>
                      </a:r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Card</a:t>
                      </a:r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Unstructured, unknown</a:t>
                      </a:r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None</a:t>
                      </a:r>
                    </a:p>
                  </a:txBody>
                  <a:tcPr marB="0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/>
                        <a:t>Card</a:t>
                      </a:r>
                    </a:p>
                  </a:txBody>
                  <a:tcPr marB="0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64445"/>
                  </a:ext>
                </a:extLst>
              </a:tr>
              <a:tr h="516285">
                <a:tc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accent1"/>
                          </a:solidFill>
                        </a:rPr>
                        <a:t>C</a:t>
                      </a:r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Direct Stock Purchase Plan, Initial Enrolment Form (Code: 62UEF)</a:t>
                      </a:r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Structured, known form</a:t>
                      </a:r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Same as Phase 1</a:t>
                      </a:r>
                    </a:p>
                  </a:txBody>
                  <a:tcPr marB="0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DSPP Initial Enrolment Form</a:t>
                      </a:r>
                    </a:p>
                  </a:txBody>
                  <a:tcPr marB="0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80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999748"/>
                  </a:ext>
                </a:extLst>
              </a:tr>
            </a:tbl>
          </a:graphicData>
        </a:graphic>
      </p:graphicFrame>
      <p:pic>
        <p:nvPicPr>
          <p:cNvPr id="37" name="Picture 36">
            <a:extLst>
              <a:ext uri="{FF2B5EF4-FFF2-40B4-BE49-F238E27FC236}">
                <a16:creationId xmlns:a16="http://schemas.microsoft.com/office/drawing/2014/main" id="{85640921-24C7-440A-4F99-6016389E5C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065" y="4212750"/>
            <a:ext cx="1841474" cy="24644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26AD7D5-9621-6ACB-240D-CCEDB6BB9B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614857" y="4212750"/>
            <a:ext cx="1829272" cy="24644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EDDE970C-17F1-E45D-D3C6-2FCFAC757B68}"/>
              </a:ext>
            </a:extLst>
          </p:cNvPr>
          <p:cNvSpPr txBox="1"/>
          <p:nvPr/>
        </p:nvSpPr>
        <p:spPr>
          <a:xfrm>
            <a:off x="412149" y="653457"/>
            <a:ext cx="1124667" cy="246221"/>
          </a:xfrm>
          <a:prstGeom prst="rect">
            <a:avLst/>
          </a:prstGeom>
          <a:noFill/>
          <a:ln w="25400">
            <a:noFill/>
          </a:ln>
        </p:spPr>
        <p:txBody>
          <a:bodyPr wrap="none" lIns="0" rtlCol="0">
            <a:spAutoFit/>
          </a:bodyPr>
          <a:lstStyle/>
          <a:p>
            <a:pPr algn="l"/>
            <a:r>
              <a:rPr lang="en-GB" sz="1000" b="1">
                <a:solidFill>
                  <a:schemeClr val="accent1"/>
                </a:solidFill>
                <a:latin typeface="Aptos" panose="020B0004020202020204" pitchFamily="34" charset="0"/>
              </a:rPr>
              <a:t>Overview of effort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274FD97-230D-7CBE-32BF-757AEEB20E6B}"/>
              </a:ext>
            </a:extLst>
          </p:cNvPr>
          <p:cNvSpPr txBox="1"/>
          <p:nvPr/>
        </p:nvSpPr>
        <p:spPr>
          <a:xfrm>
            <a:off x="392651" y="4397852"/>
            <a:ext cx="1754648" cy="246221"/>
          </a:xfrm>
          <a:prstGeom prst="rect">
            <a:avLst/>
          </a:prstGeom>
          <a:noFill/>
          <a:ln w="25400">
            <a:noFill/>
          </a:ln>
        </p:spPr>
        <p:txBody>
          <a:bodyPr wrap="none" lIns="0" rtlCol="0">
            <a:spAutoFit/>
          </a:bodyPr>
          <a:lstStyle/>
          <a:p>
            <a:pPr algn="l"/>
            <a:r>
              <a:rPr lang="en-GB" sz="1000" b="1">
                <a:solidFill>
                  <a:schemeClr val="accent1"/>
                </a:solidFill>
                <a:latin typeface="Aptos" panose="020B0004020202020204" pitchFamily="34" charset="0"/>
              </a:rPr>
              <a:t>Typical contents of envelope</a:t>
            </a:r>
          </a:p>
        </p:txBody>
      </p:sp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EC8AE5B1-A3E8-5D1E-0F91-3EBB152BF4A0}"/>
              </a:ext>
            </a:extLst>
          </p:cNvPr>
          <p:cNvGraphicFramePr>
            <a:graphicFrameLocks noGrp="1"/>
          </p:cNvGraphicFramePr>
          <p:nvPr/>
        </p:nvGraphicFramePr>
        <p:xfrm>
          <a:off x="2147678" y="899680"/>
          <a:ext cx="4069647" cy="1950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9719">
                  <a:extLst>
                    <a:ext uri="{9D8B030D-6E8A-4147-A177-3AD203B41FA5}">
                      <a16:colId xmlns:a16="http://schemas.microsoft.com/office/drawing/2014/main" val="3797908833"/>
                    </a:ext>
                  </a:extLst>
                </a:gridCol>
                <a:gridCol w="1791604">
                  <a:extLst>
                    <a:ext uri="{9D8B030D-6E8A-4147-A177-3AD203B41FA5}">
                      <a16:colId xmlns:a16="http://schemas.microsoft.com/office/drawing/2014/main" val="231834019"/>
                    </a:ext>
                  </a:extLst>
                </a:gridCol>
                <a:gridCol w="1042669">
                  <a:extLst>
                    <a:ext uri="{9D8B030D-6E8A-4147-A177-3AD203B41FA5}">
                      <a16:colId xmlns:a16="http://schemas.microsoft.com/office/drawing/2014/main" val="4213265487"/>
                    </a:ext>
                  </a:extLst>
                </a:gridCol>
                <a:gridCol w="1025655">
                  <a:extLst>
                    <a:ext uri="{9D8B030D-6E8A-4147-A177-3AD203B41FA5}">
                      <a16:colId xmlns:a16="http://schemas.microsoft.com/office/drawing/2014/main" val="1129619057"/>
                    </a:ext>
                  </a:extLst>
                </a:gridCol>
              </a:tblGrid>
              <a:tr h="185294">
                <a:tc>
                  <a:txBody>
                    <a:bodyPr/>
                    <a:lstStyle/>
                    <a:p>
                      <a:pPr algn="ctr"/>
                      <a:endParaRPr lang="en-GB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System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Who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990099"/>
                  </a:ext>
                </a:extLst>
              </a:tr>
              <a:tr h="185294">
                <a:tc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Open 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Mailroom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155417"/>
                  </a:ext>
                </a:extLst>
              </a:tr>
              <a:tr h="185294">
                <a:tc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Scan mail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Workflow (via EDC)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Mailroom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883119"/>
                  </a:ext>
                </a:extLst>
              </a:tr>
              <a:tr h="185294">
                <a:tc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accent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Process checks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err="1"/>
                        <a:t>Accnt</a:t>
                      </a:r>
                      <a:r>
                        <a:rPr lang="en-GB" sz="800"/>
                        <a:t> </a:t>
                      </a:r>
                      <a:r>
                        <a:rPr lang="en-GB" sz="800" err="1"/>
                        <a:t>R’keeping</a:t>
                      </a:r>
                      <a:endParaRPr lang="en-GB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215782"/>
                  </a:ext>
                </a:extLst>
              </a:tr>
              <a:tr h="185294">
                <a:tc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Update Account 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SCRIP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/>
                        <a:t>Accnt R’keeping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999748"/>
                  </a:ext>
                </a:extLst>
              </a:tr>
              <a:tr h="185294">
                <a:tc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accent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Update OCP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OCP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err="1"/>
                        <a:t>Accnt</a:t>
                      </a:r>
                      <a:r>
                        <a:rPr lang="en-GB" sz="800"/>
                        <a:t> </a:t>
                      </a:r>
                      <a:r>
                        <a:rPr lang="en-GB" sz="800" err="1"/>
                        <a:t>R’keeping</a:t>
                      </a:r>
                      <a:endParaRPr lang="en-GB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866088"/>
                  </a:ext>
                </a:extLst>
              </a:tr>
              <a:tr h="185294">
                <a:tc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accent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QA, end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err="1"/>
                        <a:t>Accnt</a:t>
                      </a:r>
                      <a:r>
                        <a:rPr lang="en-GB" sz="800"/>
                        <a:t> </a:t>
                      </a:r>
                      <a:r>
                        <a:rPr lang="en-GB" sz="800" err="1"/>
                        <a:t>R’keeping</a:t>
                      </a:r>
                      <a:endParaRPr lang="en-GB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462952"/>
                  </a:ext>
                </a:extLst>
              </a:tr>
              <a:tr h="397059">
                <a:tc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accent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(Reconciliation) Mailroom run OCP report to see additions to system that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OCP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/>
                        <a:t>Mailroom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395896"/>
                  </a:ext>
                </a:extLst>
              </a:tr>
            </a:tbl>
          </a:graphicData>
        </a:graphic>
      </p:graphicFrame>
      <p:sp>
        <p:nvSpPr>
          <p:cNvPr id="54" name="TextBox 53">
            <a:extLst>
              <a:ext uri="{FF2B5EF4-FFF2-40B4-BE49-F238E27FC236}">
                <a16:creationId xmlns:a16="http://schemas.microsoft.com/office/drawing/2014/main" id="{B963DEBE-A646-C394-5B34-48AE74654447}"/>
              </a:ext>
            </a:extLst>
          </p:cNvPr>
          <p:cNvSpPr txBox="1"/>
          <p:nvPr/>
        </p:nvSpPr>
        <p:spPr>
          <a:xfrm>
            <a:off x="2147678" y="660663"/>
            <a:ext cx="1174360" cy="246221"/>
          </a:xfrm>
          <a:prstGeom prst="rect">
            <a:avLst/>
          </a:prstGeom>
          <a:noFill/>
          <a:ln w="25400">
            <a:noFill/>
          </a:ln>
        </p:spPr>
        <p:txBody>
          <a:bodyPr wrap="none" lIns="0" rtlCol="0">
            <a:spAutoFit/>
          </a:bodyPr>
          <a:lstStyle/>
          <a:p>
            <a:pPr algn="l"/>
            <a:r>
              <a:rPr lang="en-GB" sz="1000" b="1">
                <a:solidFill>
                  <a:schemeClr val="accent1"/>
                </a:solidFill>
                <a:latin typeface="Aptos" panose="020B0004020202020204" pitchFamily="34" charset="0"/>
              </a:rPr>
              <a:t>Key process steps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3541468-3D0A-9FB4-3653-9258CD16F29A}"/>
              </a:ext>
            </a:extLst>
          </p:cNvPr>
          <p:cNvSpPr txBox="1"/>
          <p:nvPr/>
        </p:nvSpPr>
        <p:spPr>
          <a:xfrm>
            <a:off x="396593" y="2700557"/>
            <a:ext cx="608500" cy="246221"/>
          </a:xfrm>
          <a:prstGeom prst="rect">
            <a:avLst/>
          </a:prstGeom>
          <a:noFill/>
          <a:ln w="25400">
            <a:noFill/>
          </a:ln>
        </p:spPr>
        <p:txBody>
          <a:bodyPr wrap="none" lIns="0" rtlCol="0">
            <a:spAutoFit/>
          </a:bodyPr>
          <a:lstStyle/>
          <a:p>
            <a:pPr algn="l"/>
            <a:r>
              <a:rPr lang="en-GB" sz="1000" b="1">
                <a:solidFill>
                  <a:schemeClr val="accent1"/>
                </a:solidFill>
                <a:latin typeface="Aptos" panose="020B0004020202020204" pitchFamily="34" charset="0"/>
              </a:rPr>
              <a:t>Volumes</a:t>
            </a: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9B006C9B-D156-5549-ADE0-BDC5884B174D}"/>
              </a:ext>
            </a:extLst>
          </p:cNvPr>
          <p:cNvGraphicFramePr>
            <a:graphicFrameLocks noGrp="1"/>
          </p:cNvGraphicFramePr>
          <p:nvPr/>
        </p:nvGraphicFramePr>
        <p:xfrm>
          <a:off x="396593" y="2953984"/>
          <a:ext cx="5487698" cy="145204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55855">
                  <a:extLst>
                    <a:ext uri="{9D8B030D-6E8A-4147-A177-3AD203B41FA5}">
                      <a16:colId xmlns:a16="http://schemas.microsoft.com/office/drawing/2014/main" val="1997329559"/>
                    </a:ext>
                  </a:extLst>
                </a:gridCol>
                <a:gridCol w="834030">
                  <a:extLst>
                    <a:ext uri="{9D8B030D-6E8A-4147-A177-3AD203B41FA5}">
                      <a16:colId xmlns:a16="http://schemas.microsoft.com/office/drawing/2014/main" val="2881029501"/>
                    </a:ext>
                  </a:extLst>
                </a:gridCol>
                <a:gridCol w="779160">
                  <a:extLst>
                    <a:ext uri="{9D8B030D-6E8A-4147-A177-3AD203B41FA5}">
                      <a16:colId xmlns:a16="http://schemas.microsoft.com/office/drawing/2014/main" val="141682241"/>
                    </a:ext>
                  </a:extLst>
                </a:gridCol>
                <a:gridCol w="570653">
                  <a:extLst>
                    <a:ext uri="{9D8B030D-6E8A-4147-A177-3AD203B41FA5}">
                      <a16:colId xmlns:a16="http://schemas.microsoft.com/office/drawing/2014/main" val="1940841790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363936488"/>
                    </a:ext>
                  </a:extLst>
                </a:gridCol>
              </a:tblGrid>
              <a:tr h="2161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Row Labels</a:t>
                      </a:r>
                      <a:endParaRPr lang="en-GB" sz="9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Volume (Mail, US)</a:t>
                      </a:r>
                      <a:endParaRPr lang="en-GB" sz="9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FTE Effort</a:t>
                      </a:r>
                      <a:endParaRPr lang="en-GB" sz="9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Volume (%)</a:t>
                      </a:r>
                      <a:endParaRPr lang="en-GB" sz="9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Future categorization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0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(transaction level)</a:t>
                      </a:r>
                    </a:p>
                  </a:txBody>
                  <a:tcPr marL="6350" marR="6350" marT="6350" marB="0" anchor="ctr">
                    <a:solidFill>
                      <a:srgbClr val="3C17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221314"/>
                  </a:ext>
                </a:extLst>
              </a:tr>
              <a:tr h="1100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1" u="none" strike="noStrike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DripOCP</a:t>
                      </a:r>
                      <a:endParaRPr lang="en-GB" sz="800" b="1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13,191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1.145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DRIPOCP</a:t>
                      </a:r>
                    </a:p>
                  </a:txBody>
                  <a:tcPr marL="6350" marR="6350" marT="6350" marB="0" anchor="b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244607"/>
                  </a:ext>
                </a:extLst>
              </a:tr>
              <a:tr h="1100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MatReqDripKit</a:t>
                      </a:r>
                      <a:endParaRPr lang="en-GB" sz="80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1584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0.270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DRIPOCP</a:t>
                      </a:r>
                    </a:p>
                  </a:txBody>
                  <a:tcPr marL="6350" marR="6350" marT="6350" marB="0" anchor="b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043631"/>
                  </a:ext>
                </a:extLst>
              </a:tr>
              <a:tr h="1100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DripEnrollment</a:t>
                      </a:r>
                      <a:endParaRPr lang="en-GB" sz="80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1385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0.115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DRIPOCP</a:t>
                      </a:r>
                    </a:p>
                  </a:txBody>
                  <a:tcPr marL="6350" marR="6350" marT="6350" marB="0" anchor="b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339273"/>
                  </a:ext>
                </a:extLst>
              </a:tr>
              <a:tr h="1100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DRIPElection</a:t>
                      </a:r>
                      <a:endParaRPr lang="en-GB" sz="80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0.024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DRIPOCP</a:t>
                      </a:r>
                    </a:p>
                  </a:txBody>
                  <a:tcPr marL="6350" marR="6350" marT="6350" marB="0" anchor="b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595286"/>
                  </a:ext>
                </a:extLst>
              </a:tr>
              <a:tr h="1452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DripOCPWeb</a:t>
                      </a:r>
                      <a:endParaRPr lang="en-GB" sz="80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0.097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DRIPOCP</a:t>
                      </a:r>
                    </a:p>
                  </a:txBody>
                  <a:tcPr marL="6350" marR="6350" marT="6350" marB="0" anchor="b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108100"/>
                  </a:ext>
                </a:extLst>
              </a:tr>
              <a:tr h="1100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DripTerminateSell</a:t>
                      </a:r>
                      <a:endParaRPr lang="en-GB" sz="80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DRIPOCP</a:t>
                      </a:r>
                    </a:p>
                  </a:txBody>
                  <a:tcPr marL="6350" marR="6350" marT="6350" marB="0" anchor="b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331028"/>
                  </a:ext>
                </a:extLst>
              </a:tr>
              <a:tr h="1100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DripPurchase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DRIPOCP</a:t>
                      </a:r>
                    </a:p>
                  </a:txBody>
                  <a:tcPr marL="6350" marR="6350" marT="6350" marB="0" anchor="b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832582"/>
                  </a:ext>
                </a:extLst>
              </a:tr>
              <a:tr h="1100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DripTerminateIssue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DRIPOCP</a:t>
                      </a:r>
                    </a:p>
                  </a:txBody>
                  <a:tcPr marL="6350" marR="6350" marT="6350" marB="0" anchor="b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471523"/>
                  </a:ext>
                </a:extLst>
              </a:tr>
              <a:tr h="11008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EsppDripEnrollment</a:t>
                      </a:r>
                      <a:endParaRPr lang="en-GB" sz="80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DRIPOCP</a:t>
                      </a:r>
                    </a:p>
                  </a:txBody>
                  <a:tcPr marL="6350" marR="6350" marT="6350" marB="0" anchor="b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962123"/>
                  </a:ext>
                </a:extLst>
              </a:tr>
            </a:tbl>
          </a:graphicData>
        </a:graphic>
      </p:graphicFrame>
      <p:grpSp>
        <p:nvGrpSpPr>
          <p:cNvPr id="61" name="Group 60">
            <a:extLst>
              <a:ext uri="{FF2B5EF4-FFF2-40B4-BE49-F238E27FC236}">
                <a16:creationId xmlns:a16="http://schemas.microsoft.com/office/drawing/2014/main" id="{C8BD2E64-85B4-F6B6-17E5-5C5136F5979C}"/>
              </a:ext>
            </a:extLst>
          </p:cNvPr>
          <p:cNvGrpSpPr/>
          <p:nvPr/>
        </p:nvGrpSpPr>
        <p:grpSpPr>
          <a:xfrm>
            <a:off x="8946412" y="131109"/>
            <a:ext cx="2877051" cy="1315127"/>
            <a:chOff x="11309454" y="521403"/>
            <a:chExt cx="2877051" cy="131512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BF82A58-27AF-6FB7-E314-8EBE7336D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44007" y="619041"/>
              <a:ext cx="2842498" cy="121748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896E4E12-A05B-30EA-2FA8-6E41A117D26F}"/>
                </a:ext>
              </a:extLst>
            </p:cNvPr>
            <p:cNvSpPr/>
            <p:nvPr/>
          </p:nvSpPr>
          <p:spPr>
            <a:xfrm>
              <a:off x="11309454" y="521403"/>
              <a:ext cx="241357" cy="22923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000" b="1">
                  <a:solidFill>
                    <a:schemeClr val="accent1"/>
                  </a:solidFill>
                </a:rPr>
                <a:t>A2</a:t>
              </a:r>
            </a:p>
          </p:txBody>
        </p:sp>
      </p:grpSp>
      <p:pic>
        <p:nvPicPr>
          <p:cNvPr id="62" name="Picture 61">
            <a:extLst>
              <a:ext uri="{FF2B5EF4-FFF2-40B4-BE49-F238E27FC236}">
                <a16:creationId xmlns:a16="http://schemas.microsoft.com/office/drawing/2014/main" id="{B9ABBA3C-E938-378C-A458-209A8C18AE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9891" y="361128"/>
            <a:ext cx="3090671" cy="1310694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3FE65E16-752D-60AE-3FDE-D39B401F35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341" y="2043605"/>
            <a:ext cx="2589540" cy="1835933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789CD8E2-1E68-9273-0E30-5088ADDE0B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457128" y="2041030"/>
            <a:ext cx="2643390" cy="18855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298076-F406-3D04-ECF7-11229CEF675D}"/>
              </a:ext>
            </a:extLst>
          </p:cNvPr>
          <p:cNvSpPr txBox="1"/>
          <p:nvPr/>
        </p:nvSpPr>
        <p:spPr>
          <a:xfrm>
            <a:off x="-2101831" y="2344211"/>
            <a:ext cx="1927132" cy="784830"/>
          </a:xfrm>
          <a:prstGeom prst="rect">
            <a:avLst/>
          </a:prstGeom>
          <a:solidFill>
            <a:srgbClr val="FFFF00"/>
          </a:solidFill>
          <a:ln w="25400">
            <a:gradFill flip="none" rotWithShape="1">
              <a:gsLst>
                <a:gs pos="5000">
                  <a:schemeClr val="accent1"/>
                </a:gs>
                <a:gs pos="100000">
                  <a:schemeClr val="accent4"/>
                </a:gs>
              </a:gsLst>
              <a:lin ang="2700000" scaled="1"/>
              <a:tileRect/>
            </a:gradFill>
          </a:ln>
        </p:spPr>
        <p:txBody>
          <a:bodyPr wrap="square" rtlCol="0">
            <a:spAutoFit/>
          </a:bodyPr>
          <a:lstStyle/>
          <a:p>
            <a:pPr marL="173038" indent="-173038" algn="l">
              <a:buFont typeface="Aptos" panose="020B0004020202020204" pitchFamily="34" charset="0"/>
              <a:buChar char="›"/>
            </a:pPr>
            <a:r>
              <a:rPr lang="en-GB" sz="900">
                <a:latin typeface="Aptos" panose="020B0004020202020204" pitchFamily="34" charset="0"/>
              </a:rPr>
              <a:t>Separate into 1) initial application and 2) investment, if you get form c &gt;&gt; initial app. If no C, then apply funds to purchase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773F8-F94C-51F7-5B33-CA503E4A6314}"/>
              </a:ext>
            </a:extLst>
          </p:cNvPr>
          <p:cNvSpPr txBox="1"/>
          <p:nvPr/>
        </p:nvSpPr>
        <p:spPr>
          <a:xfrm>
            <a:off x="-2080891" y="1811136"/>
            <a:ext cx="1927132" cy="369332"/>
          </a:xfrm>
          <a:prstGeom prst="rect">
            <a:avLst/>
          </a:prstGeom>
          <a:solidFill>
            <a:srgbClr val="FFFF00"/>
          </a:solidFill>
          <a:ln w="25400">
            <a:gradFill flip="none" rotWithShape="1">
              <a:gsLst>
                <a:gs pos="5000">
                  <a:schemeClr val="accent1"/>
                </a:gs>
                <a:gs pos="100000">
                  <a:schemeClr val="accent4"/>
                </a:gs>
              </a:gsLst>
              <a:lin ang="2700000" scaled="1"/>
              <a:tileRect/>
            </a:gradFill>
          </a:ln>
        </p:spPr>
        <p:txBody>
          <a:bodyPr wrap="square" rtlCol="0">
            <a:spAutoFit/>
          </a:bodyPr>
          <a:lstStyle/>
          <a:p>
            <a:pPr marL="173038" indent="-173038" algn="l">
              <a:buFont typeface="Aptos" panose="020B0004020202020204" pitchFamily="34" charset="0"/>
              <a:buChar char="›"/>
            </a:pPr>
            <a:r>
              <a:rPr lang="en-GB" sz="900">
                <a:latin typeface="Aptos" panose="020B0004020202020204" pitchFamily="34" charset="0"/>
              </a:rPr>
              <a:t>Drip sponsored by client, DSPP sponsored by CPU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9F0B1B-930D-C561-9D76-8D4CCE91FB37}"/>
              </a:ext>
            </a:extLst>
          </p:cNvPr>
          <p:cNvSpPr/>
          <p:nvPr/>
        </p:nvSpPr>
        <p:spPr>
          <a:xfrm>
            <a:off x="412148" y="5096851"/>
            <a:ext cx="4702111" cy="208798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86C139-2993-F319-C6C6-961134DAB7C2}"/>
              </a:ext>
            </a:extLst>
          </p:cNvPr>
          <p:cNvSpPr/>
          <p:nvPr/>
        </p:nvSpPr>
        <p:spPr>
          <a:xfrm>
            <a:off x="412148" y="5448200"/>
            <a:ext cx="4702111" cy="500718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Ellipse 90">
            <a:extLst>
              <a:ext uri="{FF2B5EF4-FFF2-40B4-BE49-F238E27FC236}">
                <a16:creationId xmlns:a16="http://schemas.microsoft.com/office/drawing/2014/main" id="{72CD065E-F229-2016-BD1A-79AD65BDAAA7}"/>
              </a:ext>
            </a:extLst>
          </p:cNvPr>
          <p:cNvSpPr>
            <a:spLocks/>
          </p:cNvSpPr>
          <p:nvPr/>
        </p:nvSpPr>
        <p:spPr>
          <a:xfrm>
            <a:off x="6604670" y="228747"/>
            <a:ext cx="387303" cy="356506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A1</a:t>
            </a:r>
          </a:p>
        </p:txBody>
      </p:sp>
      <p:sp>
        <p:nvSpPr>
          <p:cNvPr id="12" name="Ellipse 90">
            <a:extLst>
              <a:ext uri="{FF2B5EF4-FFF2-40B4-BE49-F238E27FC236}">
                <a16:creationId xmlns:a16="http://schemas.microsoft.com/office/drawing/2014/main" id="{E716062C-D287-8F1D-86EE-78C612A8C37C}"/>
              </a:ext>
            </a:extLst>
          </p:cNvPr>
          <p:cNvSpPr>
            <a:spLocks/>
          </p:cNvSpPr>
          <p:nvPr/>
        </p:nvSpPr>
        <p:spPr>
          <a:xfrm>
            <a:off x="8873438" y="27916"/>
            <a:ext cx="387303" cy="356506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A2</a:t>
            </a:r>
          </a:p>
        </p:txBody>
      </p:sp>
      <p:sp>
        <p:nvSpPr>
          <p:cNvPr id="14" name="Ellipse 90">
            <a:extLst>
              <a:ext uri="{FF2B5EF4-FFF2-40B4-BE49-F238E27FC236}">
                <a16:creationId xmlns:a16="http://schemas.microsoft.com/office/drawing/2014/main" id="{F253B43B-1FB4-CA59-B199-E720931E1E12}"/>
              </a:ext>
            </a:extLst>
          </p:cNvPr>
          <p:cNvSpPr>
            <a:spLocks/>
          </p:cNvSpPr>
          <p:nvPr/>
        </p:nvSpPr>
        <p:spPr>
          <a:xfrm>
            <a:off x="6585860" y="1896231"/>
            <a:ext cx="387303" cy="356506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chemeClr val="accent1"/>
                </a:solidFill>
                <a:latin typeface="Aptos" panose="02110004020202020204"/>
              </a:rPr>
              <a:t>B1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Ellipse 90">
            <a:extLst>
              <a:ext uri="{FF2B5EF4-FFF2-40B4-BE49-F238E27FC236}">
                <a16:creationId xmlns:a16="http://schemas.microsoft.com/office/drawing/2014/main" id="{72281D44-B964-198F-0964-98BA204E3154}"/>
              </a:ext>
            </a:extLst>
          </p:cNvPr>
          <p:cNvSpPr>
            <a:spLocks/>
          </p:cNvSpPr>
          <p:nvPr/>
        </p:nvSpPr>
        <p:spPr>
          <a:xfrm>
            <a:off x="7425773" y="4026912"/>
            <a:ext cx="387303" cy="356506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chemeClr val="accent1"/>
                </a:solidFill>
                <a:latin typeface="Aptos" panose="02110004020202020204"/>
              </a:rPr>
              <a:t>C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Ellipse 90">
            <a:extLst>
              <a:ext uri="{FF2B5EF4-FFF2-40B4-BE49-F238E27FC236}">
                <a16:creationId xmlns:a16="http://schemas.microsoft.com/office/drawing/2014/main" id="{FFA1149D-7D49-8E52-957D-6D1D9E36A349}"/>
              </a:ext>
            </a:extLst>
          </p:cNvPr>
          <p:cNvSpPr>
            <a:spLocks/>
          </p:cNvSpPr>
          <p:nvPr/>
        </p:nvSpPr>
        <p:spPr>
          <a:xfrm>
            <a:off x="9315854" y="1910109"/>
            <a:ext cx="387303" cy="356506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B2</a:t>
            </a:r>
          </a:p>
        </p:txBody>
      </p:sp>
    </p:spTree>
    <p:extLst>
      <p:ext uri="{BB962C8B-B14F-4D97-AF65-F5344CB8AC3E}">
        <p14:creationId xmlns:p14="http://schemas.microsoft.com/office/powerpoint/2010/main" val="1505151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25D6A-4A05-B428-CA5C-A9E6947BF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483DE5-EE55-0082-36FF-EFD390C2C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4" y="2664688"/>
            <a:ext cx="9534525" cy="1528624"/>
          </a:xfrm>
        </p:spPr>
        <p:txBody>
          <a:bodyPr wrap="square" anchor="ctr">
            <a:normAutofit fontScale="90000"/>
          </a:bodyPr>
          <a:lstStyle/>
          <a:p>
            <a:r>
              <a:rPr lang="en-GB"/>
              <a:t>Standard Transaction</a:t>
            </a:r>
            <a:br>
              <a:rPr lang="en-GB"/>
            </a:br>
            <a:br>
              <a:rPr lang="en-GB"/>
            </a:br>
            <a:r>
              <a:rPr lang="en-GB"/>
              <a:t>Sell Stock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2ABCB8D9-3415-43FC-812F-0469C13B04C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5960386" y="6588783"/>
            <a:ext cx="317716" cy="246221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fld id="{0BBDC51F-5D11-B24C-B440-508FFDF318C8}" type="slidenum">
              <a:rPr lang="en-AU" smtClean="0"/>
              <a:pPr>
                <a:spcAft>
                  <a:spcPts val="600"/>
                </a:spcAft>
              </a:pPr>
              <a:t>19</a:t>
            </a:fld>
            <a:endParaRPr lang="en-A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31CF55-39DE-B76F-193D-B6CA0219B574}"/>
              </a:ext>
            </a:extLst>
          </p:cNvPr>
          <p:cNvSpPr txBox="1"/>
          <p:nvPr/>
        </p:nvSpPr>
        <p:spPr>
          <a:xfrm>
            <a:off x="5086348" y="5425559"/>
            <a:ext cx="2009775" cy="369332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15 mins</a:t>
            </a:r>
          </a:p>
        </p:txBody>
      </p:sp>
    </p:spTree>
    <p:extLst>
      <p:ext uri="{BB962C8B-B14F-4D97-AF65-F5344CB8AC3E}">
        <p14:creationId xmlns:p14="http://schemas.microsoft.com/office/powerpoint/2010/main" val="4268594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9DD82-F407-5FC9-D1D6-8A2581C2C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A8165978-E84C-0463-A5CD-EA9B7A9219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39710" y="0"/>
            <a:ext cx="5752289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14CE7E-D57A-13FA-E828-CD43C1797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89" y="239394"/>
            <a:ext cx="11555037" cy="513795"/>
          </a:xfrm>
        </p:spPr>
        <p:txBody>
          <a:bodyPr/>
          <a:lstStyle/>
          <a:p>
            <a:r>
              <a:rPr lang="en-GB"/>
              <a:t>Overview: </a:t>
            </a:r>
            <a:r>
              <a:rPr lang="en-GB" err="1"/>
              <a:t>SellStock</a:t>
            </a:r>
            <a:endParaRPr lang="en-GB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6E4B3C-1829-BDB9-DD77-1595BDF72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610016"/>
              </p:ext>
            </p:extLst>
          </p:nvPr>
        </p:nvGraphicFramePr>
        <p:xfrm>
          <a:off x="366449" y="1088543"/>
          <a:ext cx="1530548" cy="640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65274">
                  <a:extLst>
                    <a:ext uri="{9D8B030D-6E8A-4147-A177-3AD203B41FA5}">
                      <a16:colId xmlns:a16="http://schemas.microsoft.com/office/drawing/2014/main" val="3797908833"/>
                    </a:ext>
                  </a:extLst>
                </a:gridCol>
                <a:gridCol w="765274">
                  <a:extLst>
                    <a:ext uri="{9D8B030D-6E8A-4147-A177-3AD203B41FA5}">
                      <a16:colId xmlns:a16="http://schemas.microsoft.com/office/drawing/2014/main" val="231834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GB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FTE Effort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990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accent1"/>
                          </a:solidFill>
                        </a:rPr>
                        <a:t>Classify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0.38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88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accent1"/>
                          </a:solidFill>
                        </a:rPr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2.95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21578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B34051-8795-E1F6-0115-EE39F9DD4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636333"/>
              </p:ext>
            </p:extLst>
          </p:nvPr>
        </p:nvGraphicFramePr>
        <p:xfrm>
          <a:off x="438912" y="3308383"/>
          <a:ext cx="5703349" cy="2956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4044">
                  <a:extLst>
                    <a:ext uri="{9D8B030D-6E8A-4147-A177-3AD203B41FA5}">
                      <a16:colId xmlns:a16="http://schemas.microsoft.com/office/drawing/2014/main" val="3797908833"/>
                    </a:ext>
                  </a:extLst>
                </a:gridCol>
                <a:gridCol w="1067861">
                  <a:extLst>
                    <a:ext uri="{9D8B030D-6E8A-4147-A177-3AD203B41FA5}">
                      <a16:colId xmlns:a16="http://schemas.microsoft.com/office/drawing/2014/main" val="231834019"/>
                    </a:ext>
                  </a:extLst>
                </a:gridCol>
                <a:gridCol w="1067861">
                  <a:extLst>
                    <a:ext uri="{9D8B030D-6E8A-4147-A177-3AD203B41FA5}">
                      <a16:colId xmlns:a16="http://schemas.microsoft.com/office/drawing/2014/main" val="1129619057"/>
                    </a:ext>
                  </a:extLst>
                </a:gridCol>
                <a:gridCol w="1067861">
                  <a:extLst>
                    <a:ext uri="{9D8B030D-6E8A-4147-A177-3AD203B41FA5}">
                      <a16:colId xmlns:a16="http://schemas.microsoft.com/office/drawing/2014/main" val="1890311214"/>
                    </a:ext>
                  </a:extLst>
                </a:gridCol>
                <a:gridCol w="1067861">
                  <a:extLst>
                    <a:ext uri="{9D8B030D-6E8A-4147-A177-3AD203B41FA5}">
                      <a16:colId xmlns:a16="http://schemas.microsoft.com/office/drawing/2014/main" val="1003282592"/>
                    </a:ext>
                  </a:extLst>
                </a:gridCol>
                <a:gridCol w="1067861">
                  <a:extLst>
                    <a:ext uri="{9D8B030D-6E8A-4147-A177-3AD203B41FA5}">
                      <a16:colId xmlns:a16="http://schemas.microsoft.com/office/drawing/2014/main" val="1679206510"/>
                    </a:ext>
                  </a:extLst>
                </a:gridCol>
              </a:tblGrid>
              <a:tr h="246930">
                <a:tc>
                  <a:txBody>
                    <a:bodyPr/>
                    <a:lstStyle/>
                    <a:p>
                      <a:pPr algn="ctr"/>
                      <a:endParaRPr lang="en-GB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b="0"/>
                        <a:t>Field extraction required per page</a:t>
                      </a:r>
                    </a:p>
                  </a:txBody>
                  <a:tcPr>
                    <a:solidFill>
                      <a:srgbClr val="3C1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Future categorization</a:t>
                      </a:r>
                      <a:br>
                        <a:rPr lang="en-GB" sz="800"/>
                      </a:br>
                      <a:r>
                        <a:rPr lang="en-GB" sz="800" b="0"/>
                        <a:t>(page level)</a:t>
                      </a:r>
                    </a:p>
                  </a:txBody>
                  <a:tcPr>
                    <a:solidFill>
                      <a:srgbClr val="3C1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Future categorization</a:t>
                      </a:r>
                      <a:br>
                        <a:rPr lang="en-GB" sz="800"/>
                      </a:br>
                      <a:r>
                        <a:rPr lang="en-GB" sz="800" b="0"/>
                        <a:t>(envelope level)</a:t>
                      </a:r>
                    </a:p>
                  </a:txBody>
                  <a:tcPr>
                    <a:solidFill>
                      <a:srgbClr val="3C17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990099"/>
                  </a:ext>
                </a:extLst>
              </a:tr>
              <a:tr h="250360">
                <a:tc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accent1"/>
                          </a:solidFill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Transaction Request coupon</a:t>
                      </a:r>
                    </a:p>
                    <a:p>
                      <a:pPr algn="ctr"/>
                      <a:r>
                        <a:rPr lang="en-GB" sz="800"/>
                        <a:t>(Code:193UDR)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Structured, known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HIN, COY, Amount of shares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Sell stock coupon</a:t>
                      </a:r>
                    </a:p>
                    <a:p>
                      <a:pPr algn="ctr"/>
                      <a:r>
                        <a:rPr lang="en-GB" sz="800"/>
                        <a:t>(phase 1)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GB" sz="800" b="1"/>
                        <a:t>SellStock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883119"/>
                  </a:ext>
                </a:extLst>
              </a:tr>
              <a:tr h="250360">
                <a:tc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accent1"/>
                          </a:solidFill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Transaction request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/>
                        <a:t>Structured, known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/>
                        <a:t>HIN, COY, Amount of shares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Sell stock Form (phase 1)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566405"/>
                  </a:ext>
                </a:extLst>
              </a:tr>
              <a:tr h="250360">
                <a:tc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accent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Privacy Notice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Structured, 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None 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/>
                        <a:t>Privacy notice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215782"/>
                  </a:ext>
                </a:extLst>
              </a:tr>
              <a:tr h="250360">
                <a:tc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accent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Share Certificate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Structured, 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/>
                        <a:t>Certificate number, number of shares, CUSIP, SCL number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Certificate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80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999748"/>
                  </a:ext>
                </a:extLst>
              </a:tr>
              <a:tr h="250360">
                <a:tc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accent1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Handwritten or typed 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Unstructured, 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/>
                        <a:t>HIN, COY, Amount of shares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Handwritten or typed Sell instruction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800"/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125103"/>
                  </a:ext>
                </a:extLst>
              </a:tr>
              <a:tr h="250360">
                <a:tc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accent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Supporting documents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Unstructured, semi structured, 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Name, Address, HIN, COY, Amount of shares, intent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Affidavit of Domicile, W9 Form, Death certificate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800"/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850775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2BDA2AB4-F574-C48B-1705-64EC8C0E16DF}"/>
              </a:ext>
            </a:extLst>
          </p:cNvPr>
          <p:cNvSpPr txBox="1"/>
          <p:nvPr/>
        </p:nvSpPr>
        <p:spPr>
          <a:xfrm>
            <a:off x="412149" y="842322"/>
            <a:ext cx="1124667" cy="246221"/>
          </a:xfrm>
          <a:prstGeom prst="rect">
            <a:avLst/>
          </a:prstGeom>
          <a:noFill/>
          <a:ln w="25400">
            <a:noFill/>
          </a:ln>
        </p:spPr>
        <p:txBody>
          <a:bodyPr wrap="none" lIns="0" rtlCol="0">
            <a:spAutoFit/>
          </a:bodyPr>
          <a:lstStyle/>
          <a:p>
            <a:pPr algn="l"/>
            <a:r>
              <a:rPr lang="en-GB" sz="1000" b="1">
                <a:solidFill>
                  <a:schemeClr val="accent1"/>
                </a:solidFill>
                <a:latin typeface="Aptos" panose="020B0004020202020204" pitchFamily="34" charset="0"/>
              </a:rPr>
              <a:t>Overview of effort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1C630F-571C-1389-1C3D-4441AE5F8870}"/>
              </a:ext>
            </a:extLst>
          </p:cNvPr>
          <p:cNvSpPr txBox="1"/>
          <p:nvPr/>
        </p:nvSpPr>
        <p:spPr>
          <a:xfrm>
            <a:off x="438912" y="3062162"/>
            <a:ext cx="1754648" cy="246221"/>
          </a:xfrm>
          <a:prstGeom prst="rect">
            <a:avLst/>
          </a:prstGeom>
          <a:noFill/>
          <a:ln w="25400">
            <a:noFill/>
          </a:ln>
        </p:spPr>
        <p:txBody>
          <a:bodyPr wrap="none" lIns="0" rtlCol="0">
            <a:spAutoFit/>
          </a:bodyPr>
          <a:lstStyle/>
          <a:p>
            <a:pPr algn="l"/>
            <a:r>
              <a:rPr lang="en-GB" sz="1000" b="1">
                <a:solidFill>
                  <a:schemeClr val="accent1"/>
                </a:solidFill>
                <a:latin typeface="Aptos" panose="020B0004020202020204" pitchFamily="34" charset="0"/>
              </a:rPr>
              <a:t>Typical contents of envelope</a:t>
            </a:r>
          </a:p>
        </p:txBody>
      </p:sp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852E41EA-9FC7-1306-6FD9-ECD70184C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306735"/>
              </p:ext>
            </p:extLst>
          </p:nvPr>
        </p:nvGraphicFramePr>
        <p:xfrm>
          <a:off x="2147678" y="1088543"/>
          <a:ext cx="3994585" cy="11415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07611">
                  <a:extLst>
                    <a:ext uri="{9D8B030D-6E8A-4147-A177-3AD203B41FA5}">
                      <a16:colId xmlns:a16="http://schemas.microsoft.com/office/drawing/2014/main" val="3797908833"/>
                    </a:ext>
                  </a:extLst>
                </a:gridCol>
                <a:gridCol w="1396094">
                  <a:extLst>
                    <a:ext uri="{9D8B030D-6E8A-4147-A177-3AD203B41FA5}">
                      <a16:colId xmlns:a16="http://schemas.microsoft.com/office/drawing/2014/main" val="231834019"/>
                    </a:ext>
                  </a:extLst>
                </a:gridCol>
                <a:gridCol w="1046603">
                  <a:extLst>
                    <a:ext uri="{9D8B030D-6E8A-4147-A177-3AD203B41FA5}">
                      <a16:colId xmlns:a16="http://schemas.microsoft.com/office/drawing/2014/main" val="4213265487"/>
                    </a:ext>
                  </a:extLst>
                </a:gridCol>
                <a:gridCol w="1144277">
                  <a:extLst>
                    <a:ext uri="{9D8B030D-6E8A-4147-A177-3AD203B41FA5}">
                      <a16:colId xmlns:a16="http://schemas.microsoft.com/office/drawing/2014/main" val="1129619057"/>
                    </a:ext>
                  </a:extLst>
                </a:gridCol>
              </a:tblGrid>
              <a:tr h="161076">
                <a:tc>
                  <a:txBody>
                    <a:bodyPr/>
                    <a:lstStyle/>
                    <a:p>
                      <a:pPr algn="ctr"/>
                      <a:endParaRPr lang="en-GB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System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Who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990099"/>
                  </a:ext>
                </a:extLst>
              </a:tr>
              <a:tr h="161076">
                <a:tc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Open 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Mailroom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328701"/>
                  </a:ext>
                </a:extLst>
              </a:tr>
              <a:tr h="253119">
                <a:tc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Scan mail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Workflow (via EDC)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Mailroom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883119"/>
                  </a:ext>
                </a:extLst>
              </a:tr>
              <a:tr h="161076">
                <a:tc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accent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Process checks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err="1"/>
                        <a:t>Accnt</a:t>
                      </a:r>
                      <a:r>
                        <a:rPr lang="en-GB" sz="800"/>
                        <a:t> </a:t>
                      </a:r>
                      <a:r>
                        <a:rPr lang="en-GB" sz="800" err="1"/>
                        <a:t>R’keeping</a:t>
                      </a:r>
                      <a:endParaRPr lang="en-GB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215782"/>
                  </a:ext>
                </a:extLst>
              </a:tr>
              <a:tr h="248333">
                <a:tc>
                  <a:txBody>
                    <a:bodyPr/>
                    <a:lstStyle/>
                    <a:p>
                      <a:pPr algn="ctr"/>
                      <a:r>
                        <a:rPr lang="en-GB" sz="800" b="1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Validate details and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/>
                        <a:t>SCRIP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err="1"/>
                        <a:t>Acc’t</a:t>
                      </a:r>
                      <a:r>
                        <a:rPr lang="en-GB" sz="800"/>
                        <a:t> </a:t>
                      </a:r>
                      <a:r>
                        <a:rPr lang="en-GB" sz="800" err="1"/>
                        <a:t>R’keeping</a:t>
                      </a:r>
                      <a:endParaRPr lang="en-GB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999748"/>
                  </a:ext>
                </a:extLst>
              </a:tr>
            </a:tbl>
          </a:graphicData>
        </a:graphic>
      </p:graphicFrame>
      <p:sp>
        <p:nvSpPr>
          <p:cNvPr id="54" name="TextBox 53">
            <a:extLst>
              <a:ext uri="{FF2B5EF4-FFF2-40B4-BE49-F238E27FC236}">
                <a16:creationId xmlns:a16="http://schemas.microsoft.com/office/drawing/2014/main" id="{8234F980-2C61-37AA-E3AB-776F407909FF}"/>
              </a:ext>
            </a:extLst>
          </p:cNvPr>
          <p:cNvSpPr txBox="1"/>
          <p:nvPr/>
        </p:nvSpPr>
        <p:spPr>
          <a:xfrm>
            <a:off x="2147678" y="849528"/>
            <a:ext cx="1174360" cy="246221"/>
          </a:xfrm>
          <a:prstGeom prst="rect">
            <a:avLst/>
          </a:prstGeom>
          <a:noFill/>
          <a:ln w="25400">
            <a:noFill/>
          </a:ln>
        </p:spPr>
        <p:txBody>
          <a:bodyPr wrap="none" lIns="0" rtlCol="0">
            <a:spAutoFit/>
          </a:bodyPr>
          <a:lstStyle/>
          <a:p>
            <a:pPr algn="l"/>
            <a:r>
              <a:rPr lang="en-GB" sz="1000" b="1">
                <a:solidFill>
                  <a:schemeClr val="accent1"/>
                </a:solidFill>
                <a:latin typeface="Aptos" panose="020B0004020202020204" pitchFamily="34" charset="0"/>
              </a:rPr>
              <a:t>Key process steps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B6F71E9-D07E-BD34-8178-4CC40FB277AE}"/>
              </a:ext>
            </a:extLst>
          </p:cNvPr>
          <p:cNvSpPr txBox="1"/>
          <p:nvPr/>
        </p:nvSpPr>
        <p:spPr>
          <a:xfrm>
            <a:off x="442854" y="2079522"/>
            <a:ext cx="608500" cy="246221"/>
          </a:xfrm>
          <a:prstGeom prst="rect">
            <a:avLst/>
          </a:prstGeom>
          <a:noFill/>
          <a:ln w="25400">
            <a:noFill/>
          </a:ln>
        </p:spPr>
        <p:txBody>
          <a:bodyPr wrap="none" lIns="0" rtlCol="0">
            <a:spAutoFit/>
          </a:bodyPr>
          <a:lstStyle/>
          <a:p>
            <a:pPr algn="l"/>
            <a:r>
              <a:rPr lang="en-GB" sz="1000" b="1">
                <a:solidFill>
                  <a:schemeClr val="accent1"/>
                </a:solidFill>
                <a:latin typeface="Aptos" panose="020B0004020202020204" pitchFamily="34" charset="0"/>
              </a:rPr>
              <a:t>Volumes</a:t>
            </a: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56D39429-FF2F-FD8D-FFC7-2F5942E651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696566"/>
              </p:ext>
            </p:extLst>
          </p:nvPr>
        </p:nvGraphicFramePr>
        <p:xfrm>
          <a:off x="442854" y="2332948"/>
          <a:ext cx="5699407" cy="55910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65679">
                  <a:extLst>
                    <a:ext uri="{9D8B030D-6E8A-4147-A177-3AD203B41FA5}">
                      <a16:colId xmlns:a16="http://schemas.microsoft.com/office/drawing/2014/main" val="1997329559"/>
                    </a:ext>
                  </a:extLst>
                </a:gridCol>
                <a:gridCol w="838696">
                  <a:extLst>
                    <a:ext uri="{9D8B030D-6E8A-4147-A177-3AD203B41FA5}">
                      <a16:colId xmlns:a16="http://schemas.microsoft.com/office/drawing/2014/main" val="2881029501"/>
                    </a:ext>
                  </a:extLst>
                </a:gridCol>
                <a:gridCol w="783519">
                  <a:extLst>
                    <a:ext uri="{9D8B030D-6E8A-4147-A177-3AD203B41FA5}">
                      <a16:colId xmlns:a16="http://schemas.microsoft.com/office/drawing/2014/main" val="141682241"/>
                    </a:ext>
                  </a:extLst>
                </a:gridCol>
                <a:gridCol w="573846">
                  <a:extLst>
                    <a:ext uri="{9D8B030D-6E8A-4147-A177-3AD203B41FA5}">
                      <a16:colId xmlns:a16="http://schemas.microsoft.com/office/drawing/2014/main" val="1940841790"/>
                    </a:ext>
                  </a:extLst>
                </a:gridCol>
                <a:gridCol w="1737667">
                  <a:extLst>
                    <a:ext uri="{9D8B030D-6E8A-4147-A177-3AD203B41FA5}">
                      <a16:colId xmlns:a16="http://schemas.microsoft.com/office/drawing/2014/main" val="383898184"/>
                    </a:ext>
                  </a:extLst>
                </a:gridCol>
              </a:tblGrid>
              <a:tr h="3837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Row Labels</a:t>
                      </a:r>
                      <a:endParaRPr lang="en-GB" sz="9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Volume (Mail, US)</a:t>
                      </a:r>
                      <a:endParaRPr lang="en-GB" sz="9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FTE Effort</a:t>
                      </a:r>
                      <a:endParaRPr lang="en-GB" sz="9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Volume (%)</a:t>
                      </a:r>
                      <a:endParaRPr lang="en-GB" sz="900" b="1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900" b="1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Future categorization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0" i="0" u="none" strike="noStrike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(transaction level)</a:t>
                      </a:r>
                    </a:p>
                  </a:txBody>
                  <a:tcPr marL="6350" marR="6350" marT="6350" marB="0" anchor="ctr">
                    <a:solidFill>
                      <a:srgbClr val="3C17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221314"/>
                  </a:ext>
                </a:extLst>
              </a:tr>
              <a:tr h="17537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SellStock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30140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Sell Stock</a:t>
                      </a:r>
                    </a:p>
                  </a:txBody>
                  <a:tcPr marL="6350" marR="6350" marT="6350" marB="0" anchor="b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244607"/>
                  </a:ext>
                </a:extLst>
              </a:tr>
            </a:tbl>
          </a:graphicData>
        </a:graphic>
      </p:graphicFrame>
      <p:pic>
        <p:nvPicPr>
          <p:cNvPr id="10" name="Picture 9" descr="A close-up of a document&#10;&#10;AI-generated content may be incorrect.">
            <a:extLst>
              <a:ext uri="{FF2B5EF4-FFF2-40B4-BE49-F238E27FC236}">
                <a16:creationId xmlns:a16="http://schemas.microsoft.com/office/drawing/2014/main" id="{8D474F46-11EE-5498-E24A-CA69CFB3D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6935558" y="1812045"/>
            <a:ext cx="2415777" cy="874847"/>
          </a:xfrm>
          <a:prstGeom prst="rect">
            <a:avLst/>
          </a:prstGeom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64C3FE-1CE9-6B3A-2BC3-65FDF2EF3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1244" y="5702507"/>
            <a:ext cx="1527644" cy="964172"/>
          </a:xfrm>
          <a:prstGeom prst="rect">
            <a:avLst/>
          </a:prstGeom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34FDB5-3452-7711-BE6F-537539FAD4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9885" y="3001261"/>
            <a:ext cx="2257060" cy="1444518"/>
          </a:xfrm>
          <a:prstGeom prst="rect">
            <a:avLst/>
          </a:prstGeom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 descr="A close-up of a document&#10;&#10;AI-generated content may be incorrect.">
            <a:extLst>
              <a:ext uri="{FF2B5EF4-FFF2-40B4-BE49-F238E27FC236}">
                <a16:creationId xmlns:a16="http://schemas.microsoft.com/office/drawing/2014/main" id="{D9C74248-85F4-937C-7198-98E1B729F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7868100" y="4768748"/>
            <a:ext cx="1173987" cy="1766282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D6A9677-1A25-5C79-7722-7BA7AF3841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1211" y="520274"/>
            <a:ext cx="2474060" cy="928397"/>
          </a:xfrm>
          <a:prstGeom prst="rect">
            <a:avLst/>
          </a:prstGeom>
          <a:ln w="19050">
            <a:solidFill>
              <a:schemeClr val="accent6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7AEA314-8C60-4A3A-C92C-C94D4A3F4374}"/>
              </a:ext>
            </a:extLst>
          </p:cNvPr>
          <p:cNvSpPr/>
          <p:nvPr/>
        </p:nvSpPr>
        <p:spPr>
          <a:xfrm>
            <a:off x="438909" y="5342965"/>
            <a:ext cx="4623897" cy="46061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3F2EDC-8086-C945-49DA-9902B2CAEAF9}"/>
              </a:ext>
            </a:extLst>
          </p:cNvPr>
          <p:cNvSpPr/>
          <p:nvPr/>
        </p:nvSpPr>
        <p:spPr>
          <a:xfrm>
            <a:off x="438912" y="3767586"/>
            <a:ext cx="4655898" cy="80299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Ellipse 90">
            <a:extLst>
              <a:ext uri="{FF2B5EF4-FFF2-40B4-BE49-F238E27FC236}">
                <a16:creationId xmlns:a16="http://schemas.microsoft.com/office/drawing/2014/main" id="{31374C24-5B45-EC7E-254D-17DE3CB80A30}"/>
              </a:ext>
            </a:extLst>
          </p:cNvPr>
          <p:cNvSpPr>
            <a:spLocks/>
          </p:cNvSpPr>
          <p:nvPr/>
        </p:nvSpPr>
        <p:spPr>
          <a:xfrm>
            <a:off x="6820482" y="368629"/>
            <a:ext cx="387303" cy="356506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chemeClr val="accent1"/>
                </a:solidFill>
                <a:latin typeface="Aptos" panose="02110004020202020204"/>
              </a:rPr>
              <a:t>A1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Ellipse 90">
            <a:extLst>
              <a:ext uri="{FF2B5EF4-FFF2-40B4-BE49-F238E27FC236}">
                <a16:creationId xmlns:a16="http://schemas.microsoft.com/office/drawing/2014/main" id="{21A4BA71-D3F3-8F0B-0B54-9B7EDABC4660}"/>
              </a:ext>
            </a:extLst>
          </p:cNvPr>
          <p:cNvSpPr>
            <a:spLocks/>
          </p:cNvSpPr>
          <p:nvPr/>
        </p:nvSpPr>
        <p:spPr>
          <a:xfrm>
            <a:off x="9764163" y="405241"/>
            <a:ext cx="387303" cy="356506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chemeClr val="accent1"/>
                </a:solidFill>
                <a:latin typeface="Aptos" panose="02110004020202020204"/>
              </a:rPr>
              <a:t>A2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Ellipse 90">
            <a:extLst>
              <a:ext uri="{FF2B5EF4-FFF2-40B4-BE49-F238E27FC236}">
                <a16:creationId xmlns:a16="http://schemas.microsoft.com/office/drawing/2014/main" id="{DF53A559-5FFE-A29A-B59F-A0B9B5CAC65B}"/>
              </a:ext>
            </a:extLst>
          </p:cNvPr>
          <p:cNvSpPr>
            <a:spLocks/>
          </p:cNvSpPr>
          <p:nvPr/>
        </p:nvSpPr>
        <p:spPr>
          <a:xfrm>
            <a:off x="6809826" y="1752992"/>
            <a:ext cx="387303" cy="356506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chemeClr val="accent1"/>
                </a:solidFill>
                <a:latin typeface="Aptos" panose="02110004020202020204"/>
              </a:rPr>
              <a:t>B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Ellipse 90">
            <a:extLst>
              <a:ext uri="{FF2B5EF4-FFF2-40B4-BE49-F238E27FC236}">
                <a16:creationId xmlns:a16="http://schemas.microsoft.com/office/drawing/2014/main" id="{B41CF5D0-A6A1-8C37-EF02-95B7AA3BBD69}"/>
              </a:ext>
            </a:extLst>
          </p:cNvPr>
          <p:cNvSpPr>
            <a:spLocks/>
          </p:cNvSpPr>
          <p:nvPr/>
        </p:nvSpPr>
        <p:spPr>
          <a:xfrm>
            <a:off x="6820482" y="2977992"/>
            <a:ext cx="387303" cy="356506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chemeClr val="accent1"/>
                </a:solidFill>
                <a:latin typeface="Aptos" panose="02110004020202020204"/>
              </a:rPr>
              <a:t>C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Ellipse 90">
            <a:extLst>
              <a:ext uri="{FF2B5EF4-FFF2-40B4-BE49-F238E27FC236}">
                <a16:creationId xmlns:a16="http://schemas.microsoft.com/office/drawing/2014/main" id="{1594E214-9AE2-39DA-3C4E-91CE0A2BE449}"/>
              </a:ext>
            </a:extLst>
          </p:cNvPr>
          <p:cNvSpPr>
            <a:spLocks/>
          </p:cNvSpPr>
          <p:nvPr/>
        </p:nvSpPr>
        <p:spPr>
          <a:xfrm>
            <a:off x="6942674" y="4809154"/>
            <a:ext cx="387303" cy="356506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chemeClr val="accent1"/>
                </a:solidFill>
                <a:latin typeface="Aptos" panose="02110004020202020204"/>
              </a:rPr>
              <a:t>D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Ellipse 90">
            <a:extLst>
              <a:ext uri="{FF2B5EF4-FFF2-40B4-BE49-F238E27FC236}">
                <a16:creationId xmlns:a16="http://schemas.microsoft.com/office/drawing/2014/main" id="{743215C1-8ACA-79D3-7ED9-BE5E94C91159}"/>
              </a:ext>
            </a:extLst>
          </p:cNvPr>
          <p:cNvSpPr>
            <a:spLocks/>
          </p:cNvSpPr>
          <p:nvPr/>
        </p:nvSpPr>
        <p:spPr>
          <a:xfrm>
            <a:off x="9122202" y="4736236"/>
            <a:ext cx="387303" cy="356506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chemeClr val="accent1"/>
                </a:solidFill>
                <a:latin typeface="Aptos" panose="02110004020202020204"/>
              </a:rPr>
              <a:t>E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ADB0A00-FC75-26C3-6448-094125F974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13889" y="3718685"/>
            <a:ext cx="1120614" cy="145418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62BF986-6643-45FD-77AE-3A0025F7456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90215" y="323985"/>
            <a:ext cx="1726349" cy="224937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541E033-B417-AAE6-882F-C6F555BE24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66875" y="3938445"/>
            <a:ext cx="1264515" cy="166060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673A338-34FB-AFF1-A2FD-2EF611290C4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26638" y="694906"/>
            <a:ext cx="1614783" cy="213076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A172A857-8AE9-E884-DBC2-3B1C5E3B6C6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29220" y="5189918"/>
            <a:ext cx="1129038" cy="145418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EE5BE65F-7B9D-2BC2-FE84-5700F33D3F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82300" y="1095749"/>
            <a:ext cx="1617828" cy="2128470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F3B6213A-5D83-0387-30FC-B8C78BC3574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59899" y="4843688"/>
            <a:ext cx="1176120" cy="1634806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618A13A-FDAD-862D-8939-C50A1CB5652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54065" y="5165660"/>
            <a:ext cx="863846" cy="1517706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2885685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CD436-E727-F4CE-22C0-A7752DC5C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59709DD-7799-4EE3-B76D-B10D278401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43122" y="0"/>
            <a:ext cx="12335122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BADCCA1-0F29-E5E1-3A52-D0C47245C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1667" y="469739"/>
            <a:ext cx="1376667" cy="173926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958459DA-B816-4221-D2C6-CBD50220B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128" y="4929630"/>
            <a:ext cx="1308861" cy="15736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5" name="Ellipse 90">
            <a:extLst>
              <a:ext uri="{FF2B5EF4-FFF2-40B4-BE49-F238E27FC236}">
                <a16:creationId xmlns:a16="http://schemas.microsoft.com/office/drawing/2014/main" id="{3AE1FE56-F351-BF64-3B60-0F0E26F187BE}"/>
              </a:ext>
            </a:extLst>
          </p:cNvPr>
          <p:cNvSpPr>
            <a:spLocks/>
          </p:cNvSpPr>
          <p:nvPr/>
        </p:nvSpPr>
        <p:spPr>
          <a:xfrm>
            <a:off x="342580" y="291487"/>
            <a:ext cx="387303" cy="356506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E968EF-D566-2867-E3C9-A1A2A0F33666}"/>
              </a:ext>
            </a:extLst>
          </p:cNvPr>
          <p:cNvSpPr txBox="1"/>
          <p:nvPr/>
        </p:nvSpPr>
        <p:spPr>
          <a:xfrm>
            <a:off x="736722" y="2157218"/>
            <a:ext cx="1902124" cy="400110"/>
          </a:xfrm>
          <a:prstGeom prst="rect">
            <a:avLst/>
          </a:prstGeom>
          <a:noFill/>
          <a:ln w="25400">
            <a:noFill/>
          </a:ln>
        </p:spPr>
        <p:txBody>
          <a:bodyPr wrap="none" lIns="0" rtlCol="0">
            <a:spAutoFit/>
          </a:bodyPr>
          <a:lstStyle/>
          <a:p>
            <a:pPr algn="l"/>
            <a:r>
              <a:rPr lang="en-GB" sz="1000" b="1">
                <a:solidFill>
                  <a:schemeClr val="bg1"/>
                </a:solidFill>
                <a:latin typeface="Aptos" panose="020B0004020202020204" pitchFamily="34" charset="0"/>
              </a:rPr>
              <a:t>Deceased shareholder transfer</a:t>
            </a:r>
          </a:p>
          <a:p>
            <a:pPr algn="ctr"/>
            <a:r>
              <a:rPr lang="en-GB" sz="1000" b="1">
                <a:solidFill>
                  <a:schemeClr val="bg1"/>
                </a:solidFill>
                <a:latin typeface="Aptos" panose="020B0004020202020204" pitchFamily="34" charset="0"/>
              </a:rPr>
              <a:t>482UTR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B07989-00FB-76EE-FB3D-3F1357B413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272" y="395839"/>
            <a:ext cx="1287610" cy="1680377"/>
          </a:xfrm>
          <a:prstGeom prst="rect">
            <a:avLst/>
          </a:prstGeom>
          <a:ln w="28575">
            <a:solidFill>
              <a:schemeClr val="accent6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45AF98-FA20-BC3D-1D5F-18E75933C102}"/>
              </a:ext>
            </a:extLst>
          </p:cNvPr>
          <p:cNvSpPr txBox="1"/>
          <p:nvPr/>
        </p:nvSpPr>
        <p:spPr>
          <a:xfrm>
            <a:off x="2741563" y="2157218"/>
            <a:ext cx="1855636" cy="400110"/>
          </a:xfrm>
          <a:prstGeom prst="rect">
            <a:avLst/>
          </a:prstGeom>
          <a:noFill/>
          <a:ln w="25400">
            <a:noFill/>
          </a:ln>
        </p:spPr>
        <p:txBody>
          <a:bodyPr wrap="none" lIns="0" rtlCol="0">
            <a:spAutoFit/>
          </a:bodyPr>
          <a:lstStyle/>
          <a:p>
            <a:pPr algn="l"/>
            <a:r>
              <a:rPr lang="en-GB" sz="1000" b="1">
                <a:solidFill>
                  <a:schemeClr val="bg1"/>
                </a:solidFill>
                <a:latin typeface="Aptos" panose="020B0004020202020204" pitchFamily="34" charset="0"/>
              </a:rPr>
              <a:t>Transfer request to sell shares</a:t>
            </a:r>
          </a:p>
          <a:p>
            <a:pPr algn="ctr"/>
            <a:r>
              <a:rPr lang="en-GB" sz="1000" b="1">
                <a:solidFill>
                  <a:schemeClr val="bg1"/>
                </a:solidFill>
                <a:latin typeface="Aptos" panose="020B0004020202020204" pitchFamily="34" charset="0"/>
              </a:rPr>
              <a:t>447UTR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2F1C0F-2218-9C3F-E31A-E764BC7ADC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888" y="354750"/>
            <a:ext cx="1325571" cy="1725924"/>
          </a:xfrm>
          <a:prstGeom prst="rect">
            <a:avLst/>
          </a:prstGeom>
          <a:ln w="28575">
            <a:solidFill>
              <a:schemeClr val="accent6"/>
            </a:solidFill>
          </a:ln>
        </p:spPr>
      </p:pic>
      <p:sp>
        <p:nvSpPr>
          <p:cNvPr id="13" name="Ellipse 90">
            <a:extLst>
              <a:ext uri="{FF2B5EF4-FFF2-40B4-BE49-F238E27FC236}">
                <a16:creationId xmlns:a16="http://schemas.microsoft.com/office/drawing/2014/main" id="{E5650F54-0ADE-A56E-DD73-155B8070EE17}"/>
              </a:ext>
            </a:extLst>
          </p:cNvPr>
          <p:cNvSpPr>
            <a:spLocks/>
          </p:cNvSpPr>
          <p:nvPr/>
        </p:nvSpPr>
        <p:spPr>
          <a:xfrm>
            <a:off x="4937484" y="354750"/>
            <a:ext cx="387303" cy="356506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chemeClr val="accent1"/>
                </a:solidFill>
                <a:latin typeface="Aptos" panose="02110004020202020204"/>
              </a:rPr>
              <a:t>B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Ellipse 90">
            <a:extLst>
              <a:ext uri="{FF2B5EF4-FFF2-40B4-BE49-F238E27FC236}">
                <a16:creationId xmlns:a16="http://schemas.microsoft.com/office/drawing/2014/main" id="{7320290F-EAA6-E04A-7D7B-00BCD2F2C9F4}"/>
              </a:ext>
            </a:extLst>
          </p:cNvPr>
          <p:cNvSpPr>
            <a:spLocks/>
          </p:cNvSpPr>
          <p:nvPr/>
        </p:nvSpPr>
        <p:spPr>
          <a:xfrm>
            <a:off x="7683443" y="354750"/>
            <a:ext cx="387303" cy="356506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1A6EAF-E603-2366-8F6F-60ED782949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9077" y="469740"/>
            <a:ext cx="1376667" cy="176208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BB3EA5C-DFEF-3583-14A8-F4E3FE20D97D}"/>
              </a:ext>
            </a:extLst>
          </p:cNvPr>
          <p:cNvSpPr txBox="1"/>
          <p:nvPr/>
        </p:nvSpPr>
        <p:spPr>
          <a:xfrm>
            <a:off x="8670934" y="2234162"/>
            <a:ext cx="808876" cy="246221"/>
          </a:xfrm>
          <a:prstGeom prst="rect">
            <a:avLst/>
          </a:prstGeom>
          <a:noFill/>
          <a:ln w="25400">
            <a:noFill/>
          </a:ln>
        </p:spPr>
        <p:txBody>
          <a:bodyPr wrap="none" lIns="0" rtlCol="0">
            <a:spAutoFit/>
          </a:bodyPr>
          <a:lstStyle/>
          <a:p>
            <a:pPr algn="l"/>
            <a:r>
              <a:rPr lang="en-GB" sz="1000" b="1">
                <a:solidFill>
                  <a:schemeClr val="bg1"/>
                </a:solidFill>
                <a:latin typeface="Aptos" panose="020B0004020202020204" pitchFamily="34" charset="0"/>
              </a:rPr>
              <a:t>Typed letter </a:t>
            </a:r>
          </a:p>
        </p:txBody>
      </p:sp>
      <p:sp>
        <p:nvSpPr>
          <p:cNvPr id="17" name="Ellipse 90">
            <a:extLst>
              <a:ext uri="{FF2B5EF4-FFF2-40B4-BE49-F238E27FC236}">
                <a16:creationId xmlns:a16="http://schemas.microsoft.com/office/drawing/2014/main" id="{7C5C5539-5CE6-30B6-E517-C283BB9FD590}"/>
              </a:ext>
            </a:extLst>
          </p:cNvPr>
          <p:cNvSpPr>
            <a:spLocks/>
          </p:cNvSpPr>
          <p:nvPr/>
        </p:nvSpPr>
        <p:spPr>
          <a:xfrm>
            <a:off x="83143" y="2748818"/>
            <a:ext cx="387303" cy="356506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chemeClr val="accent1"/>
                </a:solidFill>
                <a:latin typeface="Aptos" panose="02110004020202020204"/>
              </a:rPr>
              <a:t>D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Ellipse 90">
            <a:extLst>
              <a:ext uri="{FF2B5EF4-FFF2-40B4-BE49-F238E27FC236}">
                <a16:creationId xmlns:a16="http://schemas.microsoft.com/office/drawing/2014/main" id="{E6205F1E-FBBF-4127-9DC8-FB56E9FC3E64}"/>
              </a:ext>
            </a:extLst>
          </p:cNvPr>
          <p:cNvSpPr>
            <a:spLocks/>
          </p:cNvSpPr>
          <p:nvPr/>
        </p:nvSpPr>
        <p:spPr>
          <a:xfrm>
            <a:off x="6928099" y="2828629"/>
            <a:ext cx="387303" cy="356506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FBB8BAB-23AE-80A9-6AD8-1E47A68D80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4428" y="2762846"/>
            <a:ext cx="1375116" cy="179380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B2E8FC1-3948-4135-8C5E-7865B1A8EB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117" y="2762846"/>
            <a:ext cx="1308861" cy="17286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F19AF61-1AD8-B0B5-F49F-EBC128A7F27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55504" y="2748818"/>
            <a:ext cx="1329100" cy="17426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1EBE488-5808-8713-4240-4A27EE36F10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91548" y="2762846"/>
            <a:ext cx="1346443" cy="177378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A9E5675-19C7-5F79-500B-8B045A07C01C}"/>
              </a:ext>
            </a:extLst>
          </p:cNvPr>
          <p:cNvSpPr txBox="1"/>
          <p:nvPr/>
        </p:nvSpPr>
        <p:spPr>
          <a:xfrm>
            <a:off x="785796" y="4536632"/>
            <a:ext cx="1273747" cy="246221"/>
          </a:xfrm>
          <a:prstGeom prst="rect">
            <a:avLst/>
          </a:prstGeom>
          <a:noFill/>
          <a:ln w="25400">
            <a:noFill/>
          </a:ln>
        </p:spPr>
        <p:txBody>
          <a:bodyPr wrap="none" lIns="0" rtlCol="0">
            <a:spAutoFit/>
          </a:bodyPr>
          <a:lstStyle/>
          <a:p>
            <a:pPr algn="l"/>
            <a:r>
              <a:rPr lang="en-GB" sz="1000" b="1">
                <a:solidFill>
                  <a:schemeClr val="bg1"/>
                </a:solidFill>
                <a:latin typeface="Aptos" panose="020B0004020202020204" pitchFamily="34" charset="0"/>
              </a:rPr>
              <a:t>Affidavit of Domicile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97CFF9-6777-8B71-1F1A-D531B5247733}"/>
              </a:ext>
            </a:extLst>
          </p:cNvPr>
          <p:cNvSpPr txBox="1"/>
          <p:nvPr/>
        </p:nvSpPr>
        <p:spPr>
          <a:xfrm>
            <a:off x="2460059" y="4536631"/>
            <a:ext cx="1070165" cy="246221"/>
          </a:xfrm>
          <a:prstGeom prst="rect">
            <a:avLst/>
          </a:prstGeom>
          <a:noFill/>
          <a:ln w="25400">
            <a:noFill/>
          </a:ln>
        </p:spPr>
        <p:txBody>
          <a:bodyPr wrap="none" lIns="0" rtlCol="0">
            <a:spAutoFit/>
          </a:bodyPr>
          <a:lstStyle/>
          <a:p>
            <a:pPr algn="l"/>
            <a:r>
              <a:rPr lang="en-GB" sz="1000" b="1">
                <a:solidFill>
                  <a:schemeClr val="bg1"/>
                </a:solidFill>
                <a:latin typeface="Aptos" panose="020B0004020202020204" pitchFamily="34" charset="0"/>
              </a:rPr>
              <a:t>Death certificate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E09286-26CB-30CD-5351-157006D07306}"/>
              </a:ext>
            </a:extLst>
          </p:cNvPr>
          <p:cNvSpPr txBox="1"/>
          <p:nvPr/>
        </p:nvSpPr>
        <p:spPr>
          <a:xfrm>
            <a:off x="4340729" y="4556649"/>
            <a:ext cx="323165" cy="246221"/>
          </a:xfrm>
          <a:prstGeom prst="rect">
            <a:avLst/>
          </a:prstGeom>
          <a:noFill/>
          <a:ln w="25400">
            <a:noFill/>
          </a:ln>
        </p:spPr>
        <p:txBody>
          <a:bodyPr wrap="none" lIns="0" rtlCol="0">
            <a:spAutoFit/>
          </a:bodyPr>
          <a:lstStyle/>
          <a:p>
            <a:pPr algn="l"/>
            <a:r>
              <a:rPr lang="en-GB" sz="1000" b="1">
                <a:solidFill>
                  <a:schemeClr val="bg1"/>
                </a:solidFill>
                <a:latin typeface="Aptos" panose="020B0004020202020204" pitchFamily="34" charset="0"/>
              </a:rPr>
              <a:t>Will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803612-0BE4-2B24-0125-3D3B7A97A44A}"/>
              </a:ext>
            </a:extLst>
          </p:cNvPr>
          <p:cNvSpPr txBox="1"/>
          <p:nvPr/>
        </p:nvSpPr>
        <p:spPr>
          <a:xfrm>
            <a:off x="5955256" y="4556649"/>
            <a:ext cx="281487" cy="246221"/>
          </a:xfrm>
          <a:prstGeom prst="rect">
            <a:avLst/>
          </a:prstGeom>
          <a:noFill/>
          <a:ln w="25400">
            <a:noFill/>
          </a:ln>
        </p:spPr>
        <p:txBody>
          <a:bodyPr wrap="none" lIns="0" rtlCol="0">
            <a:spAutoFit/>
          </a:bodyPr>
          <a:lstStyle/>
          <a:p>
            <a:pPr algn="l"/>
            <a:r>
              <a:rPr lang="en-GB" sz="1000" b="1">
                <a:solidFill>
                  <a:schemeClr val="bg1"/>
                </a:solidFill>
                <a:latin typeface="Aptos" panose="020B0004020202020204" pitchFamily="34" charset="0"/>
              </a:rPr>
              <a:t>W9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F06AE38-78A9-8D3B-9A5A-90E93BBA495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03957" y="2762846"/>
            <a:ext cx="1346443" cy="178269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0F3DF94-0181-47CC-D9E7-73E43A6B5DF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89709" y="2762846"/>
            <a:ext cx="1354297" cy="178269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92D3F2A-1208-7EFA-C7E0-F03D50BBA52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83316" y="2762846"/>
            <a:ext cx="1354297" cy="17839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5027EB3-BE71-9A40-F7AB-C4CDD88C1316}"/>
              </a:ext>
            </a:extLst>
          </p:cNvPr>
          <p:cNvSpPr txBox="1"/>
          <p:nvPr/>
        </p:nvSpPr>
        <p:spPr>
          <a:xfrm>
            <a:off x="7939151" y="4602414"/>
            <a:ext cx="800860" cy="246221"/>
          </a:xfrm>
          <a:prstGeom prst="rect">
            <a:avLst/>
          </a:prstGeom>
          <a:noFill/>
          <a:ln w="25400">
            <a:noFill/>
          </a:ln>
        </p:spPr>
        <p:txBody>
          <a:bodyPr wrap="none" lIns="0" rtlCol="0">
            <a:spAutoFit/>
          </a:bodyPr>
          <a:lstStyle/>
          <a:p>
            <a:pPr algn="l"/>
            <a:r>
              <a:rPr lang="en-GB" sz="1000" b="1">
                <a:solidFill>
                  <a:schemeClr val="bg1"/>
                </a:solidFill>
                <a:latin typeface="Aptos" panose="020B0004020202020204" pitchFamily="34" charset="0"/>
              </a:rPr>
              <a:t>Instructions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08B9D9-F2B9-ADC8-13E7-5A203DC45C14}"/>
              </a:ext>
            </a:extLst>
          </p:cNvPr>
          <p:cNvSpPr txBox="1"/>
          <p:nvPr/>
        </p:nvSpPr>
        <p:spPr>
          <a:xfrm>
            <a:off x="9457835" y="4593340"/>
            <a:ext cx="781624" cy="246221"/>
          </a:xfrm>
          <a:prstGeom prst="rect">
            <a:avLst/>
          </a:prstGeom>
          <a:noFill/>
          <a:ln w="25400">
            <a:noFill/>
          </a:ln>
        </p:spPr>
        <p:txBody>
          <a:bodyPr wrap="none" lIns="0" rtlCol="0">
            <a:spAutoFit/>
          </a:bodyPr>
          <a:lstStyle/>
          <a:p>
            <a:pPr algn="l"/>
            <a:r>
              <a:rPr lang="en-GB" sz="1000" b="1">
                <a:solidFill>
                  <a:schemeClr val="bg1"/>
                </a:solidFill>
                <a:latin typeface="Aptos" panose="020B0004020202020204" pitchFamily="34" charset="0"/>
              </a:rPr>
              <a:t>Cover letter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36BC14-72DE-3005-49B4-29D31E0A5302}"/>
              </a:ext>
            </a:extLst>
          </p:cNvPr>
          <p:cNvSpPr txBox="1"/>
          <p:nvPr/>
        </p:nvSpPr>
        <p:spPr>
          <a:xfrm>
            <a:off x="10437715" y="4593339"/>
            <a:ext cx="1820370" cy="246221"/>
          </a:xfrm>
          <a:prstGeom prst="rect">
            <a:avLst/>
          </a:prstGeom>
          <a:noFill/>
          <a:ln w="25400">
            <a:noFill/>
          </a:ln>
        </p:spPr>
        <p:txBody>
          <a:bodyPr wrap="none" lIns="0" rtlCol="0">
            <a:spAutoFit/>
          </a:bodyPr>
          <a:lstStyle/>
          <a:p>
            <a:pPr algn="l"/>
            <a:r>
              <a:rPr lang="en-GB" sz="1000" b="1">
                <a:solidFill>
                  <a:schemeClr val="bg1"/>
                </a:solidFill>
                <a:latin typeface="Aptos" panose="020B0004020202020204" pitchFamily="34" charset="0"/>
              </a:rPr>
              <a:t>Uncashed investments notice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DCB70F-76CF-FA49-1676-7602A2241B66}"/>
              </a:ext>
            </a:extLst>
          </p:cNvPr>
          <p:cNvSpPr txBox="1"/>
          <p:nvPr/>
        </p:nvSpPr>
        <p:spPr>
          <a:xfrm>
            <a:off x="10091300" y="2209008"/>
            <a:ext cx="1107034" cy="246221"/>
          </a:xfrm>
          <a:prstGeom prst="rect">
            <a:avLst/>
          </a:prstGeom>
          <a:noFill/>
          <a:ln w="25400">
            <a:noFill/>
          </a:ln>
        </p:spPr>
        <p:txBody>
          <a:bodyPr wrap="none" lIns="0" rtlCol="0">
            <a:spAutoFit/>
          </a:bodyPr>
          <a:lstStyle/>
          <a:p>
            <a:pPr algn="l"/>
            <a:r>
              <a:rPr lang="en-GB" sz="1000" b="1">
                <a:solidFill>
                  <a:schemeClr val="bg1"/>
                </a:solidFill>
                <a:latin typeface="Aptos" panose="020B0004020202020204" pitchFamily="34" charset="0"/>
              </a:rPr>
              <a:t>Handwritten note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258C8B-C616-68FF-82FF-BB66BE43C32B}"/>
              </a:ext>
            </a:extLst>
          </p:cNvPr>
          <p:cNvSpPr txBox="1"/>
          <p:nvPr/>
        </p:nvSpPr>
        <p:spPr>
          <a:xfrm>
            <a:off x="474523" y="6545895"/>
            <a:ext cx="1732006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lIns="0" rtlCol="0">
            <a:spAutoFit/>
          </a:bodyPr>
          <a:lstStyle/>
          <a:p>
            <a:pPr algn="l"/>
            <a:r>
              <a:rPr lang="en-GB" sz="1000" b="1">
                <a:solidFill>
                  <a:schemeClr val="bg1"/>
                </a:solidFill>
                <a:latin typeface="Aptos" panose="020B0004020202020204" pitchFamily="34" charset="0"/>
              </a:rPr>
              <a:t>Change of Address (6SEC)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03D113C7-6F4E-4439-3F69-949A681903B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38161" y="4929630"/>
            <a:ext cx="1346443" cy="15932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C5B7734-3393-1314-0D04-F33A4F3A13A5}"/>
              </a:ext>
            </a:extLst>
          </p:cNvPr>
          <p:cNvSpPr txBox="1"/>
          <p:nvPr/>
        </p:nvSpPr>
        <p:spPr>
          <a:xfrm>
            <a:off x="2411299" y="6544295"/>
            <a:ext cx="991618" cy="246221"/>
          </a:xfrm>
          <a:prstGeom prst="rect">
            <a:avLst/>
          </a:prstGeom>
          <a:noFill/>
          <a:ln w="25400">
            <a:noFill/>
          </a:ln>
        </p:spPr>
        <p:txBody>
          <a:bodyPr wrap="none" lIns="0" rtlCol="0">
            <a:spAutoFit/>
          </a:bodyPr>
          <a:lstStyle/>
          <a:p>
            <a:pPr algn="l"/>
            <a:r>
              <a:rPr lang="en-GB" sz="1000" b="1">
                <a:solidFill>
                  <a:schemeClr val="bg1"/>
                </a:solidFill>
                <a:latin typeface="Aptos" panose="020B0004020202020204" pitchFamily="34" charset="0"/>
              </a:rPr>
              <a:t>DMV document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5A3BE26-9691-A6AF-2D9F-605F77D0E2F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69860" y="4948583"/>
            <a:ext cx="1267624" cy="155466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F288BEFD-B8FD-E213-CACD-87EBD1316B30}"/>
              </a:ext>
            </a:extLst>
          </p:cNvPr>
          <p:cNvSpPr txBox="1"/>
          <p:nvPr/>
        </p:nvSpPr>
        <p:spPr>
          <a:xfrm>
            <a:off x="4554379" y="8233437"/>
            <a:ext cx="591805" cy="553998"/>
          </a:xfrm>
          <a:prstGeom prst="rect">
            <a:avLst/>
          </a:prstGeom>
          <a:noFill/>
          <a:ln w="25400">
            <a:noFill/>
          </a:ln>
        </p:spPr>
        <p:txBody>
          <a:bodyPr wrap="square" lIns="0" rtlCol="0">
            <a:spAutoFit/>
          </a:bodyPr>
          <a:lstStyle/>
          <a:p>
            <a:pPr algn="l"/>
            <a:r>
              <a:rPr lang="en-GB" sz="1000" b="1">
                <a:solidFill>
                  <a:schemeClr val="accent1"/>
                </a:solidFill>
                <a:latin typeface="Aptos" panose="020B0004020202020204" pitchFamily="34" charset="0"/>
              </a:rPr>
              <a:t>Medical insurance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3E8EC06-42D2-6030-44AD-E6FAE4075BDF}"/>
              </a:ext>
            </a:extLst>
          </p:cNvPr>
          <p:cNvSpPr txBox="1"/>
          <p:nvPr/>
        </p:nvSpPr>
        <p:spPr>
          <a:xfrm>
            <a:off x="3807863" y="6561525"/>
            <a:ext cx="1164742" cy="246221"/>
          </a:xfrm>
          <a:prstGeom prst="rect">
            <a:avLst/>
          </a:prstGeom>
          <a:noFill/>
          <a:ln w="25400">
            <a:noFill/>
          </a:ln>
        </p:spPr>
        <p:txBody>
          <a:bodyPr wrap="none" lIns="0" rtlCol="0">
            <a:spAutoFit/>
          </a:bodyPr>
          <a:lstStyle/>
          <a:p>
            <a:pPr algn="l"/>
            <a:r>
              <a:rPr lang="en-GB" sz="1000" b="1">
                <a:solidFill>
                  <a:schemeClr val="bg1"/>
                </a:solidFill>
                <a:latin typeface="Aptos" panose="020B0004020202020204" pitchFamily="34" charset="0"/>
              </a:rPr>
              <a:t>Medical insurance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E9B33565-6605-8D25-5B89-9CF14C2A1551}"/>
              </a:ext>
            </a:extLst>
          </p:cNvPr>
          <p:cNvPicPr>
            <a:picLocks noChangeAspect="1"/>
          </p:cNvPicPr>
          <p:nvPr/>
        </p:nvPicPr>
        <p:blipFill>
          <a:blip r:embed="rId17">
            <a:biLevel thresh="50000"/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11450" y="461495"/>
            <a:ext cx="1823961" cy="116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5308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2D78185-E653-67C2-82CC-5F278AD4F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28C7B4-9E46-481C-8C44-023D59E53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data is necessary to classify?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8B954E-B30C-BC69-8A83-4655347A21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428363"/>
            <a:ext cx="317716" cy="246221"/>
          </a:xfrm>
        </p:spPr>
        <p:txBody>
          <a:bodyPr/>
          <a:lstStyle/>
          <a:p>
            <a:fld id="{0BBDC51F-5D11-B24C-B440-508FFDF318C8}" type="slidenum">
              <a:rPr lang="en-AU" smtClean="0"/>
              <a:pPr/>
              <a:t>22</a:t>
            </a:fld>
            <a:endParaRPr lang="en-AU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F775EE4-465A-E3C0-4F90-CECA71A16C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877583"/>
              </p:ext>
            </p:extLst>
          </p:nvPr>
        </p:nvGraphicFramePr>
        <p:xfrm>
          <a:off x="555624" y="768796"/>
          <a:ext cx="11255376" cy="564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844">
                  <a:extLst>
                    <a:ext uri="{9D8B030D-6E8A-4147-A177-3AD203B41FA5}">
                      <a16:colId xmlns:a16="http://schemas.microsoft.com/office/drawing/2014/main" val="369535422"/>
                    </a:ext>
                  </a:extLst>
                </a:gridCol>
                <a:gridCol w="2813844">
                  <a:extLst>
                    <a:ext uri="{9D8B030D-6E8A-4147-A177-3AD203B41FA5}">
                      <a16:colId xmlns:a16="http://schemas.microsoft.com/office/drawing/2014/main" val="2310733496"/>
                    </a:ext>
                  </a:extLst>
                </a:gridCol>
                <a:gridCol w="2813844">
                  <a:extLst>
                    <a:ext uri="{9D8B030D-6E8A-4147-A177-3AD203B41FA5}">
                      <a16:colId xmlns:a16="http://schemas.microsoft.com/office/drawing/2014/main" val="1346628501"/>
                    </a:ext>
                  </a:extLst>
                </a:gridCol>
                <a:gridCol w="2813844">
                  <a:extLst>
                    <a:ext uri="{9D8B030D-6E8A-4147-A177-3AD203B41FA5}">
                      <a16:colId xmlns:a16="http://schemas.microsoft.com/office/drawing/2014/main" val="10343447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Query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Data 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Data source (constructed)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What CPU information is used to create this data source?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3994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/>
                        <a:t>1. What is the document intent//what does the shareholder want to do?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Categorization bucket (Column 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Transaction routing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QRG, Reclassifying and insert scenario document, some information from DOPs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765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/>
                        <a:t>2. For which company? One or multiple?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COY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/>
                        <a:t>Company code translation table</a:t>
                      </a:r>
                    </a:p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Cosmos company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994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/>
                        <a:t>3. Who is the recipient?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Individual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Incoming envelope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/>
                        <a:t>Incoming envelope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906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/>
                        <a:t>4. What is the account number?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HIN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Incoming envelope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/>
                        <a:t>Incoming envelope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099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/>
                        <a:t>5. Is there an account for the credit?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Yes or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Incoming envelope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/>
                        <a:t>Incoming envelope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961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/>
                        <a:t>6. Run checks to classify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Which company? Is there a doc return form? Section 144 reference?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Transaction routing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/>
                        <a:t>QRG, Reclassifying and insert scenario document, some information from DOPs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186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/>
                        <a:t>7. Based on results of 6, classify into a specific transaction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Specific classification type (potentially rationalized)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Transaction routing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/>
                        <a:t>QRG, Reclassifying and insert scenario document, some information from DOPs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779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24588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03DA05B-9E7E-25BA-3772-9E036BF9D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89" y="239394"/>
            <a:ext cx="11555037" cy="924164"/>
          </a:xfrm>
        </p:spPr>
        <p:txBody>
          <a:bodyPr/>
          <a:lstStyle/>
          <a:p>
            <a:r>
              <a:rPr lang="en-GB"/>
              <a:t>Extracting categorization instructions using Copilot, rewriting it for an LLM to scan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7CF2E-5BD5-5DEF-27E2-667C400D88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0896" y="6372385"/>
            <a:ext cx="317716" cy="246221"/>
          </a:xfrm>
        </p:spPr>
        <p:txBody>
          <a:bodyPr/>
          <a:lstStyle/>
          <a:p>
            <a:fld id="{0BBDC51F-5D11-B24C-B440-508FFDF318C8}" type="slidenum">
              <a:rPr lang="en-AU" smtClean="0"/>
              <a:pPr/>
              <a:t>23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110383-417D-71A5-CDA7-DADF3B32D3AC}"/>
              </a:ext>
            </a:extLst>
          </p:cNvPr>
          <p:cNvSpPr txBox="1"/>
          <p:nvPr/>
        </p:nvSpPr>
        <p:spPr>
          <a:xfrm>
            <a:off x="415289" y="1352465"/>
            <a:ext cx="2233540" cy="52322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1400" b="1">
                <a:solidFill>
                  <a:schemeClr val="accent1"/>
                </a:solidFill>
                <a:latin typeface="Aptos" panose="020B0004020202020204" pitchFamily="34" charset="0"/>
              </a:rPr>
              <a:t>Original DRIP OCP categorization document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E4947B-7C67-37E4-30E6-C9B6CE4A82D7}"/>
              </a:ext>
            </a:extLst>
          </p:cNvPr>
          <p:cNvSpPr txBox="1"/>
          <p:nvPr/>
        </p:nvSpPr>
        <p:spPr>
          <a:xfrm>
            <a:off x="3072485" y="1361410"/>
            <a:ext cx="3600278" cy="52322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1400" b="1">
                <a:solidFill>
                  <a:schemeClr val="accent1"/>
                </a:solidFill>
                <a:latin typeface="Aptos" panose="020B0004020202020204" pitchFamily="34" charset="0"/>
              </a:rPr>
              <a:t>Extracting step-by-step instructions from DRIP OCP classification document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9C4BA7-E7B8-6DE9-B238-E1941C392EFF}"/>
              </a:ext>
            </a:extLst>
          </p:cNvPr>
          <p:cNvSpPr txBox="1"/>
          <p:nvPr/>
        </p:nvSpPr>
        <p:spPr>
          <a:xfrm>
            <a:off x="7701962" y="1352465"/>
            <a:ext cx="3846367" cy="52322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1400" b="1">
                <a:solidFill>
                  <a:schemeClr val="accent1"/>
                </a:solidFill>
                <a:latin typeface="Aptos" panose="020B0004020202020204" pitchFamily="34" charset="0"/>
              </a:rPr>
              <a:t>Rewriting instructions optimized for an LLM to scan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16F6F247-3DC0-0046-A78B-6DCF248D4C4C}"/>
              </a:ext>
            </a:extLst>
          </p:cNvPr>
          <p:cNvSpPr/>
          <p:nvPr/>
        </p:nvSpPr>
        <p:spPr>
          <a:xfrm>
            <a:off x="2535094" y="2739655"/>
            <a:ext cx="481780" cy="247681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1B27A13-BD58-FC4B-4533-70D92DD97A56}"/>
              </a:ext>
            </a:extLst>
          </p:cNvPr>
          <p:cNvSpPr/>
          <p:nvPr/>
        </p:nvSpPr>
        <p:spPr>
          <a:xfrm>
            <a:off x="7232898" y="2739655"/>
            <a:ext cx="426169" cy="247681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ADE7D47-10BC-8696-F1DC-4E69CEAAA9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143"/>
          <a:stretch>
            <a:fillRect/>
          </a:stretch>
        </p:blipFill>
        <p:spPr>
          <a:xfrm>
            <a:off x="415289" y="2034684"/>
            <a:ext cx="2007632" cy="281872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364CBAA-1532-EEA8-9B99-D6571D4C9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485" y="2009480"/>
            <a:ext cx="4104803" cy="264691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CAB36AC-F850-0AC4-3B34-0E1D38E3FC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1962" y="1889141"/>
            <a:ext cx="4282910" cy="359420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9B89CB4-3F36-3F8C-7906-22DF132506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9068" y="5316403"/>
            <a:ext cx="4325804" cy="130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737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5F597-3680-9DCB-8302-4612CCCFE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5ED02B-417B-4D97-8CA2-AC912C0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Step by step flow – how to categorize DRIP OCP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9D2EE5-BE28-9D7D-19E0-2D5C51B066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600817"/>
            <a:ext cx="317716" cy="246221"/>
          </a:xfrm>
        </p:spPr>
        <p:txBody>
          <a:bodyPr/>
          <a:lstStyle/>
          <a:p>
            <a:fld id="{0BBDC51F-5D11-B24C-B440-508FFDF318C8}" type="slidenum">
              <a:rPr lang="en-AU" smtClean="0"/>
              <a:pPr/>
              <a:t>24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1C1716-66EC-A1AB-06B1-336405DC062A}"/>
              </a:ext>
            </a:extLst>
          </p:cNvPr>
          <p:cNvSpPr txBox="1"/>
          <p:nvPr/>
        </p:nvSpPr>
        <p:spPr>
          <a:xfrm>
            <a:off x="1479433" y="1985050"/>
            <a:ext cx="1572127" cy="400110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Does the transaction include a check? </a:t>
            </a: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C2C1CC10-B784-78BE-C654-75B42B999DE7}"/>
              </a:ext>
            </a:extLst>
          </p:cNvPr>
          <p:cNvCxnSpPr>
            <a:cxnSpLocks/>
            <a:stCxn id="8" idx="3"/>
            <a:endCxn id="76" idx="1"/>
          </p:cNvCxnSpPr>
          <p:nvPr/>
        </p:nvCxnSpPr>
        <p:spPr>
          <a:xfrm flipV="1">
            <a:off x="3051560" y="1298191"/>
            <a:ext cx="375654" cy="8869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0AA4A004-6D5D-95B1-5522-C15E2B09065B}"/>
              </a:ext>
            </a:extLst>
          </p:cNvPr>
          <p:cNvSpPr txBox="1"/>
          <p:nvPr/>
        </p:nvSpPr>
        <p:spPr>
          <a:xfrm>
            <a:off x="3427214" y="1175080"/>
            <a:ext cx="1572127" cy="246221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No – not DRIP OCP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684DA75-EF74-01B2-6CCB-14901078E3F5}"/>
              </a:ext>
            </a:extLst>
          </p:cNvPr>
          <p:cNvSpPr txBox="1"/>
          <p:nvPr/>
        </p:nvSpPr>
        <p:spPr>
          <a:xfrm>
            <a:off x="3427213" y="1861940"/>
            <a:ext cx="1572127" cy="1785104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Yes – Is the check for any of those categories: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Lost certificate affidavit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Research/subpoena/ESPP fee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Rush/certificate issue fee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Medallion guarantee waiver fee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Transfer fee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049D3A7-C1E3-ED6A-026F-B16DEFFAC1CC}"/>
              </a:ext>
            </a:extLst>
          </p:cNvPr>
          <p:cNvSpPr txBox="1"/>
          <p:nvPr/>
        </p:nvSpPr>
        <p:spPr>
          <a:xfrm>
            <a:off x="5552793" y="1861940"/>
            <a:ext cx="2268617" cy="1323439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GB" sz="1000">
                <a:latin typeface="Aptos" panose="020B0004020202020204" pitchFamily="34" charset="0"/>
              </a:rPr>
              <a:t>No – check for indications like: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“Please invest”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“Optional Cash Purchase”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Dividend reinvestment statement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OCP investment request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A check amount that is not a fixed fee amount (aligns with an investment)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A99409E-CE01-2258-D256-3CF3D97C1D31}"/>
              </a:ext>
            </a:extLst>
          </p:cNvPr>
          <p:cNvSpPr txBox="1"/>
          <p:nvPr/>
        </p:nvSpPr>
        <p:spPr>
          <a:xfrm>
            <a:off x="5552792" y="5132729"/>
            <a:ext cx="1572127" cy="246221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Yes –not DRIP OCP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0AF0B33-DEF9-FAB5-B9C8-8FF1B44340DD}"/>
              </a:ext>
            </a:extLst>
          </p:cNvPr>
          <p:cNvSpPr txBox="1"/>
          <p:nvPr/>
        </p:nvSpPr>
        <p:spPr>
          <a:xfrm>
            <a:off x="0" y="1985050"/>
            <a:ext cx="1239253" cy="246221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Scan the envelope</a:t>
            </a: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61AC78C4-61E4-3F9C-B519-9EECCFDC3836}"/>
              </a:ext>
            </a:extLst>
          </p:cNvPr>
          <p:cNvCxnSpPr>
            <a:cxnSpLocks/>
            <a:stCxn id="8" idx="3"/>
            <a:endCxn id="77" idx="1"/>
          </p:cNvCxnSpPr>
          <p:nvPr/>
        </p:nvCxnSpPr>
        <p:spPr>
          <a:xfrm>
            <a:off x="3051560" y="2185105"/>
            <a:ext cx="375653" cy="5693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A4FE8A4C-912A-808E-14D3-13B281BB277D}"/>
              </a:ext>
            </a:extLst>
          </p:cNvPr>
          <p:cNvCxnSpPr>
            <a:cxnSpLocks/>
            <a:stCxn id="77" idx="3"/>
            <a:endCxn id="78" idx="1"/>
          </p:cNvCxnSpPr>
          <p:nvPr/>
        </p:nvCxnSpPr>
        <p:spPr>
          <a:xfrm flipV="1">
            <a:off x="4999340" y="2523660"/>
            <a:ext cx="553453" cy="2308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8177631B-ADC2-41D8-50DD-3C840C1E40AD}"/>
              </a:ext>
            </a:extLst>
          </p:cNvPr>
          <p:cNvCxnSpPr>
            <a:cxnSpLocks/>
            <a:stCxn id="77" idx="3"/>
            <a:endCxn id="79" idx="1"/>
          </p:cNvCxnSpPr>
          <p:nvPr/>
        </p:nvCxnSpPr>
        <p:spPr>
          <a:xfrm>
            <a:off x="4999340" y="2754492"/>
            <a:ext cx="553452" cy="25013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68C72F4-08ED-8D89-A225-FC9FD9B1FDDC}"/>
              </a:ext>
            </a:extLst>
          </p:cNvPr>
          <p:cNvCxnSpPr>
            <a:cxnSpLocks/>
            <a:stCxn id="80" idx="3"/>
          </p:cNvCxnSpPr>
          <p:nvPr/>
        </p:nvCxnSpPr>
        <p:spPr>
          <a:xfrm>
            <a:off x="1239253" y="2108161"/>
            <a:ext cx="2401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4D31691B-0128-C17D-7DEE-5020D785277F}"/>
              </a:ext>
            </a:extLst>
          </p:cNvPr>
          <p:cNvSpPr txBox="1"/>
          <p:nvPr/>
        </p:nvSpPr>
        <p:spPr>
          <a:xfrm>
            <a:off x="8374864" y="1738830"/>
            <a:ext cx="890335" cy="400110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No – not DRIP OCP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779B957-C4A6-8540-885B-A20802451DA5}"/>
              </a:ext>
            </a:extLst>
          </p:cNvPr>
          <p:cNvSpPr txBox="1"/>
          <p:nvPr/>
        </p:nvSpPr>
        <p:spPr>
          <a:xfrm>
            <a:off x="8251871" y="3305890"/>
            <a:ext cx="835530" cy="400110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Yes – DRIP OCP</a:t>
            </a:r>
          </a:p>
        </p:txBody>
      </p: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23649F2D-DB22-623A-EFCF-04D6106FA26B}"/>
              </a:ext>
            </a:extLst>
          </p:cNvPr>
          <p:cNvCxnSpPr>
            <a:cxnSpLocks/>
            <a:stCxn id="78" idx="3"/>
            <a:endCxn id="97" idx="1"/>
          </p:cNvCxnSpPr>
          <p:nvPr/>
        </p:nvCxnSpPr>
        <p:spPr>
          <a:xfrm flipV="1">
            <a:off x="7821410" y="1938885"/>
            <a:ext cx="553454" cy="584775"/>
          </a:xfrm>
          <a:prstGeom prst="bentConnector3">
            <a:avLst>
              <a:gd name="adj1" fmla="val 4130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A7CD9F10-7596-37FB-25BF-DDC39B32E952}"/>
              </a:ext>
            </a:extLst>
          </p:cNvPr>
          <p:cNvCxnSpPr>
            <a:cxnSpLocks/>
            <a:stCxn id="78" idx="3"/>
            <a:endCxn id="98" idx="1"/>
          </p:cNvCxnSpPr>
          <p:nvPr/>
        </p:nvCxnSpPr>
        <p:spPr>
          <a:xfrm>
            <a:off x="7821410" y="2523660"/>
            <a:ext cx="430461" cy="9822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0C7B7B98-1369-B2E0-E005-DB2298D6A4F5}"/>
              </a:ext>
            </a:extLst>
          </p:cNvPr>
          <p:cNvSpPr txBox="1"/>
          <p:nvPr/>
        </p:nvSpPr>
        <p:spPr>
          <a:xfrm>
            <a:off x="9264567" y="2976330"/>
            <a:ext cx="1572127" cy="861774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Verify if the check is: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Unsigned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Unacceptable format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Incorrect payee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Missing required info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EC8B643-0605-3812-D175-B81F16E33E26}"/>
              </a:ext>
            </a:extLst>
          </p:cNvPr>
          <p:cNvCxnSpPr>
            <a:cxnSpLocks/>
          </p:cNvCxnSpPr>
          <p:nvPr/>
        </p:nvCxnSpPr>
        <p:spPr>
          <a:xfrm>
            <a:off x="9077372" y="3429001"/>
            <a:ext cx="1878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7FAB91E3-5D16-91BC-C496-AD5CA4B31BD5}"/>
              </a:ext>
            </a:extLst>
          </p:cNvPr>
          <p:cNvSpPr txBox="1"/>
          <p:nvPr/>
        </p:nvSpPr>
        <p:spPr>
          <a:xfrm>
            <a:off x="11026521" y="2718428"/>
            <a:ext cx="1013328" cy="553998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Yes – DRIP OCP but REJECTED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5007606-7849-3BA2-2AFE-5DDABD447EC0}"/>
              </a:ext>
            </a:extLst>
          </p:cNvPr>
          <p:cNvSpPr txBox="1"/>
          <p:nvPr/>
        </p:nvSpPr>
        <p:spPr>
          <a:xfrm>
            <a:off x="11033201" y="3838104"/>
            <a:ext cx="1013328" cy="861774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Yes – DRIP OCP but ACCEPTED (go ahead and extract info)  </a:t>
            </a:r>
          </a:p>
        </p:txBody>
      </p: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D836D8D6-EBA5-CDA7-6C24-32D7D5F5B61A}"/>
              </a:ext>
            </a:extLst>
          </p:cNvPr>
          <p:cNvCxnSpPr>
            <a:cxnSpLocks/>
            <a:stCxn id="107" idx="3"/>
            <a:endCxn id="112" idx="1"/>
          </p:cNvCxnSpPr>
          <p:nvPr/>
        </p:nvCxnSpPr>
        <p:spPr>
          <a:xfrm flipV="1">
            <a:off x="10836694" y="2995427"/>
            <a:ext cx="189827" cy="41179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D934CCE3-C298-95A8-754A-7E2F62C2B13B}"/>
              </a:ext>
            </a:extLst>
          </p:cNvPr>
          <p:cNvCxnSpPr>
            <a:cxnSpLocks/>
            <a:stCxn id="107" idx="3"/>
            <a:endCxn id="113" idx="1"/>
          </p:cNvCxnSpPr>
          <p:nvPr/>
        </p:nvCxnSpPr>
        <p:spPr>
          <a:xfrm>
            <a:off x="10836694" y="3407217"/>
            <a:ext cx="196507" cy="8617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55923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E2CE6-C1F7-C992-17BB-45C36E80E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1B524D-47CE-125E-C9DF-C34D0B389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89" y="239394"/>
            <a:ext cx="11555037" cy="924164"/>
          </a:xfrm>
        </p:spPr>
        <p:txBody>
          <a:bodyPr/>
          <a:lstStyle/>
          <a:p>
            <a:r>
              <a:rPr lang="en-GB"/>
              <a:t>Extracting classification instructions using Copilot, rewriting it for an LLM to scan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3EC4E8-2186-3F4E-1C89-0ADC2887A7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BBDC51F-5D11-B24C-B440-508FFDF318C8}" type="slidenum">
              <a:rPr lang="en-AU" smtClean="0"/>
              <a:pPr/>
              <a:t>25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B36463-EEEA-0065-F923-F2124D4C93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335"/>
          <a:stretch>
            <a:fillRect/>
          </a:stretch>
        </p:blipFill>
        <p:spPr>
          <a:xfrm>
            <a:off x="434779" y="2166862"/>
            <a:ext cx="2194560" cy="140994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4A55AC-871D-8FE9-9282-D0FD0161B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747" y="2166861"/>
            <a:ext cx="3600279" cy="366674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DDC029-236B-DB9F-5DE9-D4784E02A9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665" r="-213"/>
          <a:stretch>
            <a:fillRect/>
          </a:stretch>
        </p:blipFill>
        <p:spPr>
          <a:xfrm>
            <a:off x="415289" y="3772441"/>
            <a:ext cx="2233540" cy="140994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6AFD13-E432-3023-A465-808DDCE02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0435" y="2166862"/>
            <a:ext cx="3807385" cy="366674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ECFDEFF-B660-5986-10E0-7537EF873189}"/>
              </a:ext>
            </a:extLst>
          </p:cNvPr>
          <p:cNvSpPr txBox="1"/>
          <p:nvPr/>
        </p:nvSpPr>
        <p:spPr>
          <a:xfrm>
            <a:off x="434779" y="1484642"/>
            <a:ext cx="2233540" cy="52322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1400" b="1">
                <a:solidFill>
                  <a:schemeClr val="accent1"/>
                </a:solidFill>
                <a:latin typeface="Aptos" panose="020B0004020202020204" pitchFamily="34" charset="0"/>
              </a:rPr>
              <a:t>Original DRIP OCP classification document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BB61B9-1949-9270-3F07-1D73975E886F}"/>
              </a:ext>
            </a:extLst>
          </p:cNvPr>
          <p:cNvSpPr txBox="1"/>
          <p:nvPr/>
        </p:nvSpPr>
        <p:spPr>
          <a:xfrm>
            <a:off x="3394747" y="1493587"/>
            <a:ext cx="3600278" cy="52322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1400" b="1">
                <a:solidFill>
                  <a:schemeClr val="accent1"/>
                </a:solidFill>
                <a:latin typeface="Aptos" panose="020B0004020202020204" pitchFamily="34" charset="0"/>
              </a:rPr>
              <a:t>Extracting step-by-step instructions from DRIP OCP classification document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7B644B-7720-8ABE-682A-43C1009F4063}"/>
              </a:ext>
            </a:extLst>
          </p:cNvPr>
          <p:cNvSpPr txBox="1"/>
          <p:nvPr/>
        </p:nvSpPr>
        <p:spPr>
          <a:xfrm>
            <a:off x="7721452" y="1484642"/>
            <a:ext cx="3846367" cy="52322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1400" b="1">
                <a:solidFill>
                  <a:schemeClr val="accent1"/>
                </a:solidFill>
                <a:latin typeface="Aptos" panose="020B0004020202020204" pitchFamily="34" charset="0"/>
              </a:rPr>
              <a:t>Rewriting instructions optimized for an AI agent to scan 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21D49E6-CCE0-5E6B-7B7C-7F5328D2F6CC}"/>
              </a:ext>
            </a:extLst>
          </p:cNvPr>
          <p:cNvSpPr/>
          <p:nvPr/>
        </p:nvSpPr>
        <p:spPr>
          <a:xfrm>
            <a:off x="2771153" y="2871833"/>
            <a:ext cx="481780" cy="247681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F3E026B9-5F5D-E0AB-91A4-299A4F1F28D5}"/>
              </a:ext>
            </a:extLst>
          </p:cNvPr>
          <p:cNvSpPr/>
          <p:nvPr/>
        </p:nvSpPr>
        <p:spPr>
          <a:xfrm>
            <a:off x="7136840" y="2871832"/>
            <a:ext cx="481780" cy="247681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2331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196D3-8CD4-041E-68CA-0D5B1C8FF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6381C9-1A51-C29F-FB52-1494DB2C4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Step-by-step instructions optimized for an LLM to scan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532EE6-6102-30B3-219F-73F825140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BBDC51F-5D11-B24C-B440-508FFDF318C8}" type="slidenum">
              <a:rPr lang="en-AU" smtClean="0"/>
              <a:pPr/>
              <a:t>26</a:t>
            </a:fld>
            <a:endParaRPr lang="en-AU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569B64-6849-571E-4A23-FAB38FB4A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486902"/>
              </p:ext>
            </p:extLst>
          </p:nvPr>
        </p:nvGraphicFramePr>
        <p:xfrm>
          <a:off x="523965" y="724427"/>
          <a:ext cx="11345817" cy="5879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2606">
                  <a:extLst>
                    <a:ext uri="{9D8B030D-6E8A-4147-A177-3AD203B41FA5}">
                      <a16:colId xmlns:a16="http://schemas.microsoft.com/office/drawing/2014/main" val="1991439302"/>
                    </a:ext>
                  </a:extLst>
                </a:gridCol>
                <a:gridCol w="7873211">
                  <a:extLst>
                    <a:ext uri="{9D8B030D-6E8A-4147-A177-3AD203B41FA5}">
                      <a16:colId xmlns:a16="http://schemas.microsoft.com/office/drawing/2014/main" val="1334493425"/>
                    </a:ext>
                  </a:extLst>
                </a:gridCol>
              </a:tblGrid>
              <a:tr h="278638">
                <a:tc>
                  <a:txBody>
                    <a:bodyPr/>
                    <a:lstStyle/>
                    <a:p>
                      <a:r>
                        <a:rPr lang="en-GB" sz="1000"/>
                        <a:t>Step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/>
                        <a:t>Instructions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387744"/>
                  </a:ext>
                </a:extLst>
              </a:tr>
              <a:tr h="450177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00" b="0" i="0">
                          <a:effectLst/>
                          <a:latin typeface="Segoe UI" panose="020B0502040204020203" pitchFamily="34" charset="0"/>
                        </a:rPr>
                        <a:t>Always Classify the Item (Mandatory Classification)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 fontAlgn="t">
                        <a:lnSpc>
                          <a:spcPts val="1500"/>
                        </a:lnSpc>
                        <a:buAutoNum type="arabicPeriod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Receive an item scanned to OCP. </a:t>
                      </a:r>
                    </a:p>
                    <a:p>
                      <a:pPr marL="228600" indent="-228600" fontAlgn="t">
                        <a:lnSpc>
                          <a:spcPts val="1500"/>
                        </a:lnSpc>
                        <a:buAutoNum type="arabicPeriod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Classify it to OCP regardless of scanning errors.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342731"/>
                  </a:ext>
                </a:extLst>
              </a:tr>
              <a:tr h="1720838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Identify the Correct COY (Company Code) and 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1.Read the handwritten COY from the Image Center. 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2. Do not trust it without verification; treat as a suggested value only. </a:t>
                      </a:r>
                      <a:endParaRPr lang="en-US" sz="1000" b="0" i="0" u="none" strike="noStrike">
                        <a:solidFill>
                          <a:srgbClr val="464FEB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3. Verify account by matching any 2 of the following: </a:t>
                      </a:r>
                    </a:p>
                    <a:p>
                      <a:pPr marL="108000" marR="0" lvl="0" indent="0" algn="l" defTabSz="914400" rtl="0" eaLnBrk="1" fontAlgn="t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Account Number</a:t>
                      </a:r>
                    </a:p>
                    <a:p>
                      <a:pPr marL="108000" marR="0" lvl="0" indent="0" algn="l" defTabSz="914400" rtl="0" eaLnBrk="1" fontAlgn="t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Last Name</a:t>
                      </a:r>
                    </a:p>
                    <a:p>
                      <a:pPr marL="108000" lvl="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Registration</a:t>
                      </a:r>
                    </a:p>
                    <a:p>
                      <a:pPr marL="108000" lvl="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Alternate ID</a:t>
                      </a:r>
                    </a:p>
                    <a:p>
                      <a:pPr marL="0" lvl="0"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4.If an exact account match is not found: Attempt lookup using Cosmos Investor.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If still unresolved, escalate with clear comments in workflow.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165779"/>
                  </a:ext>
                </a:extLst>
              </a:tr>
              <a:tr h="813223">
                <a:tc>
                  <a:txBody>
                    <a:bodyPr/>
                    <a:lstStyle/>
                    <a:p>
                      <a:r>
                        <a:rPr lang="en-GB" sz="1000"/>
                        <a:t>Handle Incorrect COY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GB" sz="1000" b="0" i="0">
                          <a:effectLst/>
                          <a:latin typeface="Segoe UI" panose="020B0502040204020203" pitchFamily="34" charset="0"/>
                        </a:rPr>
                        <a:t>1.If handwritten COY is incorrect: </a:t>
                      </a:r>
                    </a:p>
                    <a:p>
                      <a:pPr marL="108000" lvl="1" indent="-360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000" b="0" i="0">
                          <a:effectLst/>
                          <a:latin typeface="Segoe UI" panose="020B0502040204020203" pitchFamily="34" charset="0"/>
                        </a:rPr>
                        <a:t>Email Image Centre Cash Team (Carlos Recinos, Kshatriya Gibson, Nikeya Witcher).</a:t>
                      </a:r>
                    </a:p>
                    <a:p>
                      <a:pPr marL="36000" lvl="1" indent="-360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000" b="0" i="0">
                          <a:effectLst/>
                          <a:latin typeface="Segoe UI" panose="020B0502040204020203" pitchFamily="34" charset="0"/>
                        </a:rPr>
                        <a:t>Add workflow comment confirming notification.</a:t>
                      </a:r>
                      <a:br>
                        <a:rPr lang="en-GB" sz="10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GB" sz="1000" b="0" i="0">
                          <a:effectLst/>
                          <a:latin typeface="Segoe UI" panose="020B0502040204020203" pitchFamily="34" charset="0"/>
                        </a:rPr>
                        <a:t>2. Use the correct COY for classification.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697293"/>
                  </a:ext>
                </a:extLst>
              </a:tr>
              <a:tr h="1902361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00" b="0" i="0">
                          <a:effectLst/>
                          <a:latin typeface="Segoe UI" panose="020B0502040204020203" pitchFamily="34" charset="0"/>
                        </a:rPr>
                        <a:t>Validate Check Good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Perform these checks </a:t>
                      </a:r>
                      <a:r>
                        <a:rPr lang="en-US" sz="1000" b="1" i="0">
                          <a:effectLst/>
                          <a:latin typeface="Segoe UI" panose="020B0502040204020203" pitchFamily="34" charset="0"/>
                        </a:rPr>
                        <a:t>before classification</a:t>
                      </a: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, but classify even if issues exist: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Verify the date is valid.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Check that the check is payable to: </a:t>
                      </a:r>
                    </a:p>
                    <a:p>
                      <a:pPr marL="628650" lvl="1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Computershare, or</a:t>
                      </a:r>
                    </a:p>
                    <a:p>
                      <a:pPr marL="628650" lvl="1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The client listed on the check (e.g., Intel, AT&amp;T, IBM).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Check numeric and legal amounts match.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Confirm signature matches the payer name.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If not in good order: </a:t>
                      </a:r>
                    </a:p>
                    <a:p>
                      <a:pPr marL="628650" lvl="1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Add workflow comments.</a:t>
                      </a:r>
                    </a:p>
                    <a:p>
                      <a:pPr marL="628650" lvl="1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Continue classification.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526902"/>
                  </a:ext>
                </a:extLst>
              </a:tr>
              <a:tr h="450177">
                <a:tc>
                  <a:txBody>
                    <a:bodyPr/>
                    <a:lstStyle/>
                    <a:p>
                      <a:r>
                        <a:rPr lang="en-GB" sz="1000"/>
                        <a:t>Special case: Blue Checks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1. If the check is a "blue" check: Expect COY </a:t>
                      </a:r>
                      <a:r>
                        <a:rPr lang="en-US" sz="1000" b="1" i="0">
                          <a:effectLst/>
                          <a:latin typeface="Segoe UI" panose="020B0502040204020203" pitchFamily="34" charset="0"/>
                        </a:rPr>
                        <a:t>not preprinted</a:t>
                      </a: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2. Perform account verification using </a:t>
                      </a:r>
                      <a:r>
                        <a:rPr lang="en-US" sz="1000" b="1" i="0">
                          <a:effectLst/>
                          <a:latin typeface="Segoe UI" panose="020B0502040204020203" pitchFamily="34" charset="0"/>
                        </a:rPr>
                        <a:t>2 pieces of identifying information</a:t>
                      </a: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 as in Step 2.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236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65162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246B9-BBD4-4CEC-3998-B8C9F0BB8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B4F15A-E2EB-1A73-1571-1DA77C1B2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Step-by-step instructions optimized for an LLM to scan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F7CB1-4F9F-8CF5-A53C-FB9F1348CB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BBDC51F-5D11-B24C-B440-508FFDF318C8}" type="slidenum">
              <a:rPr lang="en-AU" smtClean="0"/>
              <a:pPr/>
              <a:t>27</a:t>
            </a:fld>
            <a:endParaRPr lang="en-AU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8B9F05-FA61-5D81-E38D-308BC40ABB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811018"/>
              </p:ext>
            </p:extLst>
          </p:nvPr>
        </p:nvGraphicFramePr>
        <p:xfrm>
          <a:off x="523965" y="724428"/>
          <a:ext cx="11345817" cy="8411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2606">
                  <a:extLst>
                    <a:ext uri="{9D8B030D-6E8A-4147-A177-3AD203B41FA5}">
                      <a16:colId xmlns:a16="http://schemas.microsoft.com/office/drawing/2014/main" val="1991439302"/>
                    </a:ext>
                  </a:extLst>
                </a:gridCol>
                <a:gridCol w="7873211">
                  <a:extLst>
                    <a:ext uri="{9D8B030D-6E8A-4147-A177-3AD203B41FA5}">
                      <a16:colId xmlns:a16="http://schemas.microsoft.com/office/drawing/2014/main" val="1334493425"/>
                    </a:ext>
                  </a:extLst>
                </a:gridCol>
              </a:tblGrid>
              <a:tr h="166184">
                <a:tc>
                  <a:txBody>
                    <a:bodyPr/>
                    <a:lstStyle/>
                    <a:p>
                      <a:r>
                        <a:rPr lang="en-GB" sz="1000"/>
                        <a:t>Step title (Enrolment Form Workflow)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/>
                        <a:t>Instructions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387744"/>
                  </a:ext>
                </a:extLst>
              </a:tr>
              <a:tr h="268492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Determine if an Enrollment Form Is Attached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If present → proceed to account setup checks. Search by </a:t>
                      </a:r>
                      <a:r>
                        <a:rPr lang="en-US" sz="1000" b="1" i="0">
                          <a:effectLst/>
                          <a:latin typeface="Segoe UI" panose="020B0502040204020203" pitchFamily="34" charset="0"/>
                        </a:rPr>
                        <a:t>Name + TIN</a:t>
                      </a: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 to determine if an account exists.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342731"/>
                  </a:ext>
                </a:extLst>
              </a:tr>
              <a:tr h="2781347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Create Account in Scrip (if no account exists)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00" b="1" i="0">
                          <a:effectLst/>
                          <a:latin typeface="Segoe UI" panose="020B0502040204020203" pitchFamily="34" charset="0"/>
                        </a:rPr>
                        <a:t>Navigation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Select correct COY.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Open </a:t>
                      </a:r>
                      <a:r>
                        <a:rPr lang="en-US" sz="1000" b="1" i="0">
                          <a:effectLst/>
                          <a:latin typeface="Segoe UI" panose="020B0502040204020203" pitchFamily="34" charset="0"/>
                        </a:rPr>
                        <a:t>Online Data Entry</a:t>
                      </a: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Go to </a:t>
                      </a:r>
                      <a:r>
                        <a:rPr lang="en-US" sz="1000" b="1" i="0">
                          <a:effectLst/>
                          <a:latin typeface="Segoe UI" panose="020B0502040204020203" pitchFamily="34" charset="0"/>
                        </a:rPr>
                        <a:t>SDM – Static Detail Maintenance</a:t>
                      </a: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Enter </a:t>
                      </a:r>
                      <a:r>
                        <a:rPr lang="en-US" sz="1000" b="1" i="0">
                          <a:effectLst/>
                          <a:latin typeface="Segoe UI" panose="020B0502040204020203" pitchFamily="34" charset="0"/>
                        </a:rPr>
                        <a:t>U</a:t>
                      </a: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 (update) → transmit.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Navigate to </a:t>
                      </a:r>
                      <a:r>
                        <a:rPr lang="en-US" sz="1000" b="1" i="0">
                          <a:effectLst/>
                          <a:latin typeface="Segoe UI" panose="020B0502040204020203" pitchFamily="34" charset="0"/>
                        </a:rPr>
                        <a:t>AH – Add Holder</a:t>
                      </a: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+mj-lt"/>
                        <a:buNone/>
                      </a:pPr>
                      <a:endParaRPr lang="en-US" sz="10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+mj-lt"/>
                        <a:buNone/>
                      </a:pPr>
                      <a:r>
                        <a:rPr lang="en-US" sz="1000" b="1" i="0">
                          <a:effectLst/>
                          <a:latin typeface="Segoe UI" panose="020B0502040204020203" pitchFamily="34" charset="0"/>
                        </a:rPr>
                        <a:t>Enter Holder Details</a:t>
                      </a:r>
                    </a:p>
                    <a:p>
                      <a:pPr marL="34290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Input all shareholder data from the enrollment form. </a:t>
                      </a:r>
                    </a:p>
                    <a:p>
                      <a:pPr marL="34290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Refer to Registration Guide if needed.</a:t>
                      </a:r>
                    </a:p>
                    <a:p>
                      <a:pPr marL="34290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endParaRPr lang="en-US" sz="10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0" indent="0" fontAlgn="t">
                        <a:lnSpc>
                          <a:spcPts val="1500"/>
                        </a:lnSpc>
                        <a:buFont typeface="+mj-lt"/>
                        <a:buNone/>
                      </a:pPr>
                      <a:r>
                        <a:rPr lang="en-US" sz="1000" b="1" i="0">
                          <a:effectLst/>
                          <a:latin typeface="Segoe UI" panose="020B0502040204020203" pitchFamily="34" charset="0"/>
                        </a:rPr>
                        <a:t>Validate W9 Requirements</a:t>
                      </a:r>
                    </a:p>
                    <a:p>
                      <a:pPr marL="34290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Check back page for:</a:t>
                      </a:r>
                    </a:p>
                    <a:p>
                      <a:pPr marL="285750" indent="-285750" fontAlgn="t">
                        <a:lnSpc>
                          <a:spcPts val="1500"/>
                        </a:lnSpc>
                        <a:buFontTx/>
                        <a:buChar char="-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Contact numbers</a:t>
                      </a:r>
                    </a:p>
                    <a:p>
                      <a:pPr marL="285750" indent="-285750" fontAlgn="t">
                        <a:lnSpc>
                          <a:spcPts val="1500"/>
                        </a:lnSpc>
                        <a:buFontTx/>
                        <a:buChar char="-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W9 certification</a:t>
                      </a:r>
                    </a:p>
                    <a:p>
                      <a:pPr marL="0" indent="0" fontAlgn="t">
                        <a:lnSpc>
                          <a:spcPts val="1500"/>
                        </a:lnSpc>
                        <a:buFontTx/>
                        <a:buNone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2. Do not certify (01) unless:</a:t>
                      </a:r>
                    </a:p>
                    <a:p>
                      <a:pPr marL="0" indent="0" fontAlgn="t">
                        <a:lnSpc>
                          <a:spcPts val="1500"/>
                        </a:lnSpc>
                        <a:buFontTx/>
                        <a:buNone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-FATCA verbiage present</a:t>
                      </a:r>
                    </a:p>
                    <a:p>
                      <a:pPr marL="0" indent="0" fontAlgn="t">
                        <a:lnSpc>
                          <a:spcPts val="1500"/>
                        </a:lnSpc>
                        <a:buFontTx/>
                        <a:buNone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-Form signed</a:t>
                      </a:r>
                    </a:p>
                    <a:p>
                      <a:pPr marL="0" indent="0" fontAlgn="t">
                        <a:lnSpc>
                          <a:spcPts val="1500"/>
                        </a:lnSpc>
                        <a:buFontTx/>
                        <a:buNone/>
                      </a:pPr>
                      <a:endParaRPr lang="en-US" sz="1000" b="1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0" indent="0" fontAlgn="t">
                        <a:lnSpc>
                          <a:spcPts val="1500"/>
                        </a:lnSpc>
                        <a:buFontTx/>
                        <a:buNone/>
                      </a:pPr>
                      <a:r>
                        <a:rPr lang="en-US" sz="1000" b="1" i="0">
                          <a:effectLst/>
                          <a:latin typeface="Segoe UI" panose="020B0502040204020203" pitchFamily="34" charset="0"/>
                        </a:rPr>
                        <a:t>Finalize Account Creation</a:t>
                      </a:r>
                    </a:p>
                    <a:p>
                      <a:pPr marL="342900" indent="-342900" fontAlgn="t">
                        <a:lnSpc>
                          <a:spcPts val="1500"/>
                        </a:lnSpc>
                        <a:buFontTx/>
                        <a:buAutoNum type="arabicPeriod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Exit SCRIP (escape twice)</a:t>
                      </a:r>
                    </a:p>
                    <a:p>
                      <a:pPr marL="342900" indent="-342900" fontAlgn="t">
                        <a:lnSpc>
                          <a:spcPts val="1500"/>
                        </a:lnSpc>
                        <a:buFontTx/>
                        <a:buAutoNum type="arabicPeriod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Search by TIN to retrieve new account</a:t>
                      </a:r>
                    </a:p>
                    <a:p>
                      <a:pPr marL="342900" indent="-342900" fontAlgn="t">
                        <a:lnSpc>
                          <a:spcPts val="1500"/>
                        </a:lnSpc>
                        <a:buFontTx/>
                        <a:buAutoNum type="arabicPeriod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Copy account details into workflow</a:t>
                      </a:r>
                    </a:p>
                    <a:p>
                      <a:pPr marL="0" indent="0" fontAlgn="t">
                        <a:lnSpc>
                          <a:spcPts val="1500"/>
                        </a:lnSpc>
                        <a:buFont typeface="+mj-lt"/>
                        <a:buNone/>
                      </a:pPr>
                      <a:endParaRPr lang="en-US" sz="1000" b="0" i="0">
                        <a:effectLst/>
                        <a:latin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165779"/>
                  </a:ext>
                </a:extLst>
              </a:tr>
              <a:tr h="963473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00" b="0" i="0">
                          <a:effectLst/>
                          <a:latin typeface="Segoe UI" panose="020B0502040204020203" pitchFamily="34" charset="0"/>
                        </a:rPr>
                        <a:t>Code Reinvestment 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GB" sz="1000" b="0" i="0">
                          <a:effectLst/>
                          <a:latin typeface="Segoe UI" panose="020B0502040204020203" pitchFamily="34" charset="0"/>
                        </a:rPr>
                        <a:t>1.Open update mode (</a:t>
                      </a:r>
                      <a:r>
                        <a:rPr lang="en-GB" sz="1000" b="1" i="0">
                          <a:effectLst/>
                          <a:latin typeface="Segoe UI" panose="020B0502040204020203" pitchFamily="34" charset="0"/>
                        </a:rPr>
                        <a:t>U</a:t>
                      </a:r>
                      <a:r>
                        <a:rPr lang="en-GB" sz="1000" b="0" i="0">
                          <a:effectLst/>
                          <a:latin typeface="Segoe UI" panose="020B0502040204020203" pitchFamily="34" charset="0"/>
                        </a:rPr>
                        <a:t>) → transmit. 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GB" sz="1000" b="0" i="0">
                          <a:effectLst/>
                          <a:latin typeface="Segoe UI" panose="020B0502040204020203" pitchFamily="34" charset="0"/>
                        </a:rPr>
                        <a:t>2. Go to </a:t>
                      </a:r>
                      <a:r>
                        <a:rPr lang="en-GB" sz="1000" b="1" i="0">
                          <a:effectLst/>
                          <a:latin typeface="Segoe UI" panose="020B0502040204020203" pitchFamily="34" charset="0"/>
                        </a:rPr>
                        <a:t>PE – Plan Election</a:t>
                      </a:r>
                      <a:r>
                        <a:rPr lang="en-GB" sz="1000" b="0" i="0">
                          <a:effectLst/>
                          <a:latin typeface="Segoe UI" panose="020B0502040204020203" pitchFamily="34" charset="0"/>
                        </a:rPr>
                        <a:t>. 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GB" sz="1000" b="0" i="0">
                          <a:effectLst/>
                          <a:latin typeface="Segoe UI" panose="020B0502040204020203" pitchFamily="34" charset="0"/>
                        </a:rPr>
                        <a:t>3. Enter transaction number → transmit. 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GB" sz="1000" b="0" i="0">
                          <a:effectLst/>
                          <a:latin typeface="Segoe UI" panose="020B0502040204020203" pitchFamily="34" charset="0"/>
                        </a:rPr>
                        <a:t>4.Select plan (usually </a:t>
                      </a:r>
                      <a:r>
                        <a:rPr lang="en-GB" sz="1000" b="1" i="0">
                          <a:effectLst/>
                          <a:latin typeface="Segoe UI" panose="020B0502040204020203" pitchFamily="34" charset="0"/>
                        </a:rPr>
                        <a:t>SPP1</a:t>
                      </a:r>
                      <a:r>
                        <a:rPr lang="en-GB" sz="1000" b="0" i="0">
                          <a:effectLst/>
                          <a:latin typeface="Segoe UI" panose="020B0502040204020203" pitchFamily="34" charset="0"/>
                        </a:rPr>
                        <a:t>) → transmit. 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GB" sz="1000" b="0" i="0">
                          <a:effectLst/>
                          <a:latin typeface="Segoe UI" panose="020B0502040204020203" pitchFamily="34" charset="0"/>
                        </a:rPr>
                        <a:t>5. Code reinvestment based on the </a:t>
                      </a:r>
                      <a:r>
                        <a:rPr lang="en-GB" sz="1000" b="0" i="0" err="1">
                          <a:effectLst/>
                          <a:latin typeface="Segoe UI" panose="020B0502040204020203" pitchFamily="34" charset="0"/>
                        </a:rPr>
                        <a:t>enrollment</a:t>
                      </a:r>
                      <a:r>
                        <a:rPr lang="en-GB" sz="1000" b="0" i="0">
                          <a:effectLst/>
                          <a:latin typeface="Segoe UI" panose="020B0502040204020203" pitchFamily="34" charset="0"/>
                        </a:rPr>
                        <a:t> form: 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GB" sz="1000" b="0" i="0">
                          <a:effectLst/>
                          <a:latin typeface="Segoe UI" panose="020B0502040204020203" pitchFamily="34" charset="0"/>
                        </a:rPr>
                        <a:t>- </a:t>
                      </a:r>
                      <a:r>
                        <a:rPr lang="en-GB" sz="1000" b="1" i="0">
                          <a:effectLst/>
                          <a:latin typeface="Segoe UI" panose="020B0502040204020203" pitchFamily="34" charset="0"/>
                        </a:rPr>
                        <a:t>F</a:t>
                      </a:r>
                      <a:r>
                        <a:rPr lang="en-GB" sz="1000" b="0" i="0">
                          <a:effectLst/>
                          <a:latin typeface="Segoe UI" panose="020B0502040204020203" pitchFamily="34" charset="0"/>
                        </a:rPr>
                        <a:t> = Full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GB" sz="1000" b="1" i="0">
                          <a:effectLst/>
                          <a:latin typeface="Segoe UI" panose="020B0502040204020203" pitchFamily="34" charset="0"/>
                        </a:rPr>
                        <a:t>- C</a:t>
                      </a:r>
                      <a:r>
                        <a:rPr lang="en-GB" sz="1000" b="0" i="0">
                          <a:effectLst/>
                          <a:latin typeface="Segoe UI" panose="020B0502040204020203" pitchFamily="34" charset="0"/>
                        </a:rPr>
                        <a:t> = Cash</a:t>
                      </a:r>
                      <a:br>
                        <a:rPr lang="en-GB" sz="10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GB" sz="1000" b="1" i="0">
                          <a:effectLst/>
                          <a:latin typeface="Segoe UI" panose="020B0502040204020203" pitchFamily="34" charset="0"/>
                        </a:rPr>
                        <a:t>6. Only code if form is signed</a:t>
                      </a:r>
                      <a:r>
                        <a:rPr lang="en-GB" sz="1000" b="0" i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697293"/>
                  </a:ext>
                </a:extLst>
              </a:tr>
              <a:tr h="1134597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00" b="0" i="0">
                          <a:effectLst/>
                          <a:latin typeface="Segoe UI" panose="020B0502040204020203" pitchFamily="34" charset="0"/>
                        </a:rPr>
                        <a:t>Direct Debit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AutoNum type="arabicPeriod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If direct debit is requested: </a:t>
                      </a:r>
                    </a:p>
                    <a:p>
                      <a:pPr marL="0" indent="0"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- Insert into </a:t>
                      </a:r>
                      <a:r>
                        <a:rPr lang="en-US" sz="1000" b="1" i="0">
                          <a:effectLst/>
                          <a:latin typeface="Segoe UI" panose="020B0502040204020203" pitchFamily="34" charset="0"/>
                        </a:rPr>
                        <a:t>DRIP Enrollment</a:t>
                      </a: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- Capture bank information and debit preferences.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526902"/>
                  </a:ext>
                </a:extLst>
              </a:tr>
              <a:tr h="281770">
                <a:tc>
                  <a:txBody>
                    <a:bodyPr/>
                    <a:lstStyle/>
                    <a:p>
                      <a:r>
                        <a:rPr lang="en-GB" sz="1000"/>
                        <a:t>Final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fontAlgn="t">
                        <a:lnSpc>
                          <a:spcPts val="1500"/>
                        </a:lnSpc>
                        <a:buAutoNum type="arabicPeriod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Classify the check to the verified COY and the correct account. </a:t>
                      </a:r>
                    </a:p>
                    <a:p>
                      <a:pPr marL="342900" indent="-342900" fontAlgn="t">
                        <a:lnSpc>
                          <a:spcPts val="1500"/>
                        </a:lnSpc>
                        <a:buAutoNum type="arabicPeriod"/>
                      </a:pP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All earlier validations do </a:t>
                      </a:r>
                      <a:r>
                        <a:rPr lang="en-US" sz="1000" b="1" i="0">
                          <a:effectLst/>
                          <a:latin typeface="Segoe UI" panose="020B0502040204020203" pitchFamily="34" charset="0"/>
                        </a:rPr>
                        <a:t>not</a:t>
                      </a:r>
                      <a:r>
                        <a:rPr lang="en-US" sz="1000" b="0" i="0">
                          <a:effectLst/>
                          <a:latin typeface="Segoe UI" panose="020B0502040204020203" pitchFamily="34" charset="0"/>
                        </a:rPr>
                        <a:t> block classification.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236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14480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1A208-C135-69E3-622E-A08E31871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798951-1A51-834B-123F-68568540A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89" y="239394"/>
            <a:ext cx="11555037" cy="924164"/>
          </a:xfrm>
        </p:spPr>
        <p:txBody>
          <a:bodyPr/>
          <a:lstStyle/>
          <a:p>
            <a:r>
              <a:rPr lang="en-GB"/>
              <a:t>Asking Copilot to design a schema of the details necessary to classify DRIP OCP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35DDA-1E31-8CC8-1519-B16F52F69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BBDC51F-5D11-B24C-B440-508FFDF318C8}" type="slidenum">
              <a:rPr lang="en-AU" smtClean="0"/>
              <a:pPr/>
              <a:t>28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16F6BD-D366-EC62-8F11-95FCAB77A981}"/>
              </a:ext>
            </a:extLst>
          </p:cNvPr>
          <p:cNvSpPr txBox="1"/>
          <p:nvPr/>
        </p:nvSpPr>
        <p:spPr>
          <a:xfrm>
            <a:off x="354569" y="1428107"/>
            <a:ext cx="2233540" cy="3077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1400" b="1">
                <a:solidFill>
                  <a:schemeClr val="accent1"/>
                </a:solidFill>
                <a:latin typeface="Aptos" panose="020B0004020202020204" pitchFamily="34" charset="0"/>
              </a:rPr>
              <a:t>What the Schema covers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98A92B-F2A8-559A-6F0A-0B6AFFD3A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729679"/>
              </p:ext>
            </p:extLst>
          </p:nvPr>
        </p:nvGraphicFramePr>
        <p:xfrm>
          <a:off x="354568" y="1871462"/>
          <a:ext cx="3237813" cy="2743200"/>
        </p:xfrm>
        <a:graphic>
          <a:graphicData uri="http://schemas.openxmlformats.org/drawingml/2006/table">
            <a:tbl>
              <a:tblPr/>
              <a:tblGrid>
                <a:gridCol w="3237813">
                  <a:extLst>
                    <a:ext uri="{9D8B030D-6E8A-4147-A177-3AD203B41FA5}">
                      <a16:colId xmlns:a16="http://schemas.microsoft.com/office/drawing/2014/main" val="8214196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200" b="1" i="0">
                          <a:effectLst/>
                          <a:latin typeface="Segoe UI" panose="020B0502040204020203" pitchFamily="34" charset="0"/>
                        </a:rPr>
                        <a:t>1. Validate the check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200" b="0" i="0">
                          <a:effectLst/>
                          <a:latin typeface="Segoe UI" panose="020B0502040204020203" pitchFamily="34" charset="0"/>
                        </a:rPr>
                        <a:t>(date, payee, signature, amounts)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200" b="1" i="0">
                          <a:effectLst/>
                          <a:latin typeface="Segoe UI" panose="020B0502040204020203" pitchFamily="34" charset="0"/>
                        </a:rPr>
                        <a:t>2. Verify COY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200" b="0" i="0">
                          <a:effectLst/>
                          <a:latin typeface="Segoe UI" panose="020B0502040204020203" pitchFamily="34" charset="0"/>
                        </a:rPr>
                        <a:t>(handwritten COY, validated COY, escalation)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200" b="1" i="0">
                          <a:effectLst/>
                          <a:latin typeface="Segoe UI" panose="020B0502040204020203" pitchFamily="34" charset="0"/>
                        </a:rPr>
                        <a:t>3.Find or create an account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200" b="0" i="0">
                          <a:effectLst/>
                          <a:latin typeface="Segoe UI" panose="020B0502040204020203" pitchFamily="34" charset="0"/>
                        </a:rPr>
                        <a:t>(Name, TIN, Scrip setup steps, registration details)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200" b="1" i="0">
                          <a:effectLst/>
                          <a:latin typeface="Segoe UI" panose="020B0502040204020203" pitchFamily="34" charset="0"/>
                        </a:rPr>
                        <a:t>4. Process enrolment forms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200" b="0" i="0">
                          <a:effectLst/>
                          <a:latin typeface="Segoe UI" panose="020B0502040204020203" pitchFamily="34" charset="0"/>
                        </a:rPr>
                        <a:t>(W9 rules, TOD logic, direct debit)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200" b="1" i="0">
                          <a:effectLst/>
                          <a:latin typeface="Segoe UI" panose="020B0502040204020203" pitchFamily="34" charset="0"/>
                        </a:rPr>
                        <a:t>5. Apply reinvestment elections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200" b="1" i="0">
                          <a:effectLst/>
                          <a:latin typeface="Segoe UI" panose="020B0502040204020203" pitchFamily="34" charset="0"/>
                        </a:rPr>
                        <a:t>6. Produce final classification output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200" b="0" i="0">
                          <a:effectLst/>
                          <a:latin typeface="Segoe UI" panose="020B0502040204020203" pitchFamily="34" charset="0"/>
                        </a:rPr>
                        <a:t>(correct COY + correct account)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449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0178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0224255-FAFF-3718-02F6-8979A3D4B249}"/>
              </a:ext>
            </a:extLst>
          </p:cNvPr>
          <p:cNvSpPr txBox="1"/>
          <p:nvPr/>
        </p:nvSpPr>
        <p:spPr>
          <a:xfrm>
            <a:off x="4546847" y="1428106"/>
            <a:ext cx="2233540" cy="3077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>
                <a:solidFill>
                  <a:schemeClr val="accent1"/>
                </a:solidFill>
                <a:latin typeface="Aptos" panose="020B0004020202020204" pitchFamily="34" charset="0"/>
              </a:rPr>
              <a:t>XML Schema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C941F8-4872-8575-CB9F-CAD8CE2848F2}"/>
              </a:ext>
            </a:extLst>
          </p:cNvPr>
          <p:cNvSpPr txBox="1"/>
          <p:nvPr/>
        </p:nvSpPr>
        <p:spPr>
          <a:xfrm>
            <a:off x="8574336" y="1438491"/>
            <a:ext cx="2233540" cy="3077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>
                <a:solidFill>
                  <a:schemeClr val="accent1"/>
                </a:solidFill>
                <a:latin typeface="Aptos" panose="020B0004020202020204" pitchFamily="34" charset="0"/>
              </a:rPr>
              <a:t>JSON Schema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540919D-154F-CC0D-6AB7-45451A0BA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337" y="1927631"/>
            <a:ext cx="3818561" cy="334184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66ED539-4449-9FF2-6903-DF71D2F26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854" y="1746268"/>
            <a:ext cx="4155262" cy="352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1672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B63960-7F89-08C3-FA86-2501E5E01220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F71967-286F-4B98-9305-D07C4DF9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Validate that processing DOPs have the same key fields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9F8E4-056C-733D-B6FA-BA3347384BEF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71C05E-EB2D-AEB5-4272-2E5BCDF02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BBDC51F-5D11-B24C-B440-508FFDF318C8}" type="slidenum">
              <a:rPr lang="en-AU" smtClean="0"/>
              <a:pPr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30918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32F88-AFC0-9203-C59C-B5DD7D097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705F0C-22B0-AE60-6CA0-0DC6BBA9C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Step by step flow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283203-3B10-DC6F-ABFC-8148C0FB4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600817"/>
            <a:ext cx="317716" cy="246221"/>
          </a:xfrm>
        </p:spPr>
        <p:txBody>
          <a:bodyPr/>
          <a:lstStyle/>
          <a:p>
            <a:fld id="{0BBDC51F-5D11-B24C-B440-508FFDF318C8}" type="slidenum">
              <a:rPr lang="en-AU" smtClean="0"/>
              <a:pPr/>
              <a:t>30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585C71-50F2-929D-1DB4-EB816C29FEE8}"/>
              </a:ext>
            </a:extLst>
          </p:cNvPr>
          <p:cNvSpPr txBox="1"/>
          <p:nvPr/>
        </p:nvSpPr>
        <p:spPr>
          <a:xfrm>
            <a:off x="153969" y="1497219"/>
            <a:ext cx="1572127" cy="400110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Categorization: Mailroom scans to DRIP OCP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FF1B23-B873-AD7D-6BC8-7B6882BAF305}"/>
              </a:ext>
            </a:extLst>
          </p:cNvPr>
          <p:cNvSpPr txBox="1"/>
          <p:nvPr/>
        </p:nvSpPr>
        <p:spPr>
          <a:xfrm>
            <a:off x="2143447" y="1497219"/>
            <a:ext cx="1728393" cy="2708434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LLM receives category, triggers the appropriate checks to extract information. </a:t>
            </a:r>
          </a:p>
          <a:p>
            <a:pPr algn="l"/>
            <a:endParaRPr lang="en-GB" sz="1000">
              <a:latin typeface="Aptos" panose="020B0004020202020204" pitchFamily="34" charset="0"/>
            </a:endParaRPr>
          </a:p>
          <a:p>
            <a:pPr algn="l"/>
            <a:r>
              <a:rPr lang="en-GB" sz="1000">
                <a:latin typeface="Aptos" panose="020B0004020202020204" pitchFamily="34" charset="0"/>
              </a:rPr>
              <a:t>Example DRIP OCP:</a:t>
            </a:r>
          </a:p>
          <a:p>
            <a:pPr marL="342900" indent="-342900" algn="l">
              <a:buAutoNum type="arabicPeriod"/>
            </a:pPr>
            <a:r>
              <a:rPr lang="en-GB" sz="1000">
                <a:latin typeface="Aptos" panose="020B0004020202020204" pitchFamily="34" charset="0"/>
              </a:rPr>
              <a:t>Extract COY, date, client name, check amount, payer name</a:t>
            </a:r>
          </a:p>
          <a:p>
            <a:pPr marL="342900" indent="-342900" algn="l">
              <a:buAutoNum type="arabicPeriod"/>
            </a:pPr>
            <a:r>
              <a:rPr lang="en-GB" sz="1000">
                <a:latin typeface="Aptos" panose="020B0004020202020204" pitchFamily="34" charset="0"/>
              </a:rPr>
              <a:t>Extract account number or last name or registration or alternate ID</a:t>
            </a:r>
          </a:p>
          <a:p>
            <a:pPr marL="342900" indent="-342900" algn="l">
              <a:buAutoNum type="arabicPeriod"/>
            </a:pPr>
            <a:r>
              <a:rPr lang="en-GB" sz="1000">
                <a:latin typeface="Aptos" panose="020B0004020202020204" pitchFamily="34" charset="0"/>
              </a:rPr>
              <a:t>Verify 2 details are a match on Cosmos. </a:t>
            </a:r>
          </a:p>
          <a:p>
            <a:pPr marL="342900" indent="-342900">
              <a:buFontTx/>
              <a:buAutoNum type="arabicPeriod"/>
            </a:pPr>
            <a:r>
              <a:rPr lang="en-GB" sz="1000">
                <a:latin typeface="Aptos" panose="020B0004020202020204" pitchFamily="34" charset="0"/>
              </a:rPr>
              <a:t>Is there an enrolment form? (Y/N)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455603-F181-FD6A-50F6-01ECAE66E00A}"/>
              </a:ext>
            </a:extLst>
          </p:cNvPr>
          <p:cNvSpPr txBox="1"/>
          <p:nvPr/>
        </p:nvSpPr>
        <p:spPr>
          <a:xfrm>
            <a:off x="129190" y="3080463"/>
            <a:ext cx="1572127" cy="1015663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Categorization:</a:t>
            </a:r>
          </a:p>
          <a:p>
            <a:pPr algn="l"/>
            <a:r>
              <a:rPr lang="en-GB" sz="1000">
                <a:latin typeface="Aptos" panose="020B0004020202020204" pitchFamily="34" charset="0"/>
              </a:rPr>
              <a:t>Scan of envelope sent to TTA, </a:t>
            </a:r>
            <a:r>
              <a:rPr lang="en-GB" sz="1000" err="1">
                <a:latin typeface="Aptos" panose="020B0004020202020204" pitchFamily="34" charset="0"/>
              </a:rPr>
              <a:t>analyzed</a:t>
            </a:r>
            <a:r>
              <a:rPr lang="en-GB" sz="1000">
                <a:latin typeface="Aptos" panose="020B0004020202020204" pitchFamily="34" charset="0"/>
              </a:rPr>
              <a:t> according to batch processing rules &gt; categorization determined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7817FE-96F7-AFB5-4EE6-32D8063759BF}"/>
              </a:ext>
            </a:extLst>
          </p:cNvPr>
          <p:cNvSpPr txBox="1"/>
          <p:nvPr/>
        </p:nvSpPr>
        <p:spPr>
          <a:xfrm>
            <a:off x="10418599" y="4044810"/>
            <a:ext cx="1572127" cy="40011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Information sent from TTA to Workflow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AA251D-FE00-0EBC-6AF1-53372251D971}"/>
              </a:ext>
            </a:extLst>
          </p:cNvPr>
          <p:cNvSpPr txBox="1"/>
          <p:nvPr/>
        </p:nvSpPr>
        <p:spPr>
          <a:xfrm>
            <a:off x="181264" y="2519761"/>
            <a:ext cx="1572127" cy="3077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>
                <a:latin typeface="Aptos" panose="020B0004020202020204" pitchFamily="34" charset="0"/>
              </a:rPr>
              <a:t>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F511F5-F317-1878-1AE1-D5662F22945A}"/>
              </a:ext>
            </a:extLst>
          </p:cNvPr>
          <p:cNvSpPr txBox="1"/>
          <p:nvPr/>
        </p:nvSpPr>
        <p:spPr>
          <a:xfrm>
            <a:off x="10205206" y="5990137"/>
            <a:ext cx="1572127" cy="400110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RPA flows complete transaction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CAB9ED-3503-F845-5742-138D8AF9BE5D}"/>
              </a:ext>
            </a:extLst>
          </p:cNvPr>
          <p:cNvSpPr txBox="1"/>
          <p:nvPr/>
        </p:nvSpPr>
        <p:spPr>
          <a:xfrm>
            <a:off x="10193189" y="5367590"/>
            <a:ext cx="1572127" cy="400110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Human reviews outputs, triggers right workflow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BDAD28-AB26-2423-5A0E-504F17E16C9D}"/>
              </a:ext>
            </a:extLst>
          </p:cNvPr>
          <p:cNvSpPr txBox="1"/>
          <p:nvPr/>
        </p:nvSpPr>
        <p:spPr>
          <a:xfrm>
            <a:off x="4022688" y="2183119"/>
            <a:ext cx="1728393" cy="40011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No match: escalate to human.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A0283A-7CB2-50B3-0ED9-55C38C99E854}"/>
              </a:ext>
            </a:extLst>
          </p:cNvPr>
          <p:cNvSpPr txBox="1"/>
          <p:nvPr/>
        </p:nvSpPr>
        <p:spPr>
          <a:xfrm>
            <a:off x="4022688" y="2889344"/>
            <a:ext cx="1728393" cy="40011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Match: 1. Check handwritten COY is correct.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B38006-274E-B286-F507-0726D44FA531}"/>
              </a:ext>
            </a:extLst>
          </p:cNvPr>
          <p:cNvSpPr txBox="1"/>
          <p:nvPr/>
        </p:nvSpPr>
        <p:spPr>
          <a:xfrm>
            <a:off x="5960386" y="2889344"/>
            <a:ext cx="2252199" cy="553998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1000">
                <a:latin typeface="Aptos" panose="020B0004020202020204" pitchFamily="34" charset="0"/>
              </a:rPr>
              <a:t>If incorrect, notify Image Centre Cash Team and take the correct COY from Cosmos</a:t>
            </a:r>
            <a:endParaRPr lang="en-GB" sz="1000"/>
          </a:p>
        </p:txBody>
      </p:sp>
      <p:pic>
        <p:nvPicPr>
          <p:cNvPr id="22" name="Graphic 21" descr="User outline">
            <a:extLst>
              <a:ext uri="{FF2B5EF4-FFF2-40B4-BE49-F238E27FC236}">
                <a16:creationId xmlns:a16="http://schemas.microsoft.com/office/drawing/2014/main" id="{F7EB87B8-F155-5402-22E8-A52C6453D3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6541" y="1974700"/>
            <a:ext cx="579887" cy="57988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3EF9642-9429-64E8-ADEC-7786879062D1}"/>
              </a:ext>
            </a:extLst>
          </p:cNvPr>
          <p:cNvSpPr txBox="1"/>
          <p:nvPr/>
        </p:nvSpPr>
        <p:spPr>
          <a:xfrm>
            <a:off x="8464796" y="4047488"/>
            <a:ext cx="1728393" cy="553998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Valid data, extract in the right format/schema</a:t>
            </a:r>
          </a:p>
          <a:p>
            <a:pPr algn="l"/>
            <a:endParaRPr lang="en-GB" sz="1000"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B349EF-43E0-AE0D-8095-C0B6429C7AEE}"/>
              </a:ext>
            </a:extLst>
          </p:cNvPr>
          <p:cNvSpPr txBox="1"/>
          <p:nvPr/>
        </p:nvSpPr>
        <p:spPr>
          <a:xfrm>
            <a:off x="8464796" y="3587933"/>
            <a:ext cx="1728393" cy="40011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invalid data; add comments and escalate to human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2956F1-AED4-A1D4-63EE-634F90A0C717}"/>
              </a:ext>
            </a:extLst>
          </p:cNvPr>
          <p:cNvSpPr txBox="1"/>
          <p:nvPr/>
        </p:nvSpPr>
        <p:spPr>
          <a:xfrm>
            <a:off x="5942182" y="3582755"/>
            <a:ext cx="2252199" cy="553998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1000">
                <a:latin typeface="Aptos" panose="020B0004020202020204" pitchFamily="34" charset="0"/>
              </a:rPr>
              <a:t>If correct, verify if check date is valid, the payee is CPU or client, and amount is valid</a:t>
            </a:r>
            <a:endParaRPr lang="en-GB" sz="10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4EDE95E-1003-8755-755D-7D264F1B7F40}"/>
              </a:ext>
            </a:extLst>
          </p:cNvPr>
          <p:cNvSpPr/>
          <p:nvPr/>
        </p:nvSpPr>
        <p:spPr>
          <a:xfrm>
            <a:off x="1819702" y="1087695"/>
            <a:ext cx="10254517" cy="3879785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F88DAF-D3BE-1C30-45C1-7DE696A4A9F4}"/>
              </a:ext>
            </a:extLst>
          </p:cNvPr>
          <p:cNvSpPr txBox="1"/>
          <p:nvPr/>
        </p:nvSpPr>
        <p:spPr>
          <a:xfrm>
            <a:off x="1777684" y="817301"/>
            <a:ext cx="1572127" cy="3077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1400" b="1">
                <a:solidFill>
                  <a:schemeClr val="accent1"/>
                </a:solidFill>
                <a:latin typeface="Aptos" panose="020B0004020202020204" pitchFamily="34" charset="0"/>
              </a:rPr>
              <a:t>TTA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705F87F-CA48-4BD1-0F84-667B1146A07A}"/>
              </a:ext>
            </a:extLst>
          </p:cNvPr>
          <p:cNvSpPr/>
          <p:nvPr/>
        </p:nvSpPr>
        <p:spPr>
          <a:xfrm>
            <a:off x="117781" y="1087695"/>
            <a:ext cx="1635610" cy="3879785"/>
          </a:xfrm>
          <a:prstGeom prst="rect">
            <a:avLst/>
          </a:prstGeom>
          <a:noFill/>
          <a:ln w="28575">
            <a:solidFill>
              <a:schemeClr val="accent3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BE7DFF-51DF-F516-80CA-758C1F61C70B}"/>
              </a:ext>
            </a:extLst>
          </p:cNvPr>
          <p:cNvSpPr/>
          <p:nvPr/>
        </p:nvSpPr>
        <p:spPr>
          <a:xfrm>
            <a:off x="9867331" y="5246335"/>
            <a:ext cx="2206888" cy="1241946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89BC2C-6BB8-BDFC-A347-1BE21C1584F5}"/>
              </a:ext>
            </a:extLst>
          </p:cNvPr>
          <p:cNvSpPr txBox="1"/>
          <p:nvPr/>
        </p:nvSpPr>
        <p:spPr>
          <a:xfrm>
            <a:off x="51470" y="807344"/>
            <a:ext cx="1572127" cy="3077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1400" b="1">
                <a:solidFill>
                  <a:schemeClr val="accent3"/>
                </a:solidFill>
                <a:latin typeface="Aptos" panose="020B0004020202020204" pitchFamily="34" charset="0"/>
              </a:rPr>
              <a:t>SCANNER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B8A712-3D3B-A483-47A3-1A157B282B54}"/>
              </a:ext>
            </a:extLst>
          </p:cNvPr>
          <p:cNvSpPr txBox="1"/>
          <p:nvPr/>
        </p:nvSpPr>
        <p:spPr>
          <a:xfrm>
            <a:off x="9770109" y="4948594"/>
            <a:ext cx="2731240" cy="3077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1400" b="1">
                <a:solidFill>
                  <a:srgbClr val="3C17CF"/>
                </a:solidFill>
                <a:latin typeface="Aptos" panose="020B0004020202020204" pitchFamily="34" charset="0"/>
              </a:rPr>
              <a:t>WKF &gt; BLUEPRISM</a:t>
            </a: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F3C7414E-6FAA-A7BA-D04F-EED59EA1FD9E}"/>
              </a:ext>
            </a:extLst>
          </p:cNvPr>
          <p:cNvCxnSpPr>
            <a:stCxn id="8" idx="3"/>
            <a:endCxn id="6" idx="1"/>
          </p:cNvCxnSpPr>
          <p:nvPr/>
        </p:nvCxnSpPr>
        <p:spPr>
          <a:xfrm flipV="1">
            <a:off x="1701317" y="2851436"/>
            <a:ext cx="442130" cy="73685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7BC25727-DCAE-D9A4-E189-EB24290146F0}"/>
              </a:ext>
            </a:extLst>
          </p:cNvPr>
          <p:cNvCxnSpPr>
            <a:cxnSpLocks/>
          </p:cNvCxnSpPr>
          <p:nvPr/>
        </p:nvCxnSpPr>
        <p:spPr>
          <a:xfrm>
            <a:off x="1726096" y="1677543"/>
            <a:ext cx="417351" cy="1000274"/>
          </a:xfrm>
          <a:prstGeom prst="bentConnector3">
            <a:avLst>
              <a:gd name="adj1" fmla="val 4791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32C6972B-2BFC-A52E-BE75-639791EFC1ED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3872469" y="2367017"/>
            <a:ext cx="150219" cy="161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A5D145EF-7935-2A43-9864-9FCE34B68753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3871840" y="3089399"/>
            <a:ext cx="150848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E2D50F6-924C-D0C6-7C51-9D4E9224883D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751081" y="2383174"/>
            <a:ext cx="10454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FDA288A-31A4-087A-731A-D12235723016}"/>
              </a:ext>
            </a:extLst>
          </p:cNvPr>
          <p:cNvCxnSpPr>
            <a:cxnSpLocks/>
          </p:cNvCxnSpPr>
          <p:nvPr/>
        </p:nvCxnSpPr>
        <p:spPr>
          <a:xfrm>
            <a:off x="5751080" y="3080463"/>
            <a:ext cx="2093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C029E14E-8CE8-2880-6F21-3648F0BEB0D8}"/>
              </a:ext>
            </a:extLst>
          </p:cNvPr>
          <p:cNvCxnSpPr>
            <a:cxnSpLocks/>
            <a:stCxn id="18" idx="3"/>
            <a:endCxn id="25" idx="1"/>
          </p:cNvCxnSpPr>
          <p:nvPr/>
        </p:nvCxnSpPr>
        <p:spPr>
          <a:xfrm>
            <a:off x="5751081" y="3089399"/>
            <a:ext cx="191101" cy="7703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3BFF2B2A-DF1F-6322-B72D-555E14D92739}"/>
              </a:ext>
            </a:extLst>
          </p:cNvPr>
          <p:cNvCxnSpPr>
            <a:cxnSpLocks/>
            <a:stCxn id="20" idx="3"/>
          </p:cNvCxnSpPr>
          <p:nvPr/>
        </p:nvCxnSpPr>
        <p:spPr>
          <a:xfrm flipH="1" flipV="1">
            <a:off x="7372639" y="2365362"/>
            <a:ext cx="839946" cy="800981"/>
          </a:xfrm>
          <a:prstGeom prst="bentConnector3">
            <a:avLst>
              <a:gd name="adj1" fmla="val -2721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D80E792B-8DE3-8ECC-60FD-C65D39D5A8CE}"/>
              </a:ext>
            </a:extLst>
          </p:cNvPr>
          <p:cNvCxnSpPr>
            <a:cxnSpLocks/>
            <a:stCxn id="25" idx="3"/>
            <a:endCxn id="23" idx="1"/>
          </p:cNvCxnSpPr>
          <p:nvPr/>
        </p:nvCxnSpPr>
        <p:spPr>
          <a:xfrm>
            <a:off x="8194381" y="3859754"/>
            <a:ext cx="270415" cy="4647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EA2B81C-40F1-B615-4EFD-832D53630275}"/>
              </a:ext>
            </a:extLst>
          </p:cNvPr>
          <p:cNvCxnSpPr>
            <a:cxnSpLocks/>
          </p:cNvCxnSpPr>
          <p:nvPr/>
        </p:nvCxnSpPr>
        <p:spPr>
          <a:xfrm>
            <a:off x="8194380" y="3692194"/>
            <a:ext cx="2704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CF9913A8-3386-1FF9-EC1B-A370076DA812}"/>
              </a:ext>
            </a:extLst>
          </p:cNvPr>
          <p:cNvCxnSpPr>
            <a:cxnSpLocks/>
            <a:stCxn id="24" idx="3"/>
          </p:cNvCxnSpPr>
          <p:nvPr/>
        </p:nvCxnSpPr>
        <p:spPr>
          <a:xfrm flipH="1" flipV="1">
            <a:off x="7383732" y="2264643"/>
            <a:ext cx="2809457" cy="1523345"/>
          </a:xfrm>
          <a:prstGeom prst="bentConnector3">
            <a:avLst>
              <a:gd name="adj1" fmla="val -813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69456DD-B04C-A460-FE8D-0261ED06FDEE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0193189" y="4244865"/>
            <a:ext cx="2254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2C929F6-6562-78A0-843D-39A5155A2425}"/>
              </a:ext>
            </a:extLst>
          </p:cNvPr>
          <p:cNvCxnSpPr>
            <a:cxnSpLocks/>
          </p:cNvCxnSpPr>
          <p:nvPr/>
        </p:nvCxnSpPr>
        <p:spPr>
          <a:xfrm>
            <a:off x="11509463" y="4444920"/>
            <a:ext cx="0" cy="811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D7774D6-5AE3-C2E3-CA92-F7FD91E47DEF}"/>
              </a:ext>
            </a:extLst>
          </p:cNvPr>
          <p:cNvCxnSpPr>
            <a:cxnSpLocks/>
          </p:cNvCxnSpPr>
          <p:nvPr/>
        </p:nvCxnSpPr>
        <p:spPr>
          <a:xfrm>
            <a:off x="11509463" y="5767700"/>
            <a:ext cx="0" cy="2224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F2A11E2-0BBB-213F-5C2F-B1E1E22AD76F}"/>
              </a:ext>
            </a:extLst>
          </p:cNvPr>
          <p:cNvSpPr txBox="1"/>
          <p:nvPr/>
        </p:nvSpPr>
        <p:spPr>
          <a:xfrm>
            <a:off x="2134194" y="5867026"/>
            <a:ext cx="1728393" cy="246221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COSMOS</a:t>
            </a:r>
          </a:p>
        </p:txBody>
      </p:sp>
    </p:spTree>
    <p:extLst>
      <p:ext uri="{BB962C8B-B14F-4D97-AF65-F5344CB8AC3E}">
        <p14:creationId xmlns:p14="http://schemas.microsoft.com/office/powerpoint/2010/main" val="11525035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13446-90EC-DEBF-DCD6-CC8AFD6D2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8FD52B-8333-14B5-FDFF-7A80F00AA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Step-by-step instructions to classify DRIP OCP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D980FF-0CF4-AC78-07C6-D9C6518D73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BBDC51F-5D11-B24C-B440-508FFDF318C8}" type="slidenum">
              <a:rPr lang="en-AU" smtClean="0"/>
              <a:pPr/>
              <a:t>31</a:t>
            </a:fld>
            <a:endParaRPr lang="en-AU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1606580-66F5-6A60-E117-90E08E2263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361664"/>
              </p:ext>
            </p:extLst>
          </p:nvPr>
        </p:nvGraphicFramePr>
        <p:xfrm>
          <a:off x="415289" y="740602"/>
          <a:ext cx="11555037" cy="5902399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2396737">
                  <a:extLst>
                    <a:ext uri="{9D8B030D-6E8A-4147-A177-3AD203B41FA5}">
                      <a16:colId xmlns:a16="http://schemas.microsoft.com/office/drawing/2014/main" val="1707299063"/>
                    </a:ext>
                  </a:extLst>
                </a:gridCol>
                <a:gridCol w="4463845">
                  <a:extLst>
                    <a:ext uri="{9D8B030D-6E8A-4147-A177-3AD203B41FA5}">
                      <a16:colId xmlns:a16="http://schemas.microsoft.com/office/drawing/2014/main" val="790408755"/>
                    </a:ext>
                  </a:extLst>
                </a:gridCol>
                <a:gridCol w="4694455">
                  <a:extLst>
                    <a:ext uri="{9D8B030D-6E8A-4147-A177-3AD203B41FA5}">
                      <a16:colId xmlns:a16="http://schemas.microsoft.com/office/drawing/2014/main" val="1752365163"/>
                    </a:ext>
                  </a:extLst>
                </a:gridCol>
              </a:tblGrid>
              <a:tr h="1585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00" b="1">
                          <a:effectLst/>
                        </a:rPr>
                        <a:t>Step Name</a:t>
                      </a:r>
                      <a:endParaRPr lang="en-GB" sz="1000">
                        <a:effectLst/>
                      </a:endParaRP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00" b="1">
                          <a:effectLst/>
                        </a:rPr>
                        <a:t>Original (Non‑Optimized)</a:t>
                      </a:r>
                      <a:endParaRPr lang="en-GB" sz="1000">
                        <a:effectLst/>
                      </a:endParaRP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000" b="1">
                          <a:effectLst/>
                        </a:rPr>
                        <a:t>AI‑Optimized Version</a:t>
                      </a:r>
                      <a:endParaRPr lang="en-GB" sz="1000">
                        <a:effectLst/>
                      </a:endParaRPr>
                    </a:p>
                  </a:txBody>
                  <a:tcPr marL="20721" marR="20721" marT="10360" marB="10360" anchor="ctr"/>
                </a:tc>
                <a:extLst>
                  <a:ext uri="{0D108BD9-81ED-4DB2-BD59-A6C34878D82A}">
                    <a16:rowId xmlns:a16="http://schemas.microsoft.com/office/drawing/2014/main" val="2900874465"/>
                  </a:ext>
                </a:extLst>
              </a:tr>
              <a:tr h="298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>
                          <a:effectLst/>
                        </a:rPr>
                        <a:t>1. Mandatory Classification</a:t>
                      </a:r>
                      <a:endParaRPr lang="en-GB" sz="1000">
                        <a:effectLst/>
                      </a:endParaRP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All items scanned to OCP must be classified even if scanned incorrectly.</a:t>
                      </a: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Always classify the item to OCP. Ignore scanning errors.</a:t>
                      </a:r>
                    </a:p>
                  </a:txBody>
                  <a:tcPr marL="20721" marR="20721" marT="10360" marB="10360" anchor="ctr"/>
                </a:tc>
                <a:extLst>
                  <a:ext uri="{0D108BD9-81ED-4DB2-BD59-A6C34878D82A}">
                    <a16:rowId xmlns:a16="http://schemas.microsoft.com/office/drawing/2014/main" val="3494131902"/>
                  </a:ext>
                </a:extLst>
              </a:tr>
              <a:tr h="3097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>
                          <a:effectLst/>
                        </a:rPr>
                        <a:t>2. Verify COY &amp; Account</a:t>
                      </a:r>
                      <a:endParaRPr lang="en-GB" sz="1000">
                        <a:effectLst/>
                      </a:endParaRP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Match at least 2 criteria (Account #, last name, registration, Alt ID). If unable to locate, escalate.</a:t>
                      </a: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Verify account using ≥2 identifiers. If no match, attempt Cosmos Investor lookup; if still unresolved, escalate with comments.</a:t>
                      </a:r>
                    </a:p>
                  </a:txBody>
                  <a:tcPr marL="20721" marR="20721" marT="10360" marB="10360" anchor="ctr"/>
                </a:tc>
                <a:extLst>
                  <a:ext uri="{0D108BD9-81ED-4DB2-BD59-A6C34878D82A}">
                    <a16:rowId xmlns:a16="http://schemas.microsoft.com/office/drawing/2014/main" val="2881311325"/>
                  </a:ext>
                </a:extLst>
              </a:tr>
              <a:tr h="193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>
                          <a:effectLst/>
                        </a:rPr>
                        <a:t>3. COY Verification</a:t>
                      </a:r>
                      <a:endParaRPr lang="en-GB" sz="1000">
                        <a:effectLst/>
                      </a:endParaRP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Image Center writes COY they believe is correct; you must verify COY.</a:t>
                      </a: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Treat handwritten COY as a suggestion; independently validate COY.</a:t>
                      </a:r>
                    </a:p>
                  </a:txBody>
                  <a:tcPr marL="20721" marR="20721" marT="10360" marB="10360" anchor="ctr"/>
                </a:tc>
                <a:extLst>
                  <a:ext uri="{0D108BD9-81ED-4DB2-BD59-A6C34878D82A}">
                    <a16:rowId xmlns:a16="http://schemas.microsoft.com/office/drawing/2014/main" val="2835052111"/>
                  </a:ext>
                </a:extLst>
              </a:tr>
              <a:tr h="306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>
                          <a:effectLst/>
                        </a:rPr>
                        <a:t>4. Incorrect COY Handling</a:t>
                      </a:r>
                      <a:endParaRPr lang="en-GB" sz="1000">
                        <a:effectLst/>
                      </a:endParaRP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Email Image Center Cash Team and comment workflow if COY is incorrect.</a:t>
                      </a: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If COY is wrong: notify Cash Team (Carlos Recinos, Kshatriya Gibson, Nikeya Witcher) and document the action in workflow.</a:t>
                      </a:r>
                    </a:p>
                  </a:txBody>
                  <a:tcPr marL="20721" marR="20721" marT="10360" marB="10360" anchor="ctr"/>
                </a:tc>
                <a:extLst>
                  <a:ext uri="{0D108BD9-81ED-4DB2-BD59-A6C34878D82A}">
                    <a16:rowId xmlns:a16="http://schemas.microsoft.com/office/drawing/2014/main" val="4135193887"/>
                  </a:ext>
                </a:extLst>
              </a:tr>
              <a:tr h="158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5. Check Good Order – Date</a:t>
                      </a:r>
                      <a:endParaRPr lang="en-US" sz="1000">
                        <a:effectLst/>
                      </a:endParaRP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Ensure date is good.</a:t>
                      </a: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Validate the date is present and valid.</a:t>
                      </a:r>
                    </a:p>
                  </a:txBody>
                  <a:tcPr marL="20721" marR="20721" marT="10360" marB="10360" anchor="ctr"/>
                </a:tc>
                <a:extLst>
                  <a:ext uri="{0D108BD9-81ED-4DB2-BD59-A6C34878D82A}">
                    <a16:rowId xmlns:a16="http://schemas.microsoft.com/office/drawing/2014/main" val="1698435736"/>
                  </a:ext>
                </a:extLst>
              </a:tr>
              <a:tr h="298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>
                          <a:effectLst/>
                        </a:rPr>
                        <a:t>6. Check Payee</a:t>
                      </a:r>
                      <a:endParaRPr lang="en-GB" sz="1000">
                        <a:effectLst/>
                      </a:endParaRP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Verify check is payable to Computershare or listed client.</a:t>
                      </a: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Confirm payee = Computershare or correct client (e.g., Intel, AT\&amp;T, IBM).</a:t>
                      </a:r>
                    </a:p>
                  </a:txBody>
                  <a:tcPr marL="20721" marR="20721" marT="10360" marB="10360" anchor="ctr"/>
                </a:tc>
                <a:extLst>
                  <a:ext uri="{0D108BD9-81ED-4DB2-BD59-A6C34878D82A}">
                    <a16:rowId xmlns:a16="http://schemas.microsoft.com/office/drawing/2014/main" val="3774746758"/>
                  </a:ext>
                </a:extLst>
              </a:tr>
              <a:tr h="298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>
                          <a:effectLst/>
                        </a:rPr>
                        <a:t>7. Check Amount Lines</a:t>
                      </a:r>
                      <a:endParaRPr lang="en-GB" sz="1000">
                        <a:effectLst/>
                      </a:endParaRP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Numeric and legal amounts must match.</a:t>
                      </a: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Ensure numeric and written amounts match; penmanship not a rejection reason.</a:t>
                      </a:r>
                    </a:p>
                  </a:txBody>
                  <a:tcPr marL="20721" marR="20721" marT="10360" marB="10360" anchor="ctr"/>
                </a:tc>
                <a:extLst>
                  <a:ext uri="{0D108BD9-81ED-4DB2-BD59-A6C34878D82A}">
                    <a16:rowId xmlns:a16="http://schemas.microsoft.com/office/drawing/2014/main" val="1489058259"/>
                  </a:ext>
                </a:extLst>
              </a:tr>
              <a:tr h="158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>
                          <a:effectLst/>
                        </a:rPr>
                        <a:t>8. Signature Match</a:t>
                      </a:r>
                      <a:endParaRPr lang="en-GB" sz="1000">
                        <a:effectLst/>
                      </a:endParaRP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Check is signed by person listed on the check.</a:t>
                      </a: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Confirm signature matches payer name.</a:t>
                      </a:r>
                    </a:p>
                  </a:txBody>
                  <a:tcPr marL="20721" marR="20721" marT="10360" marB="10360" anchor="ctr"/>
                </a:tc>
                <a:extLst>
                  <a:ext uri="{0D108BD9-81ED-4DB2-BD59-A6C34878D82A}">
                    <a16:rowId xmlns:a16="http://schemas.microsoft.com/office/drawing/2014/main" val="912678862"/>
                  </a:ext>
                </a:extLst>
              </a:tr>
              <a:tr h="158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>
                          <a:effectLst/>
                        </a:rPr>
                        <a:t>9. Bad Check Handling</a:t>
                      </a:r>
                      <a:endParaRPr lang="en-GB" sz="1000">
                        <a:effectLst/>
                      </a:endParaRP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If check is not in good order, comment workflow then classify.</a:t>
                      </a: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If check fails any validation, log issue in workflow but still classify.</a:t>
                      </a:r>
                    </a:p>
                  </a:txBody>
                  <a:tcPr marL="20721" marR="20721" marT="10360" marB="10360" anchor="ctr"/>
                </a:tc>
                <a:extLst>
                  <a:ext uri="{0D108BD9-81ED-4DB2-BD59-A6C34878D82A}">
                    <a16:rowId xmlns:a16="http://schemas.microsoft.com/office/drawing/2014/main" val="1354865316"/>
                  </a:ext>
                </a:extLst>
              </a:tr>
              <a:tr h="298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>
                          <a:effectLst/>
                        </a:rPr>
                        <a:t>10. Blue Checks</a:t>
                      </a:r>
                      <a:endParaRPr lang="en-GB" sz="1000">
                        <a:effectLst/>
                      </a:endParaRP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Blue checks may not have COY printed; verify with 2 pieces of info.</a:t>
                      </a: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For blue checks, perform account verification using ≥2 identifiers (COY often missing).</a:t>
                      </a:r>
                    </a:p>
                  </a:txBody>
                  <a:tcPr marL="20721" marR="20721" marT="10360" marB="10360" anchor="ctr"/>
                </a:tc>
                <a:extLst>
                  <a:ext uri="{0D108BD9-81ED-4DB2-BD59-A6C34878D82A}">
                    <a16:rowId xmlns:a16="http://schemas.microsoft.com/office/drawing/2014/main" val="3856338452"/>
                  </a:ext>
                </a:extLst>
              </a:tr>
              <a:tr h="298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>
                          <a:effectLst/>
                        </a:rPr>
                        <a:t>11. Enrollment Form Detection</a:t>
                      </a:r>
                      <a:endParaRPr lang="en-GB" sz="1000">
                        <a:effectLst/>
                      </a:endParaRP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Cash request with Initial Enrollment Form → account must be set up in Scrip.</a:t>
                      </a: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If enrollment form present, proceed to account lookup and potential Scrip account creation.</a:t>
                      </a:r>
                    </a:p>
                  </a:txBody>
                  <a:tcPr marL="20721" marR="20721" marT="10360" marB="10360" anchor="ctr"/>
                </a:tc>
                <a:extLst>
                  <a:ext uri="{0D108BD9-81ED-4DB2-BD59-A6C34878D82A}">
                    <a16:rowId xmlns:a16="http://schemas.microsoft.com/office/drawing/2014/main" val="2230726064"/>
                  </a:ext>
                </a:extLst>
              </a:tr>
              <a:tr h="298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12. Search for Existing Account</a:t>
                      </a:r>
                      <a:endParaRPr lang="en-US" sz="1000">
                        <a:effectLst/>
                      </a:endParaRP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Search by name + TIN to ensure no existing account.</a:t>
                      </a: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Use Name + TIN to determine whether account exists before creating one.</a:t>
                      </a:r>
                    </a:p>
                  </a:txBody>
                  <a:tcPr marL="20721" marR="20721" marT="10360" marB="10360" anchor="ctr"/>
                </a:tc>
                <a:extLst>
                  <a:ext uri="{0D108BD9-81ED-4DB2-BD59-A6C34878D82A}">
                    <a16:rowId xmlns:a16="http://schemas.microsoft.com/office/drawing/2014/main" val="2043619591"/>
                  </a:ext>
                </a:extLst>
              </a:tr>
              <a:tr h="298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13. Scrip – Navigate to Add Holder</a:t>
                      </a:r>
                      <a:endParaRPr lang="en-US" sz="1000">
                        <a:effectLst/>
                      </a:endParaRP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Select COY → Online Data Entry → SDM → “U” → AH Add Holder.</a:t>
                      </a: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effectLst/>
                        </a:rPr>
                        <a:t>Select COY → Open Online Data Entry → SDM (Update) → AH Add Holder.</a:t>
                      </a:r>
                    </a:p>
                  </a:txBody>
                  <a:tcPr marL="20721" marR="20721" marT="10360" marB="10360" anchor="ctr"/>
                </a:tc>
                <a:extLst>
                  <a:ext uri="{0D108BD9-81ED-4DB2-BD59-A6C34878D82A}">
                    <a16:rowId xmlns:a16="http://schemas.microsoft.com/office/drawing/2014/main" val="1642752695"/>
                  </a:ext>
                </a:extLst>
              </a:tr>
              <a:tr h="298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>
                          <a:effectLst/>
                        </a:rPr>
                        <a:t>14. TOD Accounts</a:t>
                      </a:r>
                      <a:endParaRPr lang="en-GB" sz="1000">
                        <a:effectLst/>
                      </a:endParaRP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If TOD requested, set up individual account first and submit form request.</a:t>
                      </a: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For TOD: create individual account first → generate Beneficiary Maintenance form request.</a:t>
                      </a:r>
                    </a:p>
                  </a:txBody>
                  <a:tcPr marL="20721" marR="20721" marT="10360" marB="10360" anchor="ctr"/>
                </a:tc>
                <a:extLst>
                  <a:ext uri="{0D108BD9-81ED-4DB2-BD59-A6C34878D82A}">
                    <a16:rowId xmlns:a16="http://schemas.microsoft.com/office/drawing/2014/main" val="1888197816"/>
                  </a:ext>
                </a:extLst>
              </a:tr>
              <a:tr h="298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>
                          <a:effectLst/>
                        </a:rPr>
                        <a:t>15. Enter Holder Info</a:t>
                      </a:r>
                      <a:endParaRPr lang="en-GB" sz="1000">
                        <a:effectLst/>
                      </a:endParaRP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Enter shareholder info using Registration Guide if needed.</a:t>
                      </a: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Input all required shareholder fields precisely; reference Registration Guide if needed.</a:t>
                      </a:r>
                    </a:p>
                  </a:txBody>
                  <a:tcPr marL="20721" marR="20721" marT="10360" marB="10360" anchor="ctr"/>
                </a:tc>
                <a:extLst>
                  <a:ext uri="{0D108BD9-81ED-4DB2-BD59-A6C34878D82A}">
                    <a16:rowId xmlns:a16="http://schemas.microsoft.com/office/drawing/2014/main" val="1505001672"/>
                  </a:ext>
                </a:extLst>
              </a:tr>
              <a:tr h="298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>
                          <a:effectLst/>
                        </a:rPr>
                        <a:t>16. W9 &amp; Contact Info</a:t>
                      </a:r>
                      <a:endParaRPr lang="en-GB" sz="1000">
                        <a:effectLst/>
                      </a:endParaRP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Use back of form for phone numbers and W9 certification; do not certify without FATCA verbiage + signature.</a:t>
                      </a: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Validate W9: certify only if FATCA text present + form signed; extract contact details from back page.</a:t>
                      </a:r>
                    </a:p>
                  </a:txBody>
                  <a:tcPr marL="20721" marR="20721" marT="10360" marB="10360" anchor="ctr"/>
                </a:tc>
                <a:extLst>
                  <a:ext uri="{0D108BD9-81ED-4DB2-BD59-A6C34878D82A}">
                    <a16:rowId xmlns:a16="http://schemas.microsoft.com/office/drawing/2014/main" val="1338534129"/>
                  </a:ext>
                </a:extLst>
              </a:tr>
              <a:tr h="298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effectLst/>
                        </a:rPr>
                        <a:t>17. Finalize Account in Scrip</a:t>
                      </a:r>
                      <a:endParaRPr lang="en-US" sz="1000">
                        <a:effectLst/>
                      </a:endParaRP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Escape twice → search using TIN → copy account info into workflow.</a:t>
                      </a: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Exit to main screen → search by TIN → store new account info in workflow.</a:t>
                      </a:r>
                    </a:p>
                  </a:txBody>
                  <a:tcPr marL="20721" marR="20721" marT="10360" marB="10360" anchor="ctr"/>
                </a:tc>
                <a:extLst>
                  <a:ext uri="{0D108BD9-81ED-4DB2-BD59-A6C34878D82A}">
                    <a16:rowId xmlns:a16="http://schemas.microsoft.com/office/drawing/2014/main" val="1761052892"/>
                  </a:ext>
                </a:extLst>
              </a:tr>
              <a:tr h="298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>
                          <a:effectLst/>
                        </a:rPr>
                        <a:t>18. Set Reinvestment Election</a:t>
                      </a:r>
                      <a:endParaRPr lang="en-GB" sz="1000">
                        <a:effectLst/>
                      </a:endParaRP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Based on form: U → PE → transaction number → select plan (SPP1) → F or C.</a:t>
                      </a: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Code reinvestment: Update → PE → select plan → apply F (Full) or C (Cash). Only if owner signed form.</a:t>
                      </a:r>
                    </a:p>
                  </a:txBody>
                  <a:tcPr marL="20721" marR="20721" marT="10360" marB="10360" anchor="ctr"/>
                </a:tc>
                <a:extLst>
                  <a:ext uri="{0D108BD9-81ED-4DB2-BD59-A6C34878D82A}">
                    <a16:rowId xmlns:a16="http://schemas.microsoft.com/office/drawing/2014/main" val="3146741942"/>
                  </a:ext>
                </a:extLst>
              </a:tr>
              <a:tr h="298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>
                          <a:effectLst/>
                        </a:rPr>
                        <a:t>19. Direct Debit Requests</a:t>
                      </a:r>
                      <a:endParaRPr lang="en-GB" sz="1000">
                        <a:effectLst/>
                      </a:endParaRP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Insert into DRIP Enrollment using the Direct Debit Authorization form.</a:t>
                      </a: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If direct debit present, record debit preferences, bank info, and amount into DRIP Enrollment.</a:t>
                      </a:r>
                    </a:p>
                  </a:txBody>
                  <a:tcPr marL="20721" marR="20721" marT="10360" marB="10360" anchor="ctr"/>
                </a:tc>
                <a:extLst>
                  <a:ext uri="{0D108BD9-81ED-4DB2-BD59-A6C34878D82A}">
                    <a16:rowId xmlns:a16="http://schemas.microsoft.com/office/drawing/2014/main" val="2831544034"/>
                  </a:ext>
                </a:extLst>
              </a:tr>
              <a:tr h="298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>
                          <a:effectLst/>
                        </a:rPr>
                        <a:t>20. Final Classification</a:t>
                      </a:r>
                      <a:endParaRPr lang="en-GB" sz="1000">
                        <a:effectLst/>
                      </a:endParaRP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Classify to correct COY and account after all checks.</a:t>
                      </a:r>
                    </a:p>
                  </a:txBody>
                  <a:tcPr marL="20721" marR="20721" marT="10360" marB="103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After validations and account setup steps, classify to verified COY + account.</a:t>
                      </a:r>
                    </a:p>
                  </a:txBody>
                  <a:tcPr marL="20721" marR="20721" marT="10360" marB="10360" anchor="ctr"/>
                </a:tc>
                <a:extLst>
                  <a:ext uri="{0D108BD9-81ED-4DB2-BD59-A6C34878D82A}">
                    <a16:rowId xmlns:a16="http://schemas.microsoft.com/office/drawing/2014/main" val="2279557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03063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3EB4F-82CC-2F1E-B7AE-27045AB89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457B31-1D36-3480-2947-0CA250933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Step by step flow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9543BF-EBCE-330E-FF25-A43389276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600817"/>
            <a:ext cx="317716" cy="246221"/>
          </a:xfrm>
        </p:spPr>
        <p:txBody>
          <a:bodyPr/>
          <a:lstStyle/>
          <a:p>
            <a:fld id="{0BBDC51F-5D11-B24C-B440-508FFDF318C8}" type="slidenum">
              <a:rPr lang="en-AU" smtClean="0"/>
              <a:pPr/>
              <a:t>32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59449F-6A17-C628-EA43-01B7FAAECD23}"/>
              </a:ext>
            </a:extLst>
          </p:cNvPr>
          <p:cNvSpPr txBox="1"/>
          <p:nvPr/>
        </p:nvSpPr>
        <p:spPr>
          <a:xfrm>
            <a:off x="1479433" y="1985050"/>
            <a:ext cx="1572127" cy="400110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Does the transaction include a check? </a:t>
            </a: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E9E95CAD-2589-3A95-3DA1-E3CA9C4BAD53}"/>
              </a:ext>
            </a:extLst>
          </p:cNvPr>
          <p:cNvCxnSpPr>
            <a:cxnSpLocks/>
            <a:stCxn id="8" idx="3"/>
            <a:endCxn id="76" idx="1"/>
          </p:cNvCxnSpPr>
          <p:nvPr/>
        </p:nvCxnSpPr>
        <p:spPr>
          <a:xfrm flipV="1">
            <a:off x="3051560" y="1298191"/>
            <a:ext cx="375654" cy="8869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0A2C5CAB-FACF-4F1D-818C-7BDA72C7ED6A}"/>
              </a:ext>
            </a:extLst>
          </p:cNvPr>
          <p:cNvSpPr txBox="1"/>
          <p:nvPr/>
        </p:nvSpPr>
        <p:spPr>
          <a:xfrm>
            <a:off x="3427214" y="1175080"/>
            <a:ext cx="1572127" cy="246221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No – not DRIP OCP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1ADD6E8-7EF2-4157-7AF0-FA53D54C02C3}"/>
              </a:ext>
            </a:extLst>
          </p:cNvPr>
          <p:cNvSpPr txBox="1"/>
          <p:nvPr/>
        </p:nvSpPr>
        <p:spPr>
          <a:xfrm>
            <a:off x="3427213" y="1861940"/>
            <a:ext cx="1572127" cy="1785104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Yes – Is the check for any of those categories: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Lost certificate affidavit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Research/subpoena/ESPP fee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Rush/certificate issue fee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Medallion guarantee waiver fee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Transfer fee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FCBB63B-7D79-92C0-823E-5C0B1BE13DF3}"/>
              </a:ext>
            </a:extLst>
          </p:cNvPr>
          <p:cNvSpPr txBox="1"/>
          <p:nvPr/>
        </p:nvSpPr>
        <p:spPr>
          <a:xfrm>
            <a:off x="5552793" y="1861940"/>
            <a:ext cx="2268617" cy="1323439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GB" sz="1000">
                <a:latin typeface="Aptos" panose="020B0004020202020204" pitchFamily="34" charset="0"/>
              </a:rPr>
              <a:t>No – check for indications like: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“Please invest”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“Optional Cash Purchase”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Dividend reinvestment statement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OCP investment request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A check amount that is not a fixed fee amount (aligns with an investment)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A26D72A-D05A-984D-8953-5A99F131B8A6}"/>
              </a:ext>
            </a:extLst>
          </p:cNvPr>
          <p:cNvSpPr txBox="1"/>
          <p:nvPr/>
        </p:nvSpPr>
        <p:spPr>
          <a:xfrm>
            <a:off x="5552792" y="5132729"/>
            <a:ext cx="1572127" cy="246221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Yes –not DRIP OCP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E60E18F-7DC8-30DA-8A77-E424D747A9B0}"/>
              </a:ext>
            </a:extLst>
          </p:cNvPr>
          <p:cNvSpPr txBox="1"/>
          <p:nvPr/>
        </p:nvSpPr>
        <p:spPr>
          <a:xfrm>
            <a:off x="0" y="1985050"/>
            <a:ext cx="1239253" cy="246221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Scan the envelope</a:t>
            </a: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3E1AC7FC-BDD7-67AE-6B6F-3EE7FE305CCC}"/>
              </a:ext>
            </a:extLst>
          </p:cNvPr>
          <p:cNvCxnSpPr>
            <a:cxnSpLocks/>
            <a:stCxn id="8" idx="3"/>
            <a:endCxn id="77" idx="1"/>
          </p:cNvCxnSpPr>
          <p:nvPr/>
        </p:nvCxnSpPr>
        <p:spPr>
          <a:xfrm>
            <a:off x="3051560" y="2185105"/>
            <a:ext cx="375653" cy="5693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5579DFBD-749C-7676-0BDF-F542C34E9CBD}"/>
              </a:ext>
            </a:extLst>
          </p:cNvPr>
          <p:cNvCxnSpPr>
            <a:cxnSpLocks/>
            <a:stCxn id="77" idx="3"/>
            <a:endCxn id="78" idx="1"/>
          </p:cNvCxnSpPr>
          <p:nvPr/>
        </p:nvCxnSpPr>
        <p:spPr>
          <a:xfrm flipV="1">
            <a:off x="4999340" y="2523660"/>
            <a:ext cx="553453" cy="2308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C2986ECB-3CFC-75D3-F278-8845798EEEE0}"/>
              </a:ext>
            </a:extLst>
          </p:cNvPr>
          <p:cNvCxnSpPr>
            <a:cxnSpLocks/>
            <a:stCxn id="77" idx="3"/>
            <a:endCxn id="79" idx="1"/>
          </p:cNvCxnSpPr>
          <p:nvPr/>
        </p:nvCxnSpPr>
        <p:spPr>
          <a:xfrm>
            <a:off x="4999340" y="2754492"/>
            <a:ext cx="553452" cy="25013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980A2CE0-AE24-D45D-0F94-B3E8ABD5624A}"/>
              </a:ext>
            </a:extLst>
          </p:cNvPr>
          <p:cNvCxnSpPr>
            <a:cxnSpLocks/>
            <a:stCxn id="80" idx="3"/>
          </p:cNvCxnSpPr>
          <p:nvPr/>
        </p:nvCxnSpPr>
        <p:spPr>
          <a:xfrm>
            <a:off x="1239253" y="2108161"/>
            <a:ext cx="2401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69C4E7A3-753E-96C4-21E8-83B9EA3E1FC7}"/>
              </a:ext>
            </a:extLst>
          </p:cNvPr>
          <p:cNvSpPr txBox="1"/>
          <p:nvPr/>
        </p:nvSpPr>
        <p:spPr>
          <a:xfrm>
            <a:off x="8374864" y="1738830"/>
            <a:ext cx="890335" cy="400110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No – not DRIP OCP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1189DF6-53BE-9591-43E1-5A9F52617DF7}"/>
              </a:ext>
            </a:extLst>
          </p:cNvPr>
          <p:cNvSpPr txBox="1"/>
          <p:nvPr/>
        </p:nvSpPr>
        <p:spPr>
          <a:xfrm>
            <a:off x="8251871" y="3305890"/>
            <a:ext cx="835530" cy="400110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Yes – DRIP OCP</a:t>
            </a:r>
          </a:p>
        </p:txBody>
      </p: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179E4473-9A2F-A9EC-DEFD-011E53DE0C54}"/>
              </a:ext>
            </a:extLst>
          </p:cNvPr>
          <p:cNvCxnSpPr>
            <a:cxnSpLocks/>
            <a:stCxn id="78" idx="3"/>
            <a:endCxn id="97" idx="1"/>
          </p:cNvCxnSpPr>
          <p:nvPr/>
        </p:nvCxnSpPr>
        <p:spPr>
          <a:xfrm flipV="1">
            <a:off x="7821410" y="1938885"/>
            <a:ext cx="553454" cy="584775"/>
          </a:xfrm>
          <a:prstGeom prst="bentConnector3">
            <a:avLst>
              <a:gd name="adj1" fmla="val 4130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7F7E5106-6BBF-59E6-C26C-29B03DDFBD1E}"/>
              </a:ext>
            </a:extLst>
          </p:cNvPr>
          <p:cNvCxnSpPr>
            <a:cxnSpLocks/>
            <a:stCxn id="78" idx="3"/>
            <a:endCxn id="98" idx="1"/>
          </p:cNvCxnSpPr>
          <p:nvPr/>
        </p:nvCxnSpPr>
        <p:spPr>
          <a:xfrm>
            <a:off x="7821410" y="2523660"/>
            <a:ext cx="430461" cy="9822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15FCC2A7-4063-EC17-8615-16547109E664}"/>
              </a:ext>
            </a:extLst>
          </p:cNvPr>
          <p:cNvSpPr txBox="1"/>
          <p:nvPr/>
        </p:nvSpPr>
        <p:spPr>
          <a:xfrm>
            <a:off x="9264567" y="2976330"/>
            <a:ext cx="1572127" cy="861774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Verify if the check is: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Unsigned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Unacceptable format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Incorrect payee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000">
                <a:latin typeface="Aptos" panose="020B0004020202020204" pitchFamily="34" charset="0"/>
              </a:rPr>
              <a:t>Missing required info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8E4D4377-0DB6-214F-3030-7E445400D133}"/>
              </a:ext>
            </a:extLst>
          </p:cNvPr>
          <p:cNvCxnSpPr>
            <a:cxnSpLocks/>
          </p:cNvCxnSpPr>
          <p:nvPr/>
        </p:nvCxnSpPr>
        <p:spPr>
          <a:xfrm>
            <a:off x="9077372" y="3429001"/>
            <a:ext cx="1878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B47756B-0359-FA0A-5012-FE74E2170C3D}"/>
              </a:ext>
            </a:extLst>
          </p:cNvPr>
          <p:cNvSpPr txBox="1"/>
          <p:nvPr/>
        </p:nvSpPr>
        <p:spPr>
          <a:xfrm>
            <a:off x="11026521" y="2718428"/>
            <a:ext cx="1013328" cy="553998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Yes – DRIP OCP but REJECTED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F01CD8-0C78-1540-A4CF-0D3C25861B1C}"/>
              </a:ext>
            </a:extLst>
          </p:cNvPr>
          <p:cNvSpPr txBox="1"/>
          <p:nvPr/>
        </p:nvSpPr>
        <p:spPr>
          <a:xfrm>
            <a:off x="11033201" y="3838104"/>
            <a:ext cx="1013328" cy="861774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Yes – DRIP OCP but ACCEPTED (go ahead and extract info)  </a:t>
            </a:r>
          </a:p>
        </p:txBody>
      </p: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1A4F3004-F24E-822C-CF2A-01D94CA761A8}"/>
              </a:ext>
            </a:extLst>
          </p:cNvPr>
          <p:cNvCxnSpPr>
            <a:cxnSpLocks/>
            <a:stCxn id="107" idx="3"/>
            <a:endCxn id="112" idx="1"/>
          </p:cNvCxnSpPr>
          <p:nvPr/>
        </p:nvCxnSpPr>
        <p:spPr>
          <a:xfrm flipV="1">
            <a:off x="10836694" y="2995427"/>
            <a:ext cx="189827" cy="41179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0F9BFEA8-69A3-44D4-14D5-7716E348D5C9}"/>
              </a:ext>
            </a:extLst>
          </p:cNvPr>
          <p:cNvCxnSpPr>
            <a:cxnSpLocks/>
            <a:stCxn id="107" idx="3"/>
            <a:endCxn id="113" idx="1"/>
          </p:cNvCxnSpPr>
          <p:nvPr/>
        </p:nvCxnSpPr>
        <p:spPr>
          <a:xfrm>
            <a:off x="10836694" y="3407217"/>
            <a:ext cx="196507" cy="8617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Left Brace 126">
            <a:extLst>
              <a:ext uri="{FF2B5EF4-FFF2-40B4-BE49-F238E27FC236}">
                <a16:creationId xmlns:a16="http://schemas.microsoft.com/office/drawing/2014/main" id="{F7804057-7AD8-47C0-E956-E1F64A9E2158}"/>
              </a:ext>
            </a:extLst>
          </p:cNvPr>
          <p:cNvSpPr/>
          <p:nvPr/>
        </p:nvSpPr>
        <p:spPr>
          <a:xfrm rot="16200000">
            <a:off x="2251002" y="5265107"/>
            <a:ext cx="265104" cy="1711667"/>
          </a:xfrm>
          <a:prstGeom prst="leftBrace">
            <a:avLst>
              <a:gd name="adj1" fmla="val 0"/>
              <a:gd name="adj2" fmla="val 48211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89046B5-7006-DA14-7596-40352D7A6EB9}"/>
              </a:ext>
            </a:extLst>
          </p:cNvPr>
          <p:cNvSpPr txBox="1"/>
          <p:nvPr/>
        </p:nvSpPr>
        <p:spPr>
          <a:xfrm>
            <a:off x="1674792" y="6265388"/>
            <a:ext cx="1441889" cy="246217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solidFill>
                  <a:schemeClr val="accent5"/>
                </a:solidFill>
                <a:latin typeface="Aptos" panose="020B0004020202020204" pitchFamily="34" charset="0"/>
              </a:rPr>
              <a:t>LLM  call</a:t>
            </a:r>
          </a:p>
        </p:txBody>
      </p:sp>
      <p:sp>
        <p:nvSpPr>
          <p:cNvPr id="129" name="Left Brace 128">
            <a:extLst>
              <a:ext uri="{FF2B5EF4-FFF2-40B4-BE49-F238E27FC236}">
                <a16:creationId xmlns:a16="http://schemas.microsoft.com/office/drawing/2014/main" id="{A7B8E019-E71E-876C-8068-02B3B3D37A00}"/>
              </a:ext>
            </a:extLst>
          </p:cNvPr>
          <p:cNvSpPr/>
          <p:nvPr/>
        </p:nvSpPr>
        <p:spPr>
          <a:xfrm rot="16200000">
            <a:off x="4010954" y="5267902"/>
            <a:ext cx="265104" cy="1711667"/>
          </a:xfrm>
          <a:prstGeom prst="leftBrace">
            <a:avLst>
              <a:gd name="adj1" fmla="val 0"/>
              <a:gd name="adj2" fmla="val 48211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2892C2F-8B2A-507C-D539-F586B78A03E6}"/>
              </a:ext>
            </a:extLst>
          </p:cNvPr>
          <p:cNvSpPr txBox="1"/>
          <p:nvPr/>
        </p:nvSpPr>
        <p:spPr>
          <a:xfrm>
            <a:off x="3434744" y="6268183"/>
            <a:ext cx="1441889" cy="246217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solidFill>
                  <a:schemeClr val="accent5"/>
                </a:solidFill>
                <a:latin typeface="Aptos" panose="020B0004020202020204" pitchFamily="34" charset="0"/>
              </a:rPr>
              <a:t>LLM  call</a:t>
            </a:r>
          </a:p>
        </p:txBody>
      </p:sp>
      <p:sp>
        <p:nvSpPr>
          <p:cNvPr id="131" name="Left Brace 130">
            <a:extLst>
              <a:ext uri="{FF2B5EF4-FFF2-40B4-BE49-F238E27FC236}">
                <a16:creationId xmlns:a16="http://schemas.microsoft.com/office/drawing/2014/main" id="{2A4D8CCD-F2C1-8704-E150-443840EA8589}"/>
              </a:ext>
            </a:extLst>
          </p:cNvPr>
          <p:cNvSpPr/>
          <p:nvPr/>
        </p:nvSpPr>
        <p:spPr>
          <a:xfrm rot="16200000">
            <a:off x="6613404" y="4951700"/>
            <a:ext cx="195244" cy="2268619"/>
          </a:xfrm>
          <a:prstGeom prst="leftBrace">
            <a:avLst>
              <a:gd name="adj1" fmla="val 0"/>
              <a:gd name="adj2" fmla="val 48211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2C92E52-3EAC-A869-500C-EB93ACBDDCCA}"/>
              </a:ext>
            </a:extLst>
          </p:cNvPr>
          <p:cNvSpPr txBox="1"/>
          <p:nvPr/>
        </p:nvSpPr>
        <p:spPr>
          <a:xfrm>
            <a:off x="5723787" y="6265387"/>
            <a:ext cx="1911058" cy="246221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solidFill>
                  <a:schemeClr val="accent5"/>
                </a:solidFill>
                <a:latin typeface="Aptos" panose="020B0004020202020204" pitchFamily="34" charset="0"/>
              </a:rPr>
              <a:t>LLM  call</a:t>
            </a:r>
          </a:p>
        </p:txBody>
      </p:sp>
      <p:sp>
        <p:nvSpPr>
          <p:cNvPr id="133" name="Left Brace 132">
            <a:extLst>
              <a:ext uri="{FF2B5EF4-FFF2-40B4-BE49-F238E27FC236}">
                <a16:creationId xmlns:a16="http://schemas.microsoft.com/office/drawing/2014/main" id="{AF622FF3-4A5F-02F0-20F0-3F104CB46EF5}"/>
              </a:ext>
            </a:extLst>
          </p:cNvPr>
          <p:cNvSpPr/>
          <p:nvPr/>
        </p:nvSpPr>
        <p:spPr>
          <a:xfrm rot="16200000">
            <a:off x="9953015" y="5228539"/>
            <a:ext cx="195231" cy="1665410"/>
          </a:xfrm>
          <a:prstGeom prst="leftBrace">
            <a:avLst>
              <a:gd name="adj1" fmla="val 0"/>
              <a:gd name="adj2" fmla="val 48211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6D9774F-3ADF-86B8-CC01-6FAACA7F5AE2}"/>
              </a:ext>
            </a:extLst>
          </p:cNvPr>
          <p:cNvSpPr txBox="1"/>
          <p:nvPr/>
        </p:nvSpPr>
        <p:spPr>
          <a:xfrm>
            <a:off x="9095101" y="6183632"/>
            <a:ext cx="1911058" cy="246221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solidFill>
                  <a:schemeClr val="accent5"/>
                </a:solidFill>
                <a:latin typeface="Aptos" panose="020B0004020202020204" pitchFamily="34" charset="0"/>
              </a:rPr>
              <a:t>If statement</a:t>
            </a:r>
          </a:p>
        </p:txBody>
      </p:sp>
    </p:spTree>
    <p:extLst>
      <p:ext uri="{BB962C8B-B14F-4D97-AF65-F5344CB8AC3E}">
        <p14:creationId xmlns:p14="http://schemas.microsoft.com/office/powerpoint/2010/main" val="42662093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D7C40-37D7-AC58-D6B1-B51F66FDD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5112CB-7684-D214-BC84-B6D12BEBF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Step by step flow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A538C-8FC2-6564-C182-7957FAE63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600817"/>
            <a:ext cx="317716" cy="246221"/>
          </a:xfrm>
        </p:spPr>
        <p:txBody>
          <a:bodyPr/>
          <a:lstStyle/>
          <a:p>
            <a:fld id="{0BBDC51F-5D11-B24C-B440-508FFDF318C8}" type="slidenum">
              <a:rPr lang="en-AU" smtClean="0"/>
              <a:pPr/>
              <a:t>33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BDD970-54FC-A72D-CD22-B509FFC15AAC}"/>
              </a:ext>
            </a:extLst>
          </p:cNvPr>
          <p:cNvSpPr txBox="1"/>
          <p:nvPr/>
        </p:nvSpPr>
        <p:spPr>
          <a:xfrm>
            <a:off x="153969" y="1497219"/>
            <a:ext cx="1572127" cy="400110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Categorization: Mailroom scans to DRIP OCP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4235EA-1183-02A3-FCC2-988FEB07DB9D}"/>
              </a:ext>
            </a:extLst>
          </p:cNvPr>
          <p:cNvSpPr txBox="1"/>
          <p:nvPr/>
        </p:nvSpPr>
        <p:spPr>
          <a:xfrm>
            <a:off x="2143447" y="1497219"/>
            <a:ext cx="1728393" cy="2708434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LLM receives category, triggers the appropriate checks to extract information. </a:t>
            </a:r>
          </a:p>
          <a:p>
            <a:pPr algn="l"/>
            <a:endParaRPr lang="en-GB" sz="1000">
              <a:latin typeface="Aptos" panose="020B0004020202020204" pitchFamily="34" charset="0"/>
            </a:endParaRPr>
          </a:p>
          <a:p>
            <a:pPr algn="l"/>
            <a:r>
              <a:rPr lang="en-GB" sz="1000">
                <a:latin typeface="Aptos" panose="020B0004020202020204" pitchFamily="34" charset="0"/>
              </a:rPr>
              <a:t>Example DRIP OCP:</a:t>
            </a:r>
          </a:p>
          <a:p>
            <a:pPr marL="342900" indent="-342900" algn="l">
              <a:buAutoNum type="arabicPeriod"/>
            </a:pPr>
            <a:r>
              <a:rPr lang="en-GB" sz="1000">
                <a:latin typeface="Aptos" panose="020B0004020202020204" pitchFamily="34" charset="0"/>
              </a:rPr>
              <a:t>Extract COY, date, client name, check amount, payer name</a:t>
            </a:r>
          </a:p>
          <a:p>
            <a:pPr marL="342900" indent="-342900" algn="l">
              <a:buAutoNum type="arabicPeriod"/>
            </a:pPr>
            <a:r>
              <a:rPr lang="en-GB" sz="1000">
                <a:latin typeface="Aptos" panose="020B0004020202020204" pitchFamily="34" charset="0"/>
              </a:rPr>
              <a:t>Extract account number or last name or registration or alternate ID</a:t>
            </a:r>
          </a:p>
          <a:p>
            <a:pPr marL="342900" indent="-342900" algn="l">
              <a:buAutoNum type="arabicPeriod"/>
            </a:pPr>
            <a:r>
              <a:rPr lang="en-GB" sz="1000">
                <a:latin typeface="Aptos" panose="020B0004020202020204" pitchFamily="34" charset="0"/>
              </a:rPr>
              <a:t>Verify 2 details are a match on Cosmos. </a:t>
            </a:r>
          </a:p>
          <a:p>
            <a:pPr marL="342900" indent="-342900">
              <a:buFontTx/>
              <a:buAutoNum type="arabicPeriod"/>
            </a:pPr>
            <a:r>
              <a:rPr lang="en-GB" sz="1000">
                <a:latin typeface="Aptos" panose="020B0004020202020204" pitchFamily="34" charset="0"/>
              </a:rPr>
              <a:t>Is there an enrolment form? (Y/N)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DD70C0-0DCE-BBB5-665F-9BDDB01296C3}"/>
              </a:ext>
            </a:extLst>
          </p:cNvPr>
          <p:cNvSpPr txBox="1"/>
          <p:nvPr/>
        </p:nvSpPr>
        <p:spPr>
          <a:xfrm>
            <a:off x="129190" y="3080463"/>
            <a:ext cx="1572127" cy="1015663"/>
          </a:xfrm>
          <a:prstGeom prst="rect">
            <a:avLst/>
          </a:prstGeom>
          <a:noFill/>
          <a:ln w="127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Categorization:</a:t>
            </a:r>
          </a:p>
          <a:p>
            <a:pPr algn="l"/>
            <a:r>
              <a:rPr lang="en-GB" sz="1000">
                <a:latin typeface="Aptos" panose="020B0004020202020204" pitchFamily="34" charset="0"/>
              </a:rPr>
              <a:t>Scan of envelope sent to TTA, </a:t>
            </a:r>
            <a:r>
              <a:rPr lang="en-GB" sz="1000" err="1">
                <a:latin typeface="Aptos" panose="020B0004020202020204" pitchFamily="34" charset="0"/>
              </a:rPr>
              <a:t>analyzed</a:t>
            </a:r>
            <a:r>
              <a:rPr lang="en-GB" sz="1000">
                <a:latin typeface="Aptos" panose="020B0004020202020204" pitchFamily="34" charset="0"/>
              </a:rPr>
              <a:t> according to batch processing rules &gt; categorization determined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B00BBD-BE8C-0ADD-7359-974117C3770A}"/>
              </a:ext>
            </a:extLst>
          </p:cNvPr>
          <p:cNvSpPr txBox="1"/>
          <p:nvPr/>
        </p:nvSpPr>
        <p:spPr>
          <a:xfrm>
            <a:off x="10418599" y="4044810"/>
            <a:ext cx="1572127" cy="40011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Information sent from TTA to Workflow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E56A44-3E09-94F1-3041-CA7F6DE91A41}"/>
              </a:ext>
            </a:extLst>
          </p:cNvPr>
          <p:cNvSpPr txBox="1"/>
          <p:nvPr/>
        </p:nvSpPr>
        <p:spPr>
          <a:xfrm>
            <a:off x="181264" y="2519761"/>
            <a:ext cx="1572127" cy="3077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>
                <a:latin typeface="Aptos" panose="020B0004020202020204" pitchFamily="34" charset="0"/>
              </a:rPr>
              <a:t>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79A726-BB73-969A-5A53-6C4BCDAD8976}"/>
              </a:ext>
            </a:extLst>
          </p:cNvPr>
          <p:cNvSpPr txBox="1"/>
          <p:nvPr/>
        </p:nvSpPr>
        <p:spPr>
          <a:xfrm>
            <a:off x="10205206" y="5990137"/>
            <a:ext cx="1572127" cy="400110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RPA flows complete transaction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1571B1-8DAB-9765-838B-7D2500D20E3A}"/>
              </a:ext>
            </a:extLst>
          </p:cNvPr>
          <p:cNvSpPr txBox="1"/>
          <p:nvPr/>
        </p:nvSpPr>
        <p:spPr>
          <a:xfrm>
            <a:off x="10193189" y="5367590"/>
            <a:ext cx="1572127" cy="400110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Human reviews outputs, triggers right workflow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6FDA77-5C1B-6AF9-BEA0-28D82AFA6702}"/>
              </a:ext>
            </a:extLst>
          </p:cNvPr>
          <p:cNvSpPr txBox="1"/>
          <p:nvPr/>
        </p:nvSpPr>
        <p:spPr>
          <a:xfrm>
            <a:off x="4022688" y="2183119"/>
            <a:ext cx="1728393" cy="40011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No match: escalate to human.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67AC30-973D-A56C-FC2C-1F0EAA98AC2E}"/>
              </a:ext>
            </a:extLst>
          </p:cNvPr>
          <p:cNvSpPr txBox="1"/>
          <p:nvPr/>
        </p:nvSpPr>
        <p:spPr>
          <a:xfrm>
            <a:off x="4022688" y="2889344"/>
            <a:ext cx="1728393" cy="40011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Match: 1. Check handwritten COY is correct.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6D0DCA-7A8E-357B-E9E6-E0AD28F85CCA}"/>
              </a:ext>
            </a:extLst>
          </p:cNvPr>
          <p:cNvSpPr txBox="1"/>
          <p:nvPr/>
        </p:nvSpPr>
        <p:spPr>
          <a:xfrm>
            <a:off x="5960386" y="2889344"/>
            <a:ext cx="2252199" cy="553998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1000">
                <a:latin typeface="Aptos" panose="020B0004020202020204" pitchFamily="34" charset="0"/>
              </a:rPr>
              <a:t>If incorrect, notify Image Centre Cash Team and take the correct COY from Cosmos</a:t>
            </a:r>
            <a:endParaRPr lang="en-GB" sz="1000"/>
          </a:p>
        </p:txBody>
      </p:sp>
      <p:pic>
        <p:nvPicPr>
          <p:cNvPr id="22" name="Graphic 21" descr="User outline">
            <a:extLst>
              <a:ext uri="{FF2B5EF4-FFF2-40B4-BE49-F238E27FC236}">
                <a16:creationId xmlns:a16="http://schemas.microsoft.com/office/drawing/2014/main" id="{40202395-E7CA-C04D-FF56-F3B4CED919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6541" y="1974700"/>
            <a:ext cx="579887" cy="57988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1532ECC-0AC9-BBA7-A3F9-3FCBF66BF80E}"/>
              </a:ext>
            </a:extLst>
          </p:cNvPr>
          <p:cNvSpPr txBox="1"/>
          <p:nvPr/>
        </p:nvSpPr>
        <p:spPr>
          <a:xfrm>
            <a:off x="8464796" y="4047488"/>
            <a:ext cx="1728393" cy="553998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Valid data, extract in the right format/schema</a:t>
            </a:r>
          </a:p>
          <a:p>
            <a:pPr algn="l"/>
            <a:endParaRPr lang="en-GB" sz="1000"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5AFAC3-99B5-8DC0-D1FB-BFC4E449C7FD}"/>
              </a:ext>
            </a:extLst>
          </p:cNvPr>
          <p:cNvSpPr txBox="1"/>
          <p:nvPr/>
        </p:nvSpPr>
        <p:spPr>
          <a:xfrm>
            <a:off x="8464796" y="3587933"/>
            <a:ext cx="1728393" cy="40011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00">
                <a:latin typeface="Aptos" panose="020B0004020202020204" pitchFamily="34" charset="0"/>
              </a:rPr>
              <a:t>invalid data; add comments and escalate to human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3A8B23-BA43-01EA-5D4E-A0418D35A0A5}"/>
              </a:ext>
            </a:extLst>
          </p:cNvPr>
          <p:cNvSpPr txBox="1"/>
          <p:nvPr/>
        </p:nvSpPr>
        <p:spPr>
          <a:xfrm>
            <a:off x="5942182" y="3582755"/>
            <a:ext cx="2252199" cy="553998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sz="1000">
                <a:latin typeface="Aptos" panose="020B0004020202020204" pitchFamily="34" charset="0"/>
              </a:rPr>
              <a:t>If correct, verify if check date is valid, the payee is CPU or client, and amount is valid</a:t>
            </a:r>
            <a:endParaRPr lang="en-GB" sz="10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DDB016-1701-94D8-64C8-C109A228DBB0}"/>
              </a:ext>
            </a:extLst>
          </p:cNvPr>
          <p:cNvSpPr/>
          <p:nvPr/>
        </p:nvSpPr>
        <p:spPr>
          <a:xfrm>
            <a:off x="1819702" y="1087695"/>
            <a:ext cx="10254517" cy="3879785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BA2455-4E41-DD3F-661D-B09F4A1AE876}"/>
              </a:ext>
            </a:extLst>
          </p:cNvPr>
          <p:cNvSpPr txBox="1"/>
          <p:nvPr/>
        </p:nvSpPr>
        <p:spPr>
          <a:xfrm>
            <a:off x="1777684" y="817301"/>
            <a:ext cx="1572127" cy="3077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1400" b="1">
                <a:solidFill>
                  <a:schemeClr val="accent1"/>
                </a:solidFill>
                <a:latin typeface="Aptos" panose="020B0004020202020204" pitchFamily="34" charset="0"/>
              </a:rPr>
              <a:t>TTA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F401AA-D64E-84ED-2C06-79062D3B5D34}"/>
              </a:ext>
            </a:extLst>
          </p:cNvPr>
          <p:cNvSpPr/>
          <p:nvPr/>
        </p:nvSpPr>
        <p:spPr>
          <a:xfrm>
            <a:off x="117781" y="1087695"/>
            <a:ext cx="1635610" cy="3879785"/>
          </a:xfrm>
          <a:prstGeom prst="rect">
            <a:avLst/>
          </a:prstGeom>
          <a:noFill/>
          <a:ln w="28575">
            <a:solidFill>
              <a:schemeClr val="accent3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20A6843-9AF3-3B4D-533F-13B974EBC4A4}"/>
              </a:ext>
            </a:extLst>
          </p:cNvPr>
          <p:cNvSpPr/>
          <p:nvPr/>
        </p:nvSpPr>
        <p:spPr>
          <a:xfrm>
            <a:off x="9867331" y="5246335"/>
            <a:ext cx="2206888" cy="1241946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924B76-84A2-A4FA-2053-033D6FBD5B2B}"/>
              </a:ext>
            </a:extLst>
          </p:cNvPr>
          <p:cNvSpPr txBox="1"/>
          <p:nvPr/>
        </p:nvSpPr>
        <p:spPr>
          <a:xfrm>
            <a:off x="51470" y="807344"/>
            <a:ext cx="1572127" cy="3077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1400" b="1">
                <a:solidFill>
                  <a:schemeClr val="accent3"/>
                </a:solidFill>
                <a:latin typeface="Aptos" panose="020B0004020202020204" pitchFamily="34" charset="0"/>
              </a:rPr>
              <a:t>SCANNER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3A72C21-27D7-F3B5-B649-943222054FCC}"/>
              </a:ext>
            </a:extLst>
          </p:cNvPr>
          <p:cNvSpPr txBox="1"/>
          <p:nvPr/>
        </p:nvSpPr>
        <p:spPr>
          <a:xfrm>
            <a:off x="9770109" y="4948594"/>
            <a:ext cx="2731240" cy="3077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1400" b="1">
                <a:solidFill>
                  <a:srgbClr val="3C17CF"/>
                </a:solidFill>
                <a:latin typeface="Aptos" panose="020B0004020202020204" pitchFamily="34" charset="0"/>
              </a:rPr>
              <a:t>WKF &gt; BLUEPRISM</a:t>
            </a: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2D7CC97D-BB90-529E-D2A2-8FAFC0114CB3}"/>
              </a:ext>
            </a:extLst>
          </p:cNvPr>
          <p:cNvCxnSpPr>
            <a:stCxn id="8" idx="3"/>
            <a:endCxn id="6" idx="1"/>
          </p:cNvCxnSpPr>
          <p:nvPr/>
        </p:nvCxnSpPr>
        <p:spPr>
          <a:xfrm flipV="1">
            <a:off x="1701317" y="2851436"/>
            <a:ext cx="442130" cy="73685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20B8E7C9-249E-ABBC-2051-EB58B5995BE5}"/>
              </a:ext>
            </a:extLst>
          </p:cNvPr>
          <p:cNvCxnSpPr>
            <a:cxnSpLocks/>
          </p:cNvCxnSpPr>
          <p:nvPr/>
        </p:nvCxnSpPr>
        <p:spPr>
          <a:xfrm>
            <a:off x="1726096" y="1677543"/>
            <a:ext cx="417351" cy="1000274"/>
          </a:xfrm>
          <a:prstGeom prst="bentConnector3">
            <a:avLst>
              <a:gd name="adj1" fmla="val 4791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65F9D857-E0EE-2CFB-8AFB-296DC40EE86B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3872469" y="2367017"/>
            <a:ext cx="150219" cy="161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C900AD79-4D03-7EB8-1CEA-28D0E4065E39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3871840" y="3089399"/>
            <a:ext cx="150848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32B6983-F228-3286-CD1C-4F41EA216EF8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751081" y="2383174"/>
            <a:ext cx="10454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B02AE3B-1A26-9B46-6677-8CA14224F0FF}"/>
              </a:ext>
            </a:extLst>
          </p:cNvPr>
          <p:cNvCxnSpPr>
            <a:cxnSpLocks/>
          </p:cNvCxnSpPr>
          <p:nvPr/>
        </p:nvCxnSpPr>
        <p:spPr>
          <a:xfrm>
            <a:off x="5751080" y="3080463"/>
            <a:ext cx="2093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BA5294A3-A0AD-ACE7-CBB6-F6A6028FE079}"/>
              </a:ext>
            </a:extLst>
          </p:cNvPr>
          <p:cNvCxnSpPr>
            <a:cxnSpLocks/>
            <a:stCxn id="18" idx="3"/>
            <a:endCxn id="25" idx="1"/>
          </p:cNvCxnSpPr>
          <p:nvPr/>
        </p:nvCxnSpPr>
        <p:spPr>
          <a:xfrm>
            <a:off x="5751081" y="3089399"/>
            <a:ext cx="191101" cy="7703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CE179AC3-665B-E9C6-3AE0-F7077B09A3A8}"/>
              </a:ext>
            </a:extLst>
          </p:cNvPr>
          <p:cNvCxnSpPr>
            <a:cxnSpLocks/>
            <a:stCxn id="20" idx="3"/>
          </p:cNvCxnSpPr>
          <p:nvPr/>
        </p:nvCxnSpPr>
        <p:spPr>
          <a:xfrm flipH="1" flipV="1">
            <a:off x="7372639" y="2365362"/>
            <a:ext cx="839946" cy="800981"/>
          </a:xfrm>
          <a:prstGeom prst="bentConnector3">
            <a:avLst>
              <a:gd name="adj1" fmla="val -2721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C988E626-BC6E-E10A-3129-2C3755623D53}"/>
              </a:ext>
            </a:extLst>
          </p:cNvPr>
          <p:cNvCxnSpPr>
            <a:cxnSpLocks/>
            <a:stCxn id="25" idx="3"/>
            <a:endCxn id="23" idx="1"/>
          </p:cNvCxnSpPr>
          <p:nvPr/>
        </p:nvCxnSpPr>
        <p:spPr>
          <a:xfrm>
            <a:off x="8194381" y="3859754"/>
            <a:ext cx="270415" cy="4647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A7D9A2B-97D2-0221-A72D-F299AEBB6E6B}"/>
              </a:ext>
            </a:extLst>
          </p:cNvPr>
          <p:cNvCxnSpPr>
            <a:cxnSpLocks/>
          </p:cNvCxnSpPr>
          <p:nvPr/>
        </p:nvCxnSpPr>
        <p:spPr>
          <a:xfrm>
            <a:off x="8194380" y="3692194"/>
            <a:ext cx="2704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DAE0DE3D-62D6-3BD6-5A91-48AD5CF201F0}"/>
              </a:ext>
            </a:extLst>
          </p:cNvPr>
          <p:cNvCxnSpPr>
            <a:cxnSpLocks/>
            <a:stCxn id="24" idx="3"/>
          </p:cNvCxnSpPr>
          <p:nvPr/>
        </p:nvCxnSpPr>
        <p:spPr>
          <a:xfrm flipH="1" flipV="1">
            <a:off x="7383732" y="2264643"/>
            <a:ext cx="2809457" cy="1523345"/>
          </a:xfrm>
          <a:prstGeom prst="bentConnector3">
            <a:avLst>
              <a:gd name="adj1" fmla="val -813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80CC36D-4638-4B73-8DB0-F789350496FF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0193189" y="4244865"/>
            <a:ext cx="2254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DDDA612-1DCE-6E8F-91DF-8913718EC91A}"/>
              </a:ext>
            </a:extLst>
          </p:cNvPr>
          <p:cNvCxnSpPr>
            <a:cxnSpLocks/>
          </p:cNvCxnSpPr>
          <p:nvPr/>
        </p:nvCxnSpPr>
        <p:spPr>
          <a:xfrm>
            <a:off x="11509463" y="4444920"/>
            <a:ext cx="0" cy="811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74CF656-11B2-4B5A-9AA3-628C8B4D107D}"/>
              </a:ext>
            </a:extLst>
          </p:cNvPr>
          <p:cNvCxnSpPr>
            <a:cxnSpLocks/>
          </p:cNvCxnSpPr>
          <p:nvPr/>
        </p:nvCxnSpPr>
        <p:spPr>
          <a:xfrm>
            <a:off x="11509463" y="5767700"/>
            <a:ext cx="0" cy="2224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eft Brace 8">
            <a:extLst>
              <a:ext uri="{FF2B5EF4-FFF2-40B4-BE49-F238E27FC236}">
                <a16:creationId xmlns:a16="http://schemas.microsoft.com/office/drawing/2014/main" id="{4283DC2D-F432-ABC2-7DFE-CFB257DAF377}"/>
              </a:ext>
            </a:extLst>
          </p:cNvPr>
          <p:cNvSpPr/>
          <p:nvPr/>
        </p:nvSpPr>
        <p:spPr>
          <a:xfrm rot="16200000">
            <a:off x="2806150" y="4301900"/>
            <a:ext cx="265108" cy="1866272"/>
          </a:xfrm>
          <a:prstGeom prst="leftBrace">
            <a:avLst>
              <a:gd name="adj1" fmla="val 0"/>
              <a:gd name="adj2" fmla="val 48211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F29FD15A-19E4-46EE-3AAE-35BBBEC37D90}"/>
              </a:ext>
            </a:extLst>
          </p:cNvPr>
          <p:cNvSpPr/>
          <p:nvPr/>
        </p:nvSpPr>
        <p:spPr>
          <a:xfrm rot="16200000">
            <a:off x="6797033" y="2375625"/>
            <a:ext cx="246220" cy="5699931"/>
          </a:xfrm>
          <a:prstGeom prst="leftBrace">
            <a:avLst>
              <a:gd name="adj1" fmla="val 0"/>
              <a:gd name="adj2" fmla="val 48211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30F324-EE81-FFF0-25D6-5C0ED49BC295}"/>
              </a:ext>
            </a:extLst>
          </p:cNvPr>
          <p:cNvSpPr txBox="1"/>
          <p:nvPr/>
        </p:nvSpPr>
        <p:spPr>
          <a:xfrm>
            <a:off x="2152640" y="5379481"/>
            <a:ext cx="1572127" cy="246221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solidFill>
                  <a:schemeClr val="accent5"/>
                </a:solidFill>
                <a:latin typeface="Aptos" panose="020B0004020202020204" pitchFamily="34" charset="0"/>
              </a:rPr>
              <a:t>LLM API call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74CB69-D1FD-C969-70D3-6B8868190701}"/>
              </a:ext>
            </a:extLst>
          </p:cNvPr>
          <p:cNvSpPr txBox="1"/>
          <p:nvPr/>
        </p:nvSpPr>
        <p:spPr>
          <a:xfrm>
            <a:off x="6083522" y="5375954"/>
            <a:ext cx="1572127" cy="246221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solidFill>
                  <a:schemeClr val="accent5"/>
                </a:solidFill>
                <a:latin typeface="Aptos" panose="020B0004020202020204" pitchFamily="34" charset="0"/>
              </a:rPr>
              <a:t>If-statements</a:t>
            </a:r>
          </a:p>
        </p:txBody>
      </p:sp>
    </p:spTree>
    <p:extLst>
      <p:ext uri="{BB962C8B-B14F-4D97-AF65-F5344CB8AC3E}">
        <p14:creationId xmlns:p14="http://schemas.microsoft.com/office/powerpoint/2010/main" val="16208758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43030-E3D3-C61E-B5A3-A674BE6C4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45D674-4325-4D3E-5A55-D6AF7CB5F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Address update – DOP vs call </a:t>
            </a:r>
            <a:r>
              <a:rPr lang="en-GB" err="1"/>
              <a:t>center</a:t>
            </a:r>
            <a:r>
              <a:rPr lang="en-GB"/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6F163E-6671-EB32-B8A7-2E131163A228}"/>
              </a:ext>
            </a:extLst>
          </p:cNvPr>
          <p:cNvSpPr txBox="1"/>
          <p:nvPr/>
        </p:nvSpPr>
        <p:spPr>
          <a:xfrm>
            <a:off x="343865" y="802028"/>
            <a:ext cx="1572127" cy="1384995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1400" b="1">
                <a:solidFill>
                  <a:schemeClr val="accent3"/>
                </a:solidFill>
                <a:latin typeface="Aptos" panose="020B0004020202020204" pitchFamily="34" charset="0"/>
              </a:rPr>
              <a:t>Extract separately</a:t>
            </a:r>
          </a:p>
          <a:p>
            <a:pPr algn="l"/>
            <a:endParaRPr lang="en-GB" sz="1400" b="1">
              <a:solidFill>
                <a:schemeClr val="accent3"/>
              </a:solidFill>
              <a:latin typeface="Aptos" panose="020B0004020202020204" pitchFamily="34" charset="0"/>
            </a:endParaRPr>
          </a:p>
          <a:p>
            <a:pPr algn="l"/>
            <a:r>
              <a:rPr lang="en-GB" sz="1400" b="1">
                <a:solidFill>
                  <a:schemeClr val="accent3"/>
                </a:solidFill>
                <a:latin typeface="Aptos" panose="020B0004020202020204" pitchFamily="34" charset="0"/>
              </a:rPr>
              <a:t>Then run a test where it should find the overlap</a:t>
            </a:r>
          </a:p>
        </p:txBody>
      </p:sp>
    </p:spTree>
    <p:extLst>
      <p:ext uri="{BB962C8B-B14F-4D97-AF65-F5344CB8AC3E}">
        <p14:creationId xmlns:p14="http://schemas.microsoft.com/office/powerpoint/2010/main" val="19204586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BAD0B-49CA-56A9-6138-F76568542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9CEEB5F-DCF4-CE6B-1B89-34DB08792CD2}"/>
              </a:ext>
            </a:extLst>
          </p:cNvPr>
          <p:cNvSpPr txBox="1">
            <a:spLocks/>
          </p:cNvSpPr>
          <p:nvPr/>
        </p:nvSpPr>
        <p:spPr>
          <a:xfrm>
            <a:off x="192067" y="239394"/>
            <a:ext cx="12922354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ts val="3240"/>
              </a:lnSpc>
              <a:spcBef>
                <a:spcPct val="0"/>
              </a:spcBef>
              <a:buNone/>
              <a:defRPr lang="en-US" sz="3200" b="0" i="0" kern="1200" spc="-80" baseline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/>
              <a:t>AI tool strategy and approach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B2AAC09-10C7-05E8-2FFF-E02BDEC4A606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81194" y="1483097"/>
          <a:ext cx="11915555" cy="4579874"/>
        </p:xfrm>
        <a:graphic>
          <a:graphicData uri="http://schemas.openxmlformats.org/drawingml/2006/table">
            <a:tbl>
              <a:tblPr firstRow="1" firstCol="1">
                <a:tableStyleId>{3B4B98B0-60AC-42C2-AFA5-B58CD77FA1E5}</a:tableStyleId>
              </a:tblPr>
              <a:tblGrid>
                <a:gridCol w="1094153">
                  <a:extLst>
                    <a:ext uri="{9D8B030D-6E8A-4147-A177-3AD203B41FA5}">
                      <a16:colId xmlns:a16="http://schemas.microsoft.com/office/drawing/2014/main" val="374322866"/>
                    </a:ext>
                  </a:extLst>
                </a:gridCol>
                <a:gridCol w="3711766">
                  <a:extLst>
                    <a:ext uri="{9D8B030D-6E8A-4147-A177-3AD203B41FA5}">
                      <a16:colId xmlns:a16="http://schemas.microsoft.com/office/drawing/2014/main" val="2261069113"/>
                    </a:ext>
                  </a:extLst>
                </a:gridCol>
                <a:gridCol w="3593804">
                  <a:extLst>
                    <a:ext uri="{9D8B030D-6E8A-4147-A177-3AD203B41FA5}">
                      <a16:colId xmlns:a16="http://schemas.microsoft.com/office/drawing/2014/main" val="2150783287"/>
                    </a:ext>
                  </a:extLst>
                </a:gridCol>
                <a:gridCol w="3515832">
                  <a:extLst>
                    <a:ext uri="{9D8B030D-6E8A-4147-A177-3AD203B41FA5}">
                      <a16:colId xmlns:a16="http://schemas.microsoft.com/office/drawing/2014/main" val="1692035901"/>
                    </a:ext>
                  </a:extLst>
                </a:gridCol>
              </a:tblGrid>
              <a:tr h="161027">
                <a:tc>
                  <a:txBody>
                    <a:bodyPr/>
                    <a:lstStyle/>
                    <a:p>
                      <a:pPr algn="ctr"/>
                      <a:endParaRPr lang="en-GB" sz="120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Option 1- multiple specialised agents</a:t>
                      </a: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Option 2- One agent + RAG</a:t>
                      </a: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Option 3- Orchestrator agent + specialised agent</a:t>
                      </a: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0049950"/>
                  </a:ext>
                </a:extLst>
              </a:tr>
              <a:tr h="766317">
                <a:tc>
                  <a:txBody>
                    <a:bodyPr/>
                    <a:lstStyle/>
                    <a:p>
                      <a:r>
                        <a:rPr lang="en-GB" sz="12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Documents classified by human operators, then routed to the specialised AI agent to extract data and sent to workflow for the RPA bot to complete the transaction. 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One agent that identifies document intent, and refers to a knowledge base of DOPs to classify and extract data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Intent and categorization handled by the first agent, and then classification and data extraction handled by a second agent (possibly using RAG).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530280"/>
                  </a:ext>
                </a:extLst>
              </a:tr>
              <a:tr h="1399669">
                <a:tc>
                  <a:txBody>
                    <a:bodyPr/>
                    <a:lstStyle/>
                    <a:p>
                      <a:r>
                        <a:rPr lang="en-GB" sz="1200"/>
                        <a:t>Schematic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GB" sz="1200"/>
                    </a:p>
                  </a:txBody>
                  <a:tcPr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GB" sz="1200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GB" sz="1200" b="1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548320"/>
                  </a:ext>
                </a:extLst>
              </a:tr>
              <a:tr h="766317">
                <a:tc>
                  <a:txBody>
                    <a:bodyPr/>
                    <a:lstStyle/>
                    <a:p>
                      <a:r>
                        <a:rPr lang="en-GB" sz="1200"/>
                        <a:t>Automation efficiency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High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Medium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029544"/>
                  </a:ext>
                </a:extLst>
              </a:tr>
              <a:tr h="566864">
                <a:tc>
                  <a:txBody>
                    <a:bodyPr/>
                    <a:lstStyle/>
                    <a:p>
                      <a:r>
                        <a:rPr lang="en-GB" sz="1200"/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Simple (prompt only)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Medium (one or more RAG agents needed)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Medium (one or more RAG agents needed)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162420"/>
                  </a:ext>
                </a:extLst>
              </a:tr>
              <a:tr h="566864">
                <a:tc>
                  <a:txBody>
                    <a:bodyPr/>
                    <a:lstStyle/>
                    <a:p>
                      <a:r>
                        <a:rPr lang="en-GB" sz="1200"/>
                        <a:t>OKRs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Accuracy, speed, cost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Accuracy, speed, cost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Accuracy, speed, cost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89507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FD9237C-4465-C053-38A1-BE4BEE690679}"/>
              </a:ext>
            </a:extLst>
          </p:cNvPr>
          <p:cNvSpPr txBox="1"/>
          <p:nvPr/>
        </p:nvSpPr>
        <p:spPr>
          <a:xfrm>
            <a:off x="276445" y="907769"/>
            <a:ext cx="11820303" cy="307777"/>
          </a:xfrm>
          <a:prstGeom prst="rect">
            <a:avLst/>
          </a:prstGeom>
          <a:solidFill>
            <a:srgbClr val="F2EAF0"/>
          </a:solidFill>
          <a:ln w="2540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l"/>
            <a:r>
              <a:rPr lang="en-GB" sz="1400">
                <a:solidFill>
                  <a:schemeClr val="accent1"/>
                </a:solidFill>
                <a:latin typeface="Aptos" panose="020B0004020202020204" pitchFamily="34" charset="0"/>
              </a:rPr>
              <a:t>Depending on initial test results, the preferred option will be based on a trade-off between LLM accuracy, speed and cost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10E6EE2-9F91-E8D4-53BD-9BB8FB3761C2}"/>
              </a:ext>
            </a:extLst>
          </p:cNvPr>
          <p:cNvGrpSpPr/>
          <p:nvPr/>
        </p:nvGrpSpPr>
        <p:grpSpPr>
          <a:xfrm>
            <a:off x="9504834" y="2800415"/>
            <a:ext cx="715917" cy="715917"/>
            <a:chOff x="2933661" y="5478818"/>
            <a:chExt cx="715917" cy="715917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90DD2CB-B7E4-46B5-B9A4-03AAE9D8FF78}"/>
                </a:ext>
              </a:extLst>
            </p:cNvPr>
            <p:cNvGrpSpPr/>
            <p:nvPr/>
          </p:nvGrpSpPr>
          <p:grpSpPr>
            <a:xfrm>
              <a:off x="2933661" y="5478818"/>
              <a:ext cx="715917" cy="715917"/>
              <a:chOff x="2823128" y="5562141"/>
              <a:chExt cx="915711" cy="915711"/>
            </a:xfrm>
          </p:grpSpPr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EF97FD9E-6E7E-737F-3F6E-2A35E2FD89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grayscl/>
                <a:alphaModFix amt="35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45215" y1="27637" x2="45215" y2="27637"/>
                            <a14:foregroundMark x1="57910" y1="26758" x2="57910" y2="26758"/>
                            <a14:foregroundMark x1="62305" y1="28613" x2="62305" y2="28613"/>
                            <a14:foregroundMark x1="45117" y1="27539" x2="45117" y2="27539"/>
                            <a14:foregroundMark x1="44141" y1="72266" x2="37500" y2="70215"/>
                            <a14:foregroundMark x1="37500" y1="70215" x2="30469" y2="64063"/>
                            <a14:foregroundMark x1="30469" y1="64063" x2="26465" y2="47852"/>
                            <a14:foregroundMark x1="26465" y1="47852" x2="31641" y2="34766"/>
                            <a14:foregroundMark x1="31641" y1="34766" x2="37988" y2="29980"/>
                            <a14:foregroundMark x1="37988" y1="29980" x2="46777" y2="27051"/>
                            <a14:foregroundMark x1="46777" y1="27051" x2="54199" y2="26855"/>
                            <a14:foregroundMark x1="54199" y1="26855" x2="62402" y2="29688"/>
                            <a14:foregroundMark x1="62402" y1="29688" x2="68750" y2="35059"/>
                            <a14:foregroundMark x1="68750" y1="35059" x2="72070" y2="42188"/>
                            <a14:foregroundMark x1="72070" y1="42188" x2="71387" y2="62109"/>
                            <a14:foregroundMark x1="71387" y1="62109" x2="64551" y2="68457"/>
                            <a14:foregroundMark x1="64551" y1="68457" x2="41895" y2="73633"/>
                            <a14:foregroundMark x1="41504" y1="33496" x2="51563" y2="32031"/>
                            <a14:foregroundMark x1="51563" y1="32031" x2="59570" y2="34668"/>
                            <a14:foregroundMark x1="59570" y1="34668" x2="66211" y2="40430"/>
                            <a14:foregroundMark x1="66211" y1="40430" x2="67773" y2="49121"/>
                            <a14:foregroundMark x1="67773" y1="49121" x2="66406" y2="56934"/>
                            <a14:foregroundMark x1="66406" y1="56934" x2="61621" y2="62793"/>
                            <a14:foregroundMark x1="61621" y1="62793" x2="54883" y2="67285"/>
                            <a14:foregroundMark x1="54883" y1="67285" x2="45996" y2="66797"/>
                            <a14:foregroundMark x1="45996" y1="66797" x2="37598" y2="63086"/>
                            <a14:foregroundMark x1="37598" y1="63086" x2="33105" y2="55664"/>
                            <a14:foregroundMark x1="33105" y1="55664" x2="31836" y2="45703"/>
                            <a14:foregroundMark x1="31836" y1="45703" x2="35449" y2="39063"/>
                            <a14:foregroundMark x1="35449" y1="39063" x2="42188" y2="332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23128" y="5562141"/>
                <a:ext cx="915711" cy="915711"/>
              </a:xfrm>
              <a:prstGeom prst="rect">
                <a:avLst/>
              </a:prstGeom>
            </p:spPr>
          </p:pic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ADD386A-990C-4B1B-BB93-1BB8B984646C}"/>
                  </a:ext>
                </a:extLst>
              </p:cNvPr>
              <p:cNvSpPr/>
              <p:nvPr/>
            </p:nvSpPr>
            <p:spPr>
              <a:xfrm>
                <a:off x="2966077" y="5698062"/>
                <a:ext cx="629815" cy="629815"/>
              </a:xfrm>
              <a:prstGeom prst="ellipse">
                <a:avLst/>
              </a:prstGeom>
              <a:noFill/>
              <a:ln w="9525">
                <a:solidFill>
                  <a:srgbClr val="3C17CF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39" name="Graphic 38" descr="Artificial Intelligence outline">
              <a:extLst>
                <a:ext uri="{FF2B5EF4-FFF2-40B4-BE49-F238E27FC236}">
                  <a16:creationId xmlns:a16="http://schemas.microsoft.com/office/drawing/2014/main" id="{894FEA45-6B50-09ED-3A4B-BB951111FE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99794" y="5735110"/>
              <a:ext cx="203331" cy="203331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01F6C5F-41AF-95A2-DDBB-6530C3CA09B6}"/>
                </a:ext>
              </a:extLst>
            </p:cNvPr>
            <p:cNvSpPr txBox="1"/>
            <p:nvPr/>
          </p:nvSpPr>
          <p:spPr>
            <a:xfrm>
              <a:off x="2999994" y="5961818"/>
              <a:ext cx="602932" cy="7049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400" b="1">
                  <a:solidFill>
                    <a:srgbClr val="3C17CF"/>
                  </a:solidFill>
                  <a:latin typeface="Aptos" panose="020B0004020202020204" pitchFamily="34" charset="0"/>
                </a:rPr>
                <a:t>Orchestrator </a:t>
              </a:r>
            </a:p>
            <a:p>
              <a:pPr algn="ctr"/>
              <a:r>
                <a:rPr lang="en-GB" sz="400" b="1">
                  <a:solidFill>
                    <a:srgbClr val="3C17CF"/>
                  </a:solidFill>
                  <a:latin typeface="Aptos" panose="020B0004020202020204" pitchFamily="34" charset="0"/>
                </a:rPr>
                <a:t>agent</a:t>
              </a:r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56BBF784-A52B-C8F5-D383-C797B790DD5D}"/>
              </a:ext>
            </a:extLst>
          </p:cNvPr>
          <p:cNvGrpSpPr/>
          <p:nvPr/>
        </p:nvGrpSpPr>
        <p:grpSpPr>
          <a:xfrm>
            <a:off x="6277876" y="3661023"/>
            <a:ext cx="390032" cy="375530"/>
            <a:chOff x="6277876" y="3661023"/>
            <a:chExt cx="390032" cy="375530"/>
          </a:xfrm>
        </p:grpSpPr>
        <p:pic>
          <p:nvPicPr>
            <p:cNvPr id="46" name="Graphic 45" descr="Database outline">
              <a:extLst>
                <a:ext uri="{FF2B5EF4-FFF2-40B4-BE49-F238E27FC236}">
                  <a16:creationId xmlns:a16="http://schemas.microsoft.com/office/drawing/2014/main" id="{D61B41EE-7928-DFCD-50B2-8BE26B95E7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77876" y="3661023"/>
              <a:ext cx="375529" cy="37553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8A301A4-882D-169B-54C3-D637D7BBE9A9}"/>
                </a:ext>
              </a:extLst>
            </p:cNvPr>
            <p:cNvSpPr txBox="1"/>
            <p:nvPr/>
          </p:nvSpPr>
          <p:spPr>
            <a:xfrm>
              <a:off x="6479919" y="3832504"/>
              <a:ext cx="187989" cy="92333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srgbClr val="444444">
                      <a:lumMod val="50000"/>
                    </a:srgb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Data</a:t>
              </a:r>
              <a:endParaRPr kumimoji="0" lang="en-GB" sz="600" b="1" i="0" u="none" strike="noStrike" kern="1200" cap="none" spc="0" normalizeH="0" baseline="0" noProof="0">
                <a:ln>
                  <a:noFill/>
                </a:ln>
                <a:solidFill>
                  <a:srgbClr val="444444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60" name="Oval 59">
            <a:extLst>
              <a:ext uri="{FF2B5EF4-FFF2-40B4-BE49-F238E27FC236}">
                <a16:creationId xmlns:a16="http://schemas.microsoft.com/office/drawing/2014/main" id="{6F20A344-4713-8C78-9E0E-040AD2AAA21B}"/>
              </a:ext>
            </a:extLst>
          </p:cNvPr>
          <p:cNvSpPr/>
          <p:nvPr/>
        </p:nvSpPr>
        <p:spPr>
          <a:xfrm>
            <a:off x="6226057" y="3607904"/>
            <a:ext cx="492399" cy="492399"/>
          </a:xfrm>
          <a:prstGeom prst="ellipse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95F645C-0907-9311-0E29-2823DF53E0F1}"/>
              </a:ext>
            </a:extLst>
          </p:cNvPr>
          <p:cNvSpPr txBox="1"/>
          <p:nvPr/>
        </p:nvSpPr>
        <p:spPr>
          <a:xfrm>
            <a:off x="1851629" y="3299808"/>
            <a:ext cx="628888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500" i="1">
                <a:latin typeface="Aptos" panose="020B0004020202020204" pitchFamily="34" charset="0"/>
              </a:rPr>
              <a:t>Doc</a:t>
            </a:r>
            <a:r>
              <a:rPr lang="en-GB" sz="500">
                <a:latin typeface="Aptos" panose="020B0004020202020204" pitchFamily="34" charset="0"/>
              </a:rPr>
              <a:t> </a:t>
            </a:r>
            <a:r>
              <a:rPr lang="en-GB" sz="500" i="1">
                <a:latin typeface="Aptos" panose="020B0004020202020204" pitchFamily="34" charset="0"/>
              </a:rPr>
              <a:t>scanned</a:t>
            </a: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96EF675-DF66-67EA-F722-B894FCB0263E}"/>
              </a:ext>
            </a:extLst>
          </p:cNvPr>
          <p:cNvGrpSpPr/>
          <p:nvPr/>
        </p:nvGrpSpPr>
        <p:grpSpPr>
          <a:xfrm>
            <a:off x="1423985" y="3067900"/>
            <a:ext cx="492399" cy="492399"/>
            <a:chOff x="1455349" y="5520880"/>
            <a:chExt cx="492399" cy="492399"/>
          </a:xfrm>
        </p:grpSpPr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B62065EC-D494-3EEC-7D78-B946D609E4EF}"/>
                </a:ext>
              </a:extLst>
            </p:cNvPr>
            <p:cNvSpPr/>
            <p:nvPr/>
          </p:nvSpPr>
          <p:spPr>
            <a:xfrm>
              <a:off x="1455349" y="5520880"/>
              <a:ext cx="492399" cy="492399"/>
            </a:xfrm>
            <a:prstGeom prst="ellipse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57" name="Graphic 156" descr="Contract outline">
              <a:extLst>
                <a:ext uri="{FF2B5EF4-FFF2-40B4-BE49-F238E27FC236}">
                  <a16:creationId xmlns:a16="http://schemas.microsoft.com/office/drawing/2014/main" id="{CF5968D8-522E-BA09-259D-208C8AFD31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521098" y="5589329"/>
              <a:ext cx="360902" cy="360902"/>
            </a:xfrm>
            <a:prstGeom prst="rect">
              <a:avLst/>
            </a:prstGeom>
          </p:spPr>
        </p:pic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4DA64B02-F7F8-0875-A1B4-E5E84BD43C0E}"/>
              </a:ext>
            </a:extLst>
          </p:cNvPr>
          <p:cNvGrpSpPr/>
          <p:nvPr/>
        </p:nvGrpSpPr>
        <p:grpSpPr>
          <a:xfrm>
            <a:off x="4382787" y="3208878"/>
            <a:ext cx="602932" cy="492399"/>
            <a:chOff x="5483556" y="5921181"/>
            <a:chExt cx="602932" cy="492399"/>
          </a:xfrm>
        </p:grpSpPr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AA968D77-21C4-D634-9F87-BA82D9C963DB}"/>
                </a:ext>
              </a:extLst>
            </p:cNvPr>
            <p:cNvGrpSpPr/>
            <p:nvPr/>
          </p:nvGrpSpPr>
          <p:grpSpPr>
            <a:xfrm>
              <a:off x="5568478" y="5965700"/>
              <a:ext cx="401492" cy="305509"/>
              <a:chOff x="4716950" y="5685930"/>
              <a:chExt cx="507671" cy="386304"/>
            </a:xfrm>
          </p:grpSpPr>
          <p:pic>
            <p:nvPicPr>
              <p:cNvPr id="154" name="Picture 153">
                <a:extLst>
                  <a:ext uri="{FF2B5EF4-FFF2-40B4-BE49-F238E27FC236}">
                    <a16:creationId xmlns:a16="http://schemas.microsoft.com/office/drawing/2014/main" id="{1FE2345D-BE46-AD9E-565B-89261B0E61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10000" b="90000" l="10000" r="90000">
                            <a14:foregroundMark x1="28758" y1="42857" x2="28758" y2="42857"/>
                            <a14:foregroundMark x1="76797" y1="42143" x2="76797" y2="42143"/>
                            <a14:backgroundMark x1="44444" y1="42500" x2="44444" y2="42500"/>
                            <a14:backgroundMark x1="44444" y1="42857" x2="44118" y2="40357"/>
                            <a14:backgroundMark x1="62418" y1="40357" x2="57843" y2="38929"/>
                            <a14:backgroundMark x1="45425" y1="39643" x2="47059" y2="42857"/>
                          </a14:backgroundRemoval>
                        </a14:imgEffect>
                      </a14:imgLayer>
                    </a14:imgProps>
                  </a:ext>
                </a:extLst>
              </a:blip>
              <a:srcRect l="18577" t="9862" r="16309" b="35991"/>
              <a:stretch>
                <a:fillRect/>
              </a:stretch>
            </p:blipFill>
            <p:spPr>
              <a:xfrm>
                <a:off x="4716950" y="5685930"/>
                <a:ext cx="507671" cy="386304"/>
              </a:xfrm>
              <a:prstGeom prst="rect">
                <a:avLst/>
              </a:prstGeom>
            </p:spPr>
          </p:pic>
          <p:sp>
            <p:nvSpPr>
              <p:cNvPr id="155" name="Rectangle: Rounded Corners 154">
                <a:extLst>
                  <a:ext uri="{FF2B5EF4-FFF2-40B4-BE49-F238E27FC236}">
                    <a16:creationId xmlns:a16="http://schemas.microsoft.com/office/drawing/2014/main" id="{431C5B62-8742-8A8B-42A5-0ADD19EC2C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40588" y="5857929"/>
                <a:ext cx="294349" cy="144020"/>
              </a:xfrm>
              <a:prstGeom prst="roundRect">
                <a:avLst/>
              </a:prstGeom>
              <a:solidFill>
                <a:srgbClr val="CDCDCD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r>
                  <a:rPr lang="en-GB" sz="200" b="1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&lt;/&gt;</a:t>
                </a:r>
              </a:p>
            </p:txBody>
          </p:sp>
        </p:grp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C5917AE6-96B8-4C2E-6D4E-526E981AE4A4}"/>
                </a:ext>
              </a:extLst>
            </p:cNvPr>
            <p:cNvSpPr/>
            <p:nvPr/>
          </p:nvSpPr>
          <p:spPr>
            <a:xfrm>
              <a:off x="5528983" y="5921181"/>
              <a:ext cx="492399" cy="49239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D5BE123-2483-5536-4C86-7D05B0B8203E}"/>
                </a:ext>
              </a:extLst>
            </p:cNvPr>
            <p:cNvSpPr txBox="1"/>
            <p:nvPr/>
          </p:nvSpPr>
          <p:spPr>
            <a:xfrm>
              <a:off x="5483556" y="6297916"/>
              <a:ext cx="602932" cy="7049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400" b="1">
                  <a:latin typeface="Aptos" panose="020B0004020202020204" pitchFamily="34" charset="0"/>
                </a:rPr>
                <a:t>RPA</a:t>
              </a:r>
            </a:p>
            <a:p>
              <a:pPr algn="ctr"/>
              <a:r>
                <a:rPr lang="en-GB" sz="400" b="1">
                  <a:latin typeface="Aptos" panose="020B0004020202020204" pitchFamily="34" charset="0"/>
                </a:rPr>
                <a:t>bot</a:t>
              </a:r>
            </a:p>
          </p:txBody>
        </p:sp>
      </p:grp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C58E687B-9785-12A2-DE33-77259929B8CA}"/>
              </a:ext>
            </a:extLst>
          </p:cNvPr>
          <p:cNvCxnSpPr>
            <a:cxnSpLocks/>
            <a:stCxn id="156" idx="6"/>
            <a:endCxn id="149" idx="2"/>
          </p:cNvCxnSpPr>
          <p:nvPr/>
        </p:nvCxnSpPr>
        <p:spPr>
          <a:xfrm flipV="1">
            <a:off x="1916384" y="3309858"/>
            <a:ext cx="427990" cy="4242"/>
          </a:xfrm>
          <a:prstGeom prst="straightConnector1">
            <a:avLst/>
          </a:prstGeom>
          <a:ln w="12700">
            <a:solidFill>
              <a:schemeClr val="tx1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E56C0922-0355-84F0-D900-2BFFFFD8FE04}"/>
              </a:ext>
            </a:extLst>
          </p:cNvPr>
          <p:cNvCxnSpPr>
            <a:cxnSpLocks/>
            <a:stCxn id="213" idx="6"/>
            <a:endCxn id="152" idx="2"/>
          </p:cNvCxnSpPr>
          <p:nvPr/>
        </p:nvCxnSpPr>
        <p:spPr>
          <a:xfrm flipV="1">
            <a:off x="3663115" y="3455078"/>
            <a:ext cx="765099" cy="1727"/>
          </a:xfrm>
          <a:prstGeom prst="straightConnector1">
            <a:avLst/>
          </a:prstGeom>
          <a:ln w="12700">
            <a:solidFill>
              <a:schemeClr val="tx1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BC09643-CA2F-07E6-DD42-74DB99204CDF}"/>
              </a:ext>
            </a:extLst>
          </p:cNvPr>
          <p:cNvGrpSpPr/>
          <p:nvPr/>
        </p:nvGrpSpPr>
        <p:grpSpPr>
          <a:xfrm>
            <a:off x="2294158" y="3059399"/>
            <a:ext cx="602932" cy="496658"/>
            <a:chOff x="3685388" y="5505605"/>
            <a:chExt cx="602932" cy="496658"/>
          </a:xfrm>
        </p:grpSpPr>
        <p:pic>
          <p:nvPicPr>
            <p:cNvPr id="148" name="Graphic 147" descr="User with solid fill">
              <a:extLst>
                <a:ext uri="{FF2B5EF4-FFF2-40B4-BE49-F238E27FC236}">
                  <a16:creationId xmlns:a16="http://schemas.microsoft.com/office/drawing/2014/main" id="{4B0EA1E2-A229-EC79-5C9C-69D0907C2B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96545" y="5505605"/>
              <a:ext cx="382612" cy="382612"/>
            </a:xfrm>
            <a:prstGeom prst="rect">
              <a:avLst/>
            </a:prstGeom>
          </p:spPr>
        </p:pic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04EF09DA-19F3-4F71-53DA-CF3BA910ACF6}"/>
                </a:ext>
              </a:extLst>
            </p:cNvPr>
            <p:cNvSpPr/>
            <p:nvPr/>
          </p:nvSpPr>
          <p:spPr>
            <a:xfrm>
              <a:off x="3735604" y="5509864"/>
              <a:ext cx="492399" cy="492399"/>
            </a:xfrm>
            <a:prstGeom prst="ellipse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E3FAEAC0-22DF-25B6-9DDC-0F73341EBC8F}"/>
                </a:ext>
              </a:extLst>
            </p:cNvPr>
            <p:cNvSpPr txBox="1"/>
            <p:nvPr/>
          </p:nvSpPr>
          <p:spPr>
            <a:xfrm>
              <a:off x="3685388" y="5872062"/>
              <a:ext cx="602932" cy="7049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400" b="1">
                  <a:latin typeface="Aptos" panose="020B0004020202020204" pitchFamily="34" charset="0"/>
                </a:rPr>
                <a:t>Human </a:t>
              </a:r>
            </a:p>
            <a:p>
              <a:pPr algn="ctr"/>
              <a:r>
                <a:rPr lang="en-GB" sz="400" b="1">
                  <a:latin typeface="Aptos" panose="020B0004020202020204" pitchFamily="34" charset="0"/>
                </a:rPr>
                <a:t>operator</a:t>
              </a:r>
            </a:p>
          </p:txBody>
        </p:sp>
      </p:grp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515D31A-48C7-D527-377B-B42773948ADF}"/>
              </a:ext>
            </a:extLst>
          </p:cNvPr>
          <p:cNvCxnSpPr>
            <a:cxnSpLocks/>
            <a:stCxn id="149" idx="6"/>
            <a:endCxn id="207" idx="2"/>
          </p:cNvCxnSpPr>
          <p:nvPr/>
        </p:nvCxnSpPr>
        <p:spPr>
          <a:xfrm flipV="1">
            <a:off x="2836773" y="3011904"/>
            <a:ext cx="420261" cy="297954"/>
          </a:xfrm>
          <a:prstGeom prst="straightConnector1">
            <a:avLst/>
          </a:prstGeom>
          <a:ln w="12700">
            <a:solidFill>
              <a:schemeClr val="bg2">
                <a:lumMod val="85000"/>
              </a:schemeClr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0DD370EA-8F02-3B7F-6F40-4AF867CC47E5}"/>
              </a:ext>
            </a:extLst>
          </p:cNvPr>
          <p:cNvSpPr txBox="1"/>
          <p:nvPr/>
        </p:nvSpPr>
        <p:spPr>
          <a:xfrm>
            <a:off x="2312170" y="3543912"/>
            <a:ext cx="669814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500" i="1">
                <a:latin typeface="Aptos" panose="020B0004020202020204" pitchFamily="34" charset="0"/>
              </a:rPr>
              <a:t>Doc</a:t>
            </a:r>
            <a:r>
              <a:rPr lang="en-GB" sz="500">
                <a:latin typeface="Aptos" panose="020B0004020202020204" pitchFamily="34" charset="0"/>
              </a:rPr>
              <a:t> </a:t>
            </a:r>
            <a:r>
              <a:rPr lang="en-GB" sz="500" i="1">
                <a:latin typeface="Aptos" panose="020B0004020202020204" pitchFamily="34" charset="0"/>
              </a:rPr>
              <a:t>classified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3FBC921-CD93-C0A1-E9A6-B011D696FAC1}"/>
              </a:ext>
            </a:extLst>
          </p:cNvPr>
          <p:cNvSpPr txBox="1"/>
          <p:nvPr/>
        </p:nvSpPr>
        <p:spPr>
          <a:xfrm>
            <a:off x="3740787" y="3434323"/>
            <a:ext cx="669814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500" i="1">
                <a:latin typeface="Aptos" panose="020B0004020202020204" pitchFamily="34" charset="0"/>
              </a:rPr>
              <a:t>data</a:t>
            </a:r>
            <a:r>
              <a:rPr lang="en-GB" sz="500">
                <a:latin typeface="Aptos" panose="020B0004020202020204" pitchFamily="34" charset="0"/>
              </a:rPr>
              <a:t> </a:t>
            </a:r>
            <a:r>
              <a:rPr lang="en-GB" sz="500" i="1">
                <a:latin typeface="Aptos" panose="020B0004020202020204" pitchFamily="34" charset="0"/>
              </a:rPr>
              <a:t>extracted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804E7D0A-499E-11A4-94B0-AC23FCF9F350}"/>
              </a:ext>
            </a:extLst>
          </p:cNvPr>
          <p:cNvSpPr txBox="1"/>
          <p:nvPr/>
        </p:nvSpPr>
        <p:spPr>
          <a:xfrm>
            <a:off x="4167021" y="3684736"/>
            <a:ext cx="1029719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500" i="1">
                <a:latin typeface="Aptos" panose="020B0004020202020204" pitchFamily="34" charset="0"/>
              </a:rPr>
              <a:t>Transaction </a:t>
            </a:r>
          </a:p>
          <a:p>
            <a:pPr algn="ctr"/>
            <a:r>
              <a:rPr lang="en-GB" sz="500" i="1">
                <a:latin typeface="Aptos" panose="020B0004020202020204" pitchFamily="34" charset="0"/>
              </a:rPr>
              <a:t>processed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6DA0490E-F5E1-9311-53B2-19EA83520616}"/>
              </a:ext>
            </a:extLst>
          </p:cNvPr>
          <p:cNvSpPr/>
          <p:nvPr/>
        </p:nvSpPr>
        <p:spPr>
          <a:xfrm>
            <a:off x="5313011" y="2888166"/>
            <a:ext cx="492399" cy="492399"/>
          </a:xfrm>
          <a:prstGeom prst="ellipse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4" name="Graphic 183" descr="Contract outline">
            <a:extLst>
              <a:ext uri="{FF2B5EF4-FFF2-40B4-BE49-F238E27FC236}">
                <a16:creationId xmlns:a16="http://schemas.microsoft.com/office/drawing/2014/main" id="{FCD8F287-D955-2CF1-9E02-F651BE2A21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78760" y="2956615"/>
            <a:ext cx="360902" cy="360902"/>
          </a:xfrm>
          <a:prstGeom prst="rect">
            <a:avLst/>
          </a:prstGeom>
        </p:spPr>
      </p:pic>
      <p:pic>
        <p:nvPicPr>
          <p:cNvPr id="181" name="Picture 180">
            <a:extLst>
              <a:ext uri="{FF2B5EF4-FFF2-40B4-BE49-F238E27FC236}">
                <a16:creationId xmlns:a16="http://schemas.microsoft.com/office/drawing/2014/main" id="{BFE55DC5-221C-82CA-D3B6-85B446516928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28758" y1="42857" x2="28758" y2="42857"/>
                        <a14:foregroundMark x1="76797" y1="42143" x2="76797" y2="42143"/>
                        <a14:backgroundMark x1="44444" y1="42500" x2="44444" y2="42500"/>
                        <a14:backgroundMark x1="44444" y1="42857" x2="44118" y2="40357"/>
                        <a14:backgroundMark x1="62418" y1="40357" x2="57843" y2="38929"/>
                        <a14:backgroundMark x1="45425" y1="39643" x2="47059" y2="42857"/>
                      </a14:backgroundRemoval>
                    </a14:imgEffect>
                  </a14:imgLayer>
                </a14:imgProps>
              </a:ext>
            </a:extLst>
          </a:blip>
          <a:srcRect l="18577" t="9862" r="16309" b="35991"/>
          <a:stretch>
            <a:fillRect/>
          </a:stretch>
        </p:blipFill>
        <p:spPr>
          <a:xfrm>
            <a:off x="7653667" y="2928985"/>
            <a:ext cx="401492" cy="305509"/>
          </a:xfrm>
          <a:prstGeom prst="rect">
            <a:avLst/>
          </a:prstGeom>
        </p:spPr>
      </p:pic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6FD06E9A-BE82-1A0B-763E-E0F625590EA4}"/>
              </a:ext>
            </a:extLst>
          </p:cNvPr>
          <p:cNvSpPr>
            <a:spLocks noChangeAspect="1"/>
          </p:cNvSpPr>
          <p:nvPr/>
        </p:nvSpPr>
        <p:spPr>
          <a:xfrm>
            <a:off x="7751446" y="3065011"/>
            <a:ext cx="232786" cy="113898"/>
          </a:xfrm>
          <a:prstGeom prst="roundRect">
            <a:avLst/>
          </a:prstGeom>
          <a:solidFill>
            <a:srgbClr val="CDCDCD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GB" sz="200" b="1">
                <a:solidFill>
                  <a:schemeClr val="tx1">
                    <a:lumMod val="60000"/>
                    <a:lumOff val="40000"/>
                  </a:schemeClr>
                </a:solidFill>
              </a:rPr>
              <a:t>&lt;/&gt;</a:t>
            </a: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9FCD62E2-DE8C-9B1E-4EBC-DC65B2799275}"/>
              </a:ext>
            </a:extLst>
          </p:cNvPr>
          <p:cNvSpPr/>
          <p:nvPr/>
        </p:nvSpPr>
        <p:spPr>
          <a:xfrm>
            <a:off x="7614172" y="2884466"/>
            <a:ext cx="492399" cy="492399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0019D639-BFFD-F5C8-DBFF-A9BD73716760}"/>
              </a:ext>
            </a:extLst>
          </p:cNvPr>
          <p:cNvSpPr txBox="1"/>
          <p:nvPr/>
        </p:nvSpPr>
        <p:spPr>
          <a:xfrm>
            <a:off x="7568745" y="3261201"/>
            <a:ext cx="602932" cy="70498"/>
          </a:xfrm>
          <a:prstGeom prst="rect">
            <a:avLst/>
          </a:prstGeom>
          <a:noFill/>
          <a:ln w="25400"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GB" sz="400" b="1">
                <a:latin typeface="Aptos" panose="020B0004020202020204" pitchFamily="34" charset="0"/>
              </a:rPr>
              <a:t>RPA</a:t>
            </a:r>
          </a:p>
          <a:p>
            <a:pPr algn="ctr"/>
            <a:r>
              <a:rPr lang="en-GB" sz="400" b="1">
                <a:latin typeface="Aptos" panose="020B0004020202020204" pitchFamily="34" charset="0"/>
              </a:rPr>
              <a:t>bot</a:t>
            </a: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69688736-96A8-8725-3927-16F9845D33E3}"/>
              </a:ext>
            </a:extLst>
          </p:cNvPr>
          <p:cNvGrpSpPr/>
          <p:nvPr/>
        </p:nvGrpSpPr>
        <p:grpSpPr>
          <a:xfrm>
            <a:off x="6112172" y="2777686"/>
            <a:ext cx="715917" cy="715917"/>
            <a:chOff x="6112172" y="2777686"/>
            <a:chExt cx="715917" cy="715917"/>
          </a:xfrm>
        </p:grpSpPr>
        <p:pic>
          <p:nvPicPr>
            <p:cNvPr id="173" name="Picture 172">
              <a:extLst>
                <a:ext uri="{FF2B5EF4-FFF2-40B4-BE49-F238E27FC236}">
                  <a16:creationId xmlns:a16="http://schemas.microsoft.com/office/drawing/2014/main" id="{738ABE17-53B9-2FAB-72B3-F5819870A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alphaModFix amt="3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>
                          <a14:foregroundMark x1="45215" y1="27637" x2="45215" y2="27637"/>
                          <a14:foregroundMark x1="57910" y1="26758" x2="57910" y2="26758"/>
                          <a14:foregroundMark x1="62305" y1="28613" x2="62305" y2="28613"/>
                          <a14:foregroundMark x1="45117" y1="27539" x2="45117" y2="27539"/>
                          <a14:foregroundMark x1="44141" y1="72266" x2="37500" y2="70215"/>
                          <a14:foregroundMark x1="37500" y1="70215" x2="30469" y2="64063"/>
                          <a14:foregroundMark x1="30469" y1="64063" x2="26465" y2="47852"/>
                          <a14:foregroundMark x1="26465" y1="47852" x2="31641" y2="34766"/>
                          <a14:foregroundMark x1="31641" y1="34766" x2="37988" y2="29980"/>
                          <a14:foregroundMark x1="37988" y1="29980" x2="46777" y2="27051"/>
                          <a14:foregroundMark x1="46777" y1="27051" x2="54199" y2="26855"/>
                          <a14:foregroundMark x1="54199" y1="26855" x2="62402" y2="29688"/>
                          <a14:foregroundMark x1="62402" y1="29688" x2="68750" y2="35059"/>
                          <a14:foregroundMark x1="68750" y1="35059" x2="72070" y2="42188"/>
                          <a14:foregroundMark x1="72070" y1="42188" x2="71387" y2="62109"/>
                          <a14:foregroundMark x1="71387" y1="62109" x2="64551" y2="68457"/>
                          <a14:foregroundMark x1="64551" y1="68457" x2="41895" y2="73633"/>
                          <a14:foregroundMark x1="41504" y1="33496" x2="51563" y2="32031"/>
                          <a14:foregroundMark x1="51563" y1="32031" x2="59570" y2="34668"/>
                          <a14:foregroundMark x1="59570" y1="34668" x2="66211" y2="40430"/>
                          <a14:foregroundMark x1="66211" y1="40430" x2="67773" y2="49121"/>
                          <a14:foregroundMark x1="67773" y1="49121" x2="66406" y2="56934"/>
                          <a14:foregroundMark x1="66406" y1="56934" x2="61621" y2="62793"/>
                          <a14:foregroundMark x1="61621" y1="62793" x2="54883" y2="67285"/>
                          <a14:foregroundMark x1="54883" y1="67285" x2="45996" y2="66797"/>
                          <a14:foregroundMark x1="45996" y1="66797" x2="37598" y2="63086"/>
                          <a14:foregroundMark x1="37598" y1="63086" x2="33105" y2="55664"/>
                          <a14:foregroundMark x1="33105" y1="55664" x2="31836" y2="45703"/>
                          <a14:foregroundMark x1="31836" y1="45703" x2="35449" y2="39063"/>
                          <a14:foregroundMark x1="35449" y1="39063" x2="42188" y2="3320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2172" y="2777686"/>
              <a:ext cx="715917" cy="715917"/>
            </a:xfrm>
            <a:prstGeom prst="rect">
              <a:avLst/>
            </a:prstGeom>
          </p:spPr>
        </p:pic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E4CB8E4B-03A7-3209-5447-3B36A1BC3A0A}"/>
                </a:ext>
              </a:extLst>
            </p:cNvPr>
            <p:cNvSpPr/>
            <p:nvPr/>
          </p:nvSpPr>
          <p:spPr>
            <a:xfrm>
              <a:off x="6223932" y="2883951"/>
              <a:ext cx="492399" cy="492399"/>
            </a:xfrm>
            <a:prstGeom prst="ellipse">
              <a:avLst/>
            </a:prstGeom>
            <a:noFill/>
            <a:ln w="12700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71" name="Graphic 170" descr="Artificial Intelligence outline">
            <a:extLst>
              <a:ext uri="{FF2B5EF4-FFF2-40B4-BE49-F238E27FC236}">
                <a16:creationId xmlns:a16="http://schemas.microsoft.com/office/drawing/2014/main" id="{EACEBCDB-B40B-7565-67CE-B835624945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78305" y="3033978"/>
            <a:ext cx="203331" cy="203331"/>
          </a:xfrm>
          <a:prstGeom prst="rect">
            <a:avLst/>
          </a:prstGeom>
        </p:spPr>
      </p:pic>
      <p:sp>
        <p:nvSpPr>
          <p:cNvPr id="172" name="TextBox 171">
            <a:extLst>
              <a:ext uri="{FF2B5EF4-FFF2-40B4-BE49-F238E27FC236}">
                <a16:creationId xmlns:a16="http://schemas.microsoft.com/office/drawing/2014/main" id="{3337AFEE-EAFD-0116-3DF9-24381DC1838B}"/>
              </a:ext>
            </a:extLst>
          </p:cNvPr>
          <p:cNvSpPr txBox="1"/>
          <p:nvPr/>
        </p:nvSpPr>
        <p:spPr>
          <a:xfrm>
            <a:off x="6178505" y="3260686"/>
            <a:ext cx="602932" cy="70498"/>
          </a:xfrm>
          <a:prstGeom prst="rect">
            <a:avLst/>
          </a:prstGeom>
          <a:noFill/>
          <a:ln w="25400"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GB" sz="400" b="1">
                <a:solidFill>
                  <a:schemeClr val="tx2"/>
                </a:solidFill>
                <a:latin typeface="Aptos" panose="020B0004020202020204" pitchFamily="34" charset="0"/>
              </a:rPr>
              <a:t>Classifier</a:t>
            </a:r>
          </a:p>
          <a:p>
            <a:pPr algn="ctr"/>
            <a:r>
              <a:rPr lang="en-GB" sz="400" b="1">
                <a:solidFill>
                  <a:schemeClr val="tx2"/>
                </a:solidFill>
                <a:latin typeface="Aptos" panose="020B0004020202020204" pitchFamily="34" charset="0"/>
              </a:rPr>
              <a:t>agent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4C08C349-2C67-1EC0-DB8C-8B873A383102}"/>
              </a:ext>
            </a:extLst>
          </p:cNvPr>
          <p:cNvSpPr txBox="1"/>
          <p:nvPr/>
        </p:nvSpPr>
        <p:spPr>
          <a:xfrm>
            <a:off x="6653183" y="3117527"/>
            <a:ext cx="1047633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500" i="1">
                <a:latin typeface="Aptos" panose="020B0004020202020204" pitchFamily="34" charset="0"/>
              </a:rPr>
              <a:t>Doc</a:t>
            </a:r>
            <a:r>
              <a:rPr lang="en-GB" sz="500">
                <a:latin typeface="Aptos" panose="020B0004020202020204" pitchFamily="34" charset="0"/>
              </a:rPr>
              <a:t> </a:t>
            </a:r>
            <a:r>
              <a:rPr lang="en-GB" sz="500" i="1">
                <a:latin typeface="Aptos" panose="020B0004020202020204" pitchFamily="34" charset="0"/>
              </a:rPr>
              <a:t>classified, data extracted</a:t>
            </a:r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BACAFA80-13C7-54B9-E49C-8652A2263D0C}"/>
              </a:ext>
            </a:extLst>
          </p:cNvPr>
          <p:cNvCxnSpPr>
            <a:cxnSpLocks/>
            <a:stCxn id="174" idx="6"/>
            <a:endCxn id="179" idx="2"/>
          </p:cNvCxnSpPr>
          <p:nvPr/>
        </p:nvCxnSpPr>
        <p:spPr>
          <a:xfrm>
            <a:off x="6716331" y="3130151"/>
            <a:ext cx="897841" cy="515"/>
          </a:xfrm>
          <a:prstGeom prst="straightConnector1">
            <a:avLst/>
          </a:prstGeom>
          <a:ln w="12700">
            <a:solidFill>
              <a:schemeClr val="tx1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C76A1ED6-A880-EFC2-77C9-D03C80F82AFD}"/>
              </a:ext>
            </a:extLst>
          </p:cNvPr>
          <p:cNvCxnSpPr>
            <a:cxnSpLocks/>
            <a:stCxn id="183" idx="6"/>
            <a:endCxn id="174" idx="2"/>
          </p:cNvCxnSpPr>
          <p:nvPr/>
        </p:nvCxnSpPr>
        <p:spPr>
          <a:xfrm flipV="1">
            <a:off x="5805410" y="3130151"/>
            <a:ext cx="418522" cy="4215"/>
          </a:xfrm>
          <a:prstGeom prst="straightConnector1">
            <a:avLst/>
          </a:prstGeom>
          <a:ln w="12700">
            <a:solidFill>
              <a:schemeClr val="tx1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13E5B2D7-BB2C-1E6F-FF64-71AD56FA00CA}"/>
              </a:ext>
            </a:extLst>
          </p:cNvPr>
          <p:cNvSpPr txBox="1"/>
          <p:nvPr/>
        </p:nvSpPr>
        <p:spPr>
          <a:xfrm>
            <a:off x="5726433" y="3124470"/>
            <a:ext cx="669814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500" i="1">
                <a:latin typeface="Aptos" panose="020B0004020202020204" pitchFamily="34" charset="0"/>
              </a:rPr>
              <a:t>Doc</a:t>
            </a:r>
            <a:r>
              <a:rPr lang="en-GB" sz="500">
                <a:latin typeface="Aptos" panose="020B0004020202020204" pitchFamily="34" charset="0"/>
              </a:rPr>
              <a:t> </a:t>
            </a:r>
            <a:r>
              <a:rPr lang="en-GB" sz="500" i="1">
                <a:latin typeface="Aptos" panose="020B0004020202020204" pitchFamily="34" charset="0"/>
              </a:rPr>
              <a:t>scanned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73F9658E-98BB-3F8E-741C-B14954CE012F}"/>
              </a:ext>
            </a:extLst>
          </p:cNvPr>
          <p:cNvSpPr txBox="1"/>
          <p:nvPr/>
        </p:nvSpPr>
        <p:spPr>
          <a:xfrm>
            <a:off x="7370093" y="3383660"/>
            <a:ext cx="1029719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500" i="1">
                <a:latin typeface="Aptos" panose="020B0004020202020204" pitchFamily="34" charset="0"/>
              </a:rPr>
              <a:t>Transaction </a:t>
            </a:r>
          </a:p>
          <a:p>
            <a:pPr algn="ctr"/>
            <a:r>
              <a:rPr lang="en-GB" sz="500" i="1">
                <a:latin typeface="Aptos" panose="020B0004020202020204" pitchFamily="34" charset="0"/>
              </a:rPr>
              <a:t>processed</a:t>
            </a:r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8A509530-DB48-64B0-988B-13364B9DCDCC}"/>
              </a:ext>
            </a:extLst>
          </p:cNvPr>
          <p:cNvCxnSpPr>
            <a:cxnSpLocks/>
          </p:cNvCxnSpPr>
          <p:nvPr/>
        </p:nvCxnSpPr>
        <p:spPr>
          <a:xfrm>
            <a:off x="6392120" y="3389431"/>
            <a:ext cx="0" cy="208344"/>
          </a:xfrm>
          <a:prstGeom prst="straightConnector1">
            <a:avLst/>
          </a:prstGeom>
          <a:ln w="12700">
            <a:solidFill>
              <a:schemeClr val="tx1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20D8260D-F473-41DF-2B8F-A93119C935A4}"/>
              </a:ext>
            </a:extLst>
          </p:cNvPr>
          <p:cNvCxnSpPr>
            <a:cxnSpLocks/>
          </p:cNvCxnSpPr>
          <p:nvPr/>
        </p:nvCxnSpPr>
        <p:spPr>
          <a:xfrm flipV="1">
            <a:off x="6534205" y="3374866"/>
            <a:ext cx="0" cy="209828"/>
          </a:xfrm>
          <a:prstGeom prst="straightConnector1">
            <a:avLst/>
          </a:prstGeom>
          <a:ln w="12700">
            <a:solidFill>
              <a:schemeClr val="tx1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6724858E-B823-5196-BFD8-50AD0ACEFC0C}"/>
              </a:ext>
            </a:extLst>
          </p:cNvPr>
          <p:cNvSpPr txBox="1"/>
          <p:nvPr/>
        </p:nvSpPr>
        <p:spPr>
          <a:xfrm>
            <a:off x="6101026" y="3392021"/>
            <a:ext cx="375529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500" i="1">
                <a:latin typeface="Aptos" panose="020B0004020202020204" pitchFamily="34" charset="0"/>
              </a:rPr>
              <a:t>Query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396AB5D-FD2C-B217-D4A4-F9BE73A9E22D}"/>
              </a:ext>
            </a:extLst>
          </p:cNvPr>
          <p:cNvSpPr txBox="1"/>
          <p:nvPr/>
        </p:nvSpPr>
        <p:spPr>
          <a:xfrm>
            <a:off x="6502165" y="3402395"/>
            <a:ext cx="431959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500" i="1">
                <a:latin typeface="Aptos" panose="020B0004020202020204" pitchFamily="34" charset="0"/>
              </a:rPr>
              <a:t>Answer</a:t>
            </a:r>
          </a:p>
        </p:txBody>
      </p: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62410B3C-1786-11A4-8D69-4E602EF2A827}"/>
              </a:ext>
            </a:extLst>
          </p:cNvPr>
          <p:cNvGrpSpPr/>
          <p:nvPr/>
        </p:nvGrpSpPr>
        <p:grpSpPr>
          <a:xfrm>
            <a:off x="3169540" y="2735966"/>
            <a:ext cx="560476" cy="560476"/>
            <a:chOff x="2933661" y="5478818"/>
            <a:chExt cx="715917" cy="715917"/>
          </a:xfrm>
        </p:grpSpPr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36B7BACC-A048-2F76-07BC-7B6E62BC6C7B}"/>
                </a:ext>
              </a:extLst>
            </p:cNvPr>
            <p:cNvGrpSpPr/>
            <p:nvPr/>
          </p:nvGrpSpPr>
          <p:grpSpPr>
            <a:xfrm>
              <a:off x="2933661" y="5478818"/>
              <a:ext cx="715917" cy="715917"/>
              <a:chOff x="2823128" y="5562141"/>
              <a:chExt cx="915711" cy="915711"/>
            </a:xfrm>
          </p:grpSpPr>
          <p:pic>
            <p:nvPicPr>
              <p:cNvPr id="206" name="Picture 205">
                <a:extLst>
                  <a:ext uri="{FF2B5EF4-FFF2-40B4-BE49-F238E27FC236}">
                    <a16:creationId xmlns:a16="http://schemas.microsoft.com/office/drawing/2014/main" id="{C330952E-1639-B457-B0D4-4A04C45204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grayscl/>
                <a:alphaModFix amt="35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45215" y1="27637" x2="45215" y2="27637"/>
                            <a14:foregroundMark x1="57910" y1="26758" x2="57910" y2="26758"/>
                            <a14:foregroundMark x1="62305" y1="28613" x2="62305" y2="28613"/>
                            <a14:foregroundMark x1="45117" y1="27539" x2="45117" y2="27539"/>
                            <a14:foregroundMark x1="44141" y1="72266" x2="37500" y2="70215"/>
                            <a14:foregroundMark x1="37500" y1="70215" x2="30469" y2="64063"/>
                            <a14:foregroundMark x1="30469" y1="64063" x2="26465" y2="47852"/>
                            <a14:foregroundMark x1="26465" y1="47852" x2="31641" y2="34766"/>
                            <a14:foregroundMark x1="31641" y1="34766" x2="37988" y2="29980"/>
                            <a14:foregroundMark x1="37988" y1="29980" x2="46777" y2="27051"/>
                            <a14:foregroundMark x1="46777" y1="27051" x2="54199" y2="26855"/>
                            <a14:foregroundMark x1="54199" y1="26855" x2="62402" y2="29688"/>
                            <a14:foregroundMark x1="62402" y1="29688" x2="68750" y2="35059"/>
                            <a14:foregroundMark x1="68750" y1="35059" x2="72070" y2="42188"/>
                            <a14:foregroundMark x1="72070" y1="42188" x2="71387" y2="62109"/>
                            <a14:foregroundMark x1="71387" y1="62109" x2="64551" y2="68457"/>
                            <a14:foregroundMark x1="64551" y1="68457" x2="41895" y2="73633"/>
                            <a14:foregroundMark x1="41504" y1="33496" x2="51563" y2="32031"/>
                            <a14:foregroundMark x1="51563" y1="32031" x2="59570" y2="34668"/>
                            <a14:foregroundMark x1="59570" y1="34668" x2="66211" y2="40430"/>
                            <a14:foregroundMark x1="66211" y1="40430" x2="67773" y2="49121"/>
                            <a14:foregroundMark x1="67773" y1="49121" x2="66406" y2="56934"/>
                            <a14:foregroundMark x1="66406" y1="56934" x2="61621" y2="62793"/>
                            <a14:foregroundMark x1="61621" y1="62793" x2="54883" y2="67285"/>
                            <a14:foregroundMark x1="54883" y1="67285" x2="45996" y2="66797"/>
                            <a14:foregroundMark x1="45996" y1="66797" x2="37598" y2="63086"/>
                            <a14:foregroundMark x1="37598" y1="63086" x2="33105" y2="55664"/>
                            <a14:foregroundMark x1="33105" y1="55664" x2="31836" y2="45703"/>
                            <a14:foregroundMark x1="31836" y1="45703" x2="35449" y2="39063"/>
                            <a14:foregroundMark x1="35449" y1="39063" x2="42188" y2="332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23128" y="5562141"/>
                <a:ext cx="915711" cy="915711"/>
              </a:xfrm>
              <a:prstGeom prst="rect">
                <a:avLst/>
              </a:prstGeom>
            </p:spPr>
          </p:pic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9D6CE994-E334-416C-3DFE-72590B282D82}"/>
                  </a:ext>
                </a:extLst>
              </p:cNvPr>
              <p:cNvSpPr/>
              <p:nvPr/>
            </p:nvSpPr>
            <p:spPr>
              <a:xfrm>
                <a:off x="2966077" y="5698062"/>
                <a:ext cx="629815" cy="629815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8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04" name="Graphic 203" descr="Artificial Intelligence outline">
              <a:extLst>
                <a:ext uri="{FF2B5EF4-FFF2-40B4-BE49-F238E27FC236}">
                  <a16:creationId xmlns:a16="http://schemas.microsoft.com/office/drawing/2014/main" id="{4B264F53-F1AC-6B8B-8F60-D787560FA6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99794" y="5735110"/>
              <a:ext cx="203331" cy="203331"/>
            </a:xfrm>
            <a:prstGeom prst="rect">
              <a:avLst/>
            </a:prstGeom>
          </p:spPr>
        </p:pic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EC6F6849-4737-5DD1-C170-D565F9EB1238}"/>
                </a:ext>
              </a:extLst>
            </p:cNvPr>
            <p:cNvSpPr txBox="1"/>
            <p:nvPr/>
          </p:nvSpPr>
          <p:spPr>
            <a:xfrm>
              <a:off x="2999994" y="5961818"/>
              <a:ext cx="602932" cy="7049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400" b="1">
                  <a:solidFill>
                    <a:schemeClr val="tx1">
                      <a:lumMod val="60000"/>
                      <a:lumOff val="40000"/>
                    </a:schemeClr>
                  </a:solidFill>
                  <a:latin typeface="Aptos" panose="020B0004020202020204" pitchFamily="34" charset="0"/>
                </a:rPr>
                <a:t>Transaction </a:t>
              </a:r>
            </a:p>
            <a:p>
              <a:pPr algn="ctr"/>
              <a:r>
                <a:rPr lang="en-GB" sz="400" b="1">
                  <a:solidFill>
                    <a:schemeClr val="tx1">
                      <a:lumMod val="60000"/>
                      <a:lumOff val="40000"/>
                    </a:schemeClr>
                  </a:solidFill>
                  <a:latin typeface="Aptos" panose="020B0004020202020204" pitchFamily="34" charset="0"/>
                </a:rPr>
                <a:t>agent</a:t>
              </a:r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10981C3F-FD45-287E-0BEF-8D51BE2D0CE1}"/>
              </a:ext>
            </a:extLst>
          </p:cNvPr>
          <p:cNvGrpSpPr/>
          <p:nvPr/>
        </p:nvGrpSpPr>
        <p:grpSpPr>
          <a:xfrm>
            <a:off x="3190132" y="3180867"/>
            <a:ext cx="560476" cy="560476"/>
            <a:chOff x="2933661" y="5478818"/>
            <a:chExt cx="715917" cy="715917"/>
          </a:xfrm>
        </p:grpSpPr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598E4870-66A8-5AF8-EBE5-F6B4FD4944D1}"/>
                </a:ext>
              </a:extLst>
            </p:cNvPr>
            <p:cNvGrpSpPr/>
            <p:nvPr/>
          </p:nvGrpSpPr>
          <p:grpSpPr>
            <a:xfrm>
              <a:off x="2933661" y="5478818"/>
              <a:ext cx="715917" cy="715917"/>
              <a:chOff x="2823128" y="5562141"/>
              <a:chExt cx="915711" cy="915711"/>
            </a:xfrm>
          </p:grpSpPr>
          <p:pic>
            <p:nvPicPr>
              <p:cNvPr id="212" name="Picture 211">
                <a:extLst>
                  <a:ext uri="{FF2B5EF4-FFF2-40B4-BE49-F238E27FC236}">
                    <a16:creationId xmlns:a16="http://schemas.microsoft.com/office/drawing/2014/main" id="{2DD25BA1-88F8-F11B-B6FA-0DBEB54756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grayscl/>
                <a:alphaModFix amt="35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45215" y1="27637" x2="45215" y2="27637"/>
                            <a14:foregroundMark x1="57910" y1="26758" x2="57910" y2="26758"/>
                            <a14:foregroundMark x1="62305" y1="28613" x2="62305" y2="28613"/>
                            <a14:foregroundMark x1="45117" y1="27539" x2="45117" y2="27539"/>
                            <a14:foregroundMark x1="44141" y1="72266" x2="37500" y2="70215"/>
                            <a14:foregroundMark x1="37500" y1="70215" x2="30469" y2="64063"/>
                            <a14:foregroundMark x1="30469" y1="64063" x2="26465" y2="47852"/>
                            <a14:foregroundMark x1="26465" y1="47852" x2="31641" y2="34766"/>
                            <a14:foregroundMark x1="31641" y1="34766" x2="37988" y2="29980"/>
                            <a14:foregroundMark x1="37988" y1="29980" x2="46777" y2="27051"/>
                            <a14:foregroundMark x1="46777" y1="27051" x2="54199" y2="26855"/>
                            <a14:foregroundMark x1="54199" y1="26855" x2="62402" y2="29688"/>
                            <a14:foregroundMark x1="62402" y1="29688" x2="68750" y2="35059"/>
                            <a14:foregroundMark x1="68750" y1="35059" x2="72070" y2="42188"/>
                            <a14:foregroundMark x1="72070" y1="42188" x2="71387" y2="62109"/>
                            <a14:foregroundMark x1="71387" y1="62109" x2="64551" y2="68457"/>
                            <a14:foregroundMark x1="64551" y1="68457" x2="41895" y2="73633"/>
                            <a14:foregroundMark x1="41504" y1="33496" x2="51563" y2="32031"/>
                            <a14:foregroundMark x1="51563" y1="32031" x2="59570" y2="34668"/>
                            <a14:foregroundMark x1="59570" y1="34668" x2="66211" y2="40430"/>
                            <a14:foregroundMark x1="66211" y1="40430" x2="67773" y2="49121"/>
                            <a14:foregroundMark x1="67773" y1="49121" x2="66406" y2="56934"/>
                            <a14:foregroundMark x1="66406" y1="56934" x2="61621" y2="62793"/>
                            <a14:foregroundMark x1="61621" y1="62793" x2="54883" y2="67285"/>
                            <a14:foregroundMark x1="54883" y1="67285" x2="45996" y2="66797"/>
                            <a14:foregroundMark x1="45996" y1="66797" x2="37598" y2="63086"/>
                            <a14:foregroundMark x1="37598" y1="63086" x2="33105" y2="55664"/>
                            <a14:foregroundMark x1="33105" y1="55664" x2="31836" y2="45703"/>
                            <a14:foregroundMark x1="31836" y1="45703" x2="35449" y2="39063"/>
                            <a14:foregroundMark x1="35449" y1="39063" x2="42188" y2="332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23128" y="5562141"/>
                <a:ext cx="915711" cy="915711"/>
              </a:xfrm>
              <a:prstGeom prst="rect">
                <a:avLst/>
              </a:prstGeom>
            </p:spPr>
          </p:pic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BEDBF4F3-7FC2-277D-043F-09E39A3D8439}"/>
                  </a:ext>
                </a:extLst>
              </p:cNvPr>
              <p:cNvSpPr/>
              <p:nvPr/>
            </p:nvSpPr>
            <p:spPr>
              <a:xfrm>
                <a:off x="2966077" y="5698062"/>
                <a:ext cx="629815" cy="629815"/>
              </a:xfrm>
              <a:prstGeom prst="ellipse">
                <a:avLst/>
              </a:prstGeom>
              <a:noFill/>
              <a:ln w="9525"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10" name="Graphic 209" descr="Artificial Intelligence outline">
              <a:extLst>
                <a:ext uri="{FF2B5EF4-FFF2-40B4-BE49-F238E27FC236}">
                  <a16:creationId xmlns:a16="http://schemas.microsoft.com/office/drawing/2014/main" id="{BE74FCFF-246F-AE45-0738-51487C6477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99794" y="5735110"/>
              <a:ext cx="203331" cy="203331"/>
            </a:xfrm>
            <a:prstGeom prst="rect">
              <a:avLst/>
            </a:prstGeom>
          </p:spPr>
        </p:pic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3AF1D3E2-3BC3-54B9-9C93-114903B6C306}"/>
                </a:ext>
              </a:extLst>
            </p:cNvPr>
            <p:cNvSpPr txBox="1"/>
            <p:nvPr/>
          </p:nvSpPr>
          <p:spPr>
            <a:xfrm>
              <a:off x="2999994" y="5961818"/>
              <a:ext cx="602932" cy="7049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400" b="1">
                  <a:solidFill>
                    <a:schemeClr val="accent1"/>
                  </a:solidFill>
                  <a:latin typeface="Aptos" panose="020B0004020202020204" pitchFamily="34" charset="0"/>
                </a:rPr>
                <a:t>Transaction </a:t>
              </a:r>
            </a:p>
            <a:p>
              <a:pPr algn="ctr"/>
              <a:r>
                <a:rPr lang="en-GB" sz="400" b="1">
                  <a:solidFill>
                    <a:schemeClr val="accent1"/>
                  </a:solidFill>
                  <a:latin typeface="Aptos" panose="020B0004020202020204" pitchFamily="34" charset="0"/>
                </a:rPr>
                <a:t>agent</a:t>
              </a:r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FED603B0-C2C7-8816-0DF4-7A86BC9FDDB5}"/>
              </a:ext>
            </a:extLst>
          </p:cNvPr>
          <p:cNvGrpSpPr/>
          <p:nvPr/>
        </p:nvGrpSpPr>
        <p:grpSpPr>
          <a:xfrm>
            <a:off x="3192893" y="3625398"/>
            <a:ext cx="560476" cy="560476"/>
            <a:chOff x="2933661" y="5478818"/>
            <a:chExt cx="715917" cy="715917"/>
          </a:xfrm>
        </p:grpSpPr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A9D0E170-FE24-BE12-D563-547619F8D5C6}"/>
                </a:ext>
              </a:extLst>
            </p:cNvPr>
            <p:cNvGrpSpPr/>
            <p:nvPr/>
          </p:nvGrpSpPr>
          <p:grpSpPr>
            <a:xfrm>
              <a:off x="2933661" y="5478818"/>
              <a:ext cx="715917" cy="715917"/>
              <a:chOff x="2823128" y="5562141"/>
              <a:chExt cx="915711" cy="915711"/>
            </a:xfrm>
          </p:grpSpPr>
          <p:pic>
            <p:nvPicPr>
              <p:cNvPr id="218" name="Picture 217">
                <a:extLst>
                  <a:ext uri="{FF2B5EF4-FFF2-40B4-BE49-F238E27FC236}">
                    <a16:creationId xmlns:a16="http://schemas.microsoft.com/office/drawing/2014/main" id="{0BB6164F-F0D3-7543-2D7C-B75168CBDD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grayscl/>
                <a:alphaModFix amt="35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45215" y1="27637" x2="45215" y2="27637"/>
                            <a14:foregroundMark x1="57910" y1="26758" x2="57910" y2="26758"/>
                            <a14:foregroundMark x1="62305" y1="28613" x2="62305" y2="28613"/>
                            <a14:foregroundMark x1="45117" y1="27539" x2="45117" y2="27539"/>
                            <a14:foregroundMark x1="44141" y1="72266" x2="37500" y2="70215"/>
                            <a14:foregroundMark x1="37500" y1="70215" x2="30469" y2="64063"/>
                            <a14:foregroundMark x1="30469" y1="64063" x2="26465" y2="47852"/>
                            <a14:foregroundMark x1="26465" y1="47852" x2="31641" y2="34766"/>
                            <a14:foregroundMark x1="31641" y1="34766" x2="37988" y2="29980"/>
                            <a14:foregroundMark x1="37988" y1="29980" x2="46777" y2="27051"/>
                            <a14:foregroundMark x1="46777" y1="27051" x2="54199" y2="26855"/>
                            <a14:foregroundMark x1="54199" y1="26855" x2="62402" y2="29688"/>
                            <a14:foregroundMark x1="62402" y1="29688" x2="68750" y2="35059"/>
                            <a14:foregroundMark x1="68750" y1="35059" x2="72070" y2="42188"/>
                            <a14:foregroundMark x1="72070" y1="42188" x2="71387" y2="62109"/>
                            <a14:foregroundMark x1="71387" y1="62109" x2="64551" y2="68457"/>
                            <a14:foregroundMark x1="64551" y1="68457" x2="41895" y2="73633"/>
                            <a14:foregroundMark x1="41504" y1="33496" x2="51563" y2="32031"/>
                            <a14:foregroundMark x1="51563" y1="32031" x2="59570" y2="34668"/>
                            <a14:foregroundMark x1="59570" y1="34668" x2="66211" y2="40430"/>
                            <a14:foregroundMark x1="66211" y1="40430" x2="67773" y2="49121"/>
                            <a14:foregroundMark x1="67773" y1="49121" x2="66406" y2="56934"/>
                            <a14:foregroundMark x1="66406" y1="56934" x2="61621" y2="62793"/>
                            <a14:foregroundMark x1="61621" y1="62793" x2="54883" y2="67285"/>
                            <a14:foregroundMark x1="54883" y1="67285" x2="45996" y2="66797"/>
                            <a14:foregroundMark x1="45996" y1="66797" x2="37598" y2="63086"/>
                            <a14:foregroundMark x1="37598" y1="63086" x2="33105" y2="55664"/>
                            <a14:foregroundMark x1="33105" y1="55664" x2="31836" y2="45703"/>
                            <a14:foregroundMark x1="31836" y1="45703" x2="35449" y2="39063"/>
                            <a14:foregroundMark x1="35449" y1="39063" x2="42188" y2="332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23128" y="5562141"/>
                <a:ext cx="915711" cy="915711"/>
              </a:xfrm>
              <a:prstGeom prst="rect">
                <a:avLst/>
              </a:prstGeom>
            </p:spPr>
          </p:pic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58744679-4B10-A790-AE9D-936E48103F2B}"/>
                  </a:ext>
                </a:extLst>
              </p:cNvPr>
              <p:cNvSpPr/>
              <p:nvPr/>
            </p:nvSpPr>
            <p:spPr>
              <a:xfrm>
                <a:off x="2966077" y="5698062"/>
                <a:ext cx="629815" cy="629815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8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pic>
          <p:nvPicPr>
            <p:cNvPr id="216" name="Graphic 215" descr="Artificial Intelligence outline">
              <a:extLst>
                <a:ext uri="{FF2B5EF4-FFF2-40B4-BE49-F238E27FC236}">
                  <a16:creationId xmlns:a16="http://schemas.microsoft.com/office/drawing/2014/main" id="{AFEDA3C2-B477-2A6E-1250-6D7D220A2E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99794" y="5735110"/>
              <a:ext cx="203331" cy="203331"/>
            </a:xfrm>
            <a:prstGeom prst="rect">
              <a:avLst/>
            </a:prstGeom>
          </p:spPr>
        </p:pic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149E0739-C017-1680-67D3-BD6377928FF2}"/>
                </a:ext>
              </a:extLst>
            </p:cNvPr>
            <p:cNvSpPr txBox="1"/>
            <p:nvPr/>
          </p:nvSpPr>
          <p:spPr>
            <a:xfrm>
              <a:off x="2999994" y="5961818"/>
              <a:ext cx="602932" cy="7049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400" b="1">
                  <a:solidFill>
                    <a:schemeClr val="tx1">
                      <a:lumMod val="60000"/>
                      <a:lumOff val="40000"/>
                    </a:schemeClr>
                  </a:solidFill>
                  <a:latin typeface="Aptos" panose="020B0004020202020204" pitchFamily="34" charset="0"/>
                </a:rPr>
                <a:t>Transaction </a:t>
              </a:r>
            </a:p>
            <a:p>
              <a:pPr algn="ctr"/>
              <a:r>
                <a:rPr lang="en-GB" sz="400" b="1">
                  <a:solidFill>
                    <a:schemeClr val="tx1">
                      <a:lumMod val="60000"/>
                      <a:lumOff val="40000"/>
                    </a:schemeClr>
                  </a:solidFill>
                  <a:latin typeface="Aptos" panose="020B0004020202020204" pitchFamily="34" charset="0"/>
                </a:rPr>
                <a:t>agent</a:t>
              </a:r>
            </a:p>
          </p:txBody>
        </p:sp>
      </p:grp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F9F7D2E2-C9B6-DD55-6E25-327D492B5369}"/>
              </a:ext>
            </a:extLst>
          </p:cNvPr>
          <p:cNvCxnSpPr>
            <a:cxnSpLocks/>
            <a:stCxn id="149" idx="6"/>
            <a:endCxn id="213" idx="2"/>
          </p:cNvCxnSpPr>
          <p:nvPr/>
        </p:nvCxnSpPr>
        <p:spPr>
          <a:xfrm>
            <a:off x="2836773" y="3309858"/>
            <a:ext cx="440853" cy="146947"/>
          </a:xfrm>
          <a:prstGeom prst="straightConnector1">
            <a:avLst/>
          </a:prstGeom>
          <a:ln w="12700">
            <a:solidFill>
              <a:schemeClr val="tx1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9EB1C8B9-3043-DA76-2284-F1ADA9F0510F}"/>
              </a:ext>
            </a:extLst>
          </p:cNvPr>
          <p:cNvCxnSpPr>
            <a:cxnSpLocks/>
            <a:stCxn id="149" idx="6"/>
            <a:endCxn id="219" idx="2"/>
          </p:cNvCxnSpPr>
          <p:nvPr/>
        </p:nvCxnSpPr>
        <p:spPr>
          <a:xfrm>
            <a:off x="2836773" y="3309858"/>
            <a:ext cx="443614" cy="591478"/>
          </a:xfrm>
          <a:prstGeom prst="straightConnector1">
            <a:avLst/>
          </a:prstGeom>
          <a:ln w="12700">
            <a:solidFill>
              <a:schemeClr val="bg2">
                <a:lumMod val="85000"/>
              </a:schemeClr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2C8FB454-F6B6-5BF9-09A7-1F3F6A26372D}"/>
              </a:ext>
            </a:extLst>
          </p:cNvPr>
          <p:cNvGrpSpPr/>
          <p:nvPr/>
        </p:nvGrpSpPr>
        <p:grpSpPr>
          <a:xfrm>
            <a:off x="9609765" y="3633434"/>
            <a:ext cx="492399" cy="492399"/>
            <a:chOff x="6226057" y="3607904"/>
            <a:chExt cx="492399" cy="492399"/>
          </a:xfrm>
        </p:grpSpPr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2D98FCCF-B064-8C74-7B78-E27992456ADB}"/>
                </a:ext>
              </a:extLst>
            </p:cNvPr>
            <p:cNvGrpSpPr/>
            <p:nvPr/>
          </p:nvGrpSpPr>
          <p:grpSpPr>
            <a:xfrm>
              <a:off x="6277876" y="3661023"/>
              <a:ext cx="390032" cy="375530"/>
              <a:chOff x="6277876" y="3661023"/>
              <a:chExt cx="390032" cy="375530"/>
            </a:xfrm>
          </p:grpSpPr>
          <p:pic>
            <p:nvPicPr>
              <p:cNvPr id="260" name="Graphic 259" descr="Database outline">
                <a:extLst>
                  <a:ext uri="{FF2B5EF4-FFF2-40B4-BE49-F238E27FC236}">
                    <a16:creationId xmlns:a16="http://schemas.microsoft.com/office/drawing/2014/main" id="{063323BA-80EC-BE58-D69E-22F8057EC9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277876" y="3661023"/>
                <a:ext cx="375529" cy="375530"/>
              </a:xfrm>
              <a:prstGeom prst="rect">
                <a:avLst/>
              </a:prstGeom>
            </p:spPr>
          </p:pic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C8F8B748-E65D-8DDD-0483-511F4C8D0C2F}"/>
                  </a:ext>
                </a:extLst>
              </p:cNvPr>
              <p:cNvSpPr txBox="1"/>
              <p:nvPr/>
            </p:nvSpPr>
            <p:spPr>
              <a:xfrm>
                <a:off x="6479919" y="3832504"/>
                <a:ext cx="187989" cy="92333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444444">
                        <a:lumMod val="50000"/>
                      </a:srgbClr>
                    </a:solidFill>
                    <a:effectLst/>
                    <a:uLnTx/>
                    <a:uFillTx/>
                    <a:latin typeface="Aptos" panose="020B0004020202020204" pitchFamily="34" charset="0"/>
                    <a:ea typeface="+mn-ea"/>
                    <a:cs typeface="+mn-cs"/>
                  </a:rPr>
                  <a:t>Data</a:t>
                </a:r>
                <a:endParaRPr kumimoji="0" lang="en-GB" sz="600" b="1" i="0" u="none" strike="noStrike" kern="1200" cap="none" spc="0" normalizeH="0" baseline="0" noProof="0">
                  <a:ln>
                    <a:noFill/>
                  </a:ln>
                  <a:solidFill>
                    <a:srgbClr val="444444">
                      <a:lumMod val="50000"/>
                    </a:srgb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ECA5E13F-3E9D-351C-6D96-B8DAB33620C3}"/>
                </a:ext>
              </a:extLst>
            </p:cNvPr>
            <p:cNvSpPr/>
            <p:nvPr/>
          </p:nvSpPr>
          <p:spPr>
            <a:xfrm>
              <a:off x="6226057" y="3607904"/>
              <a:ext cx="492399" cy="492399"/>
            </a:xfrm>
            <a:prstGeom prst="ellipse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B0F620AC-703E-3094-0CF0-FDB95487B376}"/>
              </a:ext>
            </a:extLst>
          </p:cNvPr>
          <p:cNvGrpSpPr/>
          <p:nvPr/>
        </p:nvGrpSpPr>
        <p:grpSpPr>
          <a:xfrm>
            <a:off x="8696719" y="2913696"/>
            <a:ext cx="492399" cy="492399"/>
            <a:chOff x="5313011" y="2888166"/>
            <a:chExt cx="492399" cy="492399"/>
          </a:xfrm>
        </p:grpSpPr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04437F1C-93DA-0B9B-B8B7-84D69429C486}"/>
                </a:ext>
              </a:extLst>
            </p:cNvPr>
            <p:cNvSpPr/>
            <p:nvPr/>
          </p:nvSpPr>
          <p:spPr>
            <a:xfrm>
              <a:off x="5313011" y="2888166"/>
              <a:ext cx="492399" cy="492399"/>
            </a:xfrm>
            <a:prstGeom prst="ellipse">
              <a:avLst/>
            </a:prstGeom>
            <a:noFill/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64" name="Graphic 263" descr="Contract outline">
              <a:extLst>
                <a:ext uri="{FF2B5EF4-FFF2-40B4-BE49-F238E27FC236}">
                  <a16:creationId xmlns:a16="http://schemas.microsoft.com/office/drawing/2014/main" id="{0BE328E1-DA7C-9DF2-834A-7109404972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378760" y="2956615"/>
              <a:ext cx="360902" cy="360902"/>
            </a:xfrm>
            <a:prstGeom prst="rect">
              <a:avLst/>
            </a:prstGeom>
          </p:spPr>
        </p:pic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A19327EE-4B57-F47C-A1B0-848FEBF7B582}"/>
              </a:ext>
            </a:extLst>
          </p:cNvPr>
          <p:cNvGrpSpPr/>
          <p:nvPr/>
        </p:nvGrpSpPr>
        <p:grpSpPr>
          <a:xfrm>
            <a:off x="11471479" y="3169287"/>
            <a:ext cx="602932" cy="492399"/>
            <a:chOff x="11303240" y="2909996"/>
            <a:chExt cx="602932" cy="492399"/>
          </a:xfrm>
        </p:grpSpPr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C424BB2A-3ACD-1410-C358-3469F2AC7AE1}"/>
                </a:ext>
              </a:extLst>
            </p:cNvPr>
            <p:cNvGrpSpPr/>
            <p:nvPr/>
          </p:nvGrpSpPr>
          <p:grpSpPr>
            <a:xfrm>
              <a:off x="11388162" y="2954515"/>
              <a:ext cx="401492" cy="305509"/>
              <a:chOff x="7653667" y="2928985"/>
              <a:chExt cx="401492" cy="305509"/>
            </a:xfrm>
          </p:grpSpPr>
          <p:pic>
            <p:nvPicPr>
              <p:cNvPr id="266" name="Picture 265">
                <a:extLst>
                  <a:ext uri="{FF2B5EF4-FFF2-40B4-BE49-F238E27FC236}">
                    <a16:creationId xmlns:a16="http://schemas.microsoft.com/office/drawing/2014/main" id="{4B1E7C18-CEC8-7889-184C-8A7462A07F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lum bright="70000" contrast="-70000"/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10000" b="90000" l="10000" r="90000">
                            <a14:foregroundMark x1="28758" y1="42857" x2="28758" y2="42857"/>
                            <a14:foregroundMark x1="76797" y1="42143" x2="76797" y2="42143"/>
                            <a14:backgroundMark x1="44444" y1="42500" x2="44444" y2="42500"/>
                            <a14:backgroundMark x1="44444" y1="42857" x2="44118" y2="40357"/>
                            <a14:backgroundMark x1="62418" y1="40357" x2="57843" y2="38929"/>
                            <a14:backgroundMark x1="45425" y1="39643" x2="47059" y2="42857"/>
                          </a14:backgroundRemoval>
                        </a14:imgEffect>
                      </a14:imgLayer>
                    </a14:imgProps>
                  </a:ext>
                </a:extLst>
              </a:blip>
              <a:srcRect l="18577" t="9862" r="16309" b="35991"/>
              <a:stretch>
                <a:fillRect/>
              </a:stretch>
            </p:blipFill>
            <p:spPr>
              <a:xfrm>
                <a:off x="7653667" y="2928985"/>
                <a:ext cx="401492" cy="305509"/>
              </a:xfrm>
              <a:prstGeom prst="rect">
                <a:avLst/>
              </a:prstGeom>
            </p:spPr>
          </p:pic>
          <p:sp>
            <p:nvSpPr>
              <p:cNvPr id="267" name="Rectangle: Rounded Corners 266">
                <a:extLst>
                  <a:ext uri="{FF2B5EF4-FFF2-40B4-BE49-F238E27FC236}">
                    <a16:creationId xmlns:a16="http://schemas.microsoft.com/office/drawing/2014/main" id="{A7F2A9A6-D499-0E16-D447-23AB9E806A2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751446" y="3065011"/>
                <a:ext cx="232786" cy="113898"/>
              </a:xfrm>
              <a:prstGeom prst="roundRect">
                <a:avLst/>
              </a:prstGeom>
              <a:solidFill>
                <a:srgbClr val="CDCDCD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r>
                  <a:rPr lang="en-GB" sz="200" b="1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&lt;/&gt;</a:t>
                </a:r>
              </a:p>
            </p:txBody>
          </p:sp>
        </p:grpSp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DF9B83D3-DA4A-0120-F88C-DEA57AF3BDA7}"/>
                </a:ext>
              </a:extLst>
            </p:cNvPr>
            <p:cNvGrpSpPr/>
            <p:nvPr/>
          </p:nvGrpSpPr>
          <p:grpSpPr>
            <a:xfrm>
              <a:off x="11303240" y="2909996"/>
              <a:ext cx="602932" cy="492399"/>
              <a:chOff x="7568745" y="2884466"/>
              <a:chExt cx="602932" cy="492399"/>
            </a:xfrm>
          </p:grpSpPr>
          <p:sp>
            <p:nvSpPr>
              <p:cNvPr id="269" name="Oval 268">
                <a:extLst>
                  <a:ext uri="{FF2B5EF4-FFF2-40B4-BE49-F238E27FC236}">
                    <a16:creationId xmlns:a16="http://schemas.microsoft.com/office/drawing/2014/main" id="{F3C476CA-C871-92C2-BF0A-EF51E67A56FE}"/>
                  </a:ext>
                </a:extLst>
              </p:cNvPr>
              <p:cNvSpPr/>
              <p:nvPr/>
            </p:nvSpPr>
            <p:spPr>
              <a:xfrm>
                <a:off x="7614172" y="2884466"/>
                <a:ext cx="492399" cy="492399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6D6325FE-20B1-D982-DDAD-485266AAE405}"/>
                  </a:ext>
                </a:extLst>
              </p:cNvPr>
              <p:cNvSpPr txBox="1"/>
              <p:nvPr/>
            </p:nvSpPr>
            <p:spPr>
              <a:xfrm>
                <a:off x="7568745" y="3261201"/>
                <a:ext cx="602932" cy="7049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GB" sz="400" b="1">
                    <a:latin typeface="Aptos" panose="020B0004020202020204" pitchFamily="34" charset="0"/>
                  </a:rPr>
                  <a:t>RPA</a:t>
                </a:r>
              </a:p>
              <a:p>
                <a:pPr algn="ctr"/>
                <a:r>
                  <a:rPr lang="en-GB" sz="400" b="1">
                    <a:latin typeface="Aptos" panose="020B0004020202020204" pitchFamily="34" charset="0"/>
                  </a:rPr>
                  <a:t>bot</a:t>
                </a:r>
              </a:p>
            </p:txBody>
          </p:sp>
        </p:grpSp>
      </p:grpSp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9097376B-6D8D-0D7B-CC35-4275D06590D5}"/>
              </a:ext>
            </a:extLst>
          </p:cNvPr>
          <p:cNvCxnSpPr>
            <a:cxnSpLocks/>
          </p:cNvCxnSpPr>
          <p:nvPr/>
        </p:nvCxnSpPr>
        <p:spPr>
          <a:xfrm>
            <a:off x="9775828" y="3414961"/>
            <a:ext cx="0" cy="208344"/>
          </a:xfrm>
          <a:prstGeom prst="straightConnector1">
            <a:avLst/>
          </a:prstGeom>
          <a:ln w="12700">
            <a:solidFill>
              <a:schemeClr val="tx1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2DB70D91-D3DF-AE88-8743-F196F4FCEEFC}"/>
              </a:ext>
            </a:extLst>
          </p:cNvPr>
          <p:cNvCxnSpPr>
            <a:cxnSpLocks/>
          </p:cNvCxnSpPr>
          <p:nvPr/>
        </p:nvCxnSpPr>
        <p:spPr>
          <a:xfrm flipV="1">
            <a:off x="9917913" y="3400396"/>
            <a:ext cx="0" cy="209828"/>
          </a:xfrm>
          <a:prstGeom prst="straightConnector1">
            <a:avLst/>
          </a:prstGeom>
          <a:ln w="12700">
            <a:solidFill>
              <a:schemeClr val="tx1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TextBox 278">
            <a:extLst>
              <a:ext uri="{FF2B5EF4-FFF2-40B4-BE49-F238E27FC236}">
                <a16:creationId xmlns:a16="http://schemas.microsoft.com/office/drawing/2014/main" id="{1190F991-6AFD-7DA1-FF48-3F8E59CF8FF4}"/>
              </a:ext>
            </a:extLst>
          </p:cNvPr>
          <p:cNvSpPr txBox="1"/>
          <p:nvPr/>
        </p:nvSpPr>
        <p:spPr>
          <a:xfrm>
            <a:off x="9484734" y="3417551"/>
            <a:ext cx="375529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500" i="1">
                <a:latin typeface="Aptos" panose="020B0004020202020204" pitchFamily="34" charset="0"/>
              </a:rPr>
              <a:t>Query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87AFDAD4-F761-0E7D-27AF-61F66630733A}"/>
              </a:ext>
            </a:extLst>
          </p:cNvPr>
          <p:cNvSpPr txBox="1"/>
          <p:nvPr/>
        </p:nvSpPr>
        <p:spPr>
          <a:xfrm>
            <a:off x="9885873" y="3427925"/>
            <a:ext cx="431959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500" i="1">
                <a:latin typeface="Aptos" panose="020B0004020202020204" pitchFamily="34" charset="0"/>
              </a:rPr>
              <a:t>Answer</a:t>
            </a:r>
          </a:p>
        </p:txBody>
      </p:sp>
      <p:cxnSp>
        <p:nvCxnSpPr>
          <p:cNvPr id="281" name="Straight Arrow Connector 280">
            <a:extLst>
              <a:ext uri="{FF2B5EF4-FFF2-40B4-BE49-F238E27FC236}">
                <a16:creationId xmlns:a16="http://schemas.microsoft.com/office/drawing/2014/main" id="{20979207-B885-387A-B59D-2DDC44C71915}"/>
              </a:ext>
            </a:extLst>
          </p:cNvPr>
          <p:cNvCxnSpPr>
            <a:cxnSpLocks/>
            <a:stCxn id="263" idx="6"/>
            <a:endCxn id="42" idx="2"/>
          </p:cNvCxnSpPr>
          <p:nvPr/>
        </p:nvCxnSpPr>
        <p:spPr>
          <a:xfrm flipV="1">
            <a:off x="9189118" y="3152880"/>
            <a:ext cx="427476" cy="7016"/>
          </a:xfrm>
          <a:prstGeom prst="straightConnector1">
            <a:avLst/>
          </a:prstGeom>
          <a:ln w="12700">
            <a:solidFill>
              <a:schemeClr val="tx1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TextBox 281">
            <a:extLst>
              <a:ext uri="{FF2B5EF4-FFF2-40B4-BE49-F238E27FC236}">
                <a16:creationId xmlns:a16="http://schemas.microsoft.com/office/drawing/2014/main" id="{A9C7B207-EA7E-E510-6967-D86BD05A6F5C}"/>
              </a:ext>
            </a:extLst>
          </p:cNvPr>
          <p:cNvSpPr txBox="1"/>
          <p:nvPr/>
        </p:nvSpPr>
        <p:spPr>
          <a:xfrm>
            <a:off x="9113166" y="3131875"/>
            <a:ext cx="669814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500" i="1">
                <a:latin typeface="Aptos" panose="020B0004020202020204" pitchFamily="34" charset="0"/>
              </a:rPr>
              <a:t>Doc</a:t>
            </a:r>
            <a:r>
              <a:rPr lang="en-GB" sz="500">
                <a:latin typeface="Aptos" panose="020B0004020202020204" pitchFamily="34" charset="0"/>
              </a:rPr>
              <a:t> </a:t>
            </a:r>
            <a:r>
              <a:rPr lang="en-GB" sz="500" i="1">
                <a:latin typeface="Aptos" panose="020B0004020202020204" pitchFamily="34" charset="0"/>
              </a:rPr>
              <a:t>scanned</a:t>
            </a:r>
          </a:p>
        </p:txBody>
      </p: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D1594635-846E-BF95-3AE2-C66B97B612CE}"/>
              </a:ext>
            </a:extLst>
          </p:cNvPr>
          <p:cNvGrpSpPr/>
          <p:nvPr/>
        </p:nvGrpSpPr>
        <p:grpSpPr>
          <a:xfrm>
            <a:off x="10595759" y="3140801"/>
            <a:ext cx="560476" cy="560476"/>
            <a:chOff x="2933661" y="5478818"/>
            <a:chExt cx="715917" cy="715917"/>
          </a:xfrm>
        </p:grpSpPr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8DD660DD-CDF9-3BEF-37A0-7553BA250819}"/>
                </a:ext>
              </a:extLst>
            </p:cNvPr>
            <p:cNvGrpSpPr/>
            <p:nvPr/>
          </p:nvGrpSpPr>
          <p:grpSpPr>
            <a:xfrm>
              <a:off x="2933661" y="5478818"/>
              <a:ext cx="715917" cy="715917"/>
              <a:chOff x="2823128" y="5562141"/>
              <a:chExt cx="915711" cy="915711"/>
            </a:xfrm>
          </p:grpSpPr>
          <p:pic>
            <p:nvPicPr>
              <p:cNvPr id="289" name="Picture 288">
                <a:extLst>
                  <a:ext uri="{FF2B5EF4-FFF2-40B4-BE49-F238E27FC236}">
                    <a16:creationId xmlns:a16="http://schemas.microsoft.com/office/drawing/2014/main" id="{6C72824B-F558-FF2E-8AAA-C4104E8444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grayscl/>
                <a:alphaModFix amt="35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45215" y1="27637" x2="45215" y2="27637"/>
                            <a14:foregroundMark x1="57910" y1="26758" x2="57910" y2="26758"/>
                            <a14:foregroundMark x1="62305" y1="28613" x2="62305" y2="28613"/>
                            <a14:foregroundMark x1="45117" y1="27539" x2="45117" y2="27539"/>
                            <a14:foregroundMark x1="44141" y1="72266" x2="37500" y2="70215"/>
                            <a14:foregroundMark x1="37500" y1="70215" x2="30469" y2="64063"/>
                            <a14:foregroundMark x1="30469" y1="64063" x2="26465" y2="47852"/>
                            <a14:foregroundMark x1="26465" y1="47852" x2="31641" y2="34766"/>
                            <a14:foregroundMark x1="31641" y1="34766" x2="37988" y2="29980"/>
                            <a14:foregroundMark x1="37988" y1="29980" x2="46777" y2="27051"/>
                            <a14:foregroundMark x1="46777" y1="27051" x2="54199" y2="26855"/>
                            <a14:foregroundMark x1="54199" y1="26855" x2="62402" y2="29688"/>
                            <a14:foregroundMark x1="62402" y1="29688" x2="68750" y2="35059"/>
                            <a14:foregroundMark x1="68750" y1="35059" x2="72070" y2="42188"/>
                            <a14:foregroundMark x1="72070" y1="42188" x2="71387" y2="62109"/>
                            <a14:foregroundMark x1="71387" y1="62109" x2="64551" y2="68457"/>
                            <a14:foregroundMark x1="64551" y1="68457" x2="41895" y2="73633"/>
                            <a14:foregroundMark x1="41504" y1="33496" x2="51563" y2="32031"/>
                            <a14:foregroundMark x1="51563" y1="32031" x2="59570" y2="34668"/>
                            <a14:foregroundMark x1="59570" y1="34668" x2="66211" y2="40430"/>
                            <a14:foregroundMark x1="66211" y1="40430" x2="67773" y2="49121"/>
                            <a14:foregroundMark x1="67773" y1="49121" x2="66406" y2="56934"/>
                            <a14:foregroundMark x1="66406" y1="56934" x2="61621" y2="62793"/>
                            <a14:foregroundMark x1="61621" y1="62793" x2="54883" y2="67285"/>
                            <a14:foregroundMark x1="54883" y1="67285" x2="45996" y2="66797"/>
                            <a14:foregroundMark x1="45996" y1="66797" x2="37598" y2="63086"/>
                            <a14:foregroundMark x1="37598" y1="63086" x2="33105" y2="55664"/>
                            <a14:foregroundMark x1="33105" y1="55664" x2="31836" y2="45703"/>
                            <a14:foregroundMark x1="31836" y1="45703" x2="35449" y2="39063"/>
                            <a14:foregroundMark x1="35449" y1="39063" x2="42188" y2="332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23128" y="5562141"/>
                <a:ext cx="915711" cy="915711"/>
              </a:xfrm>
              <a:prstGeom prst="rect">
                <a:avLst/>
              </a:prstGeom>
            </p:spPr>
          </p:pic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012BF0D4-AD28-DC17-0A14-1B5CDA3D576B}"/>
                  </a:ext>
                </a:extLst>
              </p:cNvPr>
              <p:cNvSpPr/>
              <p:nvPr/>
            </p:nvSpPr>
            <p:spPr>
              <a:xfrm>
                <a:off x="2966077" y="5698062"/>
                <a:ext cx="629815" cy="629815"/>
              </a:xfrm>
              <a:prstGeom prst="ellipse">
                <a:avLst/>
              </a:prstGeom>
              <a:noFill/>
              <a:ln w="9525"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87" name="Graphic 286" descr="Artificial Intelligence outline">
              <a:extLst>
                <a:ext uri="{FF2B5EF4-FFF2-40B4-BE49-F238E27FC236}">
                  <a16:creationId xmlns:a16="http://schemas.microsoft.com/office/drawing/2014/main" id="{B9A95ABF-4A24-040D-2C48-54C3ECD17B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99794" y="5735110"/>
              <a:ext cx="203331" cy="203331"/>
            </a:xfrm>
            <a:prstGeom prst="rect">
              <a:avLst/>
            </a:prstGeom>
          </p:spPr>
        </p:pic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EFCF3016-29BF-53C9-01D6-4D3D560AA5A3}"/>
                </a:ext>
              </a:extLst>
            </p:cNvPr>
            <p:cNvSpPr txBox="1"/>
            <p:nvPr/>
          </p:nvSpPr>
          <p:spPr>
            <a:xfrm>
              <a:off x="2999994" y="5961818"/>
              <a:ext cx="602932" cy="7049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400" b="1">
                  <a:solidFill>
                    <a:schemeClr val="accent1"/>
                  </a:solidFill>
                  <a:latin typeface="Aptos" panose="020B0004020202020204" pitchFamily="34" charset="0"/>
                </a:rPr>
                <a:t>Transaction </a:t>
              </a:r>
            </a:p>
            <a:p>
              <a:pPr algn="ctr"/>
              <a:r>
                <a:rPr lang="en-GB" sz="400" b="1">
                  <a:solidFill>
                    <a:schemeClr val="accent1"/>
                  </a:solidFill>
                  <a:latin typeface="Aptos" panose="020B0004020202020204" pitchFamily="34" charset="0"/>
                </a:rPr>
                <a:t>agent</a:t>
              </a:r>
            </a:p>
          </p:txBody>
        </p:sp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C86B87B7-9DED-A83F-2C14-90D3FBD58CED}"/>
              </a:ext>
            </a:extLst>
          </p:cNvPr>
          <p:cNvGrpSpPr/>
          <p:nvPr/>
        </p:nvGrpSpPr>
        <p:grpSpPr>
          <a:xfrm>
            <a:off x="10598520" y="3585332"/>
            <a:ext cx="560476" cy="560476"/>
            <a:chOff x="2933661" y="5478818"/>
            <a:chExt cx="715917" cy="715917"/>
          </a:xfrm>
        </p:grpSpPr>
        <p:grpSp>
          <p:nvGrpSpPr>
            <p:cNvPr id="292" name="Group 291">
              <a:extLst>
                <a:ext uri="{FF2B5EF4-FFF2-40B4-BE49-F238E27FC236}">
                  <a16:creationId xmlns:a16="http://schemas.microsoft.com/office/drawing/2014/main" id="{7D6C8B2E-7F58-6D92-2596-7C7ADF0936F0}"/>
                </a:ext>
              </a:extLst>
            </p:cNvPr>
            <p:cNvGrpSpPr/>
            <p:nvPr/>
          </p:nvGrpSpPr>
          <p:grpSpPr>
            <a:xfrm>
              <a:off x="2933661" y="5478818"/>
              <a:ext cx="715917" cy="715917"/>
              <a:chOff x="2823128" y="5562141"/>
              <a:chExt cx="915711" cy="915711"/>
            </a:xfrm>
          </p:grpSpPr>
          <p:pic>
            <p:nvPicPr>
              <p:cNvPr id="295" name="Picture 294">
                <a:extLst>
                  <a:ext uri="{FF2B5EF4-FFF2-40B4-BE49-F238E27FC236}">
                    <a16:creationId xmlns:a16="http://schemas.microsoft.com/office/drawing/2014/main" id="{A61C98BF-CC0E-A07D-7394-1728D7D8D7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grayscl/>
                <a:alphaModFix amt="35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45215" y1="27637" x2="45215" y2="27637"/>
                            <a14:foregroundMark x1="57910" y1="26758" x2="57910" y2="26758"/>
                            <a14:foregroundMark x1="62305" y1="28613" x2="62305" y2="28613"/>
                            <a14:foregroundMark x1="45117" y1="27539" x2="45117" y2="27539"/>
                            <a14:foregroundMark x1="44141" y1="72266" x2="37500" y2="70215"/>
                            <a14:foregroundMark x1="37500" y1="70215" x2="30469" y2="64063"/>
                            <a14:foregroundMark x1="30469" y1="64063" x2="26465" y2="47852"/>
                            <a14:foregroundMark x1="26465" y1="47852" x2="31641" y2="34766"/>
                            <a14:foregroundMark x1="31641" y1="34766" x2="37988" y2="29980"/>
                            <a14:foregroundMark x1="37988" y1="29980" x2="46777" y2="27051"/>
                            <a14:foregroundMark x1="46777" y1="27051" x2="54199" y2="26855"/>
                            <a14:foregroundMark x1="54199" y1="26855" x2="62402" y2="29688"/>
                            <a14:foregroundMark x1="62402" y1="29688" x2="68750" y2="35059"/>
                            <a14:foregroundMark x1="68750" y1="35059" x2="72070" y2="42188"/>
                            <a14:foregroundMark x1="72070" y1="42188" x2="71387" y2="62109"/>
                            <a14:foregroundMark x1="71387" y1="62109" x2="64551" y2="68457"/>
                            <a14:foregroundMark x1="64551" y1="68457" x2="41895" y2="73633"/>
                            <a14:foregroundMark x1="41504" y1="33496" x2="51563" y2="32031"/>
                            <a14:foregroundMark x1="51563" y1="32031" x2="59570" y2="34668"/>
                            <a14:foregroundMark x1="59570" y1="34668" x2="66211" y2="40430"/>
                            <a14:foregroundMark x1="66211" y1="40430" x2="67773" y2="49121"/>
                            <a14:foregroundMark x1="67773" y1="49121" x2="66406" y2="56934"/>
                            <a14:foregroundMark x1="66406" y1="56934" x2="61621" y2="62793"/>
                            <a14:foregroundMark x1="61621" y1="62793" x2="54883" y2="67285"/>
                            <a14:foregroundMark x1="54883" y1="67285" x2="45996" y2="66797"/>
                            <a14:foregroundMark x1="45996" y1="66797" x2="37598" y2="63086"/>
                            <a14:foregroundMark x1="37598" y1="63086" x2="33105" y2="55664"/>
                            <a14:foregroundMark x1="33105" y1="55664" x2="31836" y2="45703"/>
                            <a14:foregroundMark x1="31836" y1="45703" x2="35449" y2="39063"/>
                            <a14:foregroundMark x1="35449" y1="39063" x2="42188" y2="332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23128" y="5562141"/>
                <a:ext cx="915711" cy="915711"/>
              </a:xfrm>
              <a:prstGeom prst="rect">
                <a:avLst/>
              </a:prstGeom>
            </p:spPr>
          </p:pic>
          <p:sp>
            <p:nvSpPr>
              <p:cNvPr id="296" name="Oval 295">
                <a:extLst>
                  <a:ext uri="{FF2B5EF4-FFF2-40B4-BE49-F238E27FC236}">
                    <a16:creationId xmlns:a16="http://schemas.microsoft.com/office/drawing/2014/main" id="{F70E2709-5CE5-D53C-B94C-28F5EDD5FD4E}"/>
                  </a:ext>
                </a:extLst>
              </p:cNvPr>
              <p:cNvSpPr/>
              <p:nvPr/>
            </p:nvSpPr>
            <p:spPr>
              <a:xfrm>
                <a:off x="2966077" y="5698062"/>
                <a:ext cx="629815" cy="629815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8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pic>
          <p:nvPicPr>
            <p:cNvPr id="293" name="Graphic 292" descr="Artificial Intelligence outline">
              <a:extLst>
                <a:ext uri="{FF2B5EF4-FFF2-40B4-BE49-F238E27FC236}">
                  <a16:creationId xmlns:a16="http://schemas.microsoft.com/office/drawing/2014/main" id="{0A1B6547-49C9-1491-28E2-3CD648E0BB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99794" y="5735110"/>
              <a:ext cx="203331" cy="203331"/>
            </a:xfrm>
            <a:prstGeom prst="rect">
              <a:avLst/>
            </a:prstGeom>
          </p:spPr>
        </p:pic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75EB791E-16DB-4C40-CA35-339EF187D722}"/>
                </a:ext>
              </a:extLst>
            </p:cNvPr>
            <p:cNvSpPr txBox="1"/>
            <p:nvPr/>
          </p:nvSpPr>
          <p:spPr>
            <a:xfrm>
              <a:off x="2999994" y="5961818"/>
              <a:ext cx="602932" cy="7049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400" b="1">
                  <a:solidFill>
                    <a:schemeClr val="tx1">
                      <a:lumMod val="60000"/>
                      <a:lumOff val="40000"/>
                    </a:schemeClr>
                  </a:solidFill>
                  <a:latin typeface="Aptos" panose="020B0004020202020204" pitchFamily="34" charset="0"/>
                </a:rPr>
                <a:t>Transaction </a:t>
              </a:r>
            </a:p>
            <a:p>
              <a:pPr algn="ctr"/>
              <a:r>
                <a:rPr lang="en-GB" sz="400" b="1">
                  <a:solidFill>
                    <a:schemeClr val="tx1">
                      <a:lumMod val="60000"/>
                      <a:lumOff val="40000"/>
                    </a:schemeClr>
                  </a:solidFill>
                  <a:latin typeface="Aptos" panose="020B0004020202020204" pitchFamily="34" charset="0"/>
                </a:rPr>
                <a:t>agent</a:t>
              </a:r>
            </a:p>
          </p:txBody>
        </p:sp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E6C09A65-E53A-938F-A10D-752AB3284CC1}"/>
              </a:ext>
            </a:extLst>
          </p:cNvPr>
          <p:cNvGrpSpPr/>
          <p:nvPr/>
        </p:nvGrpSpPr>
        <p:grpSpPr>
          <a:xfrm>
            <a:off x="10585328" y="2696254"/>
            <a:ext cx="560476" cy="560476"/>
            <a:chOff x="2933661" y="5478818"/>
            <a:chExt cx="715917" cy="715917"/>
          </a:xfrm>
        </p:grpSpPr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id="{76F0F1EF-FB90-F59D-C2A6-787226193578}"/>
                </a:ext>
              </a:extLst>
            </p:cNvPr>
            <p:cNvGrpSpPr/>
            <p:nvPr/>
          </p:nvGrpSpPr>
          <p:grpSpPr>
            <a:xfrm>
              <a:off x="2933661" y="5478818"/>
              <a:ext cx="715917" cy="715917"/>
              <a:chOff x="2823128" y="5562141"/>
              <a:chExt cx="915711" cy="915711"/>
            </a:xfrm>
          </p:grpSpPr>
          <p:pic>
            <p:nvPicPr>
              <p:cNvPr id="301" name="Picture 300">
                <a:extLst>
                  <a:ext uri="{FF2B5EF4-FFF2-40B4-BE49-F238E27FC236}">
                    <a16:creationId xmlns:a16="http://schemas.microsoft.com/office/drawing/2014/main" id="{3036A5EA-F5F5-3434-2508-9FA9A3A2F1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grayscl/>
                <a:alphaModFix amt="35000"/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>
                            <a14:foregroundMark x1="45215" y1="27637" x2="45215" y2="27637"/>
                            <a14:foregroundMark x1="57910" y1="26758" x2="57910" y2="26758"/>
                            <a14:foregroundMark x1="62305" y1="28613" x2="62305" y2="28613"/>
                            <a14:foregroundMark x1="45117" y1="27539" x2="45117" y2="27539"/>
                            <a14:foregroundMark x1="44141" y1="72266" x2="37500" y2="70215"/>
                            <a14:foregroundMark x1="37500" y1="70215" x2="30469" y2="64063"/>
                            <a14:foregroundMark x1="30469" y1="64063" x2="26465" y2="47852"/>
                            <a14:foregroundMark x1="26465" y1="47852" x2="31641" y2="34766"/>
                            <a14:foregroundMark x1="31641" y1="34766" x2="37988" y2="29980"/>
                            <a14:foregroundMark x1="37988" y1="29980" x2="46777" y2="27051"/>
                            <a14:foregroundMark x1="46777" y1="27051" x2="54199" y2="26855"/>
                            <a14:foregroundMark x1="54199" y1="26855" x2="62402" y2="29688"/>
                            <a14:foregroundMark x1="62402" y1="29688" x2="68750" y2="35059"/>
                            <a14:foregroundMark x1="68750" y1="35059" x2="72070" y2="42188"/>
                            <a14:foregroundMark x1="72070" y1="42188" x2="71387" y2="62109"/>
                            <a14:foregroundMark x1="71387" y1="62109" x2="64551" y2="68457"/>
                            <a14:foregroundMark x1="64551" y1="68457" x2="41895" y2="73633"/>
                            <a14:foregroundMark x1="41504" y1="33496" x2="51563" y2="32031"/>
                            <a14:foregroundMark x1="51563" y1="32031" x2="59570" y2="34668"/>
                            <a14:foregroundMark x1="59570" y1="34668" x2="66211" y2="40430"/>
                            <a14:foregroundMark x1="66211" y1="40430" x2="67773" y2="49121"/>
                            <a14:foregroundMark x1="67773" y1="49121" x2="66406" y2="56934"/>
                            <a14:foregroundMark x1="66406" y1="56934" x2="61621" y2="62793"/>
                            <a14:foregroundMark x1="61621" y1="62793" x2="54883" y2="67285"/>
                            <a14:foregroundMark x1="54883" y1="67285" x2="45996" y2="66797"/>
                            <a14:foregroundMark x1="45996" y1="66797" x2="37598" y2="63086"/>
                            <a14:foregroundMark x1="37598" y1="63086" x2="33105" y2="55664"/>
                            <a14:foregroundMark x1="33105" y1="55664" x2="31836" y2="45703"/>
                            <a14:foregroundMark x1="31836" y1="45703" x2="35449" y2="39063"/>
                            <a14:foregroundMark x1="35449" y1="39063" x2="42188" y2="332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23128" y="5562141"/>
                <a:ext cx="915711" cy="915711"/>
              </a:xfrm>
              <a:prstGeom prst="rect">
                <a:avLst/>
              </a:prstGeom>
            </p:spPr>
          </p:pic>
          <p:sp>
            <p:nvSpPr>
              <p:cNvPr id="302" name="Oval 301">
                <a:extLst>
                  <a:ext uri="{FF2B5EF4-FFF2-40B4-BE49-F238E27FC236}">
                    <a16:creationId xmlns:a16="http://schemas.microsoft.com/office/drawing/2014/main" id="{D4B49A21-EADB-03B3-E5F2-05C24198B7AE}"/>
                  </a:ext>
                </a:extLst>
              </p:cNvPr>
              <p:cNvSpPr/>
              <p:nvPr/>
            </p:nvSpPr>
            <p:spPr>
              <a:xfrm>
                <a:off x="2966077" y="5698062"/>
                <a:ext cx="629815" cy="629815"/>
              </a:xfrm>
              <a:prstGeom prst="ellipse">
                <a:avLst/>
              </a:prstGeom>
              <a:noFill/>
              <a:ln w="9525">
                <a:solidFill>
                  <a:schemeClr val="bg2">
                    <a:lumMod val="8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pic>
          <p:nvPicPr>
            <p:cNvPr id="299" name="Graphic 298" descr="Artificial Intelligence outline">
              <a:extLst>
                <a:ext uri="{FF2B5EF4-FFF2-40B4-BE49-F238E27FC236}">
                  <a16:creationId xmlns:a16="http://schemas.microsoft.com/office/drawing/2014/main" id="{DBFC6404-47C7-AD8A-EFC7-5E61E989E9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99794" y="5735110"/>
              <a:ext cx="203331" cy="203331"/>
            </a:xfrm>
            <a:prstGeom prst="rect">
              <a:avLst/>
            </a:prstGeom>
          </p:spPr>
        </p:pic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BC442E1B-CAD8-8AD4-C03F-E907CD323928}"/>
                </a:ext>
              </a:extLst>
            </p:cNvPr>
            <p:cNvSpPr txBox="1"/>
            <p:nvPr/>
          </p:nvSpPr>
          <p:spPr>
            <a:xfrm>
              <a:off x="2999994" y="5961818"/>
              <a:ext cx="602932" cy="7049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GB" sz="400" b="1">
                  <a:solidFill>
                    <a:schemeClr val="tx1">
                      <a:lumMod val="60000"/>
                      <a:lumOff val="40000"/>
                    </a:schemeClr>
                  </a:solidFill>
                  <a:latin typeface="Aptos" panose="020B0004020202020204" pitchFamily="34" charset="0"/>
                </a:rPr>
                <a:t>Transaction </a:t>
              </a:r>
            </a:p>
            <a:p>
              <a:pPr algn="ctr"/>
              <a:r>
                <a:rPr lang="en-GB" sz="400" b="1">
                  <a:solidFill>
                    <a:schemeClr val="tx1">
                      <a:lumMod val="60000"/>
                      <a:lumOff val="40000"/>
                    </a:schemeClr>
                  </a:solidFill>
                  <a:latin typeface="Aptos" panose="020B0004020202020204" pitchFamily="34" charset="0"/>
                </a:rPr>
                <a:t>agent</a:t>
              </a:r>
            </a:p>
          </p:txBody>
        </p:sp>
      </p:grp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6A306181-4E14-962D-5608-A27FB86402A9}"/>
              </a:ext>
            </a:extLst>
          </p:cNvPr>
          <p:cNvCxnSpPr>
            <a:cxnSpLocks/>
            <a:stCxn id="42" idx="6"/>
            <a:endCxn id="302" idx="2"/>
          </p:cNvCxnSpPr>
          <p:nvPr/>
        </p:nvCxnSpPr>
        <p:spPr>
          <a:xfrm flipV="1">
            <a:off x="10108993" y="2972192"/>
            <a:ext cx="563829" cy="180688"/>
          </a:xfrm>
          <a:prstGeom prst="straightConnector1">
            <a:avLst/>
          </a:prstGeom>
          <a:ln w="12700">
            <a:solidFill>
              <a:schemeClr val="bg2">
                <a:lumMod val="85000"/>
              </a:schemeClr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25412871-6BF1-C952-4032-C6E5FFD8CBAE}"/>
              </a:ext>
            </a:extLst>
          </p:cNvPr>
          <p:cNvCxnSpPr>
            <a:cxnSpLocks/>
            <a:stCxn id="42" idx="6"/>
            <a:endCxn id="290" idx="2"/>
          </p:cNvCxnSpPr>
          <p:nvPr/>
        </p:nvCxnSpPr>
        <p:spPr>
          <a:xfrm>
            <a:off x="10108993" y="3152880"/>
            <a:ext cx="574260" cy="263859"/>
          </a:xfrm>
          <a:prstGeom prst="straightConnector1">
            <a:avLst/>
          </a:prstGeom>
          <a:ln w="12700">
            <a:solidFill>
              <a:schemeClr val="tx1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Arrow Connector 311">
            <a:extLst>
              <a:ext uri="{FF2B5EF4-FFF2-40B4-BE49-F238E27FC236}">
                <a16:creationId xmlns:a16="http://schemas.microsoft.com/office/drawing/2014/main" id="{CDBFB368-300E-AECA-93E7-E36152A8979C}"/>
              </a:ext>
            </a:extLst>
          </p:cNvPr>
          <p:cNvCxnSpPr>
            <a:cxnSpLocks/>
            <a:stCxn id="42" idx="6"/>
            <a:endCxn id="296" idx="2"/>
          </p:cNvCxnSpPr>
          <p:nvPr/>
        </p:nvCxnSpPr>
        <p:spPr>
          <a:xfrm>
            <a:off x="10108993" y="3152880"/>
            <a:ext cx="577021" cy="708390"/>
          </a:xfrm>
          <a:prstGeom prst="straightConnector1">
            <a:avLst/>
          </a:prstGeom>
          <a:ln w="12700">
            <a:solidFill>
              <a:schemeClr val="bg2">
                <a:lumMod val="85000"/>
              </a:schemeClr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Arrow Connector 315">
            <a:extLst>
              <a:ext uri="{FF2B5EF4-FFF2-40B4-BE49-F238E27FC236}">
                <a16:creationId xmlns:a16="http://schemas.microsoft.com/office/drawing/2014/main" id="{A2018273-E031-0E24-00F6-2B26D3CFBE37}"/>
              </a:ext>
            </a:extLst>
          </p:cNvPr>
          <p:cNvCxnSpPr>
            <a:cxnSpLocks/>
            <a:stCxn id="290" idx="6"/>
            <a:endCxn id="269" idx="2"/>
          </p:cNvCxnSpPr>
          <p:nvPr/>
        </p:nvCxnSpPr>
        <p:spPr>
          <a:xfrm flipV="1">
            <a:off x="11068742" y="3415487"/>
            <a:ext cx="448164" cy="1252"/>
          </a:xfrm>
          <a:prstGeom prst="straightConnector1">
            <a:avLst/>
          </a:prstGeom>
          <a:ln w="12700">
            <a:solidFill>
              <a:schemeClr val="tx1"/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0" name="TextBox 319">
            <a:extLst>
              <a:ext uri="{FF2B5EF4-FFF2-40B4-BE49-F238E27FC236}">
                <a16:creationId xmlns:a16="http://schemas.microsoft.com/office/drawing/2014/main" id="{41D7A6C5-8A67-BEC8-D104-C812D03820E7}"/>
              </a:ext>
            </a:extLst>
          </p:cNvPr>
          <p:cNvSpPr txBox="1"/>
          <p:nvPr/>
        </p:nvSpPr>
        <p:spPr>
          <a:xfrm rot="1407104">
            <a:off x="10066017" y="3242243"/>
            <a:ext cx="669814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500" i="1">
                <a:latin typeface="Aptos" panose="020B0004020202020204" pitchFamily="34" charset="0"/>
              </a:rPr>
              <a:t>Doc</a:t>
            </a:r>
            <a:r>
              <a:rPr lang="en-GB" sz="500">
                <a:latin typeface="Aptos" panose="020B0004020202020204" pitchFamily="34" charset="0"/>
              </a:rPr>
              <a:t> </a:t>
            </a:r>
            <a:r>
              <a:rPr lang="en-GB" sz="500" i="1">
                <a:latin typeface="Aptos" panose="020B0004020202020204" pitchFamily="34" charset="0"/>
              </a:rPr>
              <a:t>categorized</a:t>
            </a: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9A074984-F0E1-27FD-A5D3-B07FDF2E6073}"/>
              </a:ext>
            </a:extLst>
          </p:cNvPr>
          <p:cNvSpPr txBox="1"/>
          <p:nvPr/>
        </p:nvSpPr>
        <p:spPr>
          <a:xfrm>
            <a:off x="11006686" y="3415417"/>
            <a:ext cx="669814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500" i="1">
                <a:latin typeface="Aptos" panose="020B0004020202020204" pitchFamily="34" charset="0"/>
              </a:rPr>
              <a:t>Data extracted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E818576B-B61D-83AB-BD95-60A75C941D92}"/>
              </a:ext>
            </a:extLst>
          </p:cNvPr>
          <p:cNvSpPr txBox="1"/>
          <p:nvPr/>
        </p:nvSpPr>
        <p:spPr>
          <a:xfrm>
            <a:off x="11426934" y="3638569"/>
            <a:ext cx="669814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500" i="1">
                <a:latin typeface="Aptos" panose="020B0004020202020204" pitchFamily="34" charset="0"/>
              </a:rPr>
              <a:t>Transaction completed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F1A0A4-E89B-E303-669E-BF72547756FD}"/>
              </a:ext>
            </a:extLst>
          </p:cNvPr>
          <p:cNvSpPr txBox="1"/>
          <p:nvPr/>
        </p:nvSpPr>
        <p:spPr>
          <a:xfrm>
            <a:off x="5017195" y="1347019"/>
            <a:ext cx="3593823" cy="4886633"/>
          </a:xfrm>
          <a:prstGeom prst="rect">
            <a:avLst/>
          </a:prstGeom>
          <a:noFill/>
          <a:ln w="25400">
            <a:solidFill>
              <a:schemeClr val="accent4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l"/>
            <a:endParaRPr lang="en-GB" sz="140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48A158-A2BE-9F87-EF0F-5529BB0F5BFF}"/>
              </a:ext>
            </a:extLst>
          </p:cNvPr>
          <p:cNvSpPr txBox="1"/>
          <p:nvPr/>
        </p:nvSpPr>
        <p:spPr>
          <a:xfrm>
            <a:off x="5765059" y="6277334"/>
            <a:ext cx="2290100" cy="3077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400" b="1">
                <a:solidFill>
                  <a:schemeClr val="accent4"/>
                </a:solidFill>
                <a:latin typeface="Aptos" panose="020B0004020202020204" pitchFamily="34" charset="0"/>
              </a:rPr>
              <a:t>Multi-classifier Agent</a:t>
            </a:r>
          </a:p>
        </p:txBody>
      </p:sp>
    </p:spTree>
    <p:extLst>
      <p:ext uri="{BB962C8B-B14F-4D97-AF65-F5344CB8AC3E}">
        <p14:creationId xmlns:p14="http://schemas.microsoft.com/office/powerpoint/2010/main" val="31426157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6D6F7-5103-33BD-B53C-32604692F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B4C880-3CBA-C5A7-8928-78AA19366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Impact on Mailroom operations journey</a:t>
            </a:r>
            <a:endParaRPr lang="en-GB"/>
          </a:p>
        </p:txBody>
      </p:sp>
      <p:grpSp>
        <p:nvGrpSpPr>
          <p:cNvPr id="2092" name="Group 2091">
            <a:extLst>
              <a:ext uri="{FF2B5EF4-FFF2-40B4-BE49-F238E27FC236}">
                <a16:creationId xmlns:a16="http://schemas.microsoft.com/office/drawing/2014/main" id="{E5CB4DD9-FF43-7C8F-B432-555DC99F849A}"/>
              </a:ext>
            </a:extLst>
          </p:cNvPr>
          <p:cNvGrpSpPr/>
          <p:nvPr/>
        </p:nvGrpSpPr>
        <p:grpSpPr>
          <a:xfrm>
            <a:off x="192066" y="886784"/>
            <a:ext cx="11968223" cy="3405888"/>
            <a:chOff x="192066" y="772484"/>
            <a:chExt cx="11968223" cy="3405888"/>
          </a:xfrm>
        </p:grpSpPr>
        <p:pic>
          <p:nvPicPr>
            <p:cNvPr id="107" name="Graphic 106" descr="Photocopier outline">
              <a:extLst>
                <a:ext uri="{FF2B5EF4-FFF2-40B4-BE49-F238E27FC236}">
                  <a16:creationId xmlns:a16="http://schemas.microsoft.com/office/drawing/2014/main" id="{A7A21965-6D49-9E28-D829-99607A9059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5481" y="933770"/>
              <a:ext cx="368927" cy="368927"/>
            </a:xfrm>
            <a:prstGeom prst="rect">
              <a:avLst/>
            </a:prstGeom>
          </p:spPr>
        </p:pic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DC2284A1-C76E-0668-A6AA-20261C62D778}"/>
                </a:ext>
              </a:extLst>
            </p:cNvPr>
            <p:cNvSpPr txBox="1"/>
            <p:nvPr/>
          </p:nvSpPr>
          <p:spPr>
            <a:xfrm>
              <a:off x="4235481" y="851326"/>
              <a:ext cx="452613" cy="12311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Scanner</a:t>
              </a:r>
              <a:endParaRPr kumimoji="0" lang="en-GB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109" name="Graphic 108" descr="Envelope outline">
              <a:extLst>
                <a:ext uri="{FF2B5EF4-FFF2-40B4-BE49-F238E27FC236}">
                  <a16:creationId xmlns:a16="http://schemas.microsoft.com/office/drawing/2014/main" id="{EF9D6551-4658-BDEB-6E26-8729FFBF65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3529" y="1803076"/>
              <a:ext cx="334967" cy="269511"/>
            </a:xfrm>
            <a:prstGeom prst="rect">
              <a:avLst/>
            </a:prstGeom>
          </p:spPr>
        </p:pic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AA86BE2-0D94-3FF6-4686-07EACD378D02}"/>
                </a:ext>
              </a:extLst>
            </p:cNvPr>
            <p:cNvSpPr/>
            <p:nvPr/>
          </p:nvSpPr>
          <p:spPr>
            <a:xfrm>
              <a:off x="4113618" y="772484"/>
              <a:ext cx="645153" cy="5760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E8E16661-534A-5161-925E-1B4702DC6881}"/>
                </a:ext>
              </a:extLst>
            </p:cNvPr>
            <p:cNvCxnSpPr>
              <a:cxnSpLocks/>
              <a:stCxn id="114" idx="3"/>
            </p:cNvCxnSpPr>
            <p:nvPr/>
          </p:nvCxnSpPr>
          <p:spPr>
            <a:xfrm>
              <a:off x="946775" y="1875287"/>
              <a:ext cx="494273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C015767B-BDB1-2E92-7420-11BA940DBFAD}"/>
                </a:ext>
              </a:extLst>
            </p:cNvPr>
            <p:cNvSpPr txBox="1"/>
            <p:nvPr/>
          </p:nvSpPr>
          <p:spPr>
            <a:xfrm>
              <a:off x="1033338" y="1732174"/>
              <a:ext cx="270427" cy="1538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36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Paper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769D3B30-CBD8-0F35-377A-434CDB640B86}"/>
                </a:ext>
              </a:extLst>
            </p:cNvPr>
            <p:cNvSpPr/>
            <p:nvPr/>
          </p:nvSpPr>
          <p:spPr>
            <a:xfrm>
              <a:off x="301622" y="1587287"/>
              <a:ext cx="645153" cy="5760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6ACB2273-EA81-8E22-2EF1-401532344041}"/>
                </a:ext>
              </a:extLst>
            </p:cNvPr>
            <p:cNvSpPr txBox="1"/>
            <p:nvPr/>
          </p:nvSpPr>
          <p:spPr>
            <a:xfrm>
              <a:off x="396873" y="1648738"/>
              <a:ext cx="452613" cy="12311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Mail</a:t>
              </a:r>
              <a:endParaRPr kumimoji="0" lang="en-GB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8132A5D-332D-4265-B76A-08BF53F1D4A6}"/>
                </a:ext>
              </a:extLst>
            </p:cNvPr>
            <p:cNvSpPr/>
            <p:nvPr/>
          </p:nvSpPr>
          <p:spPr>
            <a:xfrm>
              <a:off x="1471471" y="1587287"/>
              <a:ext cx="960992" cy="5760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C4ADEA2-A870-A546-A705-C762C8804DC8}"/>
                </a:ext>
              </a:extLst>
            </p:cNvPr>
            <p:cNvSpPr txBox="1"/>
            <p:nvPr/>
          </p:nvSpPr>
          <p:spPr>
            <a:xfrm>
              <a:off x="1547165" y="1629065"/>
              <a:ext cx="809603" cy="492443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Sorting table &gt; </a:t>
              </a:r>
              <a:r>
                <a:rPr lang="en-US" sz="800" b="1">
                  <a:solidFill>
                    <a:srgbClr val="93186C"/>
                  </a:solidFill>
                  <a:latin typeface="Aptos" panose="02110004020202020204"/>
                </a:rPr>
                <a:t>sorted onshore vs offshore based on PO Box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5D995D1-4B1F-E82B-0077-124FD67E0480}"/>
                </a:ext>
              </a:extLst>
            </p:cNvPr>
            <p:cNvSpPr/>
            <p:nvPr/>
          </p:nvSpPr>
          <p:spPr>
            <a:xfrm>
              <a:off x="2878701" y="891992"/>
              <a:ext cx="960992" cy="34097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EA3DD62-0B4A-AB66-22DE-AB6FF97819E4}"/>
                </a:ext>
              </a:extLst>
            </p:cNvPr>
            <p:cNvSpPr txBox="1"/>
            <p:nvPr/>
          </p:nvSpPr>
          <p:spPr>
            <a:xfrm>
              <a:off x="2954395" y="933770"/>
              <a:ext cx="809603" cy="24622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High volume (known)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08C3ACE-8378-4993-7E5B-EE1B677E02E0}"/>
                </a:ext>
              </a:extLst>
            </p:cNvPr>
            <p:cNvSpPr/>
            <p:nvPr/>
          </p:nvSpPr>
          <p:spPr>
            <a:xfrm>
              <a:off x="2878701" y="2294520"/>
              <a:ext cx="960992" cy="34097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FA5D0CE-2F19-69C4-333A-AB37814F5C4B}"/>
                </a:ext>
              </a:extLst>
            </p:cNvPr>
            <p:cNvSpPr txBox="1"/>
            <p:nvPr/>
          </p:nvSpPr>
          <p:spPr>
            <a:xfrm>
              <a:off x="2954395" y="2336298"/>
              <a:ext cx="809603" cy="24622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White mail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93186C"/>
                  </a:solidFill>
                  <a:latin typeface="Aptos" panose="02110004020202020204"/>
                </a:rPr>
                <a:t>(unknown)</a:t>
              </a:r>
              <a:endPara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1440FAB7-0A1E-903A-2A9B-E96E6D4D320D}"/>
                </a:ext>
              </a:extLst>
            </p:cNvPr>
            <p:cNvCxnSpPr>
              <a:cxnSpLocks/>
              <a:stCxn id="14" idx="3"/>
              <a:endCxn id="16" idx="1"/>
            </p:cNvCxnSpPr>
            <p:nvPr/>
          </p:nvCxnSpPr>
          <p:spPr>
            <a:xfrm flipV="1">
              <a:off x="2432463" y="1062477"/>
              <a:ext cx="446238" cy="81281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46F10403-45BD-F001-40EE-52A416D8DAB9}"/>
                </a:ext>
              </a:extLst>
            </p:cNvPr>
            <p:cNvCxnSpPr>
              <a:cxnSpLocks/>
            </p:cNvCxnSpPr>
            <p:nvPr/>
          </p:nvCxnSpPr>
          <p:spPr>
            <a:xfrm>
              <a:off x="2432462" y="1886062"/>
              <a:ext cx="446238" cy="589718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CE587F9-EC20-BA72-1801-A91726D9322F}"/>
                </a:ext>
              </a:extLst>
            </p:cNvPr>
            <p:cNvCxnSpPr>
              <a:cxnSpLocks/>
            </p:cNvCxnSpPr>
            <p:nvPr/>
          </p:nvCxnSpPr>
          <p:spPr>
            <a:xfrm>
              <a:off x="3823473" y="1043968"/>
              <a:ext cx="271563" cy="1596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E5E95FF-4D7D-9DED-3640-830519F2B515}"/>
                </a:ext>
              </a:extLst>
            </p:cNvPr>
            <p:cNvCxnSpPr>
              <a:cxnSpLocks/>
            </p:cNvCxnSpPr>
            <p:nvPr/>
          </p:nvCxnSpPr>
          <p:spPr>
            <a:xfrm>
              <a:off x="3857240" y="2451027"/>
              <a:ext cx="219445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E5CA38D-FBD4-598B-923D-40D6671213F1}"/>
                </a:ext>
              </a:extLst>
            </p:cNvPr>
            <p:cNvSpPr/>
            <p:nvPr/>
          </p:nvSpPr>
          <p:spPr>
            <a:xfrm>
              <a:off x="4076685" y="1606795"/>
              <a:ext cx="1386128" cy="2571577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FDDEDE9-C391-FF1C-F803-59438C00612A}"/>
                </a:ext>
              </a:extLst>
            </p:cNvPr>
            <p:cNvSpPr txBox="1"/>
            <p:nvPr/>
          </p:nvSpPr>
          <p:spPr>
            <a:xfrm>
              <a:off x="4152379" y="1648574"/>
              <a:ext cx="1211043" cy="24622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“Offline classification” is conducted here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CBFA72-7C52-4577-E327-8C48CA67C0A1}"/>
                </a:ext>
              </a:extLst>
            </p:cNvPr>
            <p:cNvSpPr txBox="1"/>
            <p:nvPr/>
          </p:nvSpPr>
          <p:spPr>
            <a:xfrm>
              <a:off x="4076685" y="1989544"/>
              <a:ext cx="1386128" cy="172354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lang="en-US" sz="800" i="1">
                  <a:solidFill>
                    <a:srgbClr val="93186C"/>
                  </a:solidFill>
                  <a:latin typeface="Aptos" panose="02110004020202020204"/>
                </a:rPr>
                <a:t>Offshore/Onshore &gt; priority &gt; specific transaction type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kumimoji="0" lang="en-US" sz="800" i="1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Medallion checks, Check amount ok, verification, stamping and hole-punching certificates 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lang="en-US" sz="800" i="1">
                  <a:solidFill>
                    <a:srgbClr val="93186C"/>
                  </a:solidFill>
                  <a:latin typeface="Aptos" panose="02110004020202020204"/>
                </a:rPr>
                <a:t>Stamp if copy or certified </a:t>
              </a:r>
              <a:endParaRPr kumimoji="0" lang="en-US" sz="800" i="1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lang="en-US" sz="800" i="1">
                  <a:solidFill>
                    <a:srgbClr val="93186C"/>
                  </a:solidFill>
                  <a:latin typeface="Aptos" panose="02110004020202020204"/>
                </a:rPr>
                <a:t>Ticket or separator sheet filled out to include all the details that will be entered in Workflow. 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lang="en-US" sz="800" i="1">
                  <a:solidFill>
                    <a:srgbClr val="93186C"/>
                  </a:solidFill>
                  <a:latin typeface="Aptos" panose="02110004020202020204"/>
                </a:rPr>
                <a:t>Separating paper envelopes that can’t be shredded</a:t>
              </a:r>
              <a:endParaRPr kumimoji="0" lang="en-US" sz="800" i="1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19337A6-FD23-5F19-4D53-FA73879309D2}"/>
                </a:ext>
              </a:extLst>
            </p:cNvPr>
            <p:cNvSpPr/>
            <p:nvPr/>
          </p:nvSpPr>
          <p:spPr>
            <a:xfrm>
              <a:off x="6061322" y="1816304"/>
              <a:ext cx="1386128" cy="34097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D9ADD96-8D0A-4ECB-8652-551B2D235DB2}"/>
                </a:ext>
              </a:extLst>
            </p:cNvPr>
            <p:cNvSpPr txBox="1"/>
            <p:nvPr/>
          </p:nvSpPr>
          <p:spPr>
            <a:xfrm>
              <a:off x="6061322" y="1886062"/>
              <a:ext cx="1386128" cy="2154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Offshore physical table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00" i="1">
                  <a:solidFill>
                    <a:srgbClr val="93186C"/>
                  </a:solidFill>
                  <a:latin typeface="Aptos" panose="02110004020202020204"/>
                </a:rPr>
                <a:t>(classified envelope ready to be scanned)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329017C-CB01-021D-D63B-2270AA771A5B}"/>
                </a:ext>
              </a:extLst>
            </p:cNvPr>
            <p:cNvSpPr/>
            <p:nvPr/>
          </p:nvSpPr>
          <p:spPr>
            <a:xfrm>
              <a:off x="6061322" y="2808964"/>
              <a:ext cx="1386128" cy="34097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B297A0E-E327-2AC2-96F9-AC3006CA8F0E}"/>
                </a:ext>
              </a:extLst>
            </p:cNvPr>
            <p:cNvSpPr txBox="1"/>
            <p:nvPr/>
          </p:nvSpPr>
          <p:spPr>
            <a:xfrm>
              <a:off x="6061322" y="2878722"/>
              <a:ext cx="1386128" cy="2154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Onshore physical table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00" i="1">
                  <a:solidFill>
                    <a:srgbClr val="93186C"/>
                  </a:solidFill>
                  <a:latin typeface="Aptos" panose="02110004020202020204"/>
                </a:rPr>
                <a:t>(classified envelope ready to be scanned)</a:t>
              </a:r>
            </a:p>
          </p:txBody>
        </p:sp>
        <p:cxnSp>
          <p:nvCxnSpPr>
            <p:cNvPr id="62" name="Connector: Elbow 61">
              <a:extLst>
                <a:ext uri="{FF2B5EF4-FFF2-40B4-BE49-F238E27FC236}">
                  <a16:creationId xmlns:a16="http://schemas.microsoft.com/office/drawing/2014/main" id="{C0F55D82-405A-32D5-32A8-FA9C5254B8BD}"/>
                </a:ext>
              </a:extLst>
            </p:cNvPr>
            <p:cNvCxnSpPr>
              <a:cxnSpLocks/>
              <a:stCxn id="32" idx="3"/>
              <a:endCxn id="41" idx="1"/>
            </p:cNvCxnSpPr>
            <p:nvPr/>
          </p:nvCxnSpPr>
          <p:spPr>
            <a:xfrm flipV="1">
              <a:off x="5462813" y="1993784"/>
              <a:ext cx="598509" cy="89880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: Elbow 92">
              <a:extLst>
                <a:ext uri="{FF2B5EF4-FFF2-40B4-BE49-F238E27FC236}">
                  <a16:creationId xmlns:a16="http://schemas.microsoft.com/office/drawing/2014/main" id="{2D9D89E0-3F1F-2CC3-97DB-B4A6F708077B}"/>
                </a:ext>
              </a:extLst>
            </p:cNvPr>
            <p:cNvCxnSpPr>
              <a:cxnSpLocks/>
              <a:stCxn id="32" idx="3"/>
              <a:endCxn id="60" idx="1"/>
            </p:cNvCxnSpPr>
            <p:nvPr/>
          </p:nvCxnSpPr>
          <p:spPr>
            <a:xfrm>
              <a:off x="5462813" y="2892584"/>
              <a:ext cx="598509" cy="9386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1F651D3E-D7CA-B1FC-6292-A3291B9A3D1B}"/>
                </a:ext>
              </a:extLst>
            </p:cNvPr>
            <p:cNvSpPr/>
            <p:nvPr/>
          </p:nvSpPr>
          <p:spPr>
            <a:xfrm>
              <a:off x="7984800" y="2013719"/>
              <a:ext cx="1386128" cy="848469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666E360-3B2C-B5DF-6027-50322D2F951F}"/>
                </a:ext>
              </a:extLst>
            </p:cNvPr>
            <p:cNvSpPr txBox="1"/>
            <p:nvPr/>
          </p:nvSpPr>
          <p:spPr>
            <a:xfrm>
              <a:off x="7974789" y="2084011"/>
              <a:ext cx="1386128" cy="2154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Batch allocation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00" i="1">
                  <a:solidFill>
                    <a:srgbClr val="93186C"/>
                  </a:solidFill>
                  <a:latin typeface="Aptos" panose="02110004020202020204"/>
                </a:rPr>
                <a:t>Envelope details entered on Workflow</a:t>
              </a: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1D8B1AD1-F7DF-4CC6-CE6D-7D2B192900C4}"/>
                </a:ext>
              </a:extLst>
            </p:cNvPr>
            <p:cNvSpPr/>
            <p:nvPr/>
          </p:nvSpPr>
          <p:spPr>
            <a:xfrm>
              <a:off x="9658979" y="2014163"/>
              <a:ext cx="1119117" cy="864559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DD6A3750-185A-D782-9B8C-8B2748D2AA0C}"/>
                </a:ext>
              </a:extLst>
            </p:cNvPr>
            <p:cNvSpPr txBox="1"/>
            <p:nvPr/>
          </p:nvSpPr>
          <p:spPr>
            <a:xfrm>
              <a:off x="9683770" y="2324724"/>
              <a:ext cx="1134414" cy="55399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93186C"/>
                  </a:solidFill>
                  <a:latin typeface="Aptos" panose="02110004020202020204"/>
                </a:rPr>
                <a:t>Image scans of envelope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93186C"/>
                  </a:solidFill>
                  <a:latin typeface="Aptos" panose="02110004020202020204"/>
                </a:rPr>
                <a:t> </a:t>
              </a:r>
              <a:r>
                <a:rPr lang="en-US" sz="600" i="1">
                  <a:solidFill>
                    <a:srgbClr val="93186C"/>
                  </a:solidFill>
                  <a:latin typeface="Aptos" panose="02110004020202020204"/>
                </a:rPr>
                <a:t>are scanned and verified by human to ensure papers are complete</a:t>
              </a:r>
              <a:endParaRPr kumimoji="0" lang="en-US" sz="600" i="1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88D8A61C-5A73-157F-2D56-6AEBAE938754}"/>
                </a:ext>
              </a:extLst>
            </p:cNvPr>
            <p:cNvCxnSpPr>
              <a:cxnSpLocks/>
            </p:cNvCxnSpPr>
            <p:nvPr/>
          </p:nvCxnSpPr>
          <p:spPr>
            <a:xfrm>
              <a:off x="9393982" y="2410325"/>
              <a:ext cx="241942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ctor: Elbow 167">
              <a:extLst>
                <a:ext uri="{FF2B5EF4-FFF2-40B4-BE49-F238E27FC236}">
                  <a16:creationId xmlns:a16="http://schemas.microsoft.com/office/drawing/2014/main" id="{67D7E41A-446F-5575-7D67-F6FA053D05BC}"/>
                </a:ext>
              </a:extLst>
            </p:cNvPr>
            <p:cNvCxnSpPr>
              <a:cxnSpLocks/>
              <a:stCxn id="41" idx="3"/>
              <a:endCxn id="105" idx="1"/>
            </p:cNvCxnSpPr>
            <p:nvPr/>
          </p:nvCxnSpPr>
          <p:spPr>
            <a:xfrm>
              <a:off x="7447450" y="1993784"/>
              <a:ext cx="537350" cy="44417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ctor: Elbow 172">
              <a:extLst>
                <a:ext uri="{FF2B5EF4-FFF2-40B4-BE49-F238E27FC236}">
                  <a16:creationId xmlns:a16="http://schemas.microsoft.com/office/drawing/2014/main" id="{0703C9DF-24E8-FCE4-D660-C8FFEA14F552}"/>
                </a:ext>
              </a:extLst>
            </p:cNvPr>
            <p:cNvCxnSpPr>
              <a:cxnSpLocks/>
              <a:stCxn id="60" idx="3"/>
              <a:endCxn id="105" idx="1"/>
            </p:cNvCxnSpPr>
            <p:nvPr/>
          </p:nvCxnSpPr>
          <p:spPr>
            <a:xfrm flipV="1">
              <a:off x="7447450" y="2437954"/>
              <a:ext cx="537350" cy="548490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75" name="Graphic 174" descr="Photocopier outline">
              <a:extLst>
                <a:ext uri="{FF2B5EF4-FFF2-40B4-BE49-F238E27FC236}">
                  <a16:creationId xmlns:a16="http://schemas.microsoft.com/office/drawing/2014/main" id="{E9EA6510-B203-CEE0-2DAB-DBC3E05BE2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43616" y="1987923"/>
              <a:ext cx="368927" cy="368927"/>
            </a:xfrm>
            <a:prstGeom prst="rect">
              <a:avLst/>
            </a:prstGeom>
          </p:spPr>
        </p:pic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188882F3-83EC-7354-AF20-01D0854B84BF}"/>
                </a:ext>
              </a:extLst>
            </p:cNvPr>
            <p:cNvSpPr/>
            <p:nvPr/>
          </p:nvSpPr>
          <p:spPr>
            <a:xfrm>
              <a:off x="11046970" y="2024939"/>
              <a:ext cx="398544" cy="83725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182" name="Graphic 181" descr="Programmer male outline">
              <a:extLst>
                <a:ext uri="{FF2B5EF4-FFF2-40B4-BE49-F238E27FC236}">
                  <a16:creationId xmlns:a16="http://schemas.microsoft.com/office/drawing/2014/main" id="{52B5CEB8-9213-1425-ED82-5DB7962516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436040" y="2299455"/>
              <a:ext cx="523981" cy="518708"/>
            </a:xfrm>
            <a:prstGeom prst="rect">
              <a:avLst/>
            </a:prstGeom>
          </p:spPr>
        </p:pic>
        <p:pic>
          <p:nvPicPr>
            <p:cNvPr id="2071" name="Graphic 2070" descr="User outline">
              <a:extLst>
                <a:ext uri="{FF2B5EF4-FFF2-40B4-BE49-F238E27FC236}">
                  <a16:creationId xmlns:a16="http://schemas.microsoft.com/office/drawing/2014/main" id="{79A810CB-DADD-9C13-EE7A-C9A8FC1BD6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54129" y="3655879"/>
              <a:ext cx="431239" cy="431239"/>
            </a:xfrm>
            <a:prstGeom prst="rect">
              <a:avLst/>
            </a:prstGeom>
          </p:spPr>
        </p:pic>
        <p:pic>
          <p:nvPicPr>
            <p:cNvPr id="2077" name="Graphic 2076" descr="Magnifying glass with solid fill">
              <a:extLst>
                <a:ext uri="{FF2B5EF4-FFF2-40B4-BE49-F238E27FC236}">
                  <a16:creationId xmlns:a16="http://schemas.microsoft.com/office/drawing/2014/main" id="{F7D6D92F-5B50-A53D-B5F5-CE36E44905C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69748" y="3904992"/>
              <a:ext cx="131511" cy="131511"/>
            </a:xfrm>
            <a:prstGeom prst="rect">
              <a:avLst/>
            </a:prstGeom>
          </p:spPr>
        </p:pic>
        <p:sp>
          <p:nvSpPr>
            <p:cNvPr id="2085" name="TextBox 2084">
              <a:extLst>
                <a:ext uri="{FF2B5EF4-FFF2-40B4-BE49-F238E27FC236}">
                  <a16:creationId xmlns:a16="http://schemas.microsoft.com/office/drawing/2014/main" id="{66F340A7-0FD9-FF81-8DEF-37DF950CEF90}"/>
                </a:ext>
              </a:extLst>
            </p:cNvPr>
            <p:cNvSpPr txBox="1"/>
            <p:nvPr/>
          </p:nvSpPr>
          <p:spPr>
            <a:xfrm>
              <a:off x="11039033" y="2262680"/>
              <a:ext cx="398543" cy="24622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93186C"/>
                  </a:solidFill>
                  <a:latin typeface="Aptos" panose="02110004020202020204"/>
                </a:rPr>
                <a:t>EDC checks</a:t>
              </a:r>
              <a:endParaRPr lang="en-US" sz="600" i="1">
                <a:solidFill>
                  <a:srgbClr val="93186C"/>
                </a:solidFill>
                <a:latin typeface="Aptos" panose="02110004020202020204"/>
              </a:endParaRPr>
            </a:p>
          </p:txBody>
        </p:sp>
        <p:sp>
          <p:nvSpPr>
            <p:cNvPr id="2087" name="Rectangle 2086">
              <a:extLst>
                <a:ext uri="{FF2B5EF4-FFF2-40B4-BE49-F238E27FC236}">
                  <a16:creationId xmlns:a16="http://schemas.microsoft.com/office/drawing/2014/main" id="{BD6795FC-8265-EC94-C9E8-8E221741F018}"/>
                </a:ext>
              </a:extLst>
            </p:cNvPr>
            <p:cNvSpPr/>
            <p:nvPr/>
          </p:nvSpPr>
          <p:spPr>
            <a:xfrm>
              <a:off x="11675758" y="2019328"/>
              <a:ext cx="484531" cy="1074838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88" name="TextBox 2087">
              <a:extLst>
                <a:ext uri="{FF2B5EF4-FFF2-40B4-BE49-F238E27FC236}">
                  <a16:creationId xmlns:a16="http://schemas.microsoft.com/office/drawing/2014/main" id="{68C3E827-355E-05C8-DA4F-BA781FC0FB5D}"/>
                </a:ext>
              </a:extLst>
            </p:cNvPr>
            <p:cNvSpPr txBox="1"/>
            <p:nvPr/>
          </p:nvSpPr>
          <p:spPr>
            <a:xfrm>
              <a:off x="11715846" y="2089778"/>
              <a:ext cx="398543" cy="98488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93186C"/>
                  </a:solidFill>
                  <a:latin typeface="Aptos" panose="02110004020202020204"/>
                </a:rPr>
                <a:t>Workflow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>
                  <a:solidFill>
                    <a:srgbClr val="93186C"/>
                  </a:solidFill>
                  <a:latin typeface="Aptos" panose="02110004020202020204"/>
                </a:rPr>
                <a:t>Ready for processing (Sean’s world)</a:t>
              </a:r>
              <a:endParaRPr lang="en-US" sz="600">
                <a:solidFill>
                  <a:srgbClr val="93186C"/>
                </a:solidFill>
                <a:latin typeface="Aptos" panose="02110004020202020204"/>
              </a:endParaRPr>
            </a:p>
          </p:txBody>
        </p:sp>
        <p:cxnSp>
          <p:nvCxnSpPr>
            <p:cNvPr id="2089" name="Straight Arrow Connector 2088">
              <a:extLst>
                <a:ext uri="{FF2B5EF4-FFF2-40B4-BE49-F238E27FC236}">
                  <a16:creationId xmlns:a16="http://schemas.microsoft.com/office/drawing/2014/main" id="{007BCB2F-FC34-1D5D-98BF-9D7C60C4D13D}"/>
                </a:ext>
              </a:extLst>
            </p:cNvPr>
            <p:cNvCxnSpPr>
              <a:cxnSpLocks/>
            </p:cNvCxnSpPr>
            <p:nvPr/>
          </p:nvCxnSpPr>
          <p:spPr>
            <a:xfrm>
              <a:off x="10778096" y="2433800"/>
              <a:ext cx="241942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Straight Arrow Connector 2089">
              <a:extLst>
                <a:ext uri="{FF2B5EF4-FFF2-40B4-BE49-F238E27FC236}">
                  <a16:creationId xmlns:a16="http://schemas.microsoft.com/office/drawing/2014/main" id="{8556EA9B-0684-6457-91A6-92C119ADDC6F}"/>
                </a:ext>
              </a:extLst>
            </p:cNvPr>
            <p:cNvCxnSpPr>
              <a:cxnSpLocks/>
            </p:cNvCxnSpPr>
            <p:nvPr/>
          </p:nvCxnSpPr>
          <p:spPr>
            <a:xfrm>
              <a:off x="11444796" y="2443564"/>
              <a:ext cx="241942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91" name="TextBox 2090">
              <a:extLst>
                <a:ext uri="{FF2B5EF4-FFF2-40B4-BE49-F238E27FC236}">
                  <a16:creationId xmlns:a16="http://schemas.microsoft.com/office/drawing/2014/main" id="{3453F670-3CD4-E2E8-4CD1-A2EF2DD2C08C}"/>
                </a:ext>
              </a:extLst>
            </p:cNvPr>
            <p:cNvSpPr txBox="1"/>
            <p:nvPr/>
          </p:nvSpPr>
          <p:spPr>
            <a:xfrm>
              <a:off x="192066" y="933567"/>
              <a:ext cx="1952970" cy="18466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Today’s mailroom journey</a:t>
              </a:r>
              <a:endPara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093" name="TextBox 2092">
            <a:extLst>
              <a:ext uri="{FF2B5EF4-FFF2-40B4-BE49-F238E27FC236}">
                <a16:creationId xmlns:a16="http://schemas.microsoft.com/office/drawing/2014/main" id="{DA853553-BF71-8CCD-B650-E31D2C49546C}"/>
              </a:ext>
            </a:extLst>
          </p:cNvPr>
          <p:cNvSpPr txBox="1"/>
          <p:nvPr/>
        </p:nvSpPr>
        <p:spPr>
          <a:xfrm>
            <a:off x="192066" y="4619572"/>
            <a:ext cx="4538987" cy="184666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AI-enhanced mailroom journey (without processing automation)</a:t>
            </a: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99" name="Graphic 2098" descr="Envelope outline">
            <a:extLst>
              <a:ext uri="{FF2B5EF4-FFF2-40B4-BE49-F238E27FC236}">
                <a16:creationId xmlns:a16="http://schemas.microsoft.com/office/drawing/2014/main" id="{484D07F5-2F0F-6F7A-409A-64610D9285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2520" y="5700247"/>
            <a:ext cx="334967" cy="269511"/>
          </a:xfrm>
          <a:prstGeom prst="rect">
            <a:avLst/>
          </a:prstGeom>
        </p:spPr>
      </p:pic>
      <p:cxnSp>
        <p:nvCxnSpPr>
          <p:cNvPr id="2101" name="Straight Arrow Connector 2100">
            <a:extLst>
              <a:ext uri="{FF2B5EF4-FFF2-40B4-BE49-F238E27FC236}">
                <a16:creationId xmlns:a16="http://schemas.microsoft.com/office/drawing/2014/main" id="{32FC00C3-E440-D959-56EB-0EBC44D67F46}"/>
              </a:ext>
            </a:extLst>
          </p:cNvPr>
          <p:cNvCxnSpPr>
            <a:cxnSpLocks/>
            <a:stCxn id="2103" idx="3"/>
          </p:cNvCxnSpPr>
          <p:nvPr/>
        </p:nvCxnSpPr>
        <p:spPr>
          <a:xfrm>
            <a:off x="805766" y="5772458"/>
            <a:ext cx="494273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2" name="TextBox 2101">
            <a:extLst>
              <a:ext uri="{FF2B5EF4-FFF2-40B4-BE49-F238E27FC236}">
                <a16:creationId xmlns:a16="http://schemas.microsoft.com/office/drawing/2014/main" id="{424319EE-91F0-DC05-ABCA-94A4CB2D623B}"/>
              </a:ext>
            </a:extLst>
          </p:cNvPr>
          <p:cNvSpPr txBox="1"/>
          <p:nvPr/>
        </p:nvSpPr>
        <p:spPr>
          <a:xfrm>
            <a:off x="892329" y="5629345"/>
            <a:ext cx="270427" cy="1538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Paper</a:t>
            </a:r>
          </a:p>
        </p:txBody>
      </p:sp>
      <p:sp>
        <p:nvSpPr>
          <p:cNvPr id="2103" name="Rectangle 2102">
            <a:extLst>
              <a:ext uri="{FF2B5EF4-FFF2-40B4-BE49-F238E27FC236}">
                <a16:creationId xmlns:a16="http://schemas.microsoft.com/office/drawing/2014/main" id="{A909EBA7-961B-7153-743B-270B418F8D50}"/>
              </a:ext>
            </a:extLst>
          </p:cNvPr>
          <p:cNvSpPr/>
          <p:nvPr/>
        </p:nvSpPr>
        <p:spPr>
          <a:xfrm>
            <a:off x="160613" y="5484458"/>
            <a:ext cx="645153" cy="57600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04" name="TextBox 2103">
            <a:extLst>
              <a:ext uri="{FF2B5EF4-FFF2-40B4-BE49-F238E27FC236}">
                <a16:creationId xmlns:a16="http://schemas.microsoft.com/office/drawing/2014/main" id="{34B16B16-CE84-0535-4598-5A7BA6994C0B}"/>
              </a:ext>
            </a:extLst>
          </p:cNvPr>
          <p:cNvSpPr txBox="1"/>
          <p:nvPr/>
        </p:nvSpPr>
        <p:spPr>
          <a:xfrm>
            <a:off x="255864" y="5545909"/>
            <a:ext cx="452613" cy="12311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Mail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15" name="Rectangle 2114">
            <a:extLst>
              <a:ext uri="{FF2B5EF4-FFF2-40B4-BE49-F238E27FC236}">
                <a16:creationId xmlns:a16="http://schemas.microsoft.com/office/drawing/2014/main" id="{A9304A8D-355F-4952-1411-879BC0A94E9A}"/>
              </a:ext>
            </a:extLst>
          </p:cNvPr>
          <p:cNvSpPr/>
          <p:nvPr/>
        </p:nvSpPr>
        <p:spPr>
          <a:xfrm>
            <a:off x="1299022" y="4964237"/>
            <a:ext cx="1386128" cy="1741898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16" name="TextBox 2115">
            <a:extLst>
              <a:ext uri="{FF2B5EF4-FFF2-40B4-BE49-F238E27FC236}">
                <a16:creationId xmlns:a16="http://schemas.microsoft.com/office/drawing/2014/main" id="{404F8C8C-8CED-02B1-E95B-FBFEA5C4722F}"/>
              </a:ext>
            </a:extLst>
          </p:cNvPr>
          <p:cNvSpPr txBox="1"/>
          <p:nvPr/>
        </p:nvSpPr>
        <p:spPr>
          <a:xfrm>
            <a:off x="1527116" y="5006015"/>
            <a:ext cx="1211043" cy="369332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NO classification, only physical checks conducted</a:t>
            </a:r>
          </a:p>
        </p:txBody>
      </p:sp>
      <p:sp>
        <p:nvSpPr>
          <p:cNvPr id="2117" name="TextBox 2116">
            <a:extLst>
              <a:ext uri="{FF2B5EF4-FFF2-40B4-BE49-F238E27FC236}">
                <a16:creationId xmlns:a16="http://schemas.microsoft.com/office/drawing/2014/main" id="{6FBEC3AB-847C-D320-746A-76F8BC4972D4}"/>
              </a:ext>
            </a:extLst>
          </p:cNvPr>
          <p:cNvSpPr txBox="1"/>
          <p:nvPr/>
        </p:nvSpPr>
        <p:spPr>
          <a:xfrm>
            <a:off x="1299022" y="5346985"/>
            <a:ext cx="1386128" cy="861774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800" i="1" noProof="0">
                <a:solidFill>
                  <a:srgbClr val="93186C"/>
                </a:solidFill>
                <a:latin typeface="Aptos" panose="02110004020202020204"/>
              </a:rPr>
              <a:t>-  </a:t>
            </a:r>
            <a:r>
              <a:rPr kumimoji="0" lang="en-US" sz="800" i="1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Medallion checks, Check amount ok, verification, stamping and hole-punching certificates 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800" i="1">
                <a:solidFill>
                  <a:srgbClr val="93186C"/>
                </a:solidFill>
                <a:latin typeface="Aptos" panose="02110004020202020204"/>
              </a:rPr>
              <a:t>Stamp if copy or certified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800" i="1">
                <a:solidFill>
                  <a:srgbClr val="93186C"/>
                </a:solidFill>
                <a:latin typeface="Aptos" panose="02110004020202020204"/>
              </a:rPr>
              <a:t>envelopes that can’t be shredded</a:t>
            </a:r>
            <a:endParaRPr kumimoji="0" lang="en-US" sz="800" i="1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20" name="Rectangle 2119">
            <a:extLst>
              <a:ext uri="{FF2B5EF4-FFF2-40B4-BE49-F238E27FC236}">
                <a16:creationId xmlns:a16="http://schemas.microsoft.com/office/drawing/2014/main" id="{7EAE9681-E611-D690-8AE6-F93619CA2C34}"/>
              </a:ext>
            </a:extLst>
          </p:cNvPr>
          <p:cNvSpPr/>
          <p:nvPr/>
        </p:nvSpPr>
        <p:spPr>
          <a:xfrm>
            <a:off x="4434076" y="5343651"/>
            <a:ext cx="2302692" cy="837247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21" name="TextBox 2120">
            <a:extLst>
              <a:ext uri="{FF2B5EF4-FFF2-40B4-BE49-F238E27FC236}">
                <a16:creationId xmlns:a16="http://schemas.microsoft.com/office/drawing/2014/main" id="{06C99C98-AFAA-BE20-1162-FF2514B34387}"/>
              </a:ext>
            </a:extLst>
          </p:cNvPr>
          <p:cNvSpPr txBox="1"/>
          <p:nvPr/>
        </p:nvSpPr>
        <p:spPr>
          <a:xfrm>
            <a:off x="4434076" y="5646060"/>
            <a:ext cx="1386128" cy="307777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Tungsten OCR + AI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i="1">
                <a:solidFill>
                  <a:srgbClr val="93186C"/>
                </a:solidFill>
                <a:latin typeface="Aptos" panose="02110004020202020204"/>
              </a:rPr>
              <a:t>Envelope intent extracted, classified, relevant data extracted</a:t>
            </a:r>
          </a:p>
        </p:txBody>
      </p:sp>
      <p:sp>
        <p:nvSpPr>
          <p:cNvPr id="2126" name="Rectangle 2125">
            <a:extLst>
              <a:ext uri="{FF2B5EF4-FFF2-40B4-BE49-F238E27FC236}">
                <a16:creationId xmlns:a16="http://schemas.microsoft.com/office/drawing/2014/main" id="{67D54520-3CF3-808B-D6D5-31E5B8F3BFD3}"/>
              </a:ext>
            </a:extLst>
          </p:cNvPr>
          <p:cNvSpPr/>
          <p:nvPr/>
        </p:nvSpPr>
        <p:spPr>
          <a:xfrm>
            <a:off x="3076805" y="5343652"/>
            <a:ext cx="1016537" cy="864559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27" name="TextBox 2126">
            <a:extLst>
              <a:ext uri="{FF2B5EF4-FFF2-40B4-BE49-F238E27FC236}">
                <a16:creationId xmlns:a16="http://schemas.microsoft.com/office/drawing/2014/main" id="{AE45ABEB-B2F7-731B-0D16-041D9E695EAF}"/>
              </a:ext>
            </a:extLst>
          </p:cNvPr>
          <p:cNvSpPr txBox="1"/>
          <p:nvPr/>
        </p:nvSpPr>
        <p:spPr>
          <a:xfrm>
            <a:off x="3039841" y="5654213"/>
            <a:ext cx="1134414" cy="55399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rgbClr val="93186C"/>
                </a:solidFill>
                <a:latin typeface="Aptos" panose="02110004020202020204"/>
              </a:rPr>
              <a:t>Image scans of envelope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rgbClr val="93186C"/>
                </a:solidFill>
                <a:latin typeface="Aptos" panose="02110004020202020204"/>
              </a:rPr>
              <a:t> </a:t>
            </a:r>
            <a:r>
              <a:rPr lang="en-US" sz="600" i="1">
                <a:solidFill>
                  <a:srgbClr val="93186C"/>
                </a:solidFill>
                <a:latin typeface="Aptos" panose="02110004020202020204"/>
              </a:rPr>
              <a:t>are scanned and verified by human to ensure papers are complete</a:t>
            </a:r>
            <a:endParaRPr kumimoji="0" lang="en-US" sz="600" i="1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131" name="Graphic 2130" descr="Photocopier outline">
            <a:extLst>
              <a:ext uri="{FF2B5EF4-FFF2-40B4-BE49-F238E27FC236}">
                <a16:creationId xmlns:a16="http://schemas.microsoft.com/office/drawing/2014/main" id="{BC5EF40D-4C71-2A90-7F99-E11BA1E1A9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9687" y="5317412"/>
            <a:ext cx="368927" cy="368927"/>
          </a:xfrm>
          <a:prstGeom prst="rect">
            <a:avLst/>
          </a:prstGeom>
        </p:spPr>
      </p:pic>
      <p:sp>
        <p:nvSpPr>
          <p:cNvPr id="2132" name="Rectangle 2131">
            <a:extLst>
              <a:ext uri="{FF2B5EF4-FFF2-40B4-BE49-F238E27FC236}">
                <a16:creationId xmlns:a16="http://schemas.microsoft.com/office/drawing/2014/main" id="{C2D01317-C500-AAA5-61C0-3C2748B393AD}"/>
              </a:ext>
            </a:extLst>
          </p:cNvPr>
          <p:cNvSpPr/>
          <p:nvPr/>
        </p:nvSpPr>
        <p:spPr>
          <a:xfrm>
            <a:off x="6069366" y="5360549"/>
            <a:ext cx="621459" cy="83725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134" name="Graphic 2133" descr="User outline">
            <a:extLst>
              <a:ext uri="{FF2B5EF4-FFF2-40B4-BE49-F238E27FC236}">
                <a16:creationId xmlns:a16="http://schemas.microsoft.com/office/drawing/2014/main" id="{064FE2E7-B817-CF7A-EBB0-CA38782CD8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76466" y="6221895"/>
            <a:ext cx="431239" cy="431239"/>
          </a:xfrm>
          <a:prstGeom prst="rect">
            <a:avLst/>
          </a:prstGeom>
        </p:spPr>
      </p:pic>
      <p:pic>
        <p:nvPicPr>
          <p:cNvPr id="2135" name="Graphic 2134" descr="Magnifying glass with solid fill">
            <a:extLst>
              <a:ext uri="{FF2B5EF4-FFF2-40B4-BE49-F238E27FC236}">
                <a16:creationId xmlns:a16="http://schemas.microsoft.com/office/drawing/2014/main" id="{CE7C7319-4B5C-1E90-8F59-9E26E6C786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44485" y="6477859"/>
            <a:ext cx="131511" cy="131511"/>
          </a:xfrm>
          <a:prstGeom prst="rect">
            <a:avLst/>
          </a:prstGeom>
        </p:spPr>
      </p:pic>
      <p:sp>
        <p:nvSpPr>
          <p:cNvPr id="2136" name="TextBox 2135">
            <a:extLst>
              <a:ext uri="{FF2B5EF4-FFF2-40B4-BE49-F238E27FC236}">
                <a16:creationId xmlns:a16="http://schemas.microsoft.com/office/drawing/2014/main" id="{95D3B11A-4354-A71F-8AA1-EC2C3BC37F71}"/>
              </a:ext>
            </a:extLst>
          </p:cNvPr>
          <p:cNvSpPr txBox="1"/>
          <p:nvPr/>
        </p:nvSpPr>
        <p:spPr>
          <a:xfrm>
            <a:off x="6063875" y="5503866"/>
            <a:ext cx="632439" cy="615553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rgbClr val="93186C"/>
                </a:solidFill>
                <a:latin typeface="Aptos" panose="02110004020202020204"/>
              </a:rPr>
              <a:t>Data verification checks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rgbClr val="93186C"/>
                </a:solidFill>
                <a:latin typeface="Aptos" panose="02110004020202020204"/>
              </a:rPr>
              <a:t>(EDC or other)</a:t>
            </a:r>
            <a:endParaRPr lang="en-US" sz="600" i="1">
              <a:solidFill>
                <a:srgbClr val="93186C"/>
              </a:solidFill>
              <a:latin typeface="Aptos" panose="02110004020202020204"/>
            </a:endParaRPr>
          </a:p>
        </p:txBody>
      </p:sp>
      <p:sp>
        <p:nvSpPr>
          <p:cNvPr id="2137" name="Rectangle 2136">
            <a:extLst>
              <a:ext uri="{FF2B5EF4-FFF2-40B4-BE49-F238E27FC236}">
                <a16:creationId xmlns:a16="http://schemas.microsoft.com/office/drawing/2014/main" id="{7ACD23D7-6F38-0A34-A9CA-28B2154388D6}"/>
              </a:ext>
            </a:extLst>
          </p:cNvPr>
          <p:cNvSpPr/>
          <p:nvPr/>
        </p:nvSpPr>
        <p:spPr>
          <a:xfrm>
            <a:off x="6952379" y="5354938"/>
            <a:ext cx="1091670" cy="837251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38" name="TextBox 2137">
            <a:extLst>
              <a:ext uri="{FF2B5EF4-FFF2-40B4-BE49-F238E27FC236}">
                <a16:creationId xmlns:a16="http://schemas.microsoft.com/office/drawing/2014/main" id="{718B8AD5-2405-BD8F-6971-5176787809FD}"/>
              </a:ext>
            </a:extLst>
          </p:cNvPr>
          <p:cNvSpPr txBox="1"/>
          <p:nvPr/>
        </p:nvSpPr>
        <p:spPr>
          <a:xfrm>
            <a:off x="6894808" y="5669020"/>
            <a:ext cx="1149241" cy="369332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rgbClr val="93186C"/>
                </a:solidFill>
                <a:latin typeface="Aptos" panose="02110004020202020204"/>
              </a:rPr>
              <a:t>Workflow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rgbClr val="93186C"/>
                </a:solidFill>
                <a:latin typeface="Aptos" panose="02110004020202020204"/>
              </a:rPr>
              <a:t>Ready for processing (Sean’s world)</a:t>
            </a:r>
            <a:endParaRPr lang="en-US" sz="600">
              <a:solidFill>
                <a:srgbClr val="93186C"/>
              </a:solidFill>
              <a:latin typeface="Aptos" panose="02110004020202020204"/>
            </a:endParaRPr>
          </a:p>
        </p:txBody>
      </p:sp>
      <p:cxnSp>
        <p:nvCxnSpPr>
          <p:cNvPr id="2139" name="Straight Arrow Connector 2138">
            <a:extLst>
              <a:ext uri="{FF2B5EF4-FFF2-40B4-BE49-F238E27FC236}">
                <a16:creationId xmlns:a16="http://schemas.microsoft.com/office/drawing/2014/main" id="{FEDCBCD1-EF11-69E6-94C0-7BDDD47227A6}"/>
              </a:ext>
            </a:extLst>
          </p:cNvPr>
          <p:cNvCxnSpPr>
            <a:cxnSpLocks/>
          </p:cNvCxnSpPr>
          <p:nvPr/>
        </p:nvCxnSpPr>
        <p:spPr>
          <a:xfrm>
            <a:off x="5820204" y="5769410"/>
            <a:ext cx="241942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0" name="Straight Arrow Connector 2139">
            <a:extLst>
              <a:ext uri="{FF2B5EF4-FFF2-40B4-BE49-F238E27FC236}">
                <a16:creationId xmlns:a16="http://schemas.microsoft.com/office/drawing/2014/main" id="{76C03DBB-B2E7-8D43-1EDA-109C0B0F26EF}"/>
              </a:ext>
            </a:extLst>
          </p:cNvPr>
          <p:cNvCxnSpPr>
            <a:cxnSpLocks/>
          </p:cNvCxnSpPr>
          <p:nvPr/>
        </p:nvCxnSpPr>
        <p:spPr>
          <a:xfrm>
            <a:off x="6690107" y="5779174"/>
            <a:ext cx="241942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9" name="Straight Arrow Connector 2148">
            <a:extLst>
              <a:ext uri="{FF2B5EF4-FFF2-40B4-BE49-F238E27FC236}">
                <a16:creationId xmlns:a16="http://schemas.microsoft.com/office/drawing/2014/main" id="{8DBC9221-7FA4-D6EC-8D7B-AC20EBD2E942}"/>
              </a:ext>
            </a:extLst>
          </p:cNvPr>
          <p:cNvCxnSpPr>
            <a:cxnSpLocks/>
          </p:cNvCxnSpPr>
          <p:nvPr/>
        </p:nvCxnSpPr>
        <p:spPr>
          <a:xfrm>
            <a:off x="4168328" y="5753818"/>
            <a:ext cx="249475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1" name="Straight Arrow Connector 2150">
            <a:extLst>
              <a:ext uri="{FF2B5EF4-FFF2-40B4-BE49-F238E27FC236}">
                <a16:creationId xmlns:a16="http://schemas.microsoft.com/office/drawing/2014/main" id="{EDB6FED0-566E-EC19-A827-9CC35C044A57}"/>
              </a:ext>
            </a:extLst>
          </p:cNvPr>
          <p:cNvCxnSpPr>
            <a:cxnSpLocks/>
          </p:cNvCxnSpPr>
          <p:nvPr/>
        </p:nvCxnSpPr>
        <p:spPr>
          <a:xfrm>
            <a:off x="2697519" y="5753818"/>
            <a:ext cx="386442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3" name="TextBox 2152">
            <a:extLst>
              <a:ext uri="{FF2B5EF4-FFF2-40B4-BE49-F238E27FC236}">
                <a16:creationId xmlns:a16="http://schemas.microsoft.com/office/drawing/2014/main" id="{B669F3AE-7845-B474-FA11-DF949407B00D}"/>
              </a:ext>
            </a:extLst>
          </p:cNvPr>
          <p:cNvSpPr txBox="1"/>
          <p:nvPr/>
        </p:nvSpPr>
        <p:spPr>
          <a:xfrm>
            <a:off x="9658979" y="3975470"/>
            <a:ext cx="2432210" cy="2215991"/>
          </a:xfrm>
          <a:prstGeom prst="rect">
            <a:avLst/>
          </a:prstGeom>
          <a:solidFill>
            <a:schemeClr val="bg2">
              <a:lumMod val="95000"/>
            </a:schemeClr>
          </a:solidFill>
          <a:ln w="9525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rgbClr val="93186C"/>
                </a:solidFill>
                <a:latin typeface="Aptos" panose="02110004020202020204"/>
              </a:rPr>
              <a:t>Impact: 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rgbClr val="93186C"/>
                </a:solidFill>
                <a:latin typeface="Aptos" panose="02110004020202020204"/>
              </a:rPr>
              <a:t>Staff can focus on only checking authenticity of documents, stamping and scanning 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rgbClr val="93186C"/>
                </a:solidFill>
                <a:latin typeface="Aptos" panose="02110004020202020204"/>
              </a:rPr>
              <a:t>Automated classification means we abide by time restrictions, regulatory and SLA obligations because we can scan and classify on the same day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srgbClr val="93186C"/>
                </a:solidFill>
                <a:latin typeface="Aptos" panose="02110004020202020204"/>
              </a:rPr>
              <a:t>Minimizes classification error, which means less envelops will be re-classified/delayed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6E0CDAC-23AE-3EEF-3C4C-DD452813D063}"/>
              </a:ext>
            </a:extLst>
          </p:cNvPr>
          <p:cNvCxnSpPr>
            <a:cxnSpLocks/>
          </p:cNvCxnSpPr>
          <p:nvPr/>
        </p:nvCxnSpPr>
        <p:spPr>
          <a:xfrm>
            <a:off x="8053349" y="5777762"/>
            <a:ext cx="241942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A394D291-8067-D132-FF88-F3E5A78541A4}"/>
              </a:ext>
            </a:extLst>
          </p:cNvPr>
          <p:cNvSpPr/>
          <p:nvPr/>
        </p:nvSpPr>
        <p:spPr>
          <a:xfrm>
            <a:off x="8301991" y="5354938"/>
            <a:ext cx="1149241" cy="837251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0ACA7D-D347-86D2-9B4E-3BD11A1CCD3C}"/>
              </a:ext>
            </a:extLst>
          </p:cNvPr>
          <p:cNvSpPr txBox="1"/>
          <p:nvPr/>
        </p:nvSpPr>
        <p:spPr>
          <a:xfrm>
            <a:off x="8302126" y="5669020"/>
            <a:ext cx="1149241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rgbClr val="93186C"/>
                </a:solidFill>
                <a:latin typeface="Aptos" panose="02110004020202020204"/>
              </a:rPr>
              <a:t>Processing automated via RPA, </a:t>
            </a:r>
            <a:r>
              <a:rPr lang="en-US" sz="800" b="1" err="1">
                <a:solidFill>
                  <a:srgbClr val="93186C"/>
                </a:solidFill>
                <a:latin typeface="Aptos" panose="02110004020202020204"/>
              </a:rPr>
              <a:t>Scripcomms</a:t>
            </a:r>
            <a:endParaRPr lang="en-US" sz="600">
              <a:solidFill>
                <a:srgbClr val="93186C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1339243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A344043-5901-AEC6-40F5-5D59AF2A7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B5D9CF-F811-6F08-0C0C-4FD8E1F14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Pilot Kick-off &amp; Recap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8C9B9A-40C1-DC74-38A9-FD7BBEA32A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BBDC51F-5D11-B24C-B440-508FFDF318C8}" type="slidenum">
              <a:rPr lang="en-AU" smtClean="0"/>
              <a:pPr/>
              <a:t>37</a:t>
            </a:fld>
            <a:endParaRPr lang="en-AU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4C4416-2D19-7159-476E-BFC6839BC53A}"/>
              </a:ext>
            </a:extLst>
          </p:cNvPr>
          <p:cNvSpPr txBox="1">
            <a:spLocks/>
          </p:cNvSpPr>
          <p:nvPr/>
        </p:nvSpPr>
        <p:spPr>
          <a:xfrm>
            <a:off x="480967" y="872506"/>
            <a:ext cx="11386568" cy="5112987"/>
          </a:xfrm>
          <a:prstGeom prst="rect">
            <a:avLst/>
          </a:prstGeom>
        </p:spPr>
        <p:txBody>
          <a:bodyPr/>
          <a:lstStyle>
            <a:lvl1pPr marL="285750" indent="-285750" algn="l" defTabSz="914400" rtl="0" eaLnBrk="1" latinLnBrk="0" hangingPunct="1">
              <a:lnSpc>
                <a:spcPts val="2020"/>
              </a:lnSpc>
              <a:spcBef>
                <a:spcPts val="600"/>
              </a:spcBef>
              <a:spcAft>
                <a:spcPts val="600"/>
              </a:spcAft>
              <a:buSzPct val="110000"/>
              <a:buFont typeface="Aptos" panose="020B0004020202020204" pitchFamily="34" charset="0"/>
              <a:buChar char="›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202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020"/>
              </a:lnSpc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defRPr sz="12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None/>
              <a:defRPr sz="1100" b="0" i="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i="0" kern="120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1400" b="1"/>
              <a:t>Pilot objective: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400"/>
              <a:t>Automate the categorization and classification of incoming documents so that the Account Recordkeeping teams can begin processing transactions the same day. </a:t>
            </a:r>
            <a:endParaRPr lang="en-GB" sz="1400" b="1"/>
          </a:p>
          <a:p>
            <a:pPr marL="0" indent="0">
              <a:lnSpc>
                <a:spcPct val="100000"/>
              </a:lnSpc>
              <a:buFont typeface="Aptos" panose="020B0004020202020204" pitchFamily="34" charset="0"/>
              <a:buNone/>
            </a:pPr>
            <a:r>
              <a:rPr lang="en-GB" sz="1400" b="1"/>
              <a:t>Transaction type: </a:t>
            </a:r>
          </a:p>
          <a:p>
            <a:pPr marL="0" indent="0">
              <a:lnSpc>
                <a:spcPct val="100000"/>
              </a:lnSpc>
              <a:buFont typeface="Aptos" panose="020B0004020202020204" pitchFamily="34" charset="0"/>
              <a:buNone/>
            </a:pPr>
            <a:r>
              <a:rPr lang="en-GB" sz="1400"/>
              <a:t>Transfers will be the main transaction we will test during the Pilot phase.</a:t>
            </a:r>
          </a:p>
          <a:p>
            <a:pPr marL="0" indent="0">
              <a:lnSpc>
                <a:spcPct val="100000"/>
              </a:lnSpc>
              <a:buFont typeface="Aptos" panose="020B0004020202020204" pitchFamily="34" charset="0"/>
              <a:buNone/>
            </a:pPr>
            <a:r>
              <a:rPr lang="en-GB" sz="1400" b="1"/>
              <a:t>Impact: </a:t>
            </a:r>
          </a:p>
          <a:p>
            <a:pPr marL="0" indent="0">
              <a:lnSpc>
                <a:spcPct val="100000"/>
              </a:lnSpc>
              <a:buFont typeface="Aptos" panose="020B0004020202020204" pitchFamily="34" charset="0"/>
              <a:buNone/>
            </a:pPr>
            <a:r>
              <a:rPr lang="en-GB" sz="1400"/>
              <a:t>1. Speed - Same-day transaction processing (compliant with SLAs) </a:t>
            </a:r>
          </a:p>
          <a:p>
            <a:pPr marL="0" indent="0">
              <a:lnSpc>
                <a:spcPct val="100000"/>
              </a:lnSpc>
              <a:buFont typeface="Aptos" panose="020B0004020202020204" pitchFamily="34" charset="0"/>
              <a:buNone/>
            </a:pPr>
            <a:r>
              <a:rPr lang="en-GB" sz="1400"/>
              <a:t>2. Higher accuracy – avoid documents having to be re-classified and minimize delays</a:t>
            </a:r>
          </a:p>
          <a:p>
            <a:pPr marL="0" indent="0">
              <a:buFont typeface="Aptos" panose="020B0004020202020204" pitchFamily="34" charset="0"/>
              <a:buNone/>
            </a:pPr>
            <a:r>
              <a:rPr lang="en-GB" sz="1400" b="1"/>
              <a:t>Approach:</a:t>
            </a:r>
          </a:p>
          <a:p>
            <a:pPr marL="0" indent="0">
              <a:buFont typeface="Aptos" panose="020B0004020202020204" pitchFamily="34" charset="0"/>
              <a:buNone/>
            </a:pPr>
            <a:r>
              <a:rPr lang="en-GB" sz="1400"/>
              <a:t>The pilot will leverage RAG capabilities to enable a Language Model which will allow us to handle a larger variety of combinations compared to training a ML model which is limited to more common types and requires more time to train. </a:t>
            </a:r>
          </a:p>
          <a:p>
            <a:endParaRPr lang="en-GB" sz="1800" baseline="30000"/>
          </a:p>
        </p:txBody>
      </p:sp>
    </p:spTree>
    <p:extLst>
      <p:ext uri="{BB962C8B-B14F-4D97-AF65-F5344CB8AC3E}">
        <p14:creationId xmlns:p14="http://schemas.microsoft.com/office/powerpoint/2010/main" val="9145809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6DFC4-21D4-49E0-A5D0-943551A1E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CD3C5C-E0E8-ECEB-B8DF-D735AD774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  Approach for technical design for MVP</a:t>
            </a:r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5078CF-B0C0-53F2-A943-F67066367CE9}"/>
              </a:ext>
            </a:extLst>
          </p:cNvPr>
          <p:cNvSpPr txBox="1"/>
          <p:nvPr/>
        </p:nvSpPr>
        <p:spPr>
          <a:xfrm>
            <a:off x="2218713" y="1944559"/>
            <a:ext cx="628523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Proxy?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0959C4A-3D63-D9D9-3FEF-58505390E261}"/>
              </a:ext>
            </a:extLst>
          </p:cNvPr>
          <p:cNvCxnSpPr>
            <a:cxnSpLocks/>
            <a:stCxn id="55" idx="3"/>
            <a:endCxn id="67" idx="1"/>
          </p:cNvCxnSpPr>
          <p:nvPr/>
        </p:nvCxnSpPr>
        <p:spPr>
          <a:xfrm>
            <a:off x="946775" y="3795886"/>
            <a:ext cx="450998" cy="433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E70B165-E144-D33B-86D5-ABF947E6F893}"/>
              </a:ext>
            </a:extLst>
          </p:cNvPr>
          <p:cNvSpPr txBox="1"/>
          <p:nvPr/>
        </p:nvSpPr>
        <p:spPr>
          <a:xfrm>
            <a:off x="922858" y="3865266"/>
            <a:ext cx="560693" cy="369332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Image (TIF)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+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Text (JSON)</a:t>
            </a:r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7D458272-6FD2-180F-79CB-53EC67526F11}"/>
              </a:ext>
            </a:extLst>
          </p:cNvPr>
          <p:cNvCxnSpPr>
            <a:cxnSpLocks/>
            <a:stCxn id="47" idx="3"/>
            <a:endCxn id="53" idx="1"/>
          </p:cNvCxnSpPr>
          <p:nvPr/>
        </p:nvCxnSpPr>
        <p:spPr>
          <a:xfrm>
            <a:off x="5087351" y="2002023"/>
            <a:ext cx="1001927" cy="280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2E0F403-C869-0233-D146-679B5041A1B5}"/>
              </a:ext>
            </a:extLst>
          </p:cNvPr>
          <p:cNvSpPr txBox="1"/>
          <p:nvPr/>
        </p:nvSpPr>
        <p:spPr>
          <a:xfrm>
            <a:off x="3790838" y="3555206"/>
            <a:ext cx="705034" cy="2923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Image (TIF)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Extracted Text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3C17C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9" name="Graphic 28" descr="Table outline">
            <a:extLst>
              <a:ext uri="{FF2B5EF4-FFF2-40B4-BE49-F238E27FC236}">
                <a16:creationId xmlns:a16="http://schemas.microsoft.com/office/drawing/2014/main" id="{76B4B50A-A891-19B4-F792-231F7A4352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1249" y="3809894"/>
            <a:ext cx="608760" cy="60876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6015B7F-F9A3-124D-C515-11F19A9388F7}"/>
              </a:ext>
            </a:extLst>
          </p:cNvPr>
          <p:cNvSpPr txBox="1"/>
          <p:nvPr/>
        </p:nvSpPr>
        <p:spPr>
          <a:xfrm>
            <a:off x="270728" y="3486574"/>
            <a:ext cx="729715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OCR 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(+MSDI)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0F27171-15D1-1376-3243-A94A4C1C0558}"/>
              </a:ext>
            </a:extLst>
          </p:cNvPr>
          <p:cNvSpPr txBox="1"/>
          <p:nvPr/>
        </p:nvSpPr>
        <p:spPr>
          <a:xfrm>
            <a:off x="9983307" y="4487679"/>
            <a:ext cx="684643" cy="538609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Metadata created on a page and envelope level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C4368F-BD0C-2D6F-62DE-F4DB34D1D277}"/>
              </a:ext>
            </a:extLst>
          </p:cNvPr>
          <p:cNvSpPr txBox="1"/>
          <p:nvPr/>
        </p:nvSpPr>
        <p:spPr>
          <a:xfrm>
            <a:off x="5251227" y="1720196"/>
            <a:ext cx="737816" cy="2923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Image (TIF)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+ Text (JSON)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4750436E-FFA3-08C2-3327-6BDDD122B9A1}"/>
              </a:ext>
            </a:extLst>
          </p:cNvPr>
          <p:cNvCxnSpPr>
            <a:cxnSpLocks/>
            <a:stCxn id="138" idx="3"/>
            <a:endCxn id="53" idx="3"/>
          </p:cNvCxnSpPr>
          <p:nvPr/>
        </p:nvCxnSpPr>
        <p:spPr>
          <a:xfrm flipH="1" flipV="1">
            <a:off x="9649321" y="2004823"/>
            <a:ext cx="2127968" cy="1945517"/>
          </a:xfrm>
          <a:prstGeom prst="bentConnector3">
            <a:avLst>
              <a:gd name="adj1" fmla="val -10743"/>
            </a:avLst>
          </a:prstGeom>
          <a:ln w="28575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89CE5FF2-621F-7804-AB94-275A7CC02478}"/>
              </a:ext>
            </a:extLst>
          </p:cNvPr>
          <p:cNvSpPr/>
          <p:nvPr/>
        </p:nvSpPr>
        <p:spPr>
          <a:xfrm>
            <a:off x="6036803" y="3379440"/>
            <a:ext cx="737816" cy="1093879"/>
          </a:xfrm>
          <a:prstGeom prst="rect">
            <a:avLst/>
          </a:prstGeom>
          <a:noFill/>
          <a:ln w="9525"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4970FC0-2E91-C2E7-BC8A-F1B98D1E4632}"/>
              </a:ext>
            </a:extLst>
          </p:cNvPr>
          <p:cNvSpPr/>
          <p:nvPr/>
        </p:nvSpPr>
        <p:spPr>
          <a:xfrm>
            <a:off x="9984744" y="3516350"/>
            <a:ext cx="684643" cy="870118"/>
          </a:xfrm>
          <a:prstGeom prst="rect">
            <a:avLst/>
          </a:prstGeom>
          <a:noFill/>
          <a:ln w="9525"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0425443-8C39-5712-42A2-FA4F3B88469E}"/>
              </a:ext>
            </a:extLst>
          </p:cNvPr>
          <p:cNvSpPr/>
          <p:nvPr/>
        </p:nvSpPr>
        <p:spPr>
          <a:xfrm>
            <a:off x="4441749" y="1494491"/>
            <a:ext cx="645602" cy="1015063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98E32AC-34C1-D2A5-2657-5976CB0EB7D2}"/>
              </a:ext>
            </a:extLst>
          </p:cNvPr>
          <p:cNvGrpSpPr/>
          <p:nvPr/>
        </p:nvGrpSpPr>
        <p:grpSpPr>
          <a:xfrm>
            <a:off x="4369651" y="1539467"/>
            <a:ext cx="848790" cy="645919"/>
            <a:chOff x="3131745" y="1328917"/>
            <a:chExt cx="848790" cy="645919"/>
          </a:xfrm>
        </p:grpSpPr>
        <p:pic>
          <p:nvPicPr>
            <p:cNvPr id="49" name="Graphic 48" descr="Document outline">
              <a:extLst>
                <a:ext uri="{FF2B5EF4-FFF2-40B4-BE49-F238E27FC236}">
                  <a16:creationId xmlns:a16="http://schemas.microsoft.com/office/drawing/2014/main" id="{D511719D-0315-7412-3524-0BCF6232B5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68304" y="1621617"/>
              <a:ext cx="353219" cy="353219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077DCC8-11F5-DD25-CAA0-C3B18C26D4BA}"/>
                </a:ext>
              </a:extLst>
            </p:cNvPr>
            <p:cNvSpPr txBox="1"/>
            <p:nvPr/>
          </p:nvSpPr>
          <p:spPr>
            <a:xfrm>
              <a:off x="3131745" y="1328917"/>
              <a:ext cx="848790" cy="2923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36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Known</a:t>
              </a:r>
              <a:b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</a:b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Form Codes</a:t>
              </a:r>
              <a:endParaRPr kumimoji="0" lang="en-GB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1D2886AF-49E8-1ED2-6356-EAAF54E6097C}"/>
              </a:ext>
            </a:extLst>
          </p:cNvPr>
          <p:cNvCxnSpPr>
            <a:cxnSpLocks/>
            <a:stCxn id="67" idx="0"/>
            <a:endCxn id="130" idx="2"/>
          </p:cNvCxnSpPr>
          <p:nvPr/>
        </p:nvCxnSpPr>
        <p:spPr>
          <a:xfrm rot="16200000" flipV="1">
            <a:off x="1223799" y="3027509"/>
            <a:ext cx="1036756" cy="844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312456DB-1EA5-7114-245A-9D2AF03A1302}"/>
              </a:ext>
            </a:extLst>
          </p:cNvPr>
          <p:cNvCxnSpPr>
            <a:cxnSpLocks/>
            <a:stCxn id="67" idx="2"/>
          </p:cNvCxnSpPr>
          <p:nvPr/>
        </p:nvCxnSpPr>
        <p:spPr>
          <a:xfrm rot="5400000" flipH="1" flipV="1">
            <a:off x="2320269" y="3304280"/>
            <a:ext cx="172188" cy="1327529"/>
          </a:xfrm>
          <a:prstGeom prst="bentConnector4">
            <a:avLst>
              <a:gd name="adj1" fmla="val -132762"/>
              <a:gd name="adj2" fmla="val 62987"/>
            </a:avLst>
          </a:prstGeom>
          <a:ln w="285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F9771533-44A6-9F8E-D8B2-057DDF7227C2}"/>
              </a:ext>
            </a:extLst>
          </p:cNvPr>
          <p:cNvSpPr/>
          <p:nvPr/>
        </p:nvSpPr>
        <p:spPr>
          <a:xfrm>
            <a:off x="6089278" y="1308189"/>
            <a:ext cx="3560043" cy="1393268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DA4BA59-83F1-67B7-114E-50410BA60E9F}"/>
              </a:ext>
            </a:extLst>
          </p:cNvPr>
          <p:cNvSpPr txBox="1"/>
          <p:nvPr/>
        </p:nvSpPr>
        <p:spPr>
          <a:xfrm>
            <a:off x="8490096" y="2129287"/>
            <a:ext cx="1147497" cy="415498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Documents manually processed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from work items in Workflow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5044EDA-19FE-D234-6709-7E3C09DD09BA}"/>
              </a:ext>
            </a:extLst>
          </p:cNvPr>
          <p:cNvSpPr/>
          <p:nvPr/>
        </p:nvSpPr>
        <p:spPr>
          <a:xfrm>
            <a:off x="301622" y="3465026"/>
            <a:ext cx="645153" cy="66172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6" name="Graphic 55" descr="Magnifying glass with solid fill">
            <a:extLst>
              <a:ext uri="{FF2B5EF4-FFF2-40B4-BE49-F238E27FC236}">
                <a16:creationId xmlns:a16="http://schemas.microsoft.com/office/drawing/2014/main" id="{6D0BC8F4-387A-B7D6-2A9C-2242B5C23B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096" y="3740172"/>
            <a:ext cx="352066" cy="352066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DE7DBA0A-FD55-43A3-6670-8187E4603DD9}"/>
              </a:ext>
            </a:extLst>
          </p:cNvPr>
          <p:cNvSpPr txBox="1"/>
          <p:nvPr/>
        </p:nvSpPr>
        <p:spPr>
          <a:xfrm>
            <a:off x="4484820" y="2224741"/>
            <a:ext cx="611421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E.g., W8, Direct Credit  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065" name="Group 2064">
            <a:extLst>
              <a:ext uri="{FF2B5EF4-FFF2-40B4-BE49-F238E27FC236}">
                <a16:creationId xmlns:a16="http://schemas.microsoft.com/office/drawing/2014/main" id="{46158E85-E8A3-7BCC-B020-1D0D260B3949}"/>
              </a:ext>
            </a:extLst>
          </p:cNvPr>
          <p:cNvGrpSpPr/>
          <p:nvPr/>
        </p:nvGrpSpPr>
        <p:grpSpPr>
          <a:xfrm>
            <a:off x="3070128" y="3335011"/>
            <a:ext cx="739408" cy="1093879"/>
            <a:chOff x="3707858" y="4087319"/>
            <a:chExt cx="739408" cy="109387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711C4974-92EC-4C6A-7459-8075DED77EFB}"/>
                </a:ext>
              </a:extLst>
            </p:cNvPr>
            <p:cNvGrpSpPr/>
            <p:nvPr/>
          </p:nvGrpSpPr>
          <p:grpSpPr>
            <a:xfrm>
              <a:off x="3716942" y="4200780"/>
              <a:ext cx="730324" cy="528105"/>
              <a:chOff x="3213886" y="2239956"/>
              <a:chExt cx="730324" cy="528105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6989B64-E5BB-8BE1-D4CE-AED0EF2011D9}"/>
                  </a:ext>
                </a:extLst>
              </p:cNvPr>
              <p:cNvSpPr txBox="1"/>
              <p:nvPr/>
            </p:nvSpPr>
            <p:spPr>
              <a:xfrm>
                <a:off x="3213886" y="2239956"/>
                <a:ext cx="730324" cy="16927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36000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C17C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Unknown</a:t>
                </a:r>
                <a:endParaRPr kumimoji="0" lang="en-GB" sz="800" b="1" i="0" u="none" strike="noStrike" kern="1200" cap="none" spc="0" normalizeH="0" baseline="0" noProof="0">
                  <a:ln>
                    <a:noFill/>
                  </a:ln>
                  <a:solidFill>
                    <a:srgbClr val="3C17C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45" name="Graphic 44" descr="Paper outline">
                <a:extLst>
                  <a:ext uri="{FF2B5EF4-FFF2-40B4-BE49-F238E27FC236}">
                    <a16:creationId xmlns:a16="http://schemas.microsoft.com/office/drawing/2014/main" id="{DFE1FF89-377D-FE9D-73E8-B775C6EDCD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360886" y="2392388"/>
                <a:ext cx="375673" cy="375673"/>
              </a:xfrm>
              <a:prstGeom prst="rect">
                <a:avLst/>
              </a:prstGeom>
            </p:spPr>
          </p:pic>
        </p:grp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C663F26-6E8A-98F2-0779-ECFACC5FB692}"/>
                </a:ext>
              </a:extLst>
            </p:cNvPr>
            <p:cNvSpPr/>
            <p:nvPr/>
          </p:nvSpPr>
          <p:spPr>
            <a:xfrm>
              <a:off x="3707858" y="4087319"/>
              <a:ext cx="645602" cy="1093879"/>
            </a:xfrm>
            <a:prstGeom prst="rect">
              <a:avLst/>
            </a:prstGeom>
            <a:noFill/>
            <a:ln w="9525">
              <a:solidFill>
                <a:schemeClr val="accent4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F40D248-374A-EE10-85A8-90DF4CA4A129}"/>
                </a:ext>
              </a:extLst>
            </p:cNvPr>
            <p:cNvSpPr txBox="1"/>
            <p:nvPr/>
          </p:nvSpPr>
          <p:spPr>
            <a:xfrm>
              <a:off x="3750929" y="4776329"/>
              <a:ext cx="611421" cy="3693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E.g., Share Certificate, Death Cert.</a:t>
              </a: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166F84F-113B-3A7C-1C41-B7E3C56A1849}"/>
              </a:ext>
            </a:extLst>
          </p:cNvPr>
          <p:cNvCxnSpPr>
            <a:cxnSpLocks/>
          </p:cNvCxnSpPr>
          <p:nvPr/>
        </p:nvCxnSpPr>
        <p:spPr>
          <a:xfrm flipV="1">
            <a:off x="3715730" y="3880083"/>
            <a:ext cx="980698" cy="1868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49835A7-B4D4-9DF9-65AC-D89B45FA912A}"/>
              </a:ext>
            </a:extLst>
          </p:cNvPr>
          <p:cNvSpPr txBox="1"/>
          <p:nvPr/>
        </p:nvSpPr>
        <p:spPr>
          <a:xfrm>
            <a:off x="10005459" y="3559678"/>
            <a:ext cx="663928" cy="2923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Document Metadata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3C17C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CAF29A3D-CACC-5A4B-C5F8-2A141EC882D8}"/>
              </a:ext>
            </a:extLst>
          </p:cNvPr>
          <p:cNvCxnSpPr>
            <a:cxnSpLocks/>
            <a:stCxn id="47" idx="2"/>
          </p:cNvCxnSpPr>
          <p:nvPr/>
        </p:nvCxnSpPr>
        <p:spPr>
          <a:xfrm rot="5400000">
            <a:off x="3666012" y="2236472"/>
            <a:ext cx="825457" cy="1371621"/>
          </a:xfrm>
          <a:prstGeom prst="bentConnector3">
            <a:avLst>
              <a:gd name="adj1" fmla="val 24522"/>
            </a:avLst>
          </a:prstGeom>
          <a:ln w="28575">
            <a:solidFill>
              <a:schemeClr val="accent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3B3714F-DA23-9AE0-F030-625FD29A4ACF}"/>
              </a:ext>
            </a:extLst>
          </p:cNvPr>
          <p:cNvCxnSpPr>
            <a:cxnSpLocks/>
            <a:stCxn id="39" idx="3"/>
            <a:endCxn id="138" idx="1"/>
          </p:cNvCxnSpPr>
          <p:nvPr/>
        </p:nvCxnSpPr>
        <p:spPr>
          <a:xfrm flipV="1">
            <a:off x="10669387" y="3950340"/>
            <a:ext cx="279124" cy="1069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14FFB3F-D3D4-7D9C-6F04-C0049E1BBF0B}"/>
              </a:ext>
            </a:extLst>
          </p:cNvPr>
          <p:cNvGrpSpPr/>
          <p:nvPr/>
        </p:nvGrpSpPr>
        <p:grpSpPr>
          <a:xfrm>
            <a:off x="1397773" y="3546309"/>
            <a:ext cx="689651" cy="507830"/>
            <a:chOff x="2304673" y="3446141"/>
            <a:chExt cx="689651" cy="507830"/>
          </a:xfrm>
        </p:grpSpPr>
        <p:sp>
          <p:nvSpPr>
            <p:cNvPr id="67" name="Flowchart: Decision 66">
              <a:extLst>
                <a:ext uri="{FF2B5EF4-FFF2-40B4-BE49-F238E27FC236}">
                  <a16:creationId xmlns:a16="http://schemas.microsoft.com/office/drawing/2014/main" id="{710276D3-E51E-428F-20FD-0826012FBCFC}"/>
                </a:ext>
              </a:extLst>
            </p:cNvPr>
            <p:cNvSpPr/>
            <p:nvPr/>
          </p:nvSpPr>
          <p:spPr>
            <a:xfrm>
              <a:off x="2304673" y="3446141"/>
              <a:ext cx="689651" cy="507830"/>
            </a:xfrm>
            <a:prstGeom prst="flowChartDecision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9F86579-6017-10ED-68B0-F51406F44691}"/>
                </a:ext>
              </a:extLst>
            </p:cNvPr>
            <p:cNvSpPr txBox="1"/>
            <p:nvPr/>
          </p:nvSpPr>
          <p:spPr>
            <a:xfrm>
              <a:off x="2362212" y="3545320"/>
              <a:ext cx="628523" cy="2923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36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Barcode recognized?</a:t>
              </a: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26AC44BB-C89F-5EC4-387D-89A418415E62}"/>
              </a:ext>
            </a:extLst>
          </p:cNvPr>
          <p:cNvSpPr txBox="1"/>
          <p:nvPr/>
        </p:nvSpPr>
        <p:spPr>
          <a:xfrm>
            <a:off x="1638537" y="3267082"/>
            <a:ext cx="241435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Yes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516E9CB-BFC3-4723-2A42-0C659AA449D2}"/>
              </a:ext>
            </a:extLst>
          </p:cNvPr>
          <p:cNvSpPr txBox="1"/>
          <p:nvPr/>
        </p:nvSpPr>
        <p:spPr>
          <a:xfrm>
            <a:off x="1620409" y="4234598"/>
            <a:ext cx="241435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008EB35E-681B-6F1B-EA7F-5D92EE133952}"/>
              </a:ext>
            </a:extLst>
          </p:cNvPr>
          <p:cNvGrpSpPr/>
          <p:nvPr/>
        </p:nvGrpSpPr>
        <p:grpSpPr>
          <a:xfrm>
            <a:off x="6262206" y="1365271"/>
            <a:ext cx="2185480" cy="1219668"/>
            <a:chOff x="7163905" y="807903"/>
            <a:chExt cx="2185480" cy="1219668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6DB82A1-8A25-462F-A0A2-46A17F5033BD}"/>
                </a:ext>
              </a:extLst>
            </p:cNvPr>
            <p:cNvSpPr txBox="1"/>
            <p:nvPr/>
          </p:nvSpPr>
          <p:spPr>
            <a:xfrm>
              <a:off x="7998646" y="914597"/>
              <a:ext cx="682548" cy="162553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36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‘High Volume’</a:t>
              </a: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73" name="Connector: Elbow 72">
              <a:extLst>
                <a:ext uri="{FF2B5EF4-FFF2-40B4-BE49-F238E27FC236}">
                  <a16:creationId xmlns:a16="http://schemas.microsoft.com/office/drawing/2014/main" id="{72DC4FA3-54FE-E139-1175-0F53BFE31776}"/>
                </a:ext>
              </a:extLst>
            </p:cNvPr>
            <p:cNvCxnSpPr>
              <a:cxnSpLocks/>
              <a:stCxn id="87" idx="3"/>
              <a:endCxn id="81" idx="1"/>
            </p:cNvCxnSpPr>
            <p:nvPr/>
          </p:nvCxnSpPr>
          <p:spPr>
            <a:xfrm flipV="1">
              <a:off x="7736843" y="1093033"/>
              <a:ext cx="1024139" cy="354769"/>
            </a:xfrm>
            <a:prstGeom prst="bentConnector3">
              <a:avLst>
                <a:gd name="adj1" fmla="val 81002"/>
              </a:avLst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45AD2B41-26F6-F5C5-5025-10733464046B}"/>
                </a:ext>
              </a:extLst>
            </p:cNvPr>
            <p:cNvGrpSpPr/>
            <p:nvPr/>
          </p:nvGrpSpPr>
          <p:grpSpPr>
            <a:xfrm>
              <a:off x="7163905" y="1162672"/>
              <a:ext cx="572938" cy="570259"/>
              <a:chOff x="6545060" y="1269352"/>
              <a:chExt cx="572938" cy="570259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3C3E5BDC-B2AA-6AC2-A399-95DA3BE93FDD}"/>
                  </a:ext>
                </a:extLst>
              </p:cNvPr>
              <p:cNvGrpSpPr/>
              <p:nvPr/>
            </p:nvGrpSpPr>
            <p:grpSpPr>
              <a:xfrm>
                <a:off x="6619237" y="1341412"/>
                <a:ext cx="435263" cy="414861"/>
                <a:chOff x="4967053" y="3335479"/>
                <a:chExt cx="548961" cy="528549"/>
              </a:xfrm>
            </p:grpSpPr>
            <p:pic>
              <p:nvPicPr>
                <p:cNvPr id="88" name="Graphic 87" descr="Database outline">
                  <a:extLst>
                    <a:ext uri="{FF2B5EF4-FFF2-40B4-BE49-F238E27FC236}">
                      <a16:creationId xmlns:a16="http://schemas.microsoft.com/office/drawing/2014/main" id="{48E88260-DF5B-D557-FC87-A2FFDD4E81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67053" y="3335479"/>
                  <a:ext cx="528549" cy="528549"/>
                </a:xfrm>
                <a:prstGeom prst="rect">
                  <a:avLst/>
                </a:prstGeom>
              </p:spPr>
            </p:pic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358B1CD-4C58-36BD-86FD-D12203B93557}"/>
                    </a:ext>
                  </a:extLst>
                </p:cNvPr>
                <p:cNvSpPr txBox="1"/>
                <p:nvPr/>
              </p:nvSpPr>
              <p:spPr>
                <a:xfrm>
                  <a:off x="5251425" y="3582992"/>
                  <a:ext cx="264589" cy="117636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6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444444">
                          <a:lumMod val="5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EDC</a:t>
                  </a:r>
                  <a:endParaRPr kumimoji="0" lang="en-GB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444444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DDD35530-75B1-D859-529D-E8C52214526A}"/>
                  </a:ext>
                </a:extLst>
              </p:cNvPr>
              <p:cNvSpPr/>
              <p:nvPr/>
            </p:nvSpPr>
            <p:spPr>
              <a:xfrm>
                <a:off x="6545060" y="1269352"/>
                <a:ext cx="572938" cy="570259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F6F29360-B25E-8785-52AD-665A887B220D}"/>
                </a:ext>
              </a:extLst>
            </p:cNvPr>
            <p:cNvGrpSpPr/>
            <p:nvPr/>
          </p:nvGrpSpPr>
          <p:grpSpPr>
            <a:xfrm>
              <a:off x="8760982" y="807903"/>
              <a:ext cx="588403" cy="1219668"/>
              <a:chOff x="9178457" y="767263"/>
              <a:chExt cx="588403" cy="1219668"/>
            </a:xfrm>
          </p:grpSpPr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D9DE9D72-3F59-1BA2-C59C-857F42E1852E}"/>
                  </a:ext>
                </a:extLst>
              </p:cNvPr>
              <p:cNvGrpSpPr/>
              <p:nvPr/>
            </p:nvGrpSpPr>
            <p:grpSpPr>
              <a:xfrm>
                <a:off x="9204219" y="1427520"/>
                <a:ext cx="523981" cy="518708"/>
                <a:chOff x="12278528" y="114300"/>
                <a:chExt cx="660854" cy="660854"/>
              </a:xfrm>
            </p:grpSpPr>
            <p:pic>
              <p:nvPicPr>
                <p:cNvPr id="84" name="Graphic 83" descr="Programmer male outline">
                  <a:extLst>
                    <a:ext uri="{FF2B5EF4-FFF2-40B4-BE49-F238E27FC236}">
                      <a16:creationId xmlns:a16="http://schemas.microsoft.com/office/drawing/2014/main" id="{7F2599BF-0E0D-7BC4-C616-CC602C0D5E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278528" y="114300"/>
                  <a:ext cx="660854" cy="660854"/>
                </a:xfrm>
                <a:prstGeom prst="rect">
                  <a:avLst/>
                </a:prstGeom>
              </p:spPr>
            </p:pic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750168C9-4A93-B3F7-4DE2-6068AD0250EC}"/>
                    </a:ext>
                  </a:extLst>
                </p:cNvPr>
                <p:cNvSpPr txBox="1"/>
                <p:nvPr/>
              </p:nvSpPr>
              <p:spPr>
                <a:xfrm>
                  <a:off x="12343471" y="586948"/>
                  <a:ext cx="530970" cy="117636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6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444444">
                          <a:lumMod val="5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Workflow</a:t>
                  </a:r>
                  <a:endParaRPr kumimoji="0" lang="en-GB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444444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59AA4D13-2414-1CA5-41CD-4D3EA4C3797F}"/>
                  </a:ext>
                </a:extLst>
              </p:cNvPr>
              <p:cNvGrpSpPr/>
              <p:nvPr/>
            </p:nvGrpSpPr>
            <p:grpSpPr>
              <a:xfrm>
                <a:off x="9178457" y="767263"/>
                <a:ext cx="588403" cy="570259"/>
                <a:chOff x="8696783" y="1269352"/>
                <a:chExt cx="588403" cy="570259"/>
              </a:xfrm>
            </p:grpSpPr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BECFA58E-62F1-71FC-647B-B0B070A33094}"/>
                    </a:ext>
                  </a:extLst>
                </p:cNvPr>
                <p:cNvGrpSpPr/>
                <p:nvPr/>
              </p:nvGrpSpPr>
              <p:grpSpPr>
                <a:xfrm>
                  <a:off x="8757302" y="1358519"/>
                  <a:ext cx="527884" cy="414861"/>
                  <a:chOff x="8792668" y="5006416"/>
                  <a:chExt cx="665777" cy="528549"/>
                </a:xfrm>
              </p:grpSpPr>
              <p:pic>
                <p:nvPicPr>
                  <p:cNvPr id="82" name="Graphic 81" descr="Database outline">
                    <a:extLst>
                      <a:ext uri="{FF2B5EF4-FFF2-40B4-BE49-F238E27FC236}">
                        <a16:creationId xmlns:a16="http://schemas.microsoft.com/office/drawing/2014/main" id="{5EF2DBEB-0F19-BC00-AD65-E2E783D4A7A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792668" y="5006416"/>
                    <a:ext cx="528549" cy="528549"/>
                  </a:xfrm>
                  <a:prstGeom prst="rect">
                    <a:avLst/>
                  </a:prstGeom>
                </p:spPr>
              </p:pic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196847A8-0DD7-2534-A849-034029DF5915}"/>
                      </a:ext>
                    </a:extLst>
                  </p:cNvPr>
                  <p:cNvSpPr txBox="1"/>
                  <p:nvPr/>
                </p:nvSpPr>
                <p:spPr>
                  <a:xfrm>
                    <a:off x="9086504" y="5256279"/>
                    <a:ext cx="371941" cy="117636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noFill/>
                  </a:ln>
                </p:spPr>
                <p:txBody>
                  <a:bodyPr wrap="square" lIns="0" tIns="0" rIns="0" bIns="0" rtlCol="0" anchor="ctr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4444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SCRIP</a:t>
                    </a:r>
                    <a:endParaRPr kumimoji="0" lang="en-GB" sz="6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444444">
                          <a:lumMod val="5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07F9A7C1-967D-D967-5223-EE95D046B0D6}"/>
                    </a:ext>
                  </a:extLst>
                </p:cNvPr>
                <p:cNvSpPr/>
                <p:nvPr/>
              </p:nvSpPr>
              <p:spPr>
                <a:xfrm>
                  <a:off x="8696783" y="1269352"/>
                  <a:ext cx="572938" cy="570259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444444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736C42EB-40B0-33F5-A0AB-5B98B80A43E8}"/>
                  </a:ext>
                </a:extLst>
              </p:cNvPr>
              <p:cNvSpPr/>
              <p:nvPr/>
            </p:nvSpPr>
            <p:spPr>
              <a:xfrm>
                <a:off x="9182314" y="1416672"/>
                <a:ext cx="572938" cy="570259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76" name="Connector: Elbow 75">
              <a:extLst>
                <a:ext uri="{FF2B5EF4-FFF2-40B4-BE49-F238E27FC236}">
                  <a16:creationId xmlns:a16="http://schemas.microsoft.com/office/drawing/2014/main" id="{946C68FE-43F9-5106-2F7B-E3EEBB891494}"/>
                </a:ext>
              </a:extLst>
            </p:cNvPr>
            <p:cNvCxnSpPr>
              <a:cxnSpLocks/>
              <a:stCxn id="87" idx="3"/>
              <a:endCxn id="79" idx="1"/>
            </p:cNvCxnSpPr>
            <p:nvPr/>
          </p:nvCxnSpPr>
          <p:spPr>
            <a:xfrm>
              <a:off x="7736843" y="1447802"/>
              <a:ext cx="1027996" cy="294640"/>
            </a:xfrm>
            <a:prstGeom prst="bentConnector3">
              <a:avLst>
                <a:gd name="adj1" fmla="val 80577"/>
              </a:avLst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2F045282-3934-5CBF-D6AA-E4951E9F8ABC}"/>
              </a:ext>
            </a:extLst>
          </p:cNvPr>
          <p:cNvSpPr txBox="1"/>
          <p:nvPr/>
        </p:nvSpPr>
        <p:spPr>
          <a:xfrm>
            <a:off x="4538846" y="2457339"/>
            <a:ext cx="434274" cy="130246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Fall-outs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29EFB5A-9D1D-F7EC-1AEC-0BF6CEB54005}"/>
              </a:ext>
            </a:extLst>
          </p:cNvPr>
          <p:cNvSpPr txBox="1"/>
          <p:nvPr/>
        </p:nvSpPr>
        <p:spPr>
          <a:xfrm>
            <a:off x="8948148" y="4015266"/>
            <a:ext cx="499186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Text (JSON)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3C17C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81BD038A-6AB7-D952-E1D6-B7E3D793637A}"/>
              </a:ext>
            </a:extLst>
          </p:cNvPr>
          <p:cNvSpPr/>
          <p:nvPr/>
        </p:nvSpPr>
        <p:spPr>
          <a:xfrm>
            <a:off x="8684964" y="2961159"/>
            <a:ext cx="621236" cy="868852"/>
          </a:xfrm>
          <a:prstGeom prst="rect">
            <a:avLst/>
          </a:prstGeom>
          <a:noFill/>
          <a:ln w="9525"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17A0BF80-771E-F098-43CF-0E854B3FDFE8}"/>
              </a:ext>
            </a:extLst>
          </p:cNvPr>
          <p:cNvCxnSpPr>
            <a:cxnSpLocks/>
            <a:stCxn id="94" idx="3"/>
          </p:cNvCxnSpPr>
          <p:nvPr/>
        </p:nvCxnSpPr>
        <p:spPr>
          <a:xfrm flipH="1" flipV="1">
            <a:off x="8149609" y="2584939"/>
            <a:ext cx="1156591" cy="810646"/>
          </a:xfrm>
          <a:prstGeom prst="bentConnector4">
            <a:avLst>
              <a:gd name="adj1" fmla="val -19765"/>
              <a:gd name="adj2" fmla="val 76795"/>
            </a:avLst>
          </a:prstGeom>
          <a:ln w="28575">
            <a:solidFill>
              <a:schemeClr val="accent4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1481591-EDF9-4557-563C-FF365772EAD4}"/>
              </a:ext>
            </a:extLst>
          </p:cNvPr>
          <p:cNvCxnSpPr>
            <a:cxnSpLocks/>
          </p:cNvCxnSpPr>
          <p:nvPr/>
        </p:nvCxnSpPr>
        <p:spPr>
          <a:xfrm flipV="1">
            <a:off x="7208165" y="3945910"/>
            <a:ext cx="364141" cy="443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046B567F-5CA8-E304-C3E4-88A1A8D498BB}"/>
              </a:ext>
            </a:extLst>
          </p:cNvPr>
          <p:cNvCxnSpPr>
            <a:cxnSpLocks/>
            <a:stCxn id="117" idx="0"/>
            <a:endCxn id="94" idx="1"/>
          </p:cNvCxnSpPr>
          <p:nvPr/>
        </p:nvCxnSpPr>
        <p:spPr>
          <a:xfrm rot="5400000" flipH="1" flipV="1">
            <a:off x="8186522" y="3191583"/>
            <a:ext cx="294440" cy="702444"/>
          </a:xfrm>
          <a:prstGeom prst="bentConnector2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522DAAF4-1806-8CDB-93D5-AB6496B0EE1E}"/>
              </a:ext>
            </a:extLst>
          </p:cNvPr>
          <p:cNvCxnSpPr>
            <a:cxnSpLocks/>
            <a:stCxn id="117" idx="3"/>
            <a:endCxn id="39" idx="1"/>
          </p:cNvCxnSpPr>
          <p:nvPr/>
        </p:nvCxnSpPr>
        <p:spPr>
          <a:xfrm>
            <a:off x="8335841" y="3943940"/>
            <a:ext cx="1648903" cy="7469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9" name="Graphic 98" descr="User outline">
            <a:extLst>
              <a:ext uri="{FF2B5EF4-FFF2-40B4-BE49-F238E27FC236}">
                <a16:creationId xmlns:a16="http://schemas.microsoft.com/office/drawing/2014/main" id="{D9774E6A-893B-2FB5-94FF-6FFC5B89B3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91940" y="3327944"/>
            <a:ext cx="431239" cy="431239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F515E68C-D33F-D0B8-77A9-782410279EC2}"/>
              </a:ext>
            </a:extLst>
          </p:cNvPr>
          <p:cNvSpPr txBox="1"/>
          <p:nvPr/>
        </p:nvSpPr>
        <p:spPr>
          <a:xfrm>
            <a:off x="8732507" y="2995526"/>
            <a:ext cx="527517" cy="2923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Manual review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3C17C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91DA84DE-0C55-3963-E71C-2661DC0AC3F4}"/>
              </a:ext>
            </a:extLst>
          </p:cNvPr>
          <p:cNvCxnSpPr>
            <a:cxnSpLocks/>
            <a:stCxn id="94" idx="3"/>
            <a:endCxn id="39" idx="1"/>
          </p:cNvCxnSpPr>
          <p:nvPr/>
        </p:nvCxnSpPr>
        <p:spPr>
          <a:xfrm>
            <a:off x="9306200" y="3395585"/>
            <a:ext cx="678544" cy="555824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D6B239FB-B7BA-4445-E087-394E189C7EEF}"/>
              </a:ext>
            </a:extLst>
          </p:cNvPr>
          <p:cNvSpPr txBox="1"/>
          <p:nvPr/>
        </p:nvSpPr>
        <p:spPr>
          <a:xfrm>
            <a:off x="7869918" y="3341156"/>
            <a:ext cx="241435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Low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79FA28D-4CCC-F1DB-F698-080238B8D335}"/>
              </a:ext>
            </a:extLst>
          </p:cNvPr>
          <p:cNvSpPr txBox="1"/>
          <p:nvPr/>
        </p:nvSpPr>
        <p:spPr>
          <a:xfrm>
            <a:off x="8490096" y="3880084"/>
            <a:ext cx="241435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B72BEBD-6D94-4BE2-79BF-796A7C15E7FB}"/>
              </a:ext>
            </a:extLst>
          </p:cNvPr>
          <p:cNvSpPr txBox="1"/>
          <p:nvPr/>
        </p:nvSpPr>
        <p:spPr>
          <a:xfrm>
            <a:off x="716824" y="3185725"/>
            <a:ext cx="567238" cy="1538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Image (TIF)</a:t>
            </a:r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7" name="Graphic 106" descr="Photocopier outline">
            <a:extLst>
              <a:ext uri="{FF2B5EF4-FFF2-40B4-BE49-F238E27FC236}">
                <a16:creationId xmlns:a16="http://schemas.microsoft.com/office/drawing/2014/main" id="{FAE2C85E-A738-EF8E-BBE2-37291D06AC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3485" y="2654425"/>
            <a:ext cx="368927" cy="368927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42CC9F0A-49AB-7C91-7E64-084C4B931F34}"/>
              </a:ext>
            </a:extLst>
          </p:cNvPr>
          <p:cNvSpPr txBox="1"/>
          <p:nvPr/>
        </p:nvSpPr>
        <p:spPr>
          <a:xfrm>
            <a:off x="396873" y="2557877"/>
            <a:ext cx="452613" cy="12311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Scanner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9" name="Graphic 108" descr="Envelope outline">
            <a:extLst>
              <a:ext uri="{FF2B5EF4-FFF2-40B4-BE49-F238E27FC236}">
                <a16:creationId xmlns:a16="http://schemas.microsoft.com/office/drawing/2014/main" id="{76AF5079-9F0A-5958-6743-4A76BB4A04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8089" y="1824340"/>
            <a:ext cx="334967" cy="269511"/>
          </a:xfrm>
          <a:prstGeom prst="rect">
            <a:avLst/>
          </a:prstGeom>
        </p:spPr>
      </p:pic>
      <p:sp>
        <p:nvSpPr>
          <p:cNvPr id="110" name="Rectangle 109">
            <a:extLst>
              <a:ext uri="{FF2B5EF4-FFF2-40B4-BE49-F238E27FC236}">
                <a16:creationId xmlns:a16="http://schemas.microsoft.com/office/drawing/2014/main" id="{6FC11727-AE79-91C9-3711-BCA7D0D6BC29}"/>
              </a:ext>
            </a:extLst>
          </p:cNvPr>
          <p:cNvSpPr/>
          <p:nvPr/>
        </p:nvSpPr>
        <p:spPr>
          <a:xfrm>
            <a:off x="301622" y="2493139"/>
            <a:ext cx="645153" cy="57600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1A4AB441-DC9F-3434-36BA-C36300FD9290}"/>
              </a:ext>
            </a:extLst>
          </p:cNvPr>
          <p:cNvCxnSpPr>
            <a:cxnSpLocks/>
            <a:stCxn id="110" idx="2"/>
            <a:endCxn id="55" idx="0"/>
          </p:cNvCxnSpPr>
          <p:nvPr/>
        </p:nvCxnSpPr>
        <p:spPr>
          <a:xfrm>
            <a:off x="624199" y="3069139"/>
            <a:ext cx="0" cy="39588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E82DBEC-5004-D5F3-5C28-02016B0BB6A1}"/>
              </a:ext>
            </a:extLst>
          </p:cNvPr>
          <p:cNvCxnSpPr>
            <a:cxnSpLocks/>
            <a:stCxn id="114" idx="2"/>
            <a:endCxn id="110" idx="0"/>
          </p:cNvCxnSpPr>
          <p:nvPr/>
        </p:nvCxnSpPr>
        <p:spPr>
          <a:xfrm>
            <a:off x="624199" y="2163287"/>
            <a:ext cx="0" cy="32985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ED037C21-1265-EC86-F8FC-6AFA923AB032}"/>
              </a:ext>
            </a:extLst>
          </p:cNvPr>
          <p:cNvSpPr txBox="1"/>
          <p:nvPr/>
        </p:nvSpPr>
        <p:spPr>
          <a:xfrm>
            <a:off x="683869" y="2255554"/>
            <a:ext cx="270427" cy="1538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Paper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9BCD2BD-4C96-C416-D8C9-6EE1B364F53D}"/>
              </a:ext>
            </a:extLst>
          </p:cNvPr>
          <p:cNvSpPr/>
          <p:nvPr/>
        </p:nvSpPr>
        <p:spPr>
          <a:xfrm>
            <a:off x="301622" y="1587287"/>
            <a:ext cx="645153" cy="57600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4BAD022-A717-4B61-3C05-7D5F4F95F618}"/>
              </a:ext>
            </a:extLst>
          </p:cNvPr>
          <p:cNvSpPr txBox="1"/>
          <p:nvPr/>
        </p:nvSpPr>
        <p:spPr>
          <a:xfrm>
            <a:off x="396873" y="1648738"/>
            <a:ext cx="452613" cy="12311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Mail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B4EDDA7-A323-E411-8C3F-DC1A3F65FA53}"/>
              </a:ext>
            </a:extLst>
          </p:cNvPr>
          <p:cNvGrpSpPr/>
          <p:nvPr/>
        </p:nvGrpSpPr>
        <p:grpSpPr>
          <a:xfrm>
            <a:off x="7629198" y="3690025"/>
            <a:ext cx="706643" cy="507830"/>
            <a:chOff x="7324398" y="3910697"/>
            <a:chExt cx="706643" cy="507830"/>
          </a:xfrm>
        </p:grpSpPr>
        <p:sp>
          <p:nvSpPr>
            <p:cNvPr id="117" name="Flowchart: Decision 116">
              <a:extLst>
                <a:ext uri="{FF2B5EF4-FFF2-40B4-BE49-F238E27FC236}">
                  <a16:creationId xmlns:a16="http://schemas.microsoft.com/office/drawing/2014/main" id="{5BE08012-05B4-7FD2-A03C-8B4E79CECB64}"/>
                </a:ext>
              </a:extLst>
            </p:cNvPr>
            <p:cNvSpPr/>
            <p:nvPr/>
          </p:nvSpPr>
          <p:spPr>
            <a:xfrm>
              <a:off x="7324398" y="3910697"/>
              <a:ext cx="706643" cy="507830"/>
            </a:xfrm>
            <a:prstGeom prst="flowChartDecision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D1E50F1-EB75-AA7B-7A4B-A4214608F1C4}"/>
                </a:ext>
              </a:extLst>
            </p:cNvPr>
            <p:cNvSpPr txBox="1"/>
            <p:nvPr/>
          </p:nvSpPr>
          <p:spPr>
            <a:xfrm>
              <a:off x="7389131" y="4108165"/>
              <a:ext cx="611567" cy="16927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36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Confidence?</a:t>
              </a: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2DDA6E2D-623E-A281-C6B6-69F4852C5B14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3727425" y="1328335"/>
            <a:ext cx="714324" cy="673688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D74E96FD-9A4D-2358-8994-5FD6D0BCFC04}"/>
              </a:ext>
            </a:extLst>
          </p:cNvPr>
          <p:cNvCxnSpPr>
            <a:cxnSpLocks/>
            <a:stCxn id="134" idx="0"/>
          </p:cNvCxnSpPr>
          <p:nvPr/>
        </p:nvCxnSpPr>
        <p:spPr>
          <a:xfrm rot="5400000" flipH="1" flipV="1">
            <a:off x="2539424" y="1302057"/>
            <a:ext cx="489013" cy="541571"/>
          </a:xfrm>
          <a:prstGeom prst="bentConnector2">
            <a:avLst/>
          </a:prstGeom>
          <a:ln w="28575">
            <a:solidFill>
              <a:schemeClr val="accent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2" name="Picture 121">
            <a:extLst>
              <a:ext uri="{FF2B5EF4-FFF2-40B4-BE49-F238E27FC236}">
                <a16:creationId xmlns:a16="http://schemas.microsoft.com/office/drawing/2014/main" id="{AF9DE419-5DBD-563B-4087-78D1617D051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25228" y="3115507"/>
            <a:ext cx="624815" cy="156204"/>
          </a:xfrm>
          <a:prstGeom prst="rect">
            <a:avLst/>
          </a:prstGeom>
        </p:spPr>
      </p:pic>
      <p:grpSp>
        <p:nvGrpSpPr>
          <p:cNvPr id="123" name="Group 122">
            <a:extLst>
              <a:ext uri="{FF2B5EF4-FFF2-40B4-BE49-F238E27FC236}">
                <a16:creationId xmlns:a16="http://schemas.microsoft.com/office/drawing/2014/main" id="{69BE3A4E-E247-7CB0-BE2F-A0EE6FC828A3}"/>
              </a:ext>
            </a:extLst>
          </p:cNvPr>
          <p:cNvGrpSpPr/>
          <p:nvPr/>
        </p:nvGrpSpPr>
        <p:grpSpPr>
          <a:xfrm>
            <a:off x="3054716" y="699865"/>
            <a:ext cx="672709" cy="1089622"/>
            <a:chOff x="8786398" y="5816078"/>
            <a:chExt cx="672709" cy="1089622"/>
          </a:xfrm>
        </p:grpSpPr>
        <p:pic>
          <p:nvPicPr>
            <p:cNvPr id="124" name="Graphic 123" descr="Artificial Intelligence outline">
              <a:extLst>
                <a:ext uri="{FF2B5EF4-FFF2-40B4-BE49-F238E27FC236}">
                  <a16:creationId xmlns:a16="http://schemas.microsoft.com/office/drawing/2014/main" id="{D8F771A0-B7C3-213B-7B76-EE4215D00D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956012" y="6151453"/>
              <a:ext cx="386585" cy="386585"/>
            </a:xfrm>
            <a:prstGeom prst="rect">
              <a:avLst/>
            </a:prstGeom>
          </p:spPr>
        </p:pic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BA114231-70DF-2865-810B-CF9CE73184AC}"/>
                </a:ext>
              </a:extLst>
            </p:cNvPr>
            <p:cNvSpPr txBox="1"/>
            <p:nvPr/>
          </p:nvSpPr>
          <p:spPr>
            <a:xfrm>
              <a:off x="8888366" y="6010766"/>
              <a:ext cx="485262" cy="12311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LLM</a:t>
              </a:r>
              <a:endParaRPr kumimoji="0" lang="en-GB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6F4C5333-DD2D-C2AC-A8A9-45F20061FF2E}"/>
                </a:ext>
              </a:extLst>
            </p:cNvPr>
            <p:cNvSpPr/>
            <p:nvPr/>
          </p:nvSpPr>
          <p:spPr>
            <a:xfrm>
              <a:off x="8786398" y="5983396"/>
              <a:ext cx="672709" cy="922304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127" name="Picture 4" descr="OpenAI Logo, symbol, meaning, history, PNG, brand">
              <a:extLst>
                <a:ext uri="{FF2B5EF4-FFF2-40B4-BE49-F238E27FC236}">
                  <a16:creationId xmlns:a16="http://schemas.microsoft.com/office/drawing/2014/main" id="{A75CB2AD-97FA-5486-F2FD-CF9199D339C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594" b="19955"/>
            <a:stretch>
              <a:fillRect/>
            </a:stretch>
          </p:blipFill>
          <p:spPr bwMode="auto">
            <a:xfrm>
              <a:off x="8956012" y="5816078"/>
              <a:ext cx="496374" cy="1520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00CF060A-06C5-D00F-4F0E-9D7C838E76FB}"/>
                </a:ext>
              </a:extLst>
            </p:cNvPr>
            <p:cNvSpPr txBox="1"/>
            <p:nvPr/>
          </p:nvSpPr>
          <p:spPr>
            <a:xfrm>
              <a:off x="8798600" y="6520136"/>
              <a:ext cx="655270" cy="3693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Extracts fields for all Proxy variations</a:t>
              </a: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8B33217F-7974-6959-2015-7D7DB11B1699}"/>
              </a:ext>
            </a:extLst>
          </p:cNvPr>
          <p:cNvSpPr txBox="1"/>
          <p:nvPr/>
        </p:nvSpPr>
        <p:spPr>
          <a:xfrm>
            <a:off x="1446447" y="1724370"/>
            <a:ext cx="590617" cy="41549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Matching logic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template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F4919B7-E097-B640-2842-848C7DF7DE3F}"/>
              </a:ext>
            </a:extLst>
          </p:cNvPr>
          <p:cNvSpPr/>
          <p:nvPr/>
        </p:nvSpPr>
        <p:spPr>
          <a:xfrm>
            <a:off x="1441268" y="1494491"/>
            <a:ext cx="600973" cy="1015062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31" name="Graphic 130" descr="Checkmark with solid fill">
            <a:extLst>
              <a:ext uri="{FF2B5EF4-FFF2-40B4-BE49-F238E27FC236}">
                <a16:creationId xmlns:a16="http://schemas.microsoft.com/office/drawing/2014/main" id="{D4DF408B-FFD0-FE49-3511-C628964D8D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632007" y="2092529"/>
            <a:ext cx="251083" cy="251083"/>
          </a:xfrm>
          <a:prstGeom prst="rect">
            <a:avLst/>
          </a:prstGeom>
        </p:spPr>
      </p:pic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CFFC0E33-5248-B40C-765D-A2A3A02BA885}"/>
              </a:ext>
            </a:extLst>
          </p:cNvPr>
          <p:cNvCxnSpPr>
            <a:cxnSpLocks/>
            <a:stCxn id="130" idx="3"/>
            <a:endCxn id="134" idx="1"/>
          </p:cNvCxnSpPr>
          <p:nvPr/>
        </p:nvCxnSpPr>
        <p:spPr>
          <a:xfrm>
            <a:off x="2042241" y="2002022"/>
            <a:ext cx="246112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3" name="Picture 132">
            <a:extLst>
              <a:ext uri="{FF2B5EF4-FFF2-40B4-BE49-F238E27FC236}">
                <a16:creationId xmlns:a16="http://schemas.microsoft.com/office/drawing/2014/main" id="{20EA9DFF-B192-4011-49BB-559462E2EA6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9347" y="1285326"/>
            <a:ext cx="624815" cy="156204"/>
          </a:xfrm>
          <a:prstGeom prst="rect">
            <a:avLst/>
          </a:prstGeom>
        </p:spPr>
      </p:pic>
      <p:sp>
        <p:nvSpPr>
          <p:cNvPr id="134" name="Flowchart: Decision 133">
            <a:extLst>
              <a:ext uri="{FF2B5EF4-FFF2-40B4-BE49-F238E27FC236}">
                <a16:creationId xmlns:a16="http://schemas.microsoft.com/office/drawing/2014/main" id="{085A7103-6D7E-8304-6D25-DC5D8139A3C0}"/>
              </a:ext>
            </a:extLst>
          </p:cNvPr>
          <p:cNvSpPr/>
          <p:nvPr/>
        </p:nvSpPr>
        <p:spPr>
          <a:xfrm>
            <a:off x="2288353" y="1817348"/>
            <a:ext cx="449583" cy="369347"/>
          </a:xfrm>
          <a:prstGeom prst="flowChartDecision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213B9474-934B-FC9D-794D-137331E7E561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2725228" y="2002022"/>
            <a:ext cx="1716521" cy="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C16D2E27-1D80-C2C9-C90A-34F79965303C}"/>
              </a:ext>
            </a:extLst>
          </p:cNvPr>
          <p:cNvSpPr txBox="1"/>
          <p:nvPr/>
        </p:nvSpPr>
        <p:spPr>
          <a:xfrm>
            <a:off x="2374153" y="1551031"/>
            <a:ext cx="241435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Yes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6B8DDA9-585C-D019-572A-DF14C4338AF2}"/>
              </a:ext>
            </a:extLst>
          </p:cNvPr>
          <p:cNvSpPr txBox="1"/>
          <p:nvPr/>
        </p:nvSpPr>
        <p:spPr>
          <a:xfrm>
            <a:off x="2811076" y="1940466"/>
            <a:ext cx="241435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3E929B7-B668-0E6B-DA85-89F150059E06}"/>
              </a:ext>
            </a:extLst>
          </p:cNvPr>
          <p:cNvSpPr/>
          <p:nvPr/>
        </p:nvSpPr>
        <p:spPr>
          <a:xfrm>
            <a:off x="10948511" y="3253706"/>
            <a:ext cx="828778" cy="1393268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5FF6C29E-37A5-D16B-7CA2-CBA1E542F46A}"/>
              </a:ext>
            </a:extLst>
          </p:cNvPr>
          <p:cNvGrpSpPr/>
          <p:nvPr/>
        </p:nvGrpSpPr>
        <p:grpSpPr>
          <a:xfrm>
            <a:off x="11229210" y="220346"/>
            <a:ext cx="716757" cy="736002"/>
            <a:chOff x="10912760" y="366591"/>
            <a:chExt cx="716757" cy="736002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6CD20BA2-DC7D-3BC3-E8D8-DA3499ACECD4}"/>
                </a:ext>
              </a:extLst>
            </p:cNvPr>
            <p:cNvGrpSpPr/>
            <p:nvPr/>
          </p:nvGrpSpPr>
          <p:grpSpPr>
            <a:xfrm>
              <a:off x="10912760" y="366591"/>
              <a:ext cx="233363" cy="194381"/>
              <a:chOff x="9515474" y="9885"/>
              <a:chExt cx="333375" cy="288588"/>
            </a:xfrm>
          </p:grpSpPr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309A3143-475F-DFDE-7BDD-6BB829D39D0B}"/>
                  </a:ext>
                </a:extLst>
              </p:cNvPr>
              <p:cNvSpPr/>
              <p:nvPr/>
            </p:nvSpPr>
            <p:spPr>
              <a:xfrm>
                <a:off x="9515474" y="10044"/>
                <a:ext cx="333375" cy="288271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149" name="Graphic 148" descr="Transfer with solid fill">
                <a:extLst>
                  <a:ext uri="{FF2B5EF4-FFF2-40B4-BE49-F238E27FC236}">
                    <a16:creationId xmlns:a16="http://schemas.microsoft.com/office/drawing/2014/main" id="{F2CE0CE4-2B80-D767-12E1-D8C3F2DCDB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9534865" y="9885"/>
                <a:ext cx="288588" cy="288588"/>
              </a:xfrm>
              <a:prstGeom prst="rect">
                <a:avLst/>
              </a:prstGeom>
            </p:spPr>
          </p:pic>
        </p:grp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9C91DAD4-D328-829A-5316-2FFF4C539D9E}"/>
                </a:ext>
              </a:extLst>
            </p:cNvPr>
            <p:cNvSpPr/>
            <p:nvPr/>
          </p:nvSpPr>
          <p:spPr>
            <a:xfrm>
              <a:off x="10912760" y="631719"/>
              <a:ext cx="233363" cy="19416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142" name="Graphic 141" descr="Transfer with solid fill">
              <a:extLst>
                <a:ext uri="{FF2B5EF4-FFF2-40B4-BE49-F238E27FC236}">
                  <a16:creationId xmlns:a16="http://schemas.microsoft.com/office/drawing/2014/main" id="{844E4DFC-1CB1-C9BF-E0F3-D9867B186D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0926334" y="631612"/>
              <a:ext cx="202012" cy="194381"/>
            </a:xfrm>
            <a:prstGeom prst="rect">
              <a:avLst/>
            </a:prstGeom>
          </p:spPr>
        </p:pic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0AF5E27E-4932-2772-0E08-72A1B5262904}"/>
                </a:ext>
              </a:extLst>
            </p:cNvPr>
            <p:cNvSpPr/>
            <p:nvPr/>
          </p:nvSpPr>
          <p:spPr>
            <a:xfrm>
              <a:off x="10912760" y="908319"/>
              <a:ext cx="233363" cy="194167"/>
            </a:xfrm>
            <a:prstGeom prst="rect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144" name="Graphic 143" descr="Transfer with solid fill">
              <a:extLst>
                <a:ext uri="{FF2B5EF4-FFF2-40B4-BE49-F238E27FC236}">
                  <a16:creationId xmlns:a16="http://schemas.microsoft.com/office/drawing/2014/main" id="{A479582C-FF18-B3BC-8FC7-47E7484CE3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926334" y="908212"/>
              <a:ext cx="202012" cy="194381"/>
            </a:xfrm>
            <a:prstGeom prst="rect">
              <a:avLst/>
            </a:prstGeom>
          </p:spPr>
        </p:pic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C6B14E28-1EEC-1B79-7712-C9079A894AF6}"/>
                </a:ext>
              </a:extLst>
            </p:cNvPr>
            <p:cNvSpPr txBox="1"/>
            <p:nvPr/>
          </p:nvSpPr>
          <p:spPr>
            <a:xfrm>
              <a:off x="11202491" y="405260"/>
              <a:ext cx="427026" cy="123111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Phase 1</a:t>
              </a: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D5B9F2D2-F821-202B-B46B-06BF0F6E2DC1}"/>
                </a:ext>
              </a:extLst>
            </p:cNvPr>
            <p:cNvSpPr txBox="1"/>
            <p:nvPr/>
          </p:nvSpPr>
          <p:spPr>
            <a:xfrm>
              <a:off x="11202491" y="654440"/>
              <a:ext cx="427026" cy="123111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Phase 2</a:t>
              </a: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D12A8D7-39C3-FE0D-A481-3EA0F07F4607}"/>
                </a:ext>
              </a:extLst>
            </p:cNvPr>
            <p:cNvSpPr txBox="1"/>
            <p:nvPr/>
          </p:nvSpPr>
          <p:spPr>
            <a:xfrm>
              <a:off x="11202491" y="933679"/>
              <a:ext cx="427026" cy="123111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Phase 3</a:t>
              </a: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50" name="TextBox 149">
            <a:extLst>
              <a:ext uri="{FF2B5EF4-FFF2-40B4-BE49-F238E27FC236}">
                <a16:creationId xmlns:a16="http://schemas.microsoft.com/office/drawing/2014/main" id="{2AFCB405-E4A7-FAD4-4E50-451AFCF543F6}"/>
              </a:ext>
            </a:extLst>
          </p:cNvPr>
          <p:cNvSpPr txBox="1"/>
          <p:nvPr/>
        </p:nvSpPr>
        <p:spPr>
          <a:xfrm>
            <a:off x="11029272" y="3505809"/>
            <a:ext cx="715406" cy="784830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Phase 3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Call APIs or build bespoke agents to automate transactions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52" name="Graphic 151" descr="Artificial Intelligence outline">
            <a:extLst>
              <a:ext uri="{FF2B5EF4-FFF2-40B4-BE49-F238E27FC236}">
                <a16:creationId xmlns:a16="http://schemas.microsoft.com/office/drawing/2014/main" id="{42191048-FD22-ECFE-F8C5-ED75F761BB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11581" y="3543678"/>
            <a:ext cx="386585" cy="386585"/>
          </a:xfrm>
          <a:prstGeom prst="rect">
            <a:avLst/>
          </a:prstGeom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FDAEC481-6F8E-16FC-9DD5-591112BACC5E}"/>
              </a:ext>
            </a:extLst>
          </p:cNvPr>
          <p:cNvSpPr txBox="1"/>
          <p:nvPr/>
        </p:nvSpPr>
        <p:spPr>
          <a:xfrm>
            <a:off x="6143935" y="3402991"/>
            <a:ext cx="485262" cy="12311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LLM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3C17C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54" name="Picture 4" descr="OpenAI Logo, symbol, meaning, history, PNG, brand">
            <a:extLst>
              <a:ext uri="{FF2B5EF4-FFF2-40B4-BE49-F238E27FC236}">
                <a16:creationId xmlns:a16="http://schemas.microsoft.com/office/drawing/2014/main" id="{A403692E-0403-E75D-FA99-2570DBF782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94" b="19955"/>
          <a:stretch>
            <a:fillRect/>
          </a:stretch>
        </p:blipFill>
        <p:spPr bwMode="auto">
          <a:xfrm>
            <a:off x="6141311" y="3227411"/>
            <a:ext cx="496374" cy="152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5" name="TextBox 154">
            <a:extLst>
              <a:ext uri="{FF2B5EF4-FFF2-40B4-BE49-F238E27FC236}">
                <a16:creationId xmlns:a16="http://schemas.microsoft.com/office/drawing/2014/main" id="{19864F5F-101F-0F1B-7A25-1EC8B8E0823C}"/>
              </a:ext>
            </a:extLst>
          </p:cNvPr>
          <p:cNvSpPr txBox="1"/>
          <p:nvPr/>
        </p:nvSpPr>
        <p:spPr>
          <a:xfrm>
            <a:off x="6067723" y="3943194"/>
            <a:ext cx="655270" cy="492443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Extracts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intent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and necessary 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fields for classification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50" name="Picture 2" descr="A blue logo on a black background&#10;&#10;AI-generated content may be incorrect.">
            <a:extLst>
              <a:ext uri="{FF2B5EF4-FFF2-40B4-BE49-F238E27FC236}">
                <a16:creationId xmlns:a16="http://schemas.microsoft.com/office/drawing/2014/main" id="{31808F88-638E-F643-C449-0F1BDD6244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796"/>
          <a:stretch>
            <a:fillRect/>
          </a:stretch>
        </p:blipFill>
        <p:spPr bwMode="auto">
          <a:xfrm>
            <a:off x="4379727" y="2871061"/>
            <a:ext cx="116145" cy="138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1" name="Group 170">
            <a:extLst>
              <a:ext uri="{FF2B5EF4-FFF2-40B4-BE49-F238E27FC236}">
                <a16:creationId xmlns:a16="http://schemas.microsoft.com/office/drawing/2014/main" id="{C471ED32-F6C2-D949-7D3F-5EC05DBC3794}"/>
              </a:ext>
            </a:extLst>
          </p:cNvPr>
          <p:cNvGrpSpPr/>
          <p:nvPr/>
        </p:nvGrpSpPr>
        <p:grpSpPr>
          <a:xfrm>
            <a:off x="4748538" y="3206955"/>
            <a:ext cx="1112513" cy="1250630"/>
            <a:chOff x="5705667" y="3937960"/>
            <a:chExt cx="1112513" cy="1250630"/>
          </a:xfrm>
        </p:grpSpPr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1443179D-CAC0-6A47-346C-51CFF442EFD0}"/>
                </a:ext>
              </a:extLst>
            </p:cNvPr>
            <p:cNvSpPr txBox="1"/>
            <p:nvPr/>
          </p:nvSpPr>
          <p:spPr>
            <a:xfrm>
              <a:off x="5705667" y="4617667"/>
              <a:ext cx="1112513" cy="16927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36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3C17C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Envelope scan</a:t>
              </a:r>
              <a:endParaRPr kumimoji="0" lang="en-GB" sz="800" b="1" i="0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C5FB0A6A-0E78-3416-E53A-A9CCEBD9A24A}"/>
                </a:ext>
              </a:extLst>
            </p:cNvPr>
            <p:cNvGrpSpPr/>
            <p:nvPr/>
          </p:nvGrpSpPr>
          <p:grpSpPr>
            <a:xfrm>
              <a:off x="5813990" y="3937960"/>
              <a:ext cx="865888" cy="1250630"/>
              <a:chOff x="5813990" y="3937960"/>
              <a:chExt cx="865888" cy="1250630"/>
            </a:xfrm>
          </p:grpSpPr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4F57EA34-C071-EB3D-B2F5-C4FA6AF11166}"/>
                  </a:ext>
                </a:extLst>
              </p:cNvPr>
              <p:cNvSpPr/>
              <p:nvPr/>
            </p:nvSpPr>
            <p:spPr>
              <a:xfrm>
                <a:off x="5813990" y="4094710"/>
                <a:ext cx="865888" cy="1093880"/>
              </a:xfrm>
              <a:prstGeom prst="rect">
                <a:avLst/>
              </a:prstGeom>
              <a:noFill/>
              <a:ln w="9525">
                <a:solidFill>
                  <a:schemeClr val="accent4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E25CC146-DB2B-CA6B-5795-335C44940EAE}"/>
                  </a:ext>
                </a:extLst>
              </p:cNvPr>
              <p:cNvSpPr txBox="1"/>
              <p:nvPr/>
            </p:nvSpPr>
            <p:spPr>
              <a:xfrm>
                <a:off x="6001460" y="4172735"/>
                <a:ext cx="485262" cy="24622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C17C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Prompt &lt;/&gt;</a:t>
                </a:r>
                <a:endParaRPr kumimoji="0" lang="en-GB" sz="800" b="1" i="0" u="none" strike="noStrike" kern="1200" cap="none" spc="0" normalizeH="0" baseline="0" noProof="0">
                  <a:ln>
                    <a:noFill/>
                  </a:ln>
                  <a:solidFill>
                    <a:srgbClr val="3C17C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6C1DD1BF-F45D-9885-127D-8B502710DB0E}"/>
                  </a:ext>
                </a:extLst>
              </p:cNvPr>
              <p:cNvSpPr txBox="1"/>
              <p:nvPr/>
            </p:nvSpPr>
            <p:spPr>
              <a:xfrm>
                <a:off x="5851242" y="3937960"/>
                <a:ext cx="799753" cy="12311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444444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Query (API call)</a:t>
                </a: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6229C510-2FD6-F463-E350-FD830D248D45}"/>
                  </a:ext>
                </a:extLst>
              </p:cNvPr>
              <p:cNvSpPr txBox="1"/>
              <p:nvPr/>
            </p:nvSpPr>
            <p:spPr>
              <a:xfrm>
                <a:off x="5980860" y="4453127"/>
                <a:ext cx="485262" cy="12311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444444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+</a:t>
                </a:r>
                <a:endParaRPr kumimoji="0" lang="en-GB" sz="800" b="1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169" name="Picture 168" descr="A black and white icon of a stack of papers&#10;&#10;AI-generated content may be incorrect.">
                <a:extLst>
                  <a:ext uri="{FF2B5EF4-FFF2-40B4-BE49-F238E27FC236}">
                    <a16:creationId xmlns:a16="http://schemas.microsoft.com/office/drawing/2014/main" id="{C7509E05-D361-291F-5066-1109E748E6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96000" y="4772953"/>
                <a:ext cx="291254" cy="291254"/>
              </a:xfrm>
              <a:prstGeom prst="rect">
                <a:avLst/>
              </a:prstGeom>
              <a:ln>
                <a:noFill/>
              </a:ln>
            </p:spPr>
          </p:pic>
        </p:grpSp>
      </p:grp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37ECB89A-6AD5-94BA-43C4-E1870BFA15DB}"/>
              </a:ext>
            </a:extLst>
          </p:cNvPr>
          <p:cNvCxnSpPr>
            <a:cxnSpLocks/>
          </p:cNvCxnSpPr>
          <p:nvPr/>
        </p:nvCxnSpPr>
        <p:spPr>
          <a:xfrm>
            <a:off x="5714690" y="3880083"/>
            <a:ext cx="288237" cy="1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55" name="Group 2054">
            <a:extLst>
              <a:ext uri="{FF2B5EF4-FFF2-40B4-BE49-F238E27FC236}">
                <a16:creationId xmlns:a16="http://schemas.microsoft.com/office/drawing/2014/main" id="{B8329C56-7E5E-AE39-9D55-BB5CE825A12F}"/>
              </a:ext>
            </a:extLst>
          </p:cNvPr>
          <p:cNvGrpSpPr/>
          <p:nvPr/>
        </p:nvGrpSpPr>
        <p:grpSpPr>
          <a:xfrm>
            <a:off x="4463454" y="5772667"/>
            <a:ext cx="2613006" cy="842277"/>
            <a:chOff x="5316279" y="5517906"/>
            <a:chExt cx="2613006" cy="842277"/>
          </a:xfrm>
        </p:grpSpPr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1C789630-7EC7-BA57-5074-3BEDB11ACB9E}"/>
                </a:ext>
              </a:extLst>
            </p:cNvPr>
            <p:cNvSpPr/>
            <p:nvPr/>
          </p:nvSpPr>
          <p:spPr>
            <a:xfrm>
              <a:off x="5316279" y="5650522"/>
              <a:ext cx="2553639" cy="709661"/>
            </a:xfrm>
            <a:prstGeom prst="rect">
              <a:avLst/>
            </a:prstGeom>
            <a:noFill/>
            <a:ln w="9525">
              <a:solidFill>
                <a:schemeClr val="accent4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B6B114EF-8B45-F60B-1D30-E4038790D140}"/>
                </a:ext>
              </a:extLst>
            </p:cNvPr>
            <p:cNvSpPr txBox="1"/>
            <p:nvPr/>
          </p:nvSpPr>
          <p:spPr>
            <a:xfrm>
              <a:off x="5449910" y="6092914"/>
              <a:ext cx="290060" cy="769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1" i="0" u="none" strike="noStrike" kern="1200" cap="none" spc="0" normalizeH="0" baseline="0" noProof="0">
                  <a:ln>
                    <a:noFill/>
                  </a:ln>
                  <a:solidFill>
                    <a:srgbClr val="3C17C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DOPs</a:t>
              </a:r>
              <a:endParaRPr kumimoji="0" lang="en-GB" sz="500" b="1" i="0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A51A60F1-9F08-6CAD-C55E-4540A218E9D4}"/>
                </a:ext>
              </a:extLst>
            </p:cNvPr>
            <p:cNvSpPr txBox="1"/>
            <p:nvPr/>
          </p:nvSpPr>
          <p:spPr>
            <a:xfrm>
              <a:off x="5318409" y="5517906"/>
              <a:ext cx="1601669" cy="12311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00" b="1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Context for LLM to classify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42C7E6B0-BD5C-98BF-4166-9C2F04F61AC2}"/>
                </a:ext>
              </a:extLst>
            </p:cNvPr>
            <p:cNvSpPr txBox="1"/>
            <p:nvPr/>
          </p:nvSpPr>
          <p:spPr>
            <a:xfrm>
              <a:off x="6977959" y="6075387"/>
              <a:ext cx="951326" cy="1538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500" b="1" i="0" u="none" strike="noStrike" kern="1200" cap="none" spc="0" normalizeH="0" baseline="0" noProof="0">
                  <a:ln>
                    <a:noFill/>
                  </a:ln>
                  <a:solidFill>
                    <a:srgbClr val="3C17C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Rules, checks to identify transaction class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F0EC6EE8-F528-1F57-5534-6735132C86EE}"/>
                </a:ext>
              </a:extLst>
            </p:cNvPr>
            <p:cNvSpPr txBox="1"/>
            <p:nvPr/>
          </p:nvSpPr>
          <p:spPr>
            <a:xfrm>
              <a:off x="6434641" y="6078553"/>
              <a:ext cx="485908" cy="2308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500" b="1" i="0" u="none" strike="noStrike" kern="1200" cap="none" spc="0" normalizeH="0" baseline="0" noProof="0">
                  <a:ln>
                    <a:noFill/>
                  </a:ln>
                  <a:solidFill>
                    <a:srgbClr val="3C17C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COYs, company names, ticker (API call)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60B82A15-361F-F8A6-D4EA-273E35BCDEA5}"/>
                </a:ext>
              </a:extLst>
            </p:cNvPr>
            <p:cNvSpPr txBox="1"/>
            <p:nvPr/>
          </p:nvSpPr>
          <p:spPr>
            <a:xfrm>
              <a:off x="5921337" y="6087998"/>
              <a:ext cx="525631" cy="1538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500" b="1" i="0" u="none" strike="noStrike" kern="1200" cap="none" spc="0" normalizeH="0" baseline="0" noProof="0">
                  <a:ln>
                    <a:noFill/>
                  </a:ln>
                  <a:solidFill>
                    <a:srgbClr val="3C17C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Categories  (buckets)</a:t>
              </a:r>
            </a:p>
          </p:txBody>
        </p:sp>
        <p:pic>
          <p:nvPicPr>
            <p:cNvPr id="189" name="Picture 188" descr="A black and white icon of a stack of papers&#10;&#10;AI-generated content may be incorrect.">
              <a:extLst>
                <a:ext uri="{FF2B5EF4-FFF2-40B4-BE49-F238E27FC236}">
                  <a16:creationId xmlns:a16="http://schemas.microsoft.com/office/drawing/2014/main" id="{5672C49F-2AAC-BABD-6058-1595F88A5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0561" y="5764956"/>
              <a:ext cx="291254" cy="291254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0" name="Graphic 189" descr="Table outline">
              <a:extLst>
                <a:ext uri="{FF2B5EF4-FFF2-40B4-BE49-F238E27FC236}">
                  <a16:creationId xmlns:a16="http://schemas.microsoft.com/office/drawing/2014/main" id="{B7053E3F-E7A3-0399-1E47-A330BCDD15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24803" y="5703610"/>
              <a:ext cx="370512" cy="370512"/>
            </a:xfrm>
            <a:prstGeom prst="rect">
              <a:avLst/>
            </a:prstGeom>
          </p:spPr>
        </p:pic>
        <p:pic>
          <p:nvPicPr>
            <p:cNvPr id="191" name="Graphic 190" descr="Table outline">
              <a:extLst>
                <a:ext uri="{FF2B5EF4-FFF2-40B4-BE49-F238E27FC236}">
                  <a16:creationId xmlns:a16="http://schemas.microsoft.com/office/drawing/2014/main" id="{AB5456F4-8297-C815-2843-6FDD51E24C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47213" y="5704655"/>
              <a:ext cx="370512" cy="370512"/>
            </a:xfrm>
            <a:prstGeom prst="rect">
              <a:avLst/>
            </a:prstGeom>
          </p:spPr>
        </p:pic>
        <p:pic>
          <p:nvPicPr>
            <p:cNvPr id="2048" name="Picture 2047" descr="A black and white icon of a stack of papers&#10;&#10;AI-generated content may be incorrect.">
              <a:extLst>
                <a:ext uri="{FF2B5EF4-FFF2-40B4-BE49-F238E27FC236}">
                  <a16:creationId xmlns:a16="http://schemas.microsoft.com/office/drawing/2014/main" id="{F7376FFD-73DD-9461-8507-2098E727F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9321" y="5732238"/>
              <a:ext cx="291254" cy="291254"/>
            </a:xfrm>
            <a:prstGeom prst="rect">
              <a:avLst/>
            </a:prstGeom>
            <a:ln>
              <a:noFill/>
            </a:ln>
          </p:spPr>
        </p:pic>
        <p:sp>
          <p:nvSpPr>
            <p:cNvPr id="2049" name="Ellipse 90">
              <a:extLst>
                <a:ext uri="{FF2B5EF4-FFF2-40B4-BE49-F238E27FC236}">
                  <a16:creationId xmlns:a16="http://schemas.microsoft.com/office/drawing/2014/main" id="{C9E08CB1-4ECD-E0F6-662A-67AACDCC8961}"/>
                </a:ext>
              </a:extLst>
            </p:cNvPr>
            <p:cNvSpPr>
              <a:spLocks/>
            </p:cNvSpPr>
            <p:nvPr/>
          </p:nvSpPr>
          <p:spPr>
            <a:xfrm>
              <a:off x="5401652" y="5749307"/>
              <a:ext cx="94360" cy="96035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51" name="Ellipse 90">
              <a:extLst>
                <a:ext uri="{FF2B5EF4-FFF2-40B4-BE49-F238E27FC236}">
                  <a16:creationId xmlns:a16="http://schemas.microsoft.com/office/drawing/2014/main" id="{19E5E6F9-0977-72DA-95C5-92076850DB79}"/>
                </a:ext>
              </a:extLst>
            </p:cNvPr>
            <p:cNvSpPr>
              <a:spLocks/>
            </p:cNvSpPr>
            <p:nvPr/>
          </p:nvSpPr>
          <p:spPr>
            <a:xfrm>
              <a:off x="5922519" y="5749290"/>
              <a:ext cx="94360" cy="96035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52" name="Ellipse 90">
              <a:extLst>
                <a:ext uri="{FF2B5EF4-FFF2-40B4-BE49-F238E27FC236}">
                  <a16:creationId xmlns:a16="http://schemas.microsoft.com/office/drawing/2014/main" id="{BDF2BCE2-377E-B6AE-F211-11C4B9B8BD50}"/>
                </a:ext>
              </a:extLst>
            </p:cNvPr>
            <p:cNvSpPr>
              <a:spLocks/>
            </p:cNvSpPr>
            <p:nvPr/>
          </p:nvSpPr>
          <p:spPr>
            <a:xfrm>
              <a:off x="6441139" y="5745859"/>
              <a:ext cx="94360" cy="96035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53" name="Ellipse 90">
              <a:extLst>
                <a:ext uri="{FF2B5EF4-FFF2-40B4-BE49-F238E27FC236}">
                  <a16:creationId xmlns:a16="http://schemas.microsoft.com/office/drawing/2014/main" id="{79883766-072C-F714-AEEB-B3F5E15E2DD7}"/>
                </a:ext>
              </a:extLst>
            </p:cNvPr>
            <p:cNvSpPr>
              <a:spLocks/>
            </p:cNvSpPr>
            <p:nvPr/>
          </p:nvSpPr>
          <p:spPr>
            <a:xfrm>
              <a:off x="7173632" y="5735768"/>
              <a:ext cx="94360" cy="96035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4</a:t>
              </a:r>
            </a:p>
          </p:txBody>
        </p:sp>
      </p:grpSp>
      <p:sp>
        <p:nvSpPr>
          <p:cNvPr id="2054" name="Rectangle 2053">
            <a:extLst>
              <a:ext uri="{FF2B5EF4-FFF2-40B4-BE49-F238E27FC236}">
                <a16:creationId xmlns:a16="http://schemas.microsoft.com/office/drawing/2014/main" id="{1DD02CD0-A387-F090-4AC0-13C46836DCEB}"/>
              </a:ext>
            </a:extLst>
          </p:cNvPr>
          <p:cNvSpPr/>
          <p:nvPr/>
        </p:nvSpPr>
        <p:spPr>
          <a:xfrm>
            <a:off x="6036803" y="5424371"/>
            <a:ext cx="737816" cy="239521"/>
          </a:xfrm>
          <a:prstGeom prst="rect">
            <a:avLst/>
          </a:prstGeom>
          <a:noFill/>
          <a:ln w="9525"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058" name="Group 2057">
            <a:extLst>
              <a:ext uri="{FF2B5EF4-FFF2-40B4-BE49-F238E27FC236}">
                <a16:creationId xmlns:a16="http://schemas.microsoft.com/office/drawing/2014/main" id="{524A3C89-4212-1803-59C1-FDEC36E0A1C4}"/>
              </a:ext>
            </a:extLst>
          </p:cNvPr>
          <p:cNvGrpSpPr/>
          <p:nvPr/>
        </p:nvGrpSpPr>
        <p:grpSpPr>
          <a:xfrm>
            <a:off x="6232843" y="4713781"/>
            <a:ext cx="541776" cy="414861"/>
            <a:chOff x="3700291" y="5388436"/>
            <a:chExt cx="541776" cy="414861"/>
          </a:xfrm>
        </p:grpSpPr>
        <p:pic>
          <p:nvPicPr>
            <p:cNvPr id="2056" name="Graphic 2055" descr="Database outline">
              <a:extLst>
                <a:ext uri="{FF2B5EF4-FFF2-40B4-BE49-F238E27FC236}">
                  <a16:creationId xmlns:a16="http://schemas.microsoft.com/office/drawing/2014/main" id="{C8BF4D81-EEB1-B92D-B461-B1F4EE3F48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00291" y="5388436"/>
              <a:ext cx="419079" cy="414861"/>
            </a:xfrm>
            <a:prstGeom prst="rect">
              <a:avLst/>
            </a:prstGeom>
          </p:spPr>
        </p:pic>
        <p:sp>
          <p:nvSpPr>
            <p:cNvPr id="2057" name="TextBox 2056">
              <a:extLst>
                <a:ext uri="{FF2B5EF4-FFF2-40B4-BE49-F238E27FC236}">
                  <a16:creationId xmlns:a16="http://schemas.microsoft.com/office/drawing/2014/main" id="{2A17A70B-0ACD-33CD-8FB2-BE2C7073A09E}"/>
                </a:ext>
              </a:extLst>
            </p:cNvPr>
            <p:cNvSpPr txBox="1"/>
            <p:nvPr/>
          </p:nvSpPr>
          <p:spPr>
            <a:xfrm>
              <a:off x="3871211" y="5587239"/>
              <a:ext cx="370856" cy="92333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>
                  <a:ln>
                    <a:noFill/>
                  </a:ln>
                  <a:solidFill>
                    <a:srgbClr val="444444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Vector DB</a:t>
              </a:r>
              <a:endParaRPr kumimoji="0" lang="en-GB" sz="600" b="1" i="0" u="none" strike="noStrike" kern="1200" cap="none" spc="0" normalizeH="0" baseline="0" noProof="0">
                <a:ln>
                  <a:noFill/>
                </a:ln>
                <a:solidFill>
                  <a:srgbClr val="444444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059" name="TextBox 2058">
            <a:extLst>
              <a:ext uri="{FF2B5EF4-FFF2-40B4-BE49-F238E27FC236}">
                <a16:creationId xmlns:a16="http://schemas.microsoft.com/office/drawing/2014/main" id="{25D379D7-6AA8-D854-BA58-EEBAFD4C958C}"/>
              </a:ext>
            </a:extLst>
          </p:cNvPr>
          <p:cNvSpPr txBox="1"/>
          <p:nvPr/>
        </p:nvSpPr>
        <p:spPr>
          <a:xfrm>
            <a:off x="6226684" y="5469185"/>
            <a:ext cx="524850" cy="184666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Embedding model</a:t>
            </a:r>
          </a:p>
        </p:txBody>
      </p:sp>
      <p:cxnSp>
        <p:nvCxnSpPr>
          <p:cNvPr id="2060" name="Straight Arrow Connector 2059">
            <a:extLst>
              <a:ext uri="{FF2B5EF4-FFF2-40B4-BE49-F238E27FC236}">
                <a16:creationId xmlns:a16="http://schemas.microsoft.com/office/drawing/2014/main" id="{D34F15AD-DF2E-D347-DB85-4603233786B0}"/>
              </a:ext>
            </a:extLst>
          </p:cNvPr>
          <p:cNvCxnSpPr>
            <a:cxnSpLocks/>
          </p:cNvCxnSpPr>
          <p:nvPr/>
        </p:nvCxnSpPr>
        <p:spPr>
          <a:xfrm flipV="1">
            <a:off x="6415619" y="5686070"/>
            <a:ext cx="0" cy="207809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4" name="Straight Arrow Connector 2063">
            <a:extLst>
              <a:ext uri="{FF2B5EF4-FFF2-40B4-BE49-F238E27FC236}">
                <a16:creationId xmlns:a16="http://schemas.microsoft.com/office/drawing/2014/main" id="{1985A482-2FE8-ED99-AA81-B0B11C59209F}"/>
              </a:ext>
            </a:extLst>
          </p:cNvPr>
          <p:cNvCxnSpPr>
            <a:cxnSpLocks/>
          </p:cNvCxnSpPr>
          <p:nvPr/>
        </p:nvCxnSpPr>
        <p:spPr>
          <a:xfrm flipV="1">
            <a:off x="6415337" y="5169747"/>
            <a:ext cx="0" cy="207809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6" name="Rectangle 2065">
            <a:extLst>
              <a:ext uri="{FF2B5EF4-FFF2-40B4-BE49-F238E27FC236}">
                <a16:creationId xmlns:a16="http://schemas.microsoft.com/office/drawing/2014/main" id="{BD56EE59-30CA-A868-A789-0726ACBC5C9A}"/>
              </a:ext>
            </a:extLst>
          </p:cNvPr>
          <p:cNvSpPr/>
          <p:nvPr/>
        </p:nvSpPr>
        <p:spPr>
          <a:xfrm>
            <a:off x="6058065" y="4731416"/>
            <a:ext cx="737816" cy="404938"/>
          </a:xfrm>
          <a:prstGeom prst="rect">
            <a:avLst/>
          </a:prstGeom>
          <a:noFill/>
          <a:ln w="9525"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067" name="Straight Arrow Connector 2066">
            <a:extLst>
              <a:ext uri="{FF2B5EF4-FFF2-40B4-BE49-F238E27FC236}">
                <a16:creationId xmlns:a16="http://schemas.microsoft.com/office/drawing/2014/main" id="{6ACCF63B-226D-B81D-CAFD-BEF23082AE85}"/>
              </a:ext>
            </a:extLst>
          </p:cNvPr>
          <p:cNvCxnSpPr>
            <a:cxnSpLocks/>
          </p:cNvCxnSpPr>
          <p:nvPr/>
        </p:nvCxnSpPr>
        <p:spPr>
          <a:xfrm flipV="1">
            <a:off x="6281886" y="4487679"/>
            <a:ext cx="0" cy="207809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8" name="Straight Arrow Connector 2067">
            <a:extLst>
              <a:ext uri="{FF2B5EF4-FFF2-40B4-BE49-F238E27FC236}">
                <a16:creationId xmlns:a16="http://schemas.microsoft.com/office/drawing/2014/main" id="{26A545D9-E709-A006-697A-25F11C34B954}"/>
              </a:ext>
            </a:extLst>
          </p:cNvPr>
          <p:cNvCxnSpPr>
            <a:cxnSpLocks/>
          </p:cNvCxnSpPr>
          <p:nvPr/>
        </p:nvCxnSpPr>
        <p:spPr>
          <a:xfrm>
            <a:off x="6501698" y="4515735"/>
            <a:ext cx="0" cy="196471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3" name="TextBox 2072">
            <a:extLst>
              <a:ext uri="{FF2B5EF4-FFF2-40B4-BE49-F238E27FC236}">
                <a16:creationId xmlns:a16="http://schemas.microsoft.com/office/drawing/2014/main" id="{26B7D443-2F2F-3FCA-26FF-1CECD29ED7CF}"/>
              </a:ext>
            </a:extLst>
          </p:cNvPr>
          <p:cNvSpPr txBox="1"/>
          <p:nvPr/>
        </p:nvSpPr>
        <p:spPr>
          <a:xfrm>
            <a:off x="7006979" y="3576492"/>
            <a:ext cx="743181" cy="2923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Model Response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3C17C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79" name="TextBox 2078">
            <a:extLst>
              <a:ext uri="{FF2B5EF4-FFF2-40B4-BE49-F238E27FC236}">
                <a16:creationId xmlns:a16="http://schemas.microsoft.com/office/drawing/2014/main" id="{80647D83-67F8-C06C-3021-F4B346BE36D8}"/>
              </a:ext>
            </a:extLst>
          </p:cNvPr>
          <p:cNvSpPr txBox="1"/>
          <p:nvPr/>
        </p:nvSpPr>
        <p:spPr>
          <a:xfrm>
            <a:off x="4719396" y="4888726"/>
            <a:ext cx="1283531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Stores context as vectors</a:t>
            </a:r>
          </a:p>
        </p:txBody>
      </p:sp>
      <p:sp>
        <p:nvSpPr>
          <p:cNvPr id="2081" name="Rectangle 2080">
            <a:extLst>
              <a:ext uri="{FF2B5EF4-FFF2-40B4-BE49-F238E27FC236}">
                <a16:creationId xmlns:a16="http://schemas.microsoft.com/office/drawing/2014/main" id="{CC921D84-F7CD-02EF-4D1F-E00BDFD77838}"/>
              </a:ext>
            </a:extLst>
          </p:cNvPr>
          <p:cNvSpPr/>
          <p:nvPr/>
        </p:nvSpPr>
        <p:spPr>
          <a:xfrm>
            <a:off x="4377685" y="3027647"/>
            <a:ext cx="2769763" cy="3766343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82" name="TextBox 2081">
            <a:extLst>
              <a:ext uri="{FF2B5EF4-FFF2-40B4-BE49-F238E27FC236}">
                <a16:creationId xmlns:a16="http://schemas.microsoft.com/office/drawing/2014/main" id="{57E08B4A-F5E6-FEEE-745F-0402C758754A}"/>
              </a:ext>
            </a:extLst>
          </p:cNvPr>
          <p:cNvSpPr txBox="1"/>
          <p:nvPr/>
        </p:nvSpPr>
        <p:spPr>
          <a:xfrm>
            <a:off x="4740529" y="5453777"/>
            <a:ext cx="1283531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Converts context to vectors</a:t>
            </a:r>
          </a:p>
        </p:txBody>
      </p:sp>
      <p:sp>
        <p:nvSpPr>
          <p:cNvPr id="2083" name="TextBox 2082">
            <a:extLst>
              <a:ext uri="{FF2B5EF4-FFF2-40B4-BE49-F238E27FC236}">
                <a16:creationId xmlns:a16="http://schemas.microsoft.com/office/drawing/2014/main" id="{3551C567-A38F-10B8-6B2D-BCCAC24FB41C}"/>
              </a:ext>
            </a:extLst>
          </p:cNvPr>
          <p:cNvSpPr txBox="1"/>
          <p:nvPr/>
        </p:nvSpPr>
        <p:spPr>
          <a:xfrm>
            <a:off x="4242974" y="2881014"/>
            <a:ext cx="1283531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1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Hosted in Azure</a:t>
            </a:r>
          </a:p>
        </p:txBody>
      </p:sp>
      <p:sp>
        <p:nvSpPr>
          <p:cNvPr id="2093" name="Rectangle: Rounded Corners 2092">
            <a:extLst>
              <a:ext uri="{FF2B5EF4-FFF2-40B4-BE49-F238E27FC236}">
                <a16:creationId xmlns:a16="http://schemas.microsoft.com/office/drawing/2014/main" id="{F29BF6EB-1CEA-A65E-80CA-2D3852525CD1}"/>
              </a:ext>
            </a:extLst>
          </p:cNvPr>
          <p:cNvSpPr/>
          <p:nvPr/>
        </p:nvSpPr>
        <p:spPr>
          <a:xfrm>
            <a:off x="2278530" y="2654425"/>
            <a:ext cx="8471617" cy="4199236"/>
          </a:xfrm>
          <a:prstGeom prst="roundRect">
            <a:avLst/>
          </a:prstGeom>
          <a:noFill/>
          <a:ln>
            <a:solidFill>
              <a:schemeClr val="accent4"/>
            </a:solidFill>
            <a:prstDash val="sysDot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1802D1-954F-00E0-72D8-847D73A88064}"/>
              </a:ext>
            </a:extLst>
          </p:cNvPr>
          <p:cNvSpPr txBox="1"/>
          <p:nvPr/>
        </p:nvSpPr>
        <p:spPr>
          <a:xfrm>
            <a:off x="3894906" y="4007599"/>
            <a:ext cx="366335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via API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3C17C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97F6155-CA0F-00F4-1596-6BBC301D8704}"/>
              </a:ext>
            </a:extLst>
          </p:cNvPr>
          <p:cNvSpPr/>
          <p:nvPr/>
        </p:nvSpPr>
        <p:spPr>
          <a:xfrm>
            <a:off x="346125" y="177190"/>
            <a:ext cx="576733" cy="57599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8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D06EA9-7CB9-3147-BDCC-1B8EED73A1D5}"/>
              </a:ext>
            </a:extLst>
          </p:cNvPr>
          <p:cNvSpPr txBox="1"/>
          <p:nvPr/>
        </p:nvSpPr>
        <p:spPr>
          <a:xfrm>
            <a:off x="270728" y="4692793"/>
            <a:ext cx="3260587" cy="1579331"/>
          </a:xfrm>
          <a:prstGeom prst="wedgeRoundRectCallout">
            <a:avLst>
              <a:gd name="adj1" fmla="val 84253"/>
              <a:gd name="adj2" fmla="val -31441"/>
              <a:gd name="adj3" fmla="val 16667"/>
            </a:avLst>
          </a:prstGeom>
          <a:solidFill>
            <a:srgbClr val="CDF2FF"/>
          </a:solidFill>
          <a:ln w="25400">
            <a:solidFill>
              <a:srgbClr val="00B0F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l"/>
            <a:r>
              <a:rPr lang="en-GB" sz="1000" b="1">
                <a:latin typeface="Aptos" panose="020B0004020202020204" pitchFamily="34" charset="0"/>
              </a:rPr>
              <a:t>To provide context, there are advantages of a RAG approach over a traditional ML model: </a:t>
            </a:r>
          </a:p>
          <a:p>
            <a:pPr marL="72000"/>
            <a:r>
              <a:rPr lang="en-GB" sz="1000">
                <a:latin typeface="Aptos" panose="020B0004020202020204" pitchFamily="34" charset="0"/>
              </a:rPr>
              <a:t>1. Better at handling correspondence </a:t>
            </a:r>
            <a:r>
              <a:rPr lang="en-GB" sz="1000" b="1">
                <a:latin typeface="Aptos" panose="020B0004020202020204" pitchFamily="34" charset="0"/>
              </a:rPr>
              <a:t>containing multiple requests</a:t>
            </a:r>
            <a:r>
              <a:rPr lang="en-GB" sz="1000">
                <a:latin typeface="Aptos" panose="020B0004020202020204" pitchFamily="34" charset="0"/>
              </a:rPr>
              <a:t> and not singular tasks (majority)</a:t>
            </a:r>
          </a:p>
          <a:p>
            <a:pPr marL="72000"/>
            <a:r>
              <a:rPr lang="en-GB" sz="1000" b="1">
                <a:latin typeface="Aptos" panose="020B0004020202020204" pitchFamily="34" charset="0"/>
              </a:rPr>
              <a:t>2. No need for data labelling, model training </a:t>
            </a:r>
            <a:r>
              <a:rPr lang="en-GB" sz="1000">
                <a:latin typeface="Aptos" panose="020B0004020202020204" pitchFamily="34" charset="0"/>
              </a:rPr>
              <a:t>and re-training</a:t>
            </a:r>
          </a:p>
          <a:p>
            <a:pPr marL="72000"/>
            <a:r>
              <a:rPr lang="en-GB" sz="1000" b="1">
                <a:latin typeface="Aptos" panose="020B0004020202020204" pitchFamily="34" charset="0"/>
              </a:rPr>
              <a:t>3.The LLM can understand the context across the entire set of documents</a:t>
            </a:r>
            <a:r>
              <a:rPr lang="en-GB" sz="1000">
                <a:latin typeface="Aptos" panose="020B0004020202020204" pitchFamily="34" charset="0"/>
              </a:rPr>
              <a:t> and understand a larger variety of nuance and variation across documents</a:t>
            </a:r>
            <a:endParaRPr lang="en-GB" sz="1400">
              <a:latin typeface="Aptos" panose="020B0004020202020204" pitchFamily="34" charset="0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1C1DA4E-658F-D5AE-09C3-100AB21C7ED0}"/>
              </a:ext>
            </a:extLst>
          </p:cNvPr>
          <p:cNvSpPr txBox="1"/>
          <p:nvPr/>
        </p:nvSpPr>
        <p:spPr>
          <a:xfrm>
            <a:off x="8727904" y="-88485"/>
            <a:ext cx="2068610" cy="1169551"/>
          </a:xfrm>
          <a:prstGeom prst="rect">
            <a:avLst/>
          </a:prstGeom>
          <a:solidFill>
            <a:srgbClr val="FFFF00"/>
          </a:solidFill>
          <a:ln w="25400">
            <a:gradFill flip="none" rotWithShape="1">
              <a:gsLst>
                <a:gs pos="5000">
                  <a:schemeClr val="accent1"/>
                </a:gs>
                <a:gs pos="100000">
                  <a:schemeClr val="accent4"/>
                </a:gs>
              </a:gsLst>
              <a:lin ang="2700000" scaled="1"/>
              <a:tileRect/>
            </a:gra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400" err="1">
                <a:latin typeface="Aptos" panose="020B0004020202020204" pitchFamily="34" charset="0"/>
              </a:rPr>
              <a:t>Wuestion</a:t>
            </a:r>
            <a:r>
              <a:rPr lang="en-GB" sz="1400">
                <a:latin typeface="Aptos" panose="020B0004020202020204" pitchFamily="34" charset="0"/>
              </a:rPr>
              <a:t> for TTA, Will image pass through or text only? Does the process wait until LLM response? </a:t>
            </a:r>
          </a:p>
        </p:txBody>
      </p:sp>
    </p:spTree>
    <p:extLst>
      <p:ext uri="{BB962C8B-B14F-4D97-AF65-F5344CB8AC3E}">
        <p14:creationId xmlns:p14="http://schemas.microsoft.com/office/powerpoint/2010/main" val="897008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6DF8D-4C60-62A7-5933-0B3710EC2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4ACEA35D-0BE0-EFE6-985D-983AA4A774F3}"/>
              </a:ext>
            </a:extLst>
          </p:cNvPr>
          <p:cNvSpPr/>
          <p:nvPr/>
        </p:nvSpPr>
        <p:spPr>
          <a:xfrm>
            <a:off x="2417037" y="3429000"/>
            <a:ext cx="6898313" cy="1984121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  <a:alpha val="18000"/>
            </a:schemeClr>
          </a:solidFill>
          <a:ln w="12700">
            <a:solidFill>
              <a:srgbClr val="3C17CF"/>
            </a:solidFill>
            <a:prstDash val="soli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410502-D26C-03A8-B8C4-4DB884D03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89" y="239394"/>
            <a:ext cx="11555037" cy="924164"/>
          </a:xfrm>
        </p:spPr>
        <p:txBody>
          <a:bodyPr/>
          <a:lstStyle/>
          <a:p>
            <a:r>
              <a:rPr lang="en-US"/>
              <a:t>Phase 1 with Tungsten is almost complete; we are working automating Phase 2 and 3</a:t>
            </a:r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5474C6-A8B1-1021-238D-1D410B533AD3}"/>
              </a:ext>
            </a:extLst>
          </p:cNvPr>
          <p:cNvSpPr txBox="1"/>
          <p:nvPr/>
        </p:nvSpPr>
        <p:spPr>
          <a:xfrm>
            <a:off x="2257560" y="2586036"/>
            <a:ext cx="628523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Proxy?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5EF4AA7-1621-615B-D9C2-B398DD66F317}"/>
              </a:ext>
            </a:extLst>
          </p:cNvPr>
          <p:cNvCxnSpPr>
            <a:cxnSpLocks/>
            <a:stCxn id="55" idx="3"/>
            <a:endCxn id="67" idx="1"/>
          </p:cNvCxnSpPr>
          <p:nvPr/>
        </p:nvCxnSpPr>
        <p:spPr>
          <a:xfrm>
            <a:off x="985622" y="4437363"/>
            <a:ext cx="450998" cy="433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6F5984D-92D2-425C-496A-632A4D101E42}"/>
              </a:ext>
            </a:extLst>
          </p:cNvPr>
          <p:cNvSpPr txBox="1"/>
          <p:nvPr/>
        </p:nvSpPr>
        <p:spPr>
          <a:xfrm>
            <a:off x="961705" y="4506743"/>
            <a:ext cx="560693" cy="369332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Image (TIF)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+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Text (JSON)</a:t>
            </a:r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CB15184-01C4-7213-C206-68F06A098385}"/>
              </a:ext>
            </a:extLst>
          </p:cNvPr>
          <p:cNvCxnSpPr>
            <a:cxnSpLocks/>
            <a:stCxn id="47" idx="3"/>
            <a:endCxn id="53" idx="1"/>
          </p:cNvCxnSpPr>
          <p:nvPr/>
        </p:nvCxnSpPr>
        <p:spPr>
          <a:xfrm>
            <a:off x="5126198" y="2643500"/>
            <a:ext cx="1001927" cy="280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08182D0-CA25-BDBE-A085-217E123E86E2}"/>
              </a:ext>
            </a:extLst>
          </p:cNvPr>
          <p:cNvSpPr txBox="1"/>
          <p:nvPr/>
        </p:nvSpPr>
        <p:spPr>
          <a:xfrm>
            <a:off x="309575" y="4128051"/>
            <a:ext cx="729715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OCR 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(+MSDI)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8331AE-5EA7-40FC-DB59-807EBA8617AF}"/>
              </a:ext>
            </a:extLst>
          </p:cNvPr>
          <p:cNvSpPr txBox="1"/>
          <p:nvPr/>
        </p:nvSpPr>
        <p:spPr>
          <a:xfrm>
            <a:off x="5290074" y="2361673"/>
            <a:ext cx="737816" cy="2923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Image (TIF)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+ Text (JSON)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E7325EBF-ECF5-0352-B65C-E556A9F7AEA6}"/>
              </a:ext>
            </a:extLst>
          </p:cNvPr>
          <p:cNvCxnSpPr>
            <a:cxnSpLocks/>
            <a:stCxn id="138" idx="3"/>
            <a:endCxn id="53" idx="3"/>
          </p:cNvCxnSpPr>
          <p:nvPr/>
        </p:nvCxnSpPr>
        <p:spPr>
          <a:xfrm flipH="1" flipV="1">
            <a:off x="9427924" y="2646300"/>
            <a:ext cx="2388212" cy="1774761"/>
          </a:xfrm>
          <a:prstGeom prst="bentConnector3">
            <a:avLst>
              <a:gd name="adj1" fmla="val -9572"/>
            </a:avLst>
          </a:prstGeom>
          <a:ln w="28575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80AD938D-03B8-E18E-EFD4-AB3459B9C243}"/>
              </a:ext>
            </a:extLst>
          </p:cNvPr>
          <p:cNvSpPr/>
          <p:nvPr/>
        </p:nvSpPr>
        <p:spPr>
          <a:xfrm>
            <a:off x="4480596" y="2135968"/>
            <a:ext cx="645602" cy="1015063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EFD3D52-9D85-6D2D-7527-EDE107AFF1C7}"/>
              </a:ext>
            </a:extLst>
          </p:cNvPr>
          <p:cNvGrpSpPr/>
          <p:nvPr/>
        </p:nvGrpSpPr>
        <p:grpSpPr>
          <a:xfrm>
            <a:off x="4408498" y="2180944"/>
            <a:ext cx="848790" cy="645919"/>
            <a:chOff x="3131745" y="1328917"/>
            <a:chExt cx="848790" cy="645919"/>
          </a:xfrm>
        </p:grpSpPr>
        <p:pic>
          <p:nvPicPr>
            <p:cNvPr id="49" name="Graphic 48" descr="Document outline">
              <a:extLst>
                <a:ext uri="{FF2B5EF4-FFF2-40B4-BE49-F238E27FC236}">
                  <a16:creationId xmlns:a16="http://schemas.microsoft.com/office/drawing/2014/main" id="{64DBF24D-C05B-5B4D-B090-663BF6CCCD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68304" y="1621617"/>
              <a:ext cx="353219" cy="353219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C5B9C13-7F99-D6C2-9C16-8C8713D4525B}"/>
                </a:ext>
              </a:extLst>
            </p:cNvPr>
            <p:cNvSpPr txBox="1"/>
            <p:nvPr/>
          </p:nvSpPr>
          <p:spPr>
            <a:xfrm>
              <a:off x="3131745" y="1328917"/>
              <a:ext cx="848790" cy="2923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36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Known</a:t>
              </a:r>
              <a:b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</a:b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Form Codes</a:t>
              </a:r>
              <a:endParaRPr kumimoji="0" lang="en-GB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8B4F5984-E942-8650-3BC2-5E9DCB128BD7}"/>
              </a:ext>
            </a:extLst>
          </p:cNvPr>
          <p:cNvCxnSpPr>
            <a:cxnSpLocks/>
            <a:stCxn id="67" idx="0"/>
            <a:endCxn id="130" idx="2"/>
          </p:cNvCxnSpPr>
          <p:nvPr/>
        </p:nvCxnSpPr>
        <p:spPr>
          <a:xfrm rot="16200000" flipV="1">
            <a:off x="1262646" y="3668986"/>
            <a:ext cx="1036756" cy="844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A12A3EDA-24EE-A7BE-92D4-B679D2C5CD27}"/>
              </a:ext>
            </a:extLst>
          </p:cNvPr>
          <p:cNvCxnSpPr>
            <a:cxnSpLocks/>
            <a:stCxn id="67" idx="2"/>
          </p:cNvCxnSpPr>
          <p:nvPr/>
        </p:nvCxnSpPr>
        <p:spPr>
          <a:xfrm rot="5400000" flipH="1" flipV="1">
            <a:off x="2077945" y="4276006"/>
            <a:ext cx="123111" cy="716110"/>
          </a:xfrm>
          <a:prstGeom prst="bentConnector4">
            <a:avLst>
              <a:gd name="adj1" fmla="val -185686"/>
              <a:gd name="adj2" fmla="val 74076"/>
            </a:avLst>
          </a:prstGeom>
          <a:ln w="28575">
            <a:solidFill>
              <a:srgbClr val="3C17C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DBAB89B1-D84F-7252-D486-09208245B1C7}"/>
              </a:ext>
            </a:extLst>
          </p:cNvPr>
          <p:cNvSpPr/>
          <p:nvPr/>
        </p:nvSpPr>
        <p:spPr>
          <a:xfrm>
            <a:off x="6128125" y="1949666"/>
            <a:ext cx="3299799" cy="1393268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1FA66C7-E419-690A-1067-147055188A6E}"/>
              </a:ext>
            </a:extLst>
          </p:cNvPr>
          <p:cNvSpPr txBox="1"/>
          <p:nvPr/>
        </p:nvSpPr>
        <p:spPr>
          <a:xfrm>
            <a:off x="8567987" y="2633289"/>
            <a:ext cx="786407" cy="66172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Documents manually processed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from work items in Workflow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1962276-AF4F-1243-49FE-45BE6567F8E9}"/>
              </a:ext>
            </a:extLst>
          </p:cNvPr>
          <p:cNvSpPr/>
          <p:nvPr/>
        </p:nvSpPr>
        <p:spPr>
          <a:xfrm>
            <a:off x="340469" y="4106503"/>
            <a:ext cx="645153" cy="66172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6" name="Graphic 55" descr="Magnifying glass with solid fill">
            <a:extLst>
              <a:ext uri="{FF2B5EF4-FFF2-40B4-BE49-F238E27FC236}">
                <a16:creationId xmlns:a16="http://schemas.microsoft.com/office/drawing/2014/main" id="{2C6786C5-B61C-B04D-B022-D16407817C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0943" y="4381649"/>
            <a:ext cx="352066" cy="352066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C4195736-AF76-6AEA-2145-9477F05986FB}"/>
              </a:ext>
            </a:extLst>
          </p:cNvPr>
          <p:cNvSpPr txBox="1"/>
          <p:nvPr/>
        </p:nvSpPr>
        <p:spPr>
          <a:xfrm>
            <a:off x="4523667" y="2866218"/>
            <a:ext cx="611421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E.g., W8, Direct Credit  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065" name="Group 2064">
            <a:extLst>
              <a:ext uri="{FF2B5EF4-FFF2-40B4-BE49-F238E27FC236}">
                <a16:creationId xmlns:a16="http://schemas.microsoft.com/office/drawing/2014/main" id="{BA6FD8B8-DC5E-ED69-72E9-CE834D930EE4}"/>
              </a:ext>
            </a:extLst>
          </p:cNvPr>
          <p:cNvGrpSpPr/>
          <p:nvPr/>
        </p:nvGrpSpPr>
        <p:grpSpPr>
          <a:xfrm>
            <a:off x="2520809" y="3976488"/>
            <a:ext cx="739408" cy="1093879"/>
            <a:chOff x="3707858" y="4087319"/>
            <a:chExt cx="739408" cy="109387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DBE0C5AA-8B1E-F3AB-846E-430EABB648C8}"/>
                </a:ext>
              </a:extLst>
            </p:cNvPr>
            <p:cNvGrpSpPr/>
            <p:nvPr/>
          </p:nvGrpSpPr>
          <p:grpSpPr>
            <a:xfrm>
              <a:off x="3716942" y="4200780"/>
              <a:ext cx="730324" cy="528105"/>
              <a:chOff x="3213886" y="2239956"/>
              <a:chExt cx="730324" cy="528105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D732034-D2BC-8F9F-23B3-6020C7567588}"/>
                  </a:ext>
                </a:extLst>
              </p:cNvPr>
              <p:cNvSpPr txBox="1"/>
              <p:nvPr/>
            </p:nvSpPr>
            <p:spPr>
              <a:xfrm>
                <a:off x="3213886" y="2239956"/>
                <a:ext cx="730324" cy="16927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36000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C17C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Unknown</a:t>
                </a:r>
                <a:endParaRPr kumimoji="0" lang="en-GB" sz="800" b="1" i="0" u="none" strike="noStrike" kern="1200" cap="none" spc="0" normalizeH="0" baseline="0" noProof="0">
                  <a:ln>
                    <a:noFill/>
                  </a:ln>
                  <a:solidFill>
                    <a:srgbClr val="3C17C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45" name="Graphic 44" descr="Paper outline">
                <a:extLst>
                  <a:ext uri="{FF2B5EF4-FFF2-40B4-BE49-F238E27FC236}">
                    <a16:creationId xmlns:a16="http://schemas.microsoft.com/office/drawing/2014/main" id="{76741DCE-BE56-7B83-69AC-900E00F568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360886" y="2392388"/>
                <a:ext cx="375673" cy="375673"/>
              </a:xfrm>
              <a:prstGeom prst="rect">
                <a:avLst/>
              </a:prstGeom>
            </p:spPr>
          </p:pic>
        </p:grp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4540BB1-D5C3-61D4-3B3F-D71C1DD6BE2D}"/>
                </a:ext>
              </a:extLst>
            </p:cNvPr>
            <p:cNvSpPr/>
            <p:nvPr/>
          </p:nvSpPr>
          <p:spPr>
            <a:xfrm>
              <a:off x="3707858" y="4087319"/>
              <a:ext cx="645602" cy="1093879"/>
            </a:xfrm>
            <a:prstGeom prst="rect">
              <a:avLst/>
            </a:prstGeom>
            <a:noFill/>
            <a:ln w="9525">
              <a:solidFill>
                <a:schemeClr val="accent4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1A29621-9341-4CCF-A36B-E7FDEE2E0DD1}"/>
                </a:ext>
              </a:extLst>
            </p:cNvPr>
            <p:cNvSpPr txBox="1"/>
            <p:nvPr/>
          </p:nvSpPr>
          <p:spPr>
            <a:xfrm>
              <a:off x="3750929" y="4776329"/>
              <a:ext cx="611421" cy="3693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E.g., Share Certificate, Death Cert.</a:t>
              </a: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D02E163-909A-356F-DD31-9DF0B95D2047}"/>
              </a:ext>
            </a:extLst>
          </p:cNvPr>
          <p:cNvCxnSpPr>
            <a:cxnSpLocks/>
          </p:cNvCxnSpPr>
          <p:nvPr/>
        </p:nvCxnSpPr>
        <p:spPr>
          <a:xfrm>
            <a:off x="3166411" y="4523428"/>
            <a:ext cx="263083" cy="0"/>
          </a:xfrm>
          <a:prstGeom prst="straightConnector1">
            <a:avLst/>
          </a:prstGeom>
          <a:ln w="38100">
            <a:solidFill>
              <a:srgbClr val="3C17C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A89DB7DE-85BB-7989-21E1-12063B117B82}"/>
              </a:ext>
            </a:extLst>
          </p:cNvPr>
          <p:cNvCxnSpPr>
            <a:cxnSpLocks/>
            <a:stCxn id="47" idx="2"/>
          </p:cNvCxnSpPr>
          <p:nvPr/>
        </p:nvCxnSpPr>
        <p:spPr>
          <a:xfrm rot="5400000">
            <a:off x="3410776" y="2583866"/>
            <a:ext cx="825457" cy="1959787"/>
          </a:xfrm>
          <a:prstGeom prst="bentConnector3">
            <a:avLst>
              <a:gd name="adj1" fmla="val 29594"/>
            </a:avLst>
          </a:prstGeom>
          <a:ln w="28575">
            <a:solidFill>
              <a:schemeClr val="accent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A9F2611-30FB-AF9A-85B0-5D254439398B}"/>
              </a:ext>
            </a:extLst>
          </p:cNvPr>
          <p:cNvGrpSpPr/>
          <p:nvPr/>
        </p:nvGrpSpPr>
        <p:grpSpPr>
          <a:xfrm>
            <a:off x="1436620" y="4187786"/>
            <a:ext cx="689651" cy="507830"/>
            <a:chOff x="2304673" y="3446141"/>
            <a:chExt cx="689651" cy="507830"/>
          </a:xfrm>
        </p:grpSpPr>
        <p:sp>
          <p:nvSpPr>
            <p:cNvPr id="67" name="Flowchart: Decision 66">
              <a:extLst>
                <a:ext uri="{FF2B5EF4-FFF2-40B4-BE49-F238E27FC236}">
                  <a16:creationId xmlns:a16="http://schemas.microsoft.com/office/drawing/2014/main" id="{7BFE63E7-9303-7078-7989-24953A51D9CB}"/>
                </a:ext>
              </a:extLst>
            </p:cNvPr>
            <p:cNvSpPr/>
            <p:nvPr/>
          </p:nvSpPr>
          <p:spPr>
            <a:xfrm>
              <a:off x="2304673" y="3446141"/>
              <a:ext cx="689651" cy="507830"/>
            </a:xfrm>
            <a:prstGeom prst="flowChartDecision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99C456E-B9E1-DCC7-5EAD-F833954AFF8D}"/>
                </a:ext>
              </a:extLst>
            </p:cNvPr>
            <p:cNvSpPr txBox="1"/>
            <p:nvPr/>
          </p:nvSpPr>
          <p:spPr>
            <a:xfrm>
              <a:off x="2362212" y="3545320"/>
              <a:ext cx="628523" cy="2923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36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Barcode recognized?</a:t>
              </a: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510CAFC3-C7C7-28B2-7F94-73C3841EC350}"/>
              </a:ext>
            </a:extLst>
          </p:cNvPr>
          <p:cNvSpPr txBox="1"/>
          <p:nvPr/>
        </p:nvSpPr>
        <p:spPr>
          <a:xfrm>
            <a:off x="1677384" y="3908559"/>
            <a:ext cx="241435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Yes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F235F1F-C30E-BABB-AC04-02CBB8FB56AB}"/>
              </a:ext>
            </a:extLst>
          </p:cNvPr>
          <p:cNvSpPr txBox="1"/>
          <p:nvPr/>
        </p:nvSpPr>
        <p:spPr>
          <a:xfrm>
            <a:off x="1659256" y="4876075"/>
            <a:ext cx="241435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E8AE9CC-C0DC-6321-F3D2-66574924DE63}"/>
              </a:ext>
            </a:extLst>
          </p:cNvPr>
          <p:cNvGrpSpPr/>
          <p:nvPr/>
        </p:nvGrpSpPr>
        <p:grpSpPr>
          <a:xfrm>
            <a:off x="6301053" y="2006748"/>
            <a:ext cx="2185480" cy="1219668"/>
            <a:chOff x="7163905" y="807903"/>
            <a:chExt cx="2185480" cy="1219668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132EE83-CC5C-4DAF-C6BD-52146FD2BE42}"/>
                </a:ext>
              </a:extLst>
            </p:cNvPr>
            <p:cNvSpPr txBox="1"/>
            <p:nvPr/>
          </p:nvSpPr>
          <p:spPr>
            <a:xfrm>
              <a:off x="7998646" y="914597"/>
              <a:ext cx="682548" cy="162553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36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‘High Volume’</a:t>
              </a: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73" name="Connector: Elbow 72">
              <a:extLst>
                <a:ext uri="{FF2B5EF4-FFF2-40B4-BE49-F238E27FC236}">
                  <a16:creationId xmlns:a16="http://schemas.microsoft.com/office/drawing/2014/main" id="{CA2C6809-0577-6EBF-9269-DDE5A7B3A502}"/>
                </a:ext>
              </a:extLst>
            </p:cNvPr>
            <p:cNvCxnSpPr>
              <a:cxnSpLocks/>
              <a:stCxn id="87" idx="3"/>
              <a:endCxn id="81" idx="1"/>
            </p:cNvCxnSpPr>
            <p:nvPr/>
          </p:nvCxnSpPr>
          <p:spPr>
            <a:xfrm flipV="1">
              <a:off x="7736843" y="1093033"/>
              <a:ext cx="1024139" cy="354769"/>
            </a:xfrm>
            <a:prstGeom prst="bentConnector3">
              <a:avLst>
                <a:gd name="adj1" fmla="val 68247"/>
              </a:avLst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74AA2686-3DA0-BC5B-54C6-B2BE158FCCC2}"/>
                </a:ext>
              </a:extLst>
            </p:cNvPr>
            <p:cNvGrpSpPr/>
            <p:nvPr/>
          </p:nvGrpSpPr>
          <p:grpSpPr>
            <a:xfrm>
              <a:off x="7163905" y="1162672"/>
              <a:ext cx="572938" cy="570259"/>
              <a:chOff x="6545060" y="1269352"/>
              <a:chExt cx="572938" cy="570259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45BCB4EB-FAE4-0173-6303-2422E8AEFEE3}"/>
                  </a:ext>
                </a:extLst>
              </p:cNvPr>
              <p:cNvGrpSpPr/>
              <p:nvPr/>
            </p:nvGrpSpPr>
            <p:grpSpPr>
              <a:xfrm>
                <a:off x="6619237" y="1341412"/>
                <a:ext cx="435263" cy="414861"/>
                <a:chOff x="4967053" y="3335479"/>
                <a:chExt cx="548961" cy="528549"/>
              </a:xfrm>
            </p:grpSpPr>
            <p:pic>
              <p:nvPicPr>
                <p:cNvPr id="88" name="Graphic 87" descr="Database outline">
                  <a:extLst>
                    <a:ext uri="{FF2B5EF4-FFF2-40B4-BE49-F238E27FC236}">
                      <a16:creationId xmlns:a16="http://schemas.microsoft.com/office/drawing/2014/main" id="{28C881F7-E683-2261-224E-91A16DC572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67053" y="3335479"/>
                  <a:ext cx="528549" cy="528549"/>
                </a:xfrm>
                <a:prstGeom prst="rect">
                  <a:avLst/>
                </a:prstGeom>
              </p:spPr>
            </p:pic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BCC74B41-81BE-19F2-158E-818824FB7F31}"/>
                    </a:ext>
                  </a:extLst>
                </p:cNvPr>
                <p:cNvSpPr txBox="1"/>
                <p:nvPr/>
              </p:nvSpPr>
              <p:spPr>
                <a:xfrm>
                  <a:off x="5251425" y="3582992"/>
                  <a:ext cx="264589" cy="117636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6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444444">
                          <a:lumMod val="5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EDC</a:t>
                  </a:r>
                  <a:endParaRPr kumimoji="0" lang="en-GB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444444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4FAE0349-EF1F-9F2B-DB56-9AEE00CE5AC3}"/>
                  </a:ext>
                </a:extLst>
              </p:cNvPr>
              <p:cNvSpPr/>
              <p:nvPr/>
            </p:nvSpPr>
            <p:spPr>
              <a:xfrm>
                <a:off x="6545060" y="1269352"/>
                <a:ext cx="572938" cy="570259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BF849B61-26C8-F358-0622-E0BDFBC4684A}"/>
                </a:ext>
              </a:extLst>
            </p:cNvPr>
            <p:cNvGrpSpPr/>
            <p:nvPr/>
          </p:nvGrpSpPr>
          <p:grpSpPr>
            <a:xfrm>
              <a:off x="8760982" y="807903"/>
              <a:ext cx="588403" cy="1219668"/>
              <a:chOff x="9178457" y="767263"/>
              <a:chExt cx="588403" cy="1219668"/>
            </a:xfrm>
          </p:grpSpPr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3A16DF2A-4942-B4EE-0560-3B72FACE30B8}"/>
                  </a:ext>
                </a:extLst>
              </p:cNvPr>
              <p:cNvGrpSpPr/>
              <p:nvPr/>
            </p:nvGrpSpPr>
            <p:grpSpPr>
              <a:xfrm>
                <a:off x="9204219" y="1427520"/>
                <a:ext cx="523981" cy="518708"/>
                <a:chOff x="12278528" y="114300"/>
                <a:chExt cx="660854" cy="660854"/>
              </a:xfrm>
            </p:grpSpPr>
            <p:pic>
              <p:nvPicPr>
                <p:cNvPr id="84" name="Graphic 83" descr="Programmer male outline">
                  <a:extLst>
                    <a:ext uri="{FF2B5EF4-FFF2-40B4-BE49-F238E27FC236}">
                      <a16:creationId xmlns:a16="http://schemas.microsoft.com/office/drawing/2014/main" id="{6FA5B1D8-D5A0-9E39-1C5D-8DFFB77442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278528" y="114300"/>
                  <a:ext cx="660854" cy="660854"/>
                </a:xfrm>
                <a:prstGeom prst="rect">
                  <a:avLst/>
                </a:prstGeom>
              </p:spPr>
            </p:pic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511E2EE6-CC9D-131A-D895-A0A15FB0CDAE}"/>
                    </a:ext>
                  </a:extLst>
                </p:cNvPr>
                <p:cNvSpPr txBox="1"/>
                <p:nvPr/>
              </p:nvSpPr>
              <p:spPr>
                <a:xfrm>
                  <a:off x="12343471" y="586948"/>
                  <a:ext cx="530970" cy="117636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6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444444">
                          <a:lumMod val="5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Workflow</a:t>
                  </a:r>
                  <a:endParaRPr kumimoji="0" lang="en-GB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444444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1846669F-4B73-E33F-77ED-77B4EB0C9E13}"/>
                  </a:ext>
                </a:extLst>
              </p:cNvPr>
              <p:cNvGrpSpPr/>
              <p:nvPr/>
            </p:nvGrpSpPr>
            <p:grpSpPr>
              <a:xfrm>
                <a:off x="9178457" y="767263"/>
                <a:ext cx="588403" cy="570259"/>
                <a:chOff x="8696783" y="1269352"/>
                <a:chExt cx="588403" cy="570259"/>
              </a:xfrm>
            </p:grpSpPr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758BC82F-EB96-9E3F-A704-5AABFF8B2B34}"/>
                    </a:ext>
                  </a:extLst>
                </p:cNvPr>
                <p:cNvGrpSpPr/>
                <p:nvPr/>
              </p:nvGrpSpPr>
              <p:grpSpPr>
                <a:xfrm>
                  <a:off x="8757302" y="1358519"/>
                  <a:ext cx="527884" cy="414861"/>
                  <a:chOff x="8792668" y="5006416"/>
                  <a:chExt cx="665777" cy="528549"/>
                </a:xfrm>
              </p:grpSpPr>
              <p:pic>
                <p:nvPicPr>
                  <p:cNvPr id="82" name="Graphic 81" descr="Database outline">
                    <a:extLst>
                      <a:ext uri="{FF2B5EF4-FFF2-40B4-BE49-F238E27FC236}">
                        <a16:creationId xmlns:a16="http://schemas.microsoft.com/office/drawing/2014/main" id="{CC96FD0C-D675-F93D-51A9-D46FA2DE015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792668" y="5006416"/>
                    <a:ext cx="528549" cy="528549"/>
                  </a:xfrm>
                  <a:prstGeom prst="rect">
                    <a:avLst/>
                  </a:prstGeom>
                </p:spPr>
              </p:pic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17EDB284-814D-4571-D840-45BDC411E02B}"/>
                      </a:ext>
                    </a:extLst>
                  </p:cNvPr>
                  <p:cNvSpPr txBox="1"/>
                  <p:nvPr/>
                </p:nvSpPr>
                <p:spPr>
                  <a:xfrm>
                    <a:off x="9086504" y="5256279"/>
                    <a:ext cx="371941" cy="117636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noFill/>
                  </a:ln>
                </p:spPr>
                <p:txBody>
                  <a:bodyPr wrap="square" lIns="0" tIns="0" rIns="0" bIns="0" rtlCol="0" anchor="ctr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4444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SCRIP</a:t>
                    </a:r>
                    <a:endParaRPr kumimoji="0" lang="en-GB" sz="6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444444">
                          <a:lumMod val="5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CBC1DD62-31E6-F270-BCE6-7ADBE60B2969}"/>
                    </a:ext>
                  </a:extLst>
                </p:cNvPr>
                <p:cNvSpPr/>
                <p:nvPr/>
              </p:nvSpPr>
              <p:spPr>
                <a:xfrm>
                  <a:off x="8696783" y="1269352"/>
                  <a:ext cx="572938" cy="570259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444444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B610ECC8-80E7-43AF-F4CD-2B28AA1C90F7}"/>
                  </a:ext>
                </a:extLst>
              </p:cNvPr>
              <p:cNvSpPr/>
              <p:nvPr/>
            </p:nvSpPr>
            <p:spPr>
              <a:xfrm>
                <a:off x="9182314" y="1416672"/>
                <a:ext cx="572938" cy="570259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76" name="Connector: Elbow 75">
              <a:extLst>
                <a:ext uri="{FF2B5EF4-FFF2-40B4-BE49-F238E27FC236}">
                  <a16:creationId xmlns:a16="http://schemas.microsoft.com/office/drawing/2014/main" id="{29EDCDF1-AFF7-7214-21D3-B8A8EE0DCDC0}"/>
                </a:ext>
              </a:extLst>
            </p:cNvPr>
            <p:cNvCxnSpPr>
              <a:cxnSpLocks/>
              <a:stCxn id="87" idx="3"/>
              <a:endCxn id="79" idx="1"/>
            </p:cNvCxnSpPr>
            <p:nvPr/>
          </p:nvCxnSpPr>
          <p:spPr>
            <a:xfrm>
              <a:off x="7736843" y="1447802"/>
              <a:ext cx="1027996" cy="294640"/>
            </a:xfrm>
            <a:prstGeom prst="bentConnector3">
              <a:avLst>
                <a:gd name="adj1" fmla="val 67870"/>
              </a:avLst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F56A55C6-A9AE-5052-D2AD-234487CB47CD}"/>
              </a:ext>
            </a:extLst>
          </p:cNvPr>
          <p:cNvSpPr txBox="1"/>
          <p:nvPr/>
        </p:nvSpPr>
        <p:spPr>
          <a:xfrm>
            <a:off x="4577693" y="3098816"/>
            <a:ext cx="434274" cy="130246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Fall-outs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67AFC56-3479-95DD-C26B-CB8063BFE51D}"/>
              </a:ext>
            </a:extLst>
          </p:cNvPr>
          <p:cNvSpPr/>
          <p:nvPr/>
        </p:nvSpPr>
        <p:spPr>
          <a:xfrm>
            <a:off x="8423717" y="3602524"/>
            <a:ext cx="800274" cy="868852"/>
          </a:xfrm>
          <a:prstGeom prst="rect">
            <a:avLst/>
          </a:prstGeom>
          <a:noFill/>
          <a:ln w="9525">
            <a:solidFill>
              <a:srgbClr val="3C17C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FD6C54EA-3EE3-45A4-549B-45766CF3B598}"/>
              </a:ext>
            </a:extLst>
          </p:cNvPr>
          <p:cNvCxnSpPr>
            <a:cxnSpLocks/>
            <a:stCxn id="94" idx="3"/>
          </p:cNvCxnSpPr>
          <p:nvPr/>
        </p:nvCxnSpPr>
        <p:spPr>
          <a:xfrm flipH="1" flipV="1">
            <a:off x="8188456" y="3226416"/>
            <a:ext cx="1035535" cy="810534"/>
          </a:xfrm>
          <a:prstGeom prst="bentConnector4">
            <a:avLst>
              <a:gd name="adj1" fmla="val -22076"/>
              <a:gd name="adj2" fmla="val 79748"/>
            </a:avLst>
          </a:prstGeom>
          <a:ln w="28575">
            <a:solidFill>
              <a:srgbClr val="3C17CF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9" name="Graphic 98" descr="User outline">
            <a:extLst>
              <a:ext uri="{FF2B5EF4-FFF2-40B4-BE49-F238E27FC236}">
                <a16:creationId xmlns:a16="http://schemas.microsoft.com/office/drawing/2014/main" id="{56B94C43-E83C-DF76-40AC-77884A4465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01379" y="3969421"/>
            <a:ext cx="431239" cy="431239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83E4E2D6-AA6D-83F3-8833-EB5B91D80251}"/>
              </a:ext>
            </a:extLst>
          </p:cNvPr>
          <p:cNvSpPr txBox="1"/>
          <p:nvPr/>
        </p:nvSpPr>
        <p:spPr>
          <a:xfrm>
            <a:off x="8541946" y="3637003"/>
            <a:ext cx="527517" cy="2923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Manual review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3C17C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AED913D-7C1D-418F-0D31-5132C80F2D0C}"/>
              </a:ext>
            </a:extLst>
          </p:cNvPr>
          <p:cNvSpPr txBox="1"/>
          <p:nvPr/>
        </p:nvSpPr>
        <p:spPr>
          <a:xfrm>
            <a:off x="755671" y="3827202"/>
            <a:ext cx="567238" cy="1538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Image (TIF)</a:t>
            </a:r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7" name="Graphic 106" descr="Photocopier outline">
            <a:extLst>
              <a:ext uri="{FF2B5EF4-FFF2-40B4-BE49-F238E27FC236}">
                <a16:creationId xmlns:a16="http://schemas.microsoft.com/office/drawing/2014/main" id="{DEB71BE0-7FE6-FA5E-42AB-52CF7A2C95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2332" y="3295902"/>
            <a:ext cx="368927" cy="368927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0F902C94-B642-EE1A-AC1F-77FABDCCA0DF}"/>
              </a:ext>
            </a:extLst>
          </p:cNvPr>
          <p:cNvSpPr txBox="1"/>
          <p:nvPr/>
        </p:nvSpPr>
        <p:spPr>
          <a:xfrm>
            <a:off x="435720" y="3199354"/>
            <a:ext cx="452613" cy="12311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Scanner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9" name="Graphic 108" descr="Envelope outline">
            <a:extLst>
              <a:ext uri="{FF2B5EF4-FFF2-40B4-BE49-F238E27FC236}">
                <a16:creationId xmlns:a16="http://schemas.microsoft.com/office/drawing/2014/main" id="{0C5D1928-2574-59F4-D005-F68B1398AA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6936" y="2465817"/>
            <a:ext cx="334967" cy="269511"/>
          </a:xfrm>
          <a:prstGeom prst="rect">
            <a:avLst/>
          </a:prstGeom>
        </p:spPr>
      </p:pic>
      <p:sp>
        <p:nvSpPr>
          <p:cNvPr id="110" name="Rectangle 109">
            <a:extLst>
              <a:ext uri="{FF2B5EF4-FFF2-40B4-BE49-F238E27FC236}">
                <a16:creationId xmlns:a16="http://schemas.microsoft.com/office/drawing/2014/main" id="{2A84E4EE-38DA-8A46-45B0-85CC08E2373F}"/>
              </a:ext>
            </a:extLst>
          </p:cNvPr>
          <p:cNvSpPr/>
          <p:nvPr/>
        </p:nvSpPr>
        <p:spPr>
          <a:xfrm>
            <a:off x="340469" y="3134616"/>
            <a:ext cx="645153" cy="57600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96001C89-5A7D-9FDF-1016-B03F9AD280FA}"/>
              </a:ext>
            </a:extLst>
          </p:cNvPr>
          <p:cNvCxnSpPr>
            <a:cxnSpLocks/>
            <a:stCxn id="110" idx="2"/>
            <a:endCxn id="55" idx="0"/>
          </p:cNvCxnSpPr>
          <p:nvPr/>
        </p:nvCxnSpPr>
        <p:spPr>
          <a:xfrm>
            <a:off x="663046" y="3710616"/>
            <a:ext cx="0" cy="39588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7EED360C-333E-0B55-B5B8-3AFB32B4B273}"/>
              </a:ext>
            </a:extLst>
          </p:cNvPr>
          <p:cNvCxnSpPr>
            <a:cxnSpLocks/>
            <a:stCxn id="114" idx="2"/>
            <a:endCxn id="110" idx="0"/>
          </p:cNvCxnSpPr>
          <p:nvPr/>
        </p:nvCxnSpPr>
        <p:spPr>
          <a:xfrm>
            <a:off x="663046" y="2804764"/>
            <a:ext cx="0" cy="32985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7DA0CB51-9DFD-4F2E-2295-FC5B20B57354}"/>
              </a:ext>
            </a:extLst>
          </p:cNvPr>
          <p:cNvSpPr txBox="1"/>
          <p:nvPr/>
        </p:nvSpPr>
        <p:spPr>
          <a:xfrm>
            <a:off x="722716" y="2897031"/>
            <a:ext cx="270427" cy="1538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Paper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C14D6CD8-26DD-B49A-47E9-20DCA14AACE2}"/>
              </a:ext>
            </a:extLst>
          </p:cNvPr>
          <p:cNvSpPr/>
          <p:nvPr/>
        </p:nvSpPr>
        <p:spPr>
          <a:xfrm>
            <a:off x="340469" y="2228764"/>
            <a:ext cx="645153" cy="57600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4A811C1-BC96-8DB9-6753-EE913B073CAE}"/>
              </a:ext>
            </a:extLst>
          </p:cNvPr>
          <p:cNvSpPr txBox="1"/>
          <p:nvPr/>
        </p:nvSpPr>
        <p:spPr>
          <a:xfrm>
            <a:off x="435720" y="2290215"/>
            <a:ext cx="452613" cy="12311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Mail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5F785C48-2076-9FEA-7C71-3EC2182554F1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3766272" y="1969812"/>
            <a:ext cx="714324" cy="673688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536F0DB9-B160-46BA-69F0-7E5417DFDEC1}"/>
              </a:ext>
            </a:extLst>
          </p:cNvPr>
          <p:cNvCxnSpPr>
            <a:cxnSpLocks/>
            <a:stCxn id="134" idx="0"/>
          </p:cNvCxnSpPr>
          <p:nvPr/>
        </p:nvCxnSpPr>
        <p:spPr>
          <a:xfrm rot="5400000" flipH="1" flipV="1">
            <a:off x="2578271" y="1943534"/>
            <a:ext cx="489013" cy="541571"/>
          </a:xfrm>
          <a:prstGeom prst="bentConnector2">
            <a:avLst/>
          </a:prstGeom>
          <a:ln w="28575">
            <a:solidFill>
              <a:schemeClr val="accent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2" name="Picture 121">
            <a:extLst>
              <a:ext uri="{FF2B5EF4-FFF2-40B4-BE49-F238E27FC236}">
                <a16:creationId xmlns:a16="http://schemas.microsoft.com/office/drawing/2014/main" id="{7F9ED21E-0344-A9EE-0BB3-1AFB8D4CC0F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14417" y="3577549"/>
            <a:ext cx="624815" cy="156204"/>
          </a:xfrm>
          <a:prstGeom prst="rect">
            <a:avLst/>
          </a:prstGeom>
        </p:spPr>
      </p:pic>
      <p:grpSp>
        <p:nvGrpSpPr>
          <p:cNvPr id="123" name="Group 122">
            <a:extLst>
              <a:ext uri="{FF2B5EF4-FFF2-40B4-BE49-F238E27FC236}">
                <a16:creationId xmlns:a16="http://schemas.microsoft.com/office/drawing/2014/main" id="{1DBABE28-7A81-C625-6620-A0624B991406}"/>
              </a:ext>
            </a:extLst>
          </p:cNvPr>
          <p:cNvGrpSpPr/>
          <p:nvPr/>
        </p:nvGrpSpPr>
        <p:grpSpPr>
          <a:xfrm>
            <a:off x="3093563" y="1341342"/>
            <a:ext cx="672709" cy="1089622"/>
            <a:chOff x="8786398" y="5816078"/>
            <a:chExt cx="672709" cy="1089622"/>
          </a:xfrm>
        </p:grpSpPr>
        <p:pic>
          <p:nvPicPr>
            <p:cNvPr id="124" name="Graphic 123" descr="Artificial Intelligence outline">
              <a:extLst>
                <a:ext uri="{FF2B5EF4-FFF2-40B4-BE49-F238E27FC236}">
                  <a16:creationId xmlns:a16="http://schemas.microsoft.com/office/drawing/2014/main" id="{CAFF2653-6358-A12D-DC7A-0711A66BEB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956012" y="6151453"/>
              <a:ext cx="386585" cy="386585"/>
            </a:xfrm>
            <a:prstGeom prst="rect">
              <a:avLst/>
            </a:prstGeom>
          </p:spPr>
        </p:pic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6EF329D8-E171-CF33-F827-C8C300BBC478}"/>
                </a:ext>
              </a:extLst>
            </p:cNvPr>
            <p:cNvSpPr txBox="1"/>
            <p:nvPr/>
          </p:nvSpPr>
          <p:spPr>
            <a:xfrm>
              <a:off x="8888366" y="6010766"/>
              <a:ext cx="485262" cy="12311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LLM</a:t>
              </a:r>
              <a:endParaRPr kumimoji="0" lang="en-GB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209C49B1-13EE-B3AC-B1A8-CE1BA6D198CD}"/>
                </a:ext>
              </a:extLst>
            </p:cNvPr>
            <p:cNvSpPr/>
            <p:nvPr/>
          </p:nvSpPr>
          <p:spPr>
            <a:xfrm>
              <a:off x="8786398" y="5983396"/>
              <a:ext cx="672709" cy="922304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127" name="Picture 4" descr="OpenAI Logo, symbol, meaning, history, PNG, brand">
              <a:extLst>
                <a:ext uri="{FF2B5EF4-FFF2-40B4-BE49-F238E27FC236}">
                  <a16:creationId xmlns:a16="http://schemas.microsoft.com/office/drawing/2014/main" id="{C2D110F1-7AED-8185-2D83-EDA9DBB1E5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594" b="19955"/>
            <a:stretch>
              <a:fillRect/>
            </a:stretch>
          </p:blipFill>
          <p:spPr bwMode="auto">
            <a:xfrm>
              <a:off x="8956012" y="5816078"/>
              <a:ext cx="496374" cy="1520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0C0E1C0F-8B97-D6AB-165C-255171AA4492}"/>
                </a:ext>
              </a:extLst>
            </p:cNvPr>
            <p:cNvSpPr txBox="1"/>
            <p:nvPr/>
          </p:nvSpPr>
          <p:spPr>
            <a:xfrm>
              <a:off x="8798600" y="6520136"/>
              <a:ext cx="655270" cy="3693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Extracts fields for all Proxy variations</a:t>
              </a: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55E5DF8F-ED59-A1C0-83F7-3F08D585B9CD}"/>
              </a:ext>
            </a:extLst>
          </p:cNvPr>
          <p:cNvSpPr txBox="1"/>
          <p:nvPr/>
        </p:nvSpPr>
        <p:spPr>
          <a:xfrm>
            <a:off x="1485294" y="2365847"/>
            <a:ext cx="590617" cy="41549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Matching logic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template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B062318B-33FC-886A-FD59-75208AC51153}"/>
              </a:ext>
            </a:extLst>
          </p:cNvPr>
          <p:cNvSpPr/>
          <p:nvPr/>
        </p:nvSpPr>
        <p:spPr>
          <a:xfrm>
            <a:off x="1480115" y="2135968"/>
            <a:ext cx="600973" cy="1015062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31" name="Graphic 130" descr="Checkmark with solid fill">
            <a:extLst>
              <a:ext uri="{FF2B5EF4-FFF2-40B4-BE49-F238E27FC236}">
                <a16:creationId xmlns:a16="http://schemas.microsoft.com/office/drawing/2014/main" id="{173040AF-3208-7884-AF03-BEEA973D32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670854" y="2734006"/>
            <a:ext cx="251083" cy="251083"/>
          </a:xfrm>
          <a:prstGeom prst="rect">
            <a:avLst/>
          </a:prstGeom>
        </p:spPr>
      </p:pic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C455F28F-0BC6-CF95-FFB8-EE04C41624F8}"/>
              </a:ext>
            </a:extLst>
          </p:cNvPr>
          <p:cNvCxnSpPr>
            <a:cxnSpLocks/>
            <a:stCxn id="130" idx="3"/>
            <a:endCxn id="134" idx="1"/>
          </p:cNvCxnSpPr>
          <p:nvPr/>
        </p:nvCxnSpPr>
        <p:spPr>
          <a:xfrm>
            <a:off x="2081088" y="2643499"/>
            <a:ext cx="246112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3" name="Picture 132">
            <a:extLst>
              <a:ext uri="{FF2B5EF4-FFF2-40B4-BE49-F238E27FC236}">
                <a16:creationId xmlns:a16="http://schemas.microsoft.com/office/drawing/2014/main" id="{479FFD10-E212-FCF2-5B0B-0038EE43F9A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68194" y="1926803"/>
            <a:ext cx="624815" cy="156204"/>
          </a:xfrm>
          <a:prstGeom prst="rect">
            <a:avLst/>
          </a:prstGeom>
        </p:spPr>
      </p:pic>
      <p:sp>
        <p:nvSpPr>
          <p:cNvPr id="134" name="Flowchart: Decision 133">
            <a:extLst>
              <a:ext uri="{FF2B5EF4-FFF2-40B4-BE49-F238E27FC236}">
                <a16:creationId xmlns:a16="http://schemas.microsoft.com/office/drawing/2014/main" id="{C147BDE9-51E6-DA27-F28A-EBD0B4CFEB38}"/>
              </a:ext>
            </a:extLst>
          </p:cNvPr>
          <p:cNvSpPr/>
          <p:nvPr/>
        </p:nvSpPr>
        <p:spPr>
          <a:xfrm>
            <a:off x="2327200" y="2458825"/>
            <a:ext cx="449583" cy="369347"/>
          </a:xfrm>
          <a:prstGeom prst="flowChartDecision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DCE8FF5C-2F8F-86C9-9F93-2F57033894EA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2764075" y="2643499"/>
            <a:ext cx="1716521" cy="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CEE25C3B-02C2-B580-7971-D0244F105294}"/>
              </a:ext>
            </a:extLst>
          </p:cNvPr>
          <p:cNvSpPr txBox="1"/>
          <p:nvPr/>
        </p:nvSpPr>
        <p:spPr>
          <a:xfrm>
            <a:off x="2413000" y="2192508"/>
            <a:ext cx="241435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Yes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581B6A1-C218-85FF-A6F5-871626BA1759}"/>
              </a:ext>
            </a:extLst>
          </p:cNvPr>
          <p:cNvSpPr txBox="1"/>
          <p:nvPr/>
        </p:nvSpPr>
        <p:spPr>
          <a:xfrm>
            <a:off x="2849923" y="2581943"/>
            <a:ext cx="241435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8D30381-86AB-1073-9DC5-2ABC377EFF53}"/>
              </a:ext>
            </a:extLst>
          </p:cNvPr>
          <p:cNvSpPr/>
          <p:nvPr/>
        </p:nvSpPr>
        <p:spPr>
          <a:xfrm>
            <a:off x="9571963" y="3429000"/>
            <a:ext cx="2244173" cy="19841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C57D60FF-8D63-023B-D713-C8FAF54F15F1}"/>
              </a:ext>
            </a:extLst>
          </p:cNvPr>
          <p:cNvGrpSpPr/>
          <p:nvPr/>
        </p:nvGrpSpPr>
        <p:grpSpPr>
          <a:xfrm>
            <a:off x="10549603" y="1229584"/>
            <a:ext cx="1420675" cy="736002"/>
            <a:chOff x="10912752" y="366591"/>
            <a:chExt cx="996542" cy="736002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D8CD0E0D-0938-381C-8C6B-92FDAE7547F3}"/>
                </a:ext>
              </a:extLst>
            </p:cNvPr>
            <p:cNvGrpSpPr/>
            <p:nvPr/>
          </p:nvGrpSpPr>
          <p:grpSpPr>
            <a:xfrm>
              <a:off x="10912752" y="366591"/>
              <a:ext cx="193350" cy="194381"/>
              <a:chOff x="9515474" y="9885"/>
              <a:chExt cx="276214" cy="288588"/>
            </a:xfrm>
          </p:grpSpPr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46245675-7771-484A-18C7-A0D86B98D0BD}"/>
                  </a:ext>
                </a:extLst>
              </p:cNvPr>
              <p:cNvSpPr/>
              <p:nvPr/>
            </p:nvSpPr>
            <p:spPr>
              <a:xfrm>
                <a:off x="9515474" y="10044"/>
                <a:ext cx="276214" cy="288270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149" name="Graphic 148" descr="Transfer with solid fill">
                <a:extLst>
                  <a:ext uri="{FF2B5EF4-FFF2-40B4-BE49-F238E27FC236}">
                    <a16:creationId xmlns:a16="http://schemas.microsoft.com/office/drawing/2014/main" id="{316E86A9-E473-EC23-1B8D-019D811C19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9534865" y="9885"/>
                <a:ext cx="217728" cy="288588"/>
              </a:xfrm>
              <a:prstGeom prst="rect">
                <a:avLst/>
              </a:prstGeom>
            </p:spPr>
          </p:pic>
        </p:grp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B2ACDFCD-40FA-1783-3383-451BBA305B50}"/>
                </a:ext>
              </a:extLst>
            </p:cNvPr>
            <p:cNvSpPr/>
            <p:nvPr/>
          </p:nvSpPr>
          <p:spPr>
            <a:xfrm>
              <a:off x="10912760" y="631719"/>
              <a:ext cx="193350" cy="194167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142" name="Graphic 141" descr="Transfer with solid fill">
              <a:extLst>
                <a:ext uri="{FF2B5EF4-FFF2-40B4-BE49-F238E27FC236}">
                  <a16:creationId xmlns:a16="http://schemas.microsoft.com/office/drawing/2014/main" id="{E6B49018-133C-A30C-3656-4AAEE88EC1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926334" y="631612"/>
              <a:ext cx="155461" cy="194381"/>
            </a:xfrm>
            <a:prstGeom prst="rect">
              <a:avLst/>
            </a:prstGeom>
          </p:spPr>
        </p:pic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E0D4668D-CDFE-9E82-1EA7-EEC561662F09}"/>
                </a:ext>
              </a:extLst>
            </p:cNvPr>
            <p:cNvSpPr/>
            <p:nvPr/>
          </p:nvSpPr>
          <p:spPr>
            <a:xfrm>
              <a:off x="10912760" y="908319"/>
              <a:ext cx="193350" cy="194167"/>
            </a:xfrm>
            <a:prstGeom prst="rect">
              <a:avLst/>
            </a:prstGeom>
            <a:ln>
              <a:solidFill>
                <a:schemeClr val="accent5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144" name="Graphic 143" descr="Transfer with solid fill">
              <a:extLst>
                <a:ext uri="{FF2B5EF4-FFF2-40B4-BE49-F238E27FC236}">
                  <a16:creationId xmlns:a16="http://schemas.microsoft.com/office/drawing/2014/main" id="{4D211C3D-B893-246F-202B-32BEC83AE8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0926334" y="908212"/>
              <a:ext cx="161541" cy="194381"/>
            </a:xfrm>
            <a:prstGeom prst="rect">
              <a:avLst/>
            </a:prstGeom>
          </p:spPr>
        </p:pic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1E733305-E057-C5E3-F7F7-8BD54CE9CAE3}"/>
                </a:ext>
              </a:extLst>
            </p:cNvPr>
            <p:cNvSpPr txBox="1"/>
            <p:nvPr/>
          </p:nvSpPr>
          <p:spPr>
            <a:xfrm>
              <a:off x="11145396" y="405260"/>
              <a:ext cx="763898" cy="123111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Phase 1 – known forms</a:t>
              </a: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565D6640-A31C-59AE-3D96-018E6F46F810}"/>
                </a:ext>
              </a:extLst>
            </p:cNvPr>
            <p:cNvSpPr txBox="1"/>
            <p:nvPr/>
          </p:nvSpPr>
          <p:spPr>
            <a:xfrm>
              <a:off x="11149517" y="654440"/>
              <a:ext cx="734048" cy="123111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Phase 2 - Classification</a:t>
              </a: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A565A7C-BCD9-F5C2-2CC8-19C429C8217F}"/>
                </a:ext>
              </a:extLst>
            </p:cNvPr>
            <p:cNvSpPr txBox="1"/>
            <p:nvPr/>
          </p:nvSpPr>
          <p:spPr>
            <a:xfrm>
              <a:off x="11159080" y="933679"/>
              <a:ext cx="700058" cy="123111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Phase 3 - Processing</a:t>
              </a: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50" name="TextBox 149">
            <a:extLst>
              <a:ext uri="{FF2B5EF4-FFF2-40B4-BE49-F238E27FC236}">
                <a16:creationId xmlns:a16="http://schemas.microsoft.com/office/drawing/2014/main" id="{EC4DC5A1-840E-491B-05A8-3C90BFD78C83}"/>
              </a:ext>
            </a:extLst>
          </p:cNvPr>
          <p:cNvSpPr txBox="1"/>
          <p:nvPr/>
        </p:nvSpPr>
        <p:spPr>
          <a:xfrm>
            <a:off x="9620009" y="3445692"/>
            <a:ext cx="1518253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Processing (RPA automation)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93" name="Rectangle: Rounded Corners 2092">
            <a:extLst>
              <a:ext uri="{FF2B5EF4-FFF2-40B4-BE49-F238E27FC236}">
                <a16:creationId xmlns:a16="http://schemas.microsoft.com/office/drawing/2014/main" id="{44BFC937-2749-C635-8802-9E0DC15F4AB9}"/>
              </a:ext>
            </a:extLst>
          </p:cNvPr>
          <p:cNvSpPr/>
          <p:nvPr/>
        </p:nvSpPr>
        <p:spPr>
          <a:xfrm>
            <a:off x="3475117" y="3493243"/>
            <a:ext cx="2267494" cy="185470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3C17CF"/>
            </a:solidFill>
            <a:prstDash val="soli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2" name="Graphic 21" descr="Artificial Intelligence outline">
            <a:extLst>
              <a:ext uri="{FF2B5EF4-FFF2-40B4-BE49-F238E27FC236}">
                <a16:creationId xmlns:a16="http://schemas.microsoft.com/office/drawing/2014/main" id="{B09CA0A3-079D-B838-ED2D-E6C5FF8E13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682503" y="4216434"/>
            <a:ext cx="313260" cy="31326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DB4E640-9E8D-0AD4-ECF2-A36D35275781}"/>
              </a:ext>
            </a:extLst>
          </p:cNvPr>
          <p:cNvSpPr txBox="1"/>
          <p:nvPr/>
        </p:nvSpPr>
        <p:spPr>
          <a:xfrm>
            <a:off x="3717068" y="4093351"/>
            <a:ext cx="485262" cy="12311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LLM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8CBEF0-C62F-66A5-036A-5586F20CC0E1}"/>
              </a:ext>
            </a:extLst>
          </p:cNvPr>
          <p:cNvSpPr/>
          <p:nvPr/>
        </p:nvSpPr>
        <p:spPr>
          <a:xfrm>
            <a:off x="3649452" y="4068244"/>
            <a:ext cx="1897927" cy="972999"/>
          </a:xfrm>
          <a:prstGeom prst="rect">
            <a:avLst/>
          </a:prstGeom>
          <a:noFill/>
          <a:ln w="9525">
            <a:solidFill>
              <a:srgbClr val="3C17C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5" name="Picture 4" descr="OpenAI Logo, symbol, meaning, history, PNG, brand">
            <a:extLst>
              <a:ext uri="{FF2B5EF4-FFF2-40B4-BE49-F238E27FC236}">
                <a16:creationId xmlns:a16="http://schemas.microsoft.com/office/drawing/2014/main" id="{BE43C0BD-FC7F-7E2B-8AAA-48F33F5908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94" b="19955"/>
          <a:stretch>
            <a:fillRect/>
          </a:stretch>
        </p:blipFill>
        <p:spPr bwMode="auto">
          <a:xfrm>
            <a:off x="3819066" y="3908187"/>
            <a:ext cx="496374" cy="152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BF63EA1-74E4-FF0F-3EB4-6815D7281313}"/>
              </a:ext>
            </a:extLst>
          </p:cNvPr>
          <p:cNvSpPr txBox="1"/>
          <p:nvPr/>
        </p:nvSpPr>
        <p:spPr>
          <a:xfrm>
            <a:off x="3739618" y="4581252"/>
            <a:ext cx="655270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Extracts </a:t>
            </a:r>
            <a:r>
              <a:rPr lang="en-US" sz="800">
                <a:solidFill>
                  <a:srgbClr val="444444"/>
                </a:solidFill>
                <a:latin typeface="Aptos" panose="02110004020202020204"/>
              </a:rPr>
              <a:t>intent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and fields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243A79F-F3F1-D69E-26A4-8961CDC7B564}"/>
              </a:ext>
            </a:extLst>
          </p:cNvPr>
          <p:cNvCxnSpPr>
            <a:cxnSpLocks/>
          </p:cNvCxnSpPr>
          <p:nvPr/>
        </p:nvCxnSpPr>
        <p:spPr>
          <a:xfrm>
            <a:off x="4394888" y="4670071"/>
            <a:ext cx="208508" cy="0"/>
          </a:xfrm>
          <a:prstGeom prst="straightConnector1">
            <a:avLst/>
          </a:prstGeom>
          <a:ln w="38100">
            <a:solidFill>
              <a:srgbClr val="3C17C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AAB454F-2007-BE16-1462-118E0FC8E208}"/>
              </a:ext>
            </a:extLst>
          </p:cNvPr>
          <p:cNvSpPr txBox="1"/>
          <p:nvPr/>
        </p:nvSpPr>
        <p:spPr>
          <a:xfrm>
            <a:off x="4670372" y="4507498"/>
            <a:ext cx="877007" cy="492443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Transforms unstructured data into a structured output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5A4FEAD-8A14-7584-BAFC-BCDC4E58BE94}"/>
              </a:ext>
            </a:extLst>
          </p:cNvPr>
          <p:cNvCxnSpPr>
            <a:cxnSpLocks/>
          </p:cNvCxnSpPr>
          <p:nvPr/>
        </p:nvCxnSpPr>
        <p:spPr>
          <a:xfrm>
            <a:off x="5741396" y="4523868"/>
            <a:ext cx="209724" cy="0"/>
          </a:xfrm>
          <a:prstGeom prst="straightConnector1">
            <a:avLst/>
          </a:prstGeom>
          <a:ln w="38100">
            <a:solidFill>
              <a:srgbClr val="3C17C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8B4475D-757B-CBDC-3D37-3384012D6832}"/>
              </a:ext>
            </a:extLst>
          </p:cNvPr>
          <p:cNvSpPr txBox="1"/>
          <p:nvPr/>
        </p:nvSpPr>
        <p:spPr>
          <a:xfrm>
            <a:off x="6038977" y="4373659"/>
            <a:ext cx="877007" cy="369332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444444"/>
                </a:solidFill>
                <a:latin typeface="Aptos" panose="02110004020202020204"/>
              </a:rPr>
              <a:t>Logic to verify data matches with our database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68B0CE-F7EB-0D71-AB8A-DF81607AFCB6}"/>
              </a:ext>
            </a:extLst>
          </p:cNvPr>
          <p:cNvSpPr txBox="1"/>
          <p:nvPr/>
        </p:nvSpPr>
        <p:spPr>
          <a:xfrm>
            <a:off x="6194563" y="4220763"/>
            <a:ext cx="485262" cy="12311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&lt;/&gt;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4C8BD47-3190-42E5-3CE7-695855183637}"/>
              </a:ext>
            </a:extLst>
          </p:cNvPr>
          <p:cNvSpPr/>
          <p:nvPr/>
        </p:nvSpPr>
        <p:spPr>
          <a:xfrm>
            <a:off x="5986297" y="4197680"/>
            <a:ext cx="929687" cy="629793"/>
          </a:xfrm>
          <a:prstGeom prst="rect">
            <a:avLst/>
          </a:prstGeom>
          <a:noFill/>
          <a:ln w="9525">
            <a:solidFill>
              <a:srgbClr val="3C17C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CE7B3053-4A61-DCCD-1076-CE27D4E57690}"/>
              </a:ext>
            </a:extLst>
          </p:cNvPr>
          <p:cNvSpPr/>
          <p:nvPr/>
        </p:nvSpPr>
        <p:spPr>
          <a:xfrm>
            <a:off x="8423716" y="4693087"/>
            <a:ext cx="803651" cy="486442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3C17CF"/>
            </a:solidFill>
            <a:prstDash val="soli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0C7CF68F-9AFE-EB82-C6EE-59A818CA9E20}"/>
              </a:ext>
            </a:extLst>
          </p:cNvPr>
          <p:cNvSpPr txBox="1"/>
          <p:nvPr/>
        </p:nvSpPr>
        <p:spPr>
          <a:xfrm>
            <a:off x="8549220" y="4876075"/>
            <a:ext cx="527517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rgbClr val="3C17CF"/>
                </a:solidFill>
                <a:latin typeface="Aptos" panose="02110004020202020204"/>
              </a:rPr>
              <a:t>Workflow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3C17C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9F09DEAF-0D19-F052-640D-86425172A380}"/>
              </a:ext>
            </a:extLst>
          </p:cNvPr>
          <p:cNvSpPr/>
          <p:nvPr/>
        </p:nvSpPr>
        <p:spPr>
          <a:xfrm>
            <a:off x="9696829" y="3929391"/>
            <a:ext cx="842643" cy="1151446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EF5E22B1-3B47-9722-0B7D-F2602F7AA159}"/>
              </a:ext>
            </a:extLst>
          </p:cNvPr>
          <p:cNvSpPr txBox="1"/>
          <p:nvPr/>
        </p:nvSpPr>
        <p:spPr>
          <a:xfrm>
            <a:off x="9813270" y="4542228"/>
            <a:ext cx="726202" cy="538609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Transcation approved manually for Processing </a:t>
            </a:r>
          </a:p>
        </p:txBody>
      </p:sp>
      <p:pic>
        <p:nvPicPr>
          <p:cNvPr id="2061" name="Graphic 2060" descr="Programmer male outline">
            <a:extLst>
              <a:ext uri="{FF2B5EF4-FFF2-40B4-BE49-F238E27FC236}">
                <a16:creationId xmlns:a16="http://schemas.microsoft.com/office/drawing/2014/main" id="{ACD75705-07F9-8FAE-9C13-CE127951F7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15882" y="3957080"/>
            <a:ext cx="523981" cy="518708"/>
          </a:xfrm>
          <a:prstGeom prst="rect">
            <a:avLst/>
          </a:prstGeom>
        </p:spPr>
      </p:pic>
      <p:sp>
        <p:nvSpPr>
          <p:cNvPr id="2062" name="TextBox 2061">
            <a:extLst>
              <a:ext uri="{FF2B5EF4-FFF2-40B4-BE49-F238E27FC236}">
                <a16:creationId xmlns:a16="http://schemas.microsoft.com/office/drawing/2014/main" id="{E37A40B1-A871-123D-7B33-AE4B4F684BF3}"/>
              </a:ext>
            </a:extLst>
          </p:cNvPr>
          <p:cNvSpPr txBox="1"/>
          <p:nvPr/>
        </p:nvSpPr>
        <p:spPr>
          <a:xfrm>
            <a:off x="9862884" y="4327520"/>
            <a:ext cx="420998" cy="9233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444444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Workflow</a:t>
            </a:r>
            <a:endParaRPr kumimoji="0" lang="en-GB" sz="600" b="1" i="0" u="none" strike="noStrike" kern="1200" cap="none" spc="0" normalizeH="0" baseline="0" noProof="0">
              <a:ln>
                <a:noFill/>
              </a:ln>
              <a:solidFill>
                <a:srgbClr val="444444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DDB8BD16-9EAD-E6E4-DDB0-F27C66B3C6FB}"/>
              </a:ext>
            </a:extLst>
          </p:cNvPr>
          <p:cNvSpPr/>
          <p:nvPr/>
        </p:nvSpPr>
        <p:spPr>
          <a:xfrm>
            <a:off x="10785899" y="3929391"/>
            <a:ext cx="926250" cy="1151446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69" name="TextBox 2068">
            <a:extLst>
              <a:ext uri="{FF2B5EF4-FFF2-40B4-BE49-F238E27FC236}">
                <a16:creationId xmlns:a16="http://schemas.microsoft.com/office/drawing/2014/main" id="{A31AF117-D0B6-AC3E-9A88-4F177634697B}"/>
              </a:ext>
            </a:extLst>
          </p:cNvPr>
          <p:cNvSpPr txBox="1"/>
          <p:nvPr/>
        </p:nvSpPr>
        <p:spPr>
          <a:xfrm>
            <a:off x="10844118" y="4219224"/>
            <a:ext cx="832289" cy="784830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RPA automations in </a:t>
            </a:r>
            <a:r>
              <a:rPr kumimoji="0" lang="en-GB" sz="800" b="0" i="0" u="none" strike="noStrike" kern="1200" cap="none" spc="0" normalizeH="0" baseline="0" noProof="0" err="1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BluePrism</a:t>
            </a: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complete transaction processing, using APIs to SCRIP</a:t>
            </a:r>
          </a:p>
        </p:txBody>
      </p:sp>
      <p:pic>
        <p:nvPicPr>
          <p:cNvPr id="2071" name="Picture 2070">
            <a:extLst>
              <a:ext uri="{FF2B5EF4-FFF2-40B4-BE49-F238E27FC236}">
                <a16:creationId xmlns:a16="http://schemas.microsoft.com/office/drawing/2014/main" id="{C3F4808A-9D05-2A39-EF55-38D415F5708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17" t="31329" r="15246" b="29464"/>
          <a:stretch>
            <a:fillRect/>
          </a:stretch>
        </p:blipFill>
        <p:spPr>
          <a:xfrm>
            <a:off x="10886162" y="3960164"/>
            <a:ext cx="702125" cy="240510"/>
          </a:xfrm>
          <a:prstGeom prst="rect">
            <a:avLst/>
          </a:prstGeom>
        </p:spPr>
      </p:pic>
      <p:cxnSp>
        <p:nvCxnSpPr>
          <p:cNvPr id="2072" name="Straight Arrow Connector 2071">
            <a:extLst>
              <a:ext uri="{FF2B5EF4-FFF2-40B4-BE49-F238E27FC236}">
                <a16:creationId xmlns:a16="http://schemas.microsoft.com/office/drawing/2014/main" id="{ECCC0AE6-D071-1A5D-7A11-C5EC7DEA1F2C}"/>
              </a:ext>
            </a:extLst>
          </p:cNvPr>
          <p:cNvCxnSpPr>
            <a:cxnSpLocks/>
          </p:cNvCxnSpPr>
          <p:nvPr/>
        </p:nvCxnSpPr>
        <p:spPr>
          <a:xfrm flipV="1">
            <a:off x="10527285" y="4460113"/>
            <a:ext cx="258614" cy="1939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5" name="Connector: Elbow 2074">
            <a:extLst>
              <a:ext uri="{FF2B5EF4-FFF2-40B4-BE49-F238E27FC236}">
                <a16:creationId xmlns:a16="http://schemas.microsoft.com/office/drawing/2014/main" id="{596E4750-B1ED-5B81-F1EC-60884DBC8144}"/>
              </a:ext>
            </a:extLst>
          </p:cNvPr>
          <p:cNvCxnSpPr>
            <a:cxnSpLocks/>
            <a:endCxn id="183" idx="1"/>
          </p:cNvCxnSpPr>
          <p:nvPr/>
        </p:nvCxnSpPr>
        <p:spPr>
          <a:xfrm flipV="1">
            <a:off x="9223990" y="4505114"/>
            <a:ext cx="472839" cy="430175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0" name="TextBox 2089">
            <a:extLst>
              <a:ext uri="{FF2B5EF4-FFF2-40B4-BE49-F238E27FC236}">
                <a16:creationId xmlns:a16="http://schemas.microsoft.com/office/drawing/2014/main" id="{909B3E08-77D8-0271-AD93-71FDAEFE5DEF}"/>
              </a:ext>
            </a:extLst>
          </p:cNvPr>
          <p:cNvSpPr txBox="1"/>
          <p:nvPr/>
        </p:nvSpPr>
        <p:spPr>
          <a:xfrm>
            <a:off x="2449140" y="3452682"/>
            <a:ext cx="715406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Classification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3C17C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92" name="TextBox 2091">
            <a:extLst>
              <a:ext uri="{FF2B5EF4-FFF2-40B4-BE49-F238E27FC236}">
                <a16:creationId xmlns:a16="http://schemas.microsoft.com/office/drawing/2014/main" id="{9E591521-495F-7D3E-B3ED-985387954870}"/>
              </a:ext>
            </a:extLst>
          </p:cNvPr>
          <p:cNvSpPr txBox="1"/>
          <p:nvPr/>
        </p:nvSpPr>
        <p:spPr>
          <a:xfrm>
            <a:off x="9764076" y="6019809"/>
            <a:ext cx="2244172" cy="2923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 </a:t>
            </a:r>
            <a:r>
              <a:rPr kumimoji="0" lang="en-US" sz="800" b="1" i="0" u="none" strike="noStrike" kern="120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wil</a:t>
            </a:r>
            <a:r>
              <a:rPr lang="en-US" sz="800" b="1">
                <a:solidFill>
                  <a:schemeClr val="accent5"/>
                </a:solidFill>
                <a:latin typeface="Aptos" panose="02110004020202020204"/>
              </a:rPr>
              <a:t>l start building RPA automations first, as they represent </a:t>
            </a:r>
            <a:r>
              <a:rPr lang="en-US" sz="800" b="1">
                <a:solidFill>
                  <a:schemeClr val="accent5"/>
                </a:solidFill>
                <a:highlight>
                  <a:srgbClr val="FFFF00"/>
                </a:highlight>
                <a:latin typeface="Aptos" panose="02110004020202020204"/>
              </a:rPr>
              <a:t>75% of potential savings 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chemeClr val="accent5"/>
              </a:solidFill>
              <a:effectLst/>
              <a:highlight>
                <a:srgbClr val="FFFF00"/>
              </a:highligh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05" name="TextBox 2104">
            <a:extLst>
              <a:ext uri="{FF2B5EF4-FFF2-40B4-BE49-F238E27FC236}">
                <a16:creationId xmlns:a16="http://schemas.microsoft.com/office/drawing/2014/main" id="{5D79B7DD-1673-CBFF-D45F-E201E3E722B1}"/>
              </a:ext>
            </a:extLst>
          </p:cNvPr>
          <p:cNvSpPr txBox="1"/>
          <p:nvPr/>
        </p:nvSpPr>
        <p:spPr>
          <a:xfrm>
            <a:off x="7606411" y="4821376"/>
            <a:ext cx="560693" cy="1538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XML</a:t>
            </a:r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3C17C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06" name="TextBox 2105">
            <a:extLst>
              <a:ext uri="{FF2B5EF4-FFF2-40B4-BE49-F238E27FC236}">
                <a16:creationId xmlns:a16="http://schemas.microsoft.com/office/drawing/2014/main" id="{DF1B6C1E-3272-66A2-D493-19F1F1DA50DE}"/>
              </a:ext>
            </a:extLst>
          </p:cNvPr>
          <p:cNvSpPr txBox="1"/>
          <p:nvPr/>
        </p:nvSpPr>
        <p:spPr>
          <a:xfrm>
            <a:off x="7220452" y="3835494"/>
            <a:ext cx="1186489" cy="1538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Doc </a:t>
            </a:r>
            <a:r>
              <a:rPr lang="en-US" sz="700">
                <a:solidFill>
                  <a:srgbClr val="3C17CF"/>
                </a:solidFill>
                <a:latin typeface="Aptos" panose="02110004020202020204"/>
              </a:rPr>
              <a:t>IMG + extracted details</a:t>
            </a:r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3C17C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107" name="Straight Arrow Connector 2106">
            <a:extLst>
              <a:ext uri="{FF2B5EF4-FFF2-40B4-BE49-F238E27FC236}">
                <a16:creationId xmlns:a16="http://schemas.microsoft.com/office/drawing/2014/main" id="{836CCD8B-C0A3-EDB5-9114-3FD783E51FC1}"/>
              </a:ext>
            </a:extLst>
          </p:cNvPr>
          <p:cNvCxnSpPr>
            <a:cxnSpLocks/>
          </p:cNvCxnSpPr>
          <p:nvPr/>
        </p:nvCxnSpPr>
        <p:spPr>
          <a:xfrm>
            <a:off x="6305433" y="4827473"/>
            <a:ext cx="0" cy="816002"/>
          </a:xfrm>
          <a:prstGeom prst="straightConnector1">
            <a:avLst/>
          </a:prstGeom>
          <a:ln w="38100">
            <a:solidFill>
              <a:srgbClr val="3C17C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0" name="Straight Arrow Connector 2109">
            <a:extLst>
              <a:ext uri="{FF2B5EF4-FFF2-40B4-BE49-F238E27FC236}">
                <a16:creationId xmlns:a16="http://schemas.microsoft.com/office/drawing/2014/main" id="{8BDA5D4B-76F3-791E-1DE2-DCD61123CCEA}"/>
              </a:ext>
            </a:extLst>
          </p:cNvPr>
          <p:cNvCxnSpPr>
            <a:cxnSpLocks/>
          </p:cNvCxnSpPr>
          <p:nvPr/>
        </p:nvCxnSpPr>
        <p:spPr>
          <a:xfrm flipV="1">
            <a:off x="6575639" y="4844000"/>
            <a:ext cx="0" cy="782645"/>
          </a:xfrm>
          <a:prstGeom prst="straightConnector1">
            <a:avLst/>
          </a:prstGeom>
          <a:ln w="38100">
            <a:solidFill>
              <a:srgbClr val="3C17C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7" name="TextBox 2116">
            <a:extLst>
              <a:ext uri="{FF2B5EF4-FFF2-40B4-BE49-F238E27FC236}">
                <a16:creationId xmlns:a16="http://schemas.microsoft.com/office/drawing/2014/main" id="{56A8C676-B19B-02EE-B822-2E7848A0D109}"/>
              </a:ext>
            </a:extLst>
          </p:cNvPr>
          <p:cNvSpPr txBox="1"/>
          <p:nvPr/>
        </p:nvSpPr>
        <p:spPr>
          <a:xfrm>
            <a:off x="6049244" y="5723784"/>
            <a:ext cx="978362" cy="169277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chemeClr val="accent3"/>
                </a:solidFill>
                <a:latin typeface="Aptos" panose="02110004020202020204"/>
              </a:rPr>
              <a:t>COSMOS Company 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18" name="TextBox 2117">
            <a:extLst>
              <a:ext uri="{FF2B5EF4-FFF2-40B4-BE49-F238E27FC236}">
                <a16:creationId xmlns:a16="http://schemas.microsoft.com/office/drawing/2014/main" id="{827DD705-12EC-4526-3393-43C79B47DDB9}"/>
              </a:ext>
            </a:extLst>
          </p:cNvPr>
          <p:cNvSpPr txBox="1"/>
          <p:nvPr/>
        </p:nvSpPr>
        <p:spPr>
          <a:xfrm>
            <a:off x="10898671" y="5618315"/>
            <a:ext cx="723181" cy="169277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chemeClr val="accent3"/>
                </a:solidFill>
                <a:latin typeface="Aptos" panose="02110004020202020204"/>
              </a:rPr>
              <a:t>SCRIP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119" name="Straight Arrow Connector 2118">
            <a:extLst>
              <a:ext uri="{FF2B5EF4-FFF2-40B4-BE49-F238E27FC236}">
                <a16:creationId xmlns:a16="http://schemas.microsoft.com/office/drawing/2014/main" id="{DD4CDEED-E8E3-2FD7-69CC-8DB2B04F5A5B}"/>
              </a:ext>
            </a:extLst>
          </p:cNvPr>
          <p:cNvCxnSpPr>
            <a:cxnSpLocks/>
          </p:cNvCxnSpPr>
          <p:nvPr/>
        </p:nvCxnSpPr>
        <p:spPr>
          <a:xfrm>
            <a:off x="11099502" y="5072057"/>
            <a:ext cx="0" cy="484012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0" name="Straight Arrow Connector 2119">
            <a:extLst>
              <a:ext uri="{FF2B5EF4-FFF2-40B4-BE49-F238E27FC236}">
                <a16:creationId xmlns:a16="http://schemas.microsoft.com/office/drawing/2014/main" id="{A45A2523-95A9-C736-A9D2-45DE7323BE36}"/>
              </a:ext>
            </a:extLst>
          </p:cNvPr>
          <p:cNvCxnSpPr>
            <a:cxnSpLocks/>
          </p:cNvCxnSpPr>
          <p:nvPr/>
        </p:nvCxnSpPr>
        <p:spPr>
          <a:xfrm flipV="1">
            <a:off x="11369708" y="5088584"/>
            <a:ext cx="0" cy="484902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9" name="TextBox 2128">
            <a:extLst>
              <a:ext uri="{FF2B5EF4-FFF2-40B4-BE49-F238E27FC236}">
                <a16:creationId xmlns:a16="http://schemas.microsoft.com/office/drawing/2014/main" id="{AE48F865-CDE5-506F-4D1A-656BA1DB286D}"/>
              </a:ext>
            </a:extLst>
          </p:cNvPr>
          <p:cNvSpPr txBox="1"/>
          <p:nvPr/>
        </p:nvSpPr>
        <p:spPr>
          <a:xfrm>
            <a:off x="6038977" y="5966180"/>
            <a:ext cx="988629" cy="169277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chemeClr val="accent3"/>
                </a:solidFill>
                <a:latin typeface="Aptos" panose="02110004020202020204"/>
              </a:rPr>
              <a:t>COSMOS Investor 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30" name="TextBox 2129">
            <a:extLst>
              <a:ext uri="{FF2B5EF4-FFF2-40B4-BE49-F238E27FC236}">
                <a16:creationId xmlns:a16="http://schemas.microsoft.com/office/drawing/2014/main" id="{91731A9A-F37B-9238-1549-AC2ACD999899}"/>
              </a:ext>
            </a:extLst>
          </p:cNvPr>
          <p:cNvSpPr txBox="1"/>
          <p:nvPr/>
        </p:nvSpPr>
        <p:spPr>
          <a:xfrm>
            <a:off x="6027890" y="6196594"/>
            <a:ext cx="989151" cy="538609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chemeClr val="accent3"/>
                </a:solidFill>
                <a:latin typeface="Aptos" panose="02110004020202020204"/>
              </a:rPr>
              <a:t>Elastic in lieu of Cosmos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accent3"/>
                </a:solidFill>
                <a:latin typeface="Aptos" panose="02110004020202020204"/>
              </a:rPr>
              <a:t>(dev only, not prod) but easy to set up</a:t>
            </a:r>
            <a:endParaRPr kumimoji="0" lang="en-GB" sz="800" i="0" u="none" strike="noStrike" kern="120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31" name="TextBox 2130">
            <a:extLst>
              <a:ext uri="{FF2B5EF4-FFF2-40B4-BE49-F238E27FC236}">
                <a16:creationId xmlns:a16="http://schemas.microsoft.com/office/drawing/2014/main" id="{38A7799D-481A-28A8-DB48-416E335C1B71}"/>
              </a:ext>
            </a:extLst>
          </p:cNvPr>
          <p:cNvSpPr txBox="1"/>
          <p:nvPr/>
        </p:nvSpPr>
        <p:spPr>
          <a:xfrm>
            <a:off x="7125222" y="5701581"/>
            <a:ext cx="1327895" cy="4154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Open question - </a:t>
            </a: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What load can it handle? We expect to send many requests per day </a:t>
            </a:r>
            <a:endParaRPr kumimoji="0" lang="en-GB" sz="80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134" name="Group 2133">
            <a:extLst>
              <a:ext uri="{FF2B5EF4-FFF2-40B4-BE49-F238E27FC236}">
                <a16:creationId xmlns:a16="http://schemas.microsoft.com/office/drawing/2014/main" id="{C4E6FB3A-7EF7-AB75-F8BA-7855D8A87E3F}"/>
              </a:ext>
            </a:extLst>
          </p:cNvPr>
          <p:cNvGrpSpPr/>
          <p:nvPr/>
        </p:nvGrpSpPr>
        <p:grpSpPr>
          <a:xfrm>
            <a:off x="7067015" y="4324305"/>
            <a:ext cx="628523" cy="361617"/>
            <a:chOff x="4771822" y="6086808"/>
            <a:chExt cx="628523" cy="361617"/>
          </a:xfrm>
        </p:grpSpPr>
        <p:sp>
          <p:nvSpPr>
            <p:cNvPr id="2132" name="Flowchart: Decision 2131">
              <a:extLst>
                <a:ext uri="{FF2B5EF4-FFF2-40B4-BE49-F238E27FC236}">
                  <a16:creationId xmlns:a16="http://schemas.microsoft.com/office/drawing/2014/main" id="{3D8E8868-DB43-509A-575A-9B9C0532ADE2}"/>
                </a:ext>
              </a:extLst>
            </p:cNvPr>
            <p:cNvSpPr/>
            <p:nvPr/>
          </p:nvSpPr>
          <p:spPr>
            <a:xfrm>
              <a:off x="4829377" y="6086808"/>
              <a:ext cx="460697" cy="361617"/>
            </a:xfrm>
            <a:prstGeom prst="flowChartDecision">
              <a:avLst/>
            </a:prstGeom>
            <a:noFill/>
            <a:ln>
              <a:solidFill>
                <a:srgbClr val="3C17CF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33" name="TextBox 2132">
              <a:extLst>
                <a:ext uri="{FF2B5EF4-FFF2-40B4-BE49-F238E27FC236}">
                  <a16:creationId xmlns:a16="http://schemas.microsoft.com/office/drawing/2014/main" id="{B08C3CD8-B24D-324D-5971-696860D5B9D9}"/>
                </a:ext>
              </a:extLst>
            </p:cNvPr>
            <p:cNvSpPr txBox="1"/>
            <p:nvPr/>
          </p:nvSpPr>
          <p:spPr>
            <a:xfrm>
              <a:off x="4771822" y="6188060"/>
              <a:ext cx="628523" cy="16927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36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Match?</a:t>
              </a: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cxnSp>
        <p:nvCxnSpPr>
          <p:cNvPr id="2135" name="Straight Arrow Connector 2134">
            <a:extLst>
              <a:ext uri="{FF2B5EF4-FFF2-40B4-BE49-F238E27FC236}">
                <a16:creationId xmlns:a16="http://schemas.microsoft.com/office/drawing/2014/main" id="{72F6ED65-7098-255F-5F9E-7CEB21A4A6A0}"/>
              </a:ext>
            </a:extLst>
          </p:cNvPr>
          <p:cNvCxnSpPr>
            <a:cxnSpLocks/>
          </p:cNvCxnSpPr>
          <p:nvPr/>
        </p:nvCxnSpPr>
        <p:spPr>
          <a:xfrm>
            <a:off x="6915984" y="4512576"/>
            <a:ext cx="209724" cy="0"/>
          </a:xfrm>
          <a:prstGeom prst="straightConnector1">
            <a:avLst/>
          </a:prstGeom>
          <a:ln w="38100">
            <a:solidFill>
              <a:srgbClr val="3C17C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8" name="Connector: Elbow 2137">
            <a:extLst>
              <a:ext uri="{FF2B5EF4-FFF2-40B4-BE49-F238E27FC236}">
                <a16:creationId xmlns:a16="http://schemas.microsoft.com/office/drawing/2014/main" id="{FB9A8E0C-9605-A1EC-D332-2FC8AE815B3C}"/>
              </a:ext>
            </a:extLst>
          </p:cNvPr>
          <p:cNvCxnSpPr>
            <a:cxnSpLocks/>
            <a:stCxn id="2132" idx="0"/>
          </p:cNvCxnSpPr>
          <p:nvPr/>
        </p:nvCxnSpPr>
        <p:spPr>
          <a:xfrm rot="5400000" flipH="1" flipV="1">
            <a:off x="7694004" y="3630336"/>
            <a:ext cx="354884" cy="1033054"/>
          </a:xfrm>
          <a:prstGeom prst="bentConnector2">
            <a:avLst/>
          </a:prstGeom>
          <a:ln w="28575">
            <a:solidFill>
              <a:srgbClr val="3C17CF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6" name="TextBox 2135">
            <a:extLst>
              <a:ext uri="{FF2B5EF4-FFF2-40B4-BE49-F238E27FC236}">
                <a16:creationId xmlns:a16="http://schemas.microsoft.com/office/drawing/2014/main" id="{1198DA08-31D4-F80B-3E86-5F1883D745E5}"/>
              </a:ext>
            </a:extLst>
          </p:cNvPr>
          <p:cNvSpPr txBox="1"/>
          <p:nvPr/>
        </p:nvSpPr>
        <p:spPr>
          <a:xfrm>
            <a:off x="7226751" y="4089578"/>
            <a:ext cx="241435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144" name="Connector: Elbow 2143">
            <a:extLst>
              <a:ext uri="{FF2B5EF4-FFF2-40B4-BE49-F238E27FC236}">
                <a16:creationId xmlns:a16="http://schemas.microsoft.com/office/drawing/2014/main" id="{B23326DB-6855-C5A3-8496-394871F9CB1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59106" y="4281735"/>
            <a:ext cx="260267" cy="1068640"/>
          </a:xfrm>
          <a:prstGeom prst="bentConnector2">
            <a:avLst/>
          </a:prstGeom>
          <a:ln w="28575">
            <a:solidFill>
              <a:srgbClr val="3C17CF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7" name="TextBox 2136">
            <a:extLst>
              <a:ext uri="{FF2B5EF4-FFF2-40B4-BE49-F238E27FC236}">
                <a16:creationId xmlns:a16="http://schemas.microsoft.com/office/drawing/2014/main" id="{41FECDFA-685D-BB52-554B-66248CFA370C}"/>
              </a:ext>
            </a:extLst>
          </p:cNvPr>
          <p:cNvSpPr txBox="1"/>
          <p:nvPr/>
        </p:nvSpPr>
        <p:spPr>
          <a:xfrm>
            <a:off x="7232668" y="4752964"/>
            <a:ext cx="241435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Yes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69" name="TextBox 2168">
            <a:extLst>
              <a:ext uri="{FF2B5EF4-FFF2-40B4-BE49-F238E27FC236}">
                <a16:creationId xmlns:a16="http://schemas.microsoft.com/office/drawing/2014/main" id="{27800457-60F0-14D9-D8F9-5DA1B8C8D790}"/>
              </a:ext>
            </a:extLst>
          </p:cNvPr>
          <p:cNvSpPr txBox="1"/>
          <p:nvPr/>
        </p:nvSpPr>
        <p:spPr>
          <a:xfrm>
            <a:off x="6004580" y="3852264"/>
            <a:ext cx="920546" cy="2923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Where will this b</a:t>
            </a:r>
            <a:r>
              <a:rPr lang="en-US" sz="800" b="1">
                <a:solidFill>
                  <a:schemeClr val="accent1"/>
                </a:solidFill>
                <a:latin typeface="Aptos" panose="02110004020202020204"/>
              </a:rPr>
              <a:t>e stored?</a:t>
            </a:r>
            <a:endParaRPr kumimoji="0" lang="en-GB" sz="80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25816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099C4-027F-C271-8814-72210C65C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6FCF5B-F9CA-5519-0875-6195B0540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data is necessary to classify?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91347C-BE68-0CAB-5D23-8ABEA0477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60386" y="6428363"/>
            <a:ext cx="317716" cy="246221"/>
          </a:xfrm>
        </p:spPr>
        <p:txBody>
          <a:bodyPr/>
          <a:lstStyle/>
          <a:p>
            <a:fld id="{0BBDC51F-5D11-B24C-B440-508FFDF318C8}" type="slidenum">
              <a:rPr lang="en-AU" smtClean="0"/>
              <a:pPr/>
              <a:t>40</a:t>
            </a:fld>
            <a:endParaRPr lang="en-AU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2ACF47B-32EC-DC4B-D358-98F20FAF875C}"/>
              </a:ext>
            </a:extLst>
          </p:cNvPr>
          <p:cNvGraphicFramePr>
            <a:graphicFrameLocks noGrp="1"/>
          </p:cNvGraphicFramePr>
          <p:nvPr/>
        </p:nvGraphicFramePr>
        <p:xfrm>
          <a:off x="555624" y="768796"/>
          <a:ext cx="11255376" cy="564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844">
                  <a:extLst>
                    <a:ext uri="{9D8B030D-6E8A-4147-A177-3AD203B41FA5}">
                      <a16:colId xmlns:a16="http://schemas.microsoft.com/office/drawing/2014/main" val="369535422"/>
                    </a:ext>
                  </a:extLst>
                </a:gridCol>
                <a:gridCol w="2813844">
                  <a:extLst>
                    <a:ext uri="{9D8B030D-6E8A-4147-A177-3AD203B41FA5}">
                      <a16:colId xmlns:a16="http://schemas.microsoft.com/office/drawing/2014/main" val="2310733496"/>
                    </a:ext>
                  </a:extLst>
                </a:gridCol>
                <a:gridCol w="2813844">
                  <a:extLst>
                    <a:ext uri="{9D8B030D-6E8A-4147-A177-3AD203B41FA5}">
                      <a16:colId xmlns:a16="http://schemas.microsoft.com/office/drawing/2014/main" val="1346628501"/>
                    </a:ext>
                  </a:extLst>
                </a:gridCol>
                <a:gridCol w="2813844">
                  <a:extLst>
                    <a:ext uri="{9D8B030D-6E8A-4147-A177-3AD203B41FA5}">
                      <a16:colId xmlns:a16="http://schemas.microsoft.com/office/drawing/2014/main" val="10343447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Query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Data 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Data source (constructed)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What CPU information is used to create this data source?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3994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/>
                        <a:t>1. What is the document intent//what does the shareholder want to do?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Categorization bucket (Column 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Transaction routing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QRG, Reclassifying and insert scenario document, some information from DOPs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765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/>
                        <a:t>2. For which company? One or multiple?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COY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/>
                        <a:t>Company code translation table</a:t>
                      </a:r>
                    </a:p>
                    <a:p>
                      <a:endParaRPr lang="en-GB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Cosmos company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994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/>
                        <a:t>3. Who is the recipient?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Individual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Incoming envelope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/>
                        <a:t>Incoming envelope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906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/>
                        <a:t>4. What is the account number?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HIN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Incoming envelope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/>
                        <a:t>Incoming envelope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099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/>
                        <a:t>5. Is there an account for the credit?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Yes or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Incoming envelope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/>
                        <a:t>Incoming envelope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961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/>
                        <a:t>6. Run checks to classify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Which company? Is there a doc return form? Section 144 reference?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Transaction routing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/>
                        <a:t>QRG, Reclassifying and insert scenario document, some information from DOPs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186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/>
                        <a:t>7. Based on results of 6, classify into a specific transaction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Specific classification type (potentially rationalized)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Transaction routing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/>
                        <a:t>QRG, Reclassifying and insert scenario document, some information from DOPs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779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80581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43CDE7-2BDB-466D-48CB-E60D9A529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Document attributes &amp; structure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7AA5F9-3764-CF63-4144-E5C361A97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BBDC51F-5D11-B24C-B440-508FFDF318C8}" type="slidenum">
              <a:rPr lang="en-AU" smtClean="0"/>
              <a:pPr/>
              <a:t>41</a:t>
            </a:fld>
            <a:endParaRPr lang="en-AU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8E1302-C01E-2B76-0A62-BABFE5E80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500863"/>
              </p:ext>
            </p:extLst>
          </p:nvPr>
        </p:nvGraphicFramePr>
        <p:xfrm>
          <a:off x="523876" y="1014941"/>
          <a:ext cx="1119187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0625">
                  <a:extLst>
                    <a:ext uri="{9D8B030D-6E8A-4147-A177-3AD203B41FA5}">
                      <a16:colId xmlns:a16="http://schemas.microsoft.com/office/drawing/2014/main" val="3721004659"/>
                    </a:ext>
                  </a:extLst>
                </a:gridCol>
                <a:gridCol w="3730625">
                  <a:extLst>
                    <a:ext uri="{9D8B030D-6E8A-4147-A177-3AD203B41FA5}">
                      <a16:colId xmlns:a16="http://schemas.microsoft.com/office/drawing/2014/main" val="479883135"/>
                    </a:ext>
                  </a:extLst>
                </a:gridCol>
                <a:gridCol w="3730625">
                  <a:extLst>
                    <a:ext uri="{9D8B030D-6E8A-4147-A177-3AD203B41FA5}">
                      <a16:colId xmlns:a16="http://schemas.microsoft.com/office/drawing/2014/main" val="26298584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Document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Token 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6596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36789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2CC02F9-A8B1-E646-745B-A7AC05B564C1}"/>
              </a:ext>
            </a:extLst>
          </p:cNvPr>
          <p:cNvSpPr txBox="1"/>
          <p:nvPr/>
        </p:nvSpPr>
        <p:spPr>
          <a:xfrm>
            <a:off x="9959338" y="5843059"/>
            <a:ext cx="2080261" cy="577081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GB" sz="1050" i="1">
                <a:latin typeface="Aptos" panose="020B0004020202020204" pitchFamily="34" charset="0"/>
              </a:rPr>
              <a:t>*Ada maximum input per API call 8,192 tokens, and max 2,048 tokens per chunk</a:t>
            </a:r>
          </a:p>
        </p:txBody>
      </p:sp>
    </p:spTree>
    <p:extLst>
      <p:ext uri="{BB962C8B-B14F-4D97-AF65-F5344CB8AC3E}">
        <p14:creationId xmlns:p14="http://schemas.microsoft.com/office/powerpoint/2010/main" val="12826427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D22AA-DA89-BEE7-D49A-F7441ECE1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57F020A-C867-2A13-590F-655969791E84}"/>
              </a:ext>
            </a:extLst>
          </p:cNvPr>
          <p:cNvSpPr/>
          <p:nvPr/>
        </p:nvSpPr>
        <p:spPr>
          <a:xfrm>
            <a:off x="10672762" y="937774"/>
            <a:ext cx="1389699" cy="311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F9C23508-6426-E65B-65CA-29A14A45047A}"/>
              </a:ext>
            </a:extLst>
          </p:cNvPr>
          <p:cNvSpPr/>
          <p:nvPr/>
        </p:nvSpPr>
        <p:spPr>
          <a:xfrm>
            <a:off x="9623581" y="937787"/>
            <a:ext cx="1334452" cy="307777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>
                <a:solidFill>
                  <a:schemeClr val="bg1"/>
                </a:solidFill>
              </a:rPr>
              <a:t>Search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DBBA91-5A91-A42B-DE40-354CC88B6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89" y="239394"/>
            <a:ext cx="11555037" cy="513795"/>
          </a:xfrm>
        </p:spPr>
        <p:txBody>
          <a:bodyPr/>
          <a:lstStyle/>
          <a:p>
            <a:r>
              <a:rPr lang="en-GB"/>
              <a:t>Context preparation stages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0F448A-FCB6-7B04-563C-175B13EBBECC}"/>
              </a:ext>
            </a:extLst>
          </p:cNvPr>
          <p:cNvSpPr txBox="1"/>
          <p:nvPr/>
        </p:nvSpPr>
        <p:spPr>
          <a:xfrm>
            <a:off x="6368418" y="1430150"/>
            <a:ext cx="1564482" cy="738664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marL="72000" indent="-108000" algn="l">
              <a:buFont typeface="Arial" panose="020B0604020202020204" pitchFamily="34" charset="0"/>
              <a:buChar char="•"/>
            </a:pPr>
            <a:r>
              <a:rPr lang="en-GB" sz="1400">
                <a:latin typeface="Aptos" panose="020B0004020202020204" pitchFamily="34" charset="0"/>
              </a:rPr>
              <a:t>Converts text to embeddings</a:t>
            </a:r>
          </a:p>
          <a:p>
            <a:pPr marL="72000" indent="-108000" algn="l">
              <a:buFont typeface="Arial" panose="020B0604020202020204" pitchFamily="34" charset="0"/>
              <a:buChar char="•"/>
            </a:pPr>
            <a:r>
              <a:rPr lang="en-GB" sz="1400">
                <a:latin typeface="Aptos" panose="020B0004020202020204" pitchFamily="34" charset="0"/>
              </a:rPr>
              <a:t>Open AI Ada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151CD7-8DEA-199B-5992-CAB3110E2230}"/>
              </a:ext>
            </a:extLst>
          </p:cNvPr>
          <p:cNvSpPr txBox="1"/>
          <p:nvPr/>
        </p:nvSpPr>
        <p:spPr>
          <a:xfrm>
            <a:off x="8111014" y="1430150"/>
            <a:ext cx="1334452" cy="52322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marL="72000" indent="-108000" algn="l">
              <a:buFont typeface="Arial" panose="020B0604020202020204" pitchFamily="34" charset="0"/>
              <a:buChar char="•"/>
            </a:pPr>
            <a:r>
              <a:rPr lang="en-GB" sz="1400">
                <a:latin typeface="Aptos" panose="020B0004020202020204" pitchFamily="34" charset="0"/>
              </a:rPr>
              <a:t>Stores embeddings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B0DAC0-3A1F-59A5-84DD-B4AF06B6281C}"/>
              </a:ext>
            </a:extLst>
          </p:cNvPr>
          <p:cNvSpPr txBox="1"/>
          <p:nvPr/>
        </p:nvSpPr>
        <p:spPr>
          <a:xfrm>
            <a:off x="9623580" y="1430150"/>
            <a:ext cx="1334452" cy="2462213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marL="72000" indent="-108000" algn="l">
              <a:buFont typeface="Arial" panose="020B0604020202020204" pitchFamily="34" charset="0"/>
              <a:buChar char="•"/>
            </a:pPr>
            <a:r>
              <a:rPr lang="en-GB" sz="1400">
                <a:latin typeface="Aptos" panose="020B0004020202020204" pitchFamily="34" charset="0"/>
              </a:rPr>
              <a:t>Input: user query (prompt, which includes extracted text from OCR)</a:t>
            </a:r>
          </a:p>
          <a:p>
            <a:pPr marL="72000" indent="-108000" algn="l">
              <a:buFont typeface="Arial" panose="020B0604020202020204" pitchFamily="34" charset="0"/>
              <a:buChar char="•"/>
            </a:pPr>
            <a:r>
              <a:rPr lang="en-GB" sz="1400">
                <a:latin typeface="Aptos" panose="020B0004020202020204" pitchFamily="34" charset="0"/>
              </a:rPr>
              <a:t>Will retrieve top x relevant results from the database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5C7978-C698-CF1A-AB41-0380D298B097}"/>
              </a:ext>
            </a:extLst>
          </p:cNvPr>
          <p:cNvSpPr txBox="1"/>
          <p:nvPr/>
        </p:nvSpPr>
        <p:spPr>
          <a:xfrm>
            <a:off x="10905906" y="1430149"/>
            <a:ext cx="1334452" cy="2462213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marL="72000" indent="-108000" algn="l">
              <a:buFont typeface="Arial" panose="020B0604020202020204" pitchFamily="34" charset="0"/>
              <a:buChar char="•"/>
            </a:pPr>
            <a:r>
              <a:rPr lang="en-GB" sz="1400">
                <a:latin typeface="Aptos" panose="020B0004020202020204" pitchFamily="34" charset="0"/>
              </a:rPr>
              <a:t>Response schema – we need to design this based on the input Workflow needs </a:t>
            </a:r>
          </a:p>
          <a:p>
            <a:pPr marL="72000" indent="-108000" algn="l">
              <a:buFont typeface="Arial" panose="020B0604020202020204" pitchFamily="34" charset="0"/>
              <a:buChar char="•"/>
            </a:pPr>
            <a:r>
              <a:rPr lang="en-GB" sz="1400">
                <a:latin typeface="Aptos" panose="020B0004020202020204" pitchFamily="34" charset="0"/>
              </a:rPr>
              <a:t>We also need a way to evaluate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47CAFD-4907-CF17-B48F-510A75CC439E}"/>
              </a:ext>
            </a:extLst>
          </p:cNvPr>
          <p:cNvSpPr txBox="1"/>
          <p:nvPr/>
        </p:nvSpPr>
        <p:spPr>
          <a:xfrm>
            <a:off x="4320539" y="1581096"/>
            <a:ext cx="1334452" cy="30777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marL="72000" indent="-108000" algn="l">
              <a:buFont typeface="Arial" panose="020B0604020202020204" pitchFamily="34" charset="0"/>
              <a:buChar char="•"/>
            </a:pPr>
            <a:r>
              <a:rPr lang="en-GB" sz="1400">
                <a:latin typeface="Aptos" panose="020B0004020202020204" pitchFamily="34" charset="0"/>
              </a:rPr>
              <a:t>Azure</a:t>
            </a: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EDB4AE4F-3C6C-EFF0-C9E9-A4F73380E048}"/>
              </a:ext>
            </a:extLst>
          </p:cNvPr>
          <p:cNvSpPr/>
          <p:nvPr/>
        </p:nvSpPr>
        <p:spPr>
          <a:xfrm>
            <a:off x="7604879" y="937785"/>
            <a:ext cx="2253224" cy="307777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>
                <a:solidFill>
                  <a:schemeClr val="bg1"/>
                </a:solidFill>
              </a:rPr>
              <a:t>Emb Database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DCE300FB-7A95-423E-A38E-2203794C5781}"/>
              </a:ext>
            </a:extLst>
          </p:cNvPr>
          <p:cNvSpPr/>
          <p:nvPr/>
        </p:nvSpPr>
        <p:spPr>
          <a:xfrm>
            <a:off x="6245780" y="937783"/>
            <a:ext cx="1804989" cy="307777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>
                <a:solidFill>
                  <a:schemeClr val="bg1"/>
                </a:solidFill>
              </a:rPr>
              <a:t>Embedding model</a:t>
            </a:r>
          </a:p>
        </p:txBody>
      </p:sp>
      <p:sp>
        <p:nvSpPr>
          <p:cNvPr id="20" name="Arrow: Pentagon 19">
            <a:extLst>
              <a:ext uri="{FF2B5EF4-FFF2-40B4-BE49-F238E27FC236}">
                <a16:creationId xmlns:a16="http://schemas.microsoft.com/office/drawing/2014/main" id="{9BBB0508-D5BC-053E-2E1A-5E6C94385381}"/>
              </a:ext>
            </a:extLst>
          </p:cNvPr>
          <p:cNvSpPr/>
          <p:nvPr/>
        </p:nvSpPr>
        <p:spPr>
          <a:xfrm>
            <a:off x="3882393" y="937781"/>
            <a:ext cx="2552700" cy="307777"/>
          </a:xfrm>
          <a:prstGeom prst="homePlate">
            <a:avLst/>
          </a:prstGeom>
          <a:solidFill>
            <a:schemeClr val="tx1">
              <a:lumMod val="60000"/>
              <a:lumOff val="40000"/>
            </a:schemeClr>
          </a:solidFill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>
                <a:solidFill>
                  <a:schemeClr val="bg1"/>
                </a:solidFill>
              </a:rPr>
              <a:t>Store chunks in database</a:t>
            </a: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D8124788-65E4-DFD4-0433-34825B6477EC}"/>
              </a:ext>
            </a:extLst>
          </p:cNvPr>
          <p:cNvSpPr/>
          <p:nvPr/>
        </p:nvSpPr>
        <p:spPr>
          <a:xfrm>
            <a:off x="1663065" y="937786"/>
            <a:ext cx="2386011" cy="307777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>
                <a:solidFill>
                  <a:schemeClr val="bg1"/>
                </a:solidFill>
              </a:rPr>
              <a:t>Chunking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1F3F03B7-BA51-2978-D45E-0C3402DE86C1}"/>
              </a:ext>
            </a:extLst>
          </p:cNvPr>
          <p:cNvSpPr/>
          <p:nvPr/>
        </p:nvSpPr>
        <p:spPr>
          <a:xfrm>
            <a:off x="332782" y="937787"/>
            <a:ext cx="1601746" cy="307777"/>
          </a:xfrm>
          <a:prstGeom prst="homePlate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>
                <a:solidFill>
                  <a:schemeClr val="bg1"/>
                </a:solidFill>
              </a:rPr>
              <a:t>Extraction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CD868B-B6AC-D4BD-8EA3-96F8F6A81873}"/>
              </a:ext>
            </a:extLst>
          </p:cNvPr>
          <p:cNvSpPr txBox="1"/>
          <p:nvPr/>
        </p:nvSpPr>
        <p:spPr>
          <a:xfrm>
            <a:off x="317881" y="1430151"/>
            <a:ext cx="1532811" cy="4354053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noAutofit/>
          </a:bodyPr>
          <a:lstStyle/>
          <a:p>
            <a:pPr marL="72000" indent="-108000">
              <a:buFont typeface="Arial" panose="020B0604020202020204" pitchFamily="34" charset="0"/>
              <a:buChar char="•"/>
            </a:pPr>
            <a:r>
              <a:rPr lang="en-GB" sz="1400">
                <a:latin typeface="Aptos" panose="020B0004020202020204" pitchFamily="34" charset="0"/>
              </a:rPr>
              <a:t>Docx to text (</a:t>
            </a:r>
            <a:r>
              <a:rPr lang="en-GB" sz="1400" err="1">
                <a:latin typeface="Aptos" panose="020B0004020202020204" pitchFamily="34" charset="0"/>
              </a:rPr>
              <a:t>inc</a:t>
            </a:r>
            <a:r>
              <a:rPr lang="en-GB" sz="1400">
                <a:latin typeface="Aptos" panose="020B0004020202020204" pitchFamily="34" charset="0"/>
              </a:rPr>
              <a:t> tables)</a:t>
            </a:r>
          </a:p>
          <a:p>
            <a:pPr marL="72000" indent="-108000">
              <a:buFont typeface="Arial" panose="020B0604020202020204" pitchFamily="34" charset="0"/>
              <a:buChar char="•"/>
            </a:pPr>
            <a:r>
              <a:rPr lang="en-GB" sz="1400">
                <a:latin typeface="Aptos" panose="020B0004020202020204" pitchFamily="34" charset="0"/>
              </a:rPr>
              <a:t>PDF to text</a:t>
            </a:r>
          </a:p>
          <a:p>
            <a:pPr marL="72000" indent="-108000">
              <a:buFont typeface="Arial" panose="020B0604020202020204" pitchFamily="34" charset="0"/>
              <a:buChar char="•"/>
            </a:pPr>
            <a:r>
              <a:rPr lang="en-GB" sz="1400">
                <a:latin typeface="Aptos" panose="020B0004020202020204" pitchFamily="34" charset="0"/>
              </a:rPr>
              <a:t>Tool: OCR (</a:t>
            </a:r>
            <a:r>
              <a:rPr lang="en-GB" sz="1400" err="1">
                <a:latin typeface="Aptos" panose="020B0004020202020204" pitchFamily="34" charset="0"/>
              </a:rPr>
              <a:t>msdi</a:t>
            </a:r>
            <a:r>
              <a:rPr lang="en-GB" sz="1400">
                <a:latin typeface="Aptos" panose="020B0004020202020204" pitchFamily="34" charset="0"/>
              </a:rPr>
              <a:t>?) or TTA</a:t>
            </a:r>
          </a:p>
          <a:p>
            <a:pPr algn="l"/>
            <a:endParaRPr lang="en-GB" sz="1400" err="1"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AAB37D-5C92-D6B4-93B1-2C93FA36DB1A}"/>
              </a:ext>
            </a:extLst>
          </p:cNvPr>
          <p:cNvSpPr txBox="1"/>
          <p:nvPr/>
        </p:nvSpPr>
        <p:spPr>
          <a:xfrm>
            <a:off x="1841060" y="1430149"/>
            <a:ext cx="2196704" cy="4354053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noAutofit/>
          </a:bodyPr>
          <a:lstStyle/>
          <a:p>
            <a:pPr marL="72000" indent="-108000">
              <a:buFont typeface="Arial" panose="020B0604020202020204" pitchFamily="34" charset="0"/>
              <a:buChar char="•"/>
            </a:pPr>
            <a:r>
              <a:rPr lang="en-GB" sz="1400">
                <a:latin typeface="Aptos" panose="020B0004020202020204" pitchFamily="34" charset="0"/>
              </a:rPr>
              <a:t>Approach: Paragraph-based chunks (depending on length of document)</a:t>
            </a:r>
          </a:p>
          <a:p>
            <a:pPr marL="72000" indent="-108000">
              <a:buFont typeface="Arial" panose="020B0604020202020204" pitchFamily="34" charset="0"/>
              <a:buChar char="•"/>
            </a:pPr>
            <a:r>
              <a:rPr lang="en-GB" sz="1400">
                <a:latin typeface="Aptos" panose="020B0004020202020204" pitchFamily="34" charset="0"/>
              </a:rPr>
              <a:t>Size: Chunking size determined by the embedding model (~2,048 tokens per chunk for Ada). Azure recommends an overlap of 25%</a:t>
            </a:r>
          </a:p>
          <a:p>
            <a:pPr marL="72000" indent="-108000">
              <a:buFont typeface="Arial" panose="020B0604020202020204" pitchFamily="34" charset="0"/>
              <a:buChar char="•"/>
            </a:pPr>
            <a:r>
              <a:rPr lang="en-GB" sz="1400">
                <a:latin typeface="Aptos" panose="020B0004020202020204" pitchFamily="34" charset="0"/>
              </a:rPr>
              <a:t>Tools: Open AI Ada, text-embedding-3-small, text-embedding-3</a:t>
            </a:r>
          </a:p>
          <a:p>
            <a:pPr marL="72000" indent="-108000">
              <a:buFont typeface="Arial" panose="020B0604020202020204" pitchFamily="34" charset="0"/>
              <a:buChar char="•"/>
            </a:pPr>
            <a:r>
              <a:rPr lang="en-GB" sz="1400">
                <a:latin typeface="Aptos" panose="020B0004020202020204" pitchFamily="34" charset="0"/>
              </a:rPr>
              <a:t>Chunk metadata:</a:t>
            </a:r>
          </a:p>
          <a:p>
            <a:pPr marL="180000" lvl="1"/>
            <a:r>
              <a:rPr lang="en-GB" sz="1400">
                <a:latin typeface="Aptos" panose="020B0004020202020204" pitchFamily="34" charset="0"/>
              </a:rPr>
              <a:t>1.Text </a:t>
            </a:r>
          </a:p>
          <a:p>
            <a:pPr marL="180000" lvl="1"/>
            <a:r>
              <a:rPr lang="en-GB" sz="1400">
                <a:latin typeface="Aptos" panose="020B0004020202020204" pitchFamily="34" charset="0"/>
              </a:rPr>
              <a:t>2.Vector</a:t>
            </a:r>
          </a:p>
          <a:p>
            <a:pPr marL="180000" lvl="1"/>
            <a:r>
              <a:rPr lang="en-GB" sz="1400">
                <a:latin typeface="Aptos" panose="020B0004020202020204" pitchFamily="34" charset="0"/>
              </a:rPr>
              <a:t>3.Filename (str), page numbers (list), title (str)</a:t>
            </a:r>
          </a:p>
          <a:p>
            <a:endParaRPr lang="en-GB" sz="1400">
              <a:latin typeface="Aptos" panose="020B0004020202020204" pitchFamily="34" charset="0"/>
            </a:endParaRPr>
          </a:p>
          <a:p>
            <a:pPr algn="l"/>
            <a:endParaRPr lang="en-GB" sz="1400" err="1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4016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EC7A5-6F3E-5D94-39D8-134A6D205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C2CC7A-6F69-A9C6-017C-2E809797B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the structure of our tables?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D827A9-16A5-71C6-151E-A6556EA8B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BBDC51F-5D11-B24C-B440-508FFDF318C8}" type="slidenum">
              <a:rPr lang="en-AU" smtClean="0"/>
              <a:pPr/>
              <a:t>43</a:t>
            </a:fld>
            <a:endParaRPr lang="en-AU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70E58EA-B397-43C9-509C-B26B62342A38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20778" y="816646"/>
            <a:ext cx="11549548" cy="367858"/>
          </a:xfrm>
        </p:spPr>
        <p:txBody>
          <a:bodyPr/>
          <a:lstStyle/>
          <a:p>
            <a:r>
              <a:rPr lang="en-GB" b="1"/>
              <a:t>1. Transaction Routing Table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7D9183-BB97-300B-8A2B-8A5EABE07143}"/>
              </a:ext>
            </a:extLst>
          </p:cNvPr>
          <p:cNvSpPr txBox="1">
            <a:spLocks/>
          </p:cNvSpPr>
          <p:nvPr/>
        </p:nvSpPr>
        <p:spPr>
          <a:xfrm>
            <a:off x="321226" y="2636065"/>
            <a:ext cx="11549548" cy="367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ptos" panose="020B00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/>
              <a:t>2. Company Code translation table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18E61B0-0728-9A7E-B767-68F182811E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897310"/>
              </p:ext>
            </p:extLst>
          </p:nvPr>
        </p:nvGraphicFramePr>
        <p:xfrm>
          <a:off x="542880" y="1493670"/>
          <a:ext cx="947299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8248">
                  <a:extLst>
                    <a:ext uri="{9D8B030D-6E8A-4147-A177-3AD203B41FA5}">
                      <a16:colId xmlns:a16="http://schemas.microsoft.com/office/drawing/2014/main" val="34087065"/>
                    </a:ext>
                  </a:extLst>
                </a:gridCol>
                <a:gridCol w="2835487">
                  <a:extLst>
                    <a:ext uri="{9D8B030D-6E8A-4147-A177-3AD203B41FA5}">
                      <a16:colId xmlns:a16="http://schemas.microsoft.com/office/drawing/2014/main" val="1371032729"/>
                    </a:ext>
                  </a:extLst>
                </a:gridCol>
                <a:gridCol w="2259701">
                  <a:extLst>
                    <a:ext uri="{9D8B030D-6E8A-4147-A177-3AD203B41FA5}">
                      <a16:colId xmlns:a16="http://schemas.microsoft.com/office/drawing/2014/main" val="3708044594"/>
                    </a:ext>
                  </a:extLst>
                </a:gridCol>
                <a:gridCol w="2009555">
                  <a:extLst>
                    <a:ext uri="{9D8B030D-6E8A-4147-A177-3AD203B41FA5}">
                      <a16:colId xmlns:a16="http://schemas.microsoft.com/office/drawing/2014/main" val="23526980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Broad bucket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Specific transaction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Rules/restrictions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DOP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124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Transfer - </a:t>
                      </a:r>
                      <a:r>
                        <a:rPr lang="en-GB" err="1"/>
                        <a:t>Metlife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93255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81C67EB-48C7-9B64-3F87-9E503CA0E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751539"/>
              </p:ext>
            </p:extLst>
          </p:nvPr>
        </p:nvGraphicFramePr>
        <p:xfrm>
          <a:off x="415289" y="3251309"/>
          <a:ext cx="10759531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8604">
                  <a:extLst>
                    <a:ext uri="{9D8B030D-6E8A-4147-A177-3AD203B41FA5}">
                      <a16:colId xmlns:a16="http://schemas.microsoft.com/office/drawing/2014/main" val="34087065"/>
                    </a:ext>
                  </a:extLst>
                </a:gridCol>
                <a:gridCol w="2261212">
                  <a:extLst>
                    <a:ext uri="{9D8B030D-6E8A-4147-A177-3AD203B41FA5}">
                      <a16:colId xmlns:a16="http://schemas.microsoft.com/office/drawing/2014/main" val="1371032729"/>
                    </a:ext>
                  </a:extLst>
                </a:gridCol>
                <a:gridCol w="1802041">
                  <a:extLst>
                    <a:ext uri="{9D8B030D-6E8A-4147-A177-3AD203B41FA5}">
                      <a16:colId xmlns:a16="http://schemas.microsoft.com/office/drawing/2014/main" val="3708044594"/>
                    </a:ext>
                  </a:extLst>
                </a:gridCol>
                <a:gridCol w="1602558">
                  <a:extLst>
                    <a:ext uri="{9D8B030D-6E8A-4147-A177-3AD203B41FA5}">
                      <a16:colId xmlns:a16="http://schemas.microsoft.com/office/drawing/2014/main" val="2352698064"/>
                    </a:ext>
                  </a:extLst>
                </a:gridCol>
                <a:gridCol w="1602558">
                  <a:extLst>
                    <a:ext uri="{9D8B030D-6E8A-4147-A177-3AD203B41FA5}">
                      <a16:colId xmlns:a16="http://schemas.microsoft.com/office/drawing/2014/main" val="677518871"/>
                    </a:ext>
                  </a:extLst>
                </a:gridCol>
                <a:gridCol w="1602558">
                  <a:extLst>
                    <a:ext uri="{9D8B030D-6E8A-4147-A177-3AD203B41FA5}">
                      <a16:colId xmlns:a16="http://schemas.microsoft.com/office/drawing/2014/main" val="4003889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COY (company code)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Company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Variations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CUSIP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Ticker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Company name 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124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932554"/>
                  </a:ext>
                </a:extLst>
              </a:tr>
            </a:tbl>
          </a:graphicData>
        </a:graphic>
      </p:graphicFrame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E25AC82-2C9A-B61F-4E2B-C31F74CC8549}"/>
              </a:ext>
            </a:extLst>
          </p:cNvPr>
          <p:cNvSpPr txBox="1">
            <a:spLocks/>
          </p:cNvSpPr>
          <p:nvPr/>
        </p:nvSpPr>
        <p:spPr>
          <a:xfrm>
            <a:off x="321226" y="4561904"/>
            <a:ext cx="11549548" cy="165026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ts val="216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ptos" panose="020B00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/>
              <a:t>3. General definitions (word doc)</a:t>
            </a:r>
          </a:p>
          <a:p>
            <a:pPr marL="285750" indent="-285750">
              <a:buFontTx/>
              <a:buChar char="-"/>
            </a:pPr>
            <a:r>
              <a:rPr lang="en-GB"/>
              <a:t>Definitions of COY, HIN etc. and their numerical structure</a:t>
            </a:r>
          </a:p>
          <a:p>
            <a:pPr marL="285750" indent="-285750">
              <a:buFontTx/>
              <a:buChar char="-"/>
            </a:pPr>
            <a:r>
              <a:rPr lang="en-GB"/>
              <a:t>Explanation about sender and receiver (two-party transaction)</a:t>
            </a:r>
          </a:p>
          <a:p>
            <a:pPr marL="285750" indent="-285750">
              <a:buFontTx/>
              <a:buChar char="-"/>
            </a:pPr>
            <a:r>
              <a:rPr lang="en-GB"/>
              <a:t>Categories of sender (individual, 3</a:t>
            </a:r>
            <a:r>
              <a:rPr lang="en-GB" baseline="30000"/>
              <a:t>rd</a:t>
            </a:r>
            <a:r>
              <a:rPr lang="en-GB"/>
              <a:t> party..)</a:t>
            </a:r>
          </a:p>
          <a:p>
            <a:pPr marL="285750" indent="-285750">
              <a:buFontTx/>
              <a:buChar char="-"/>
            </a:pPr>
            <a:r>
              <a:rPr lang="en-GB"/>
              <a:t>What fields to extract based on classification category</a:t>
            </a:r>
          </a:p>
        </p:txBody>
      </p:sp>
    </p:spTree>
    <p:extLst>
      <p:ext uri="{BB962C8B-B14F-4D97-AF65-F5344CB8AC3E}">
        <p14:creationId xmlns:p14="http://schemas.microsoft.com/office/powerpoint/2010/main" val="8313804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03A36-F3F5-8020-6429-4A1649D0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C7EEB-F2CE-7EA2-66FF-A9DB4C8B2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Automating mailroom and account recordkeeping processes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4BE6DB-9A9D-BB57-DF04-1E50B9B96766}"/>
              </a:ext>
            </a:extLst>
          </p:cNvPr>
          <p:cNvSpPr/>
          <p:nvPr/>
        </p:nvSpPr>
        <p:spPr>
          <a:xfrm>
            <a:off x="1465505" y="4040934"/>
            <a:ext cx="7578603" cy="9546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FF25A3-0B56-B836-304D-D8404F59AA37}"/>
              </a:ext>
            </a:extLst>
          </p:cNvPr>
          <p:cNvSpPr txBox="1"/>
          <p:nvPr/>
        </p:nvSpPr>
        <p:spPr>
          <a:xfrm>
            <a:off x="110723" y="827003"/>
            <a:ext cx="7572777" cy="338554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>
                <a:solidFill>
                  <a:srgbClr val="3C17CF"/>
                </a:solidFill>
                <a:latin typeface="Aptos" panose="020B0004020202020204" pitchFamily="34" charset="0"/>
              </a:rPr>
              <a:t>Automate processing transactions after human verifies classification  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solidFill>
                <a:srgbClr val="3C17C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64703E-56A3-1024-88A2-427F1A3BADA5}"/>
              </a:ext>
            </a:extLst>
          </p:cNvPr>
          <p:cNvSpPr txBox="1"/>
          <p:nvPr/>
        </p:nvSpPr>
        <p:spPr>
          <a:xfrm>
            <a:off x="1669185" y="1664434"/>
            <a:ext cx="1095989" cy="306467"/>
          </a:xfrm>
          <a:prstGeom prst="roundRect">
            <a:avLst/>
          </a:prstGeom>
          <a:solidFill>
            <a:srgbClr val="00B050"/>
          </a:solidFill>
          <a:ln w="25400">
            <a:noFill/>
          </a:ln>
        </p:spPr>
        <p:txBody>
          <a:bodyPr wrap="square" l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Tungsten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CAEBA9-EA10-A033-473D-8A87F294E398}"/>
              </a:ext>
            </a:extLst>
          </p:cNvPr>
          <p:cNvCxnSpPr>
            <a:cxnSpLocks/>
            <a:stCxn id="8" idx="3"/>
            <a:endCxn id="32" idx="1"/>
          </p:cNvCxnSpPr>
          <p:nvPr/>
        </p:nvCxnSpPr>
        <p:spPr>
          <a:xfrm>
            <a:off x="2765174" y="1817668"/>
            <a:ext cx="3420704" cy="18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15AFCA-F8F4-07B7-D49D-662ECCA09AA9}"/>
              </a:ext>
            </a:extLst>
          </p:cNvPr>
          <p:cNvCxnSpPr>
            <a:cxnSpLocks/>
          </p:cNvCxnSpPr>
          <p:nvPr/>
        </p:nvCxnSpPr>
        <p:spPr>
          <a:xfrm>
            <a:off x="110723" y="1252666"/>
            <a:ext cx="12081277" cy="0"/>
          </a:xfrm>
          <a:prstGeom prst="line">
            <a:avLst/>
          </a:prstGeom>
          <a:ln w="19050">
            <a:solidFill>
              <a:srgbClr val="9318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2072607-62C7-9363-500E-61400B4CFA29}"/>
              </a:ext>
            </a:extLst>
          </p:cNvPr>
          <p:cNvSpPr txBox="1"/>
          <p:nvPr/>
        </p:nvSpPr>
        <p:spPr>
          <a:xfrm>
            <a:off x="6185878" y="1683225"/>
            <a:ext cx="1095989" cy="306467"/>
          </a:xfrm>
          <a:prstGeom prst="roundRect">
            <a:avLst/>
          </a:prstGeom>
          <a:solidFill>
            <a:schemeClr val="accent1"/>
          </a:solidFill>
          <a:ln w="25400">
            <a:noFill/>
          </a:ln>
        </p:spPr>
        <p:txBody>
          <a:bodyPr wrap="square" l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Workflow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7E0961-1585-1639-96F9-FC115B89C26D}"/>
              </a:ext>
            </a:extLst>
          </p:cNvPr>
          <p:cNvSpPr txBox="1"/>
          <p:nvPr/>
        </p:nvSpPr>
        <p:spPr>
          <a:xfrm>
            <a:off x="8908361" y="3550803"/>
            <a:ext cx="779883" cy="306467"/>
          </a:xfrm>
          <a:prstGeom prst="roundRect">
            <a:avLst/>
          </a:prstGeom>
          <a:solidFill>
            <a:schemeClr val="accent1"/>
          </a:solidFill>
          <a:ln w="25400">
            <a:noFill/>
          </a:ln>
        </p:spPr>
        <p:txBody>
          <a:bodyPr wrap="square" l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SCRIP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7EAC8A-79C3-F7E7-376A-2C3CAC6BBD03}"/>
              </a:ext>
            </a:extLst>
          </p:cNvPr>
          <p:cNvSpPr txBox="1"/>
          <p:nvPr/>
        </p:nvSpPr>
        <p:spPr>
          <a:xfrm>
            <a:off x="8342069" y="1660705"/>
            <a:ext cx="1795577" cy="306467"/>
          </a:xfrm>
          <a:prstGeom prst="roundRect">
            <a:avLst/>
          </a:prstGeom>
          <a:solidFill>
            <a:schemeClr val="accent1"/>
          </a:solidFill>
          <a:ln w="25400">
            <a:noFill/>
          </a:ln>
        </p:spPr>
        <p:txBody>
          <a:bodyPr wrap="square" l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RPA </a:t>
            </a:r>
            <a:r>
              <a:rPr lang="en-GB" sz="1200" b="1">
                <a:solidFill>
                  <a:srgbClr val="FFFFFF"/>
                </a:solidFill>
                <a:latin typeface="Aptos" panose="020B0004020202020204" pitchFamily="34" charset="0"/>
              </a:rPr>
              <a:t>a</a:t>
            </a:r>
            <a:r>
              <a:rPr kumimoji="0" lang="en-GB" sz="12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utomation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FD4592D-690D-7FD5-49FC-D1781D465AF4}"/>
              </a:ext>
            </a:extLst>
          </p:cNvPr>
          <p:cNvCxnSpPr>
            <a:cxnSpLocks/>
            <a:stCxn id="25" idx="2"/>
            <a:endCxn id="33" idx="0"/>
          </p:cNvCxnSpPr>
          <p:nvPr/>
        </p:nvCxnSpPr>
        <p:spPr>
          <a:xfrm>
            <a:off x="9239858" y="1967172"/>
            <a:ext cx="58445" cy="15836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C4EA9F8-98F4-9B38-72FC-39279D622C51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7281867" y="1836459"/>
            <a:ext cx="1093986" cy="14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6C30716-885F-B273-E491-9AFCD801F91A}"/>
              </a:ext>
            </a:extLst>
          </p:cNvPr>
          <p:cNvSpPr txBox="1"/>
          <p:nvPr/>
        </p:nvSpPr>
        <p:spPr>
          <a:xfrm>
            <a:off x="228883" y="1673829"/>
            <a:ext cx="999742" cy="306467"/>
          </a:xfrm>
          <a:prstGeom prst="roundRect">
            <a:avLst/>
          </a:prstGeom>
          <a:solidFill>
            <a:srgbClr val="00B050"/>
          </a:solidFill>
          <a:ln w="25400">
            <a:noFill/>
          </a:ln>
        </p:spPr>
        <p:txBody>
          <a:bodyPr wrap="square" l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Scanner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FC0CC9-6CD9-6183-A389-07F12BF6975A}"/>
              </a:ext>
            </a:extLst>
          </p:cNvPr>
          <p:cNvSpPr txBox="1"/>
          <p:nvPr/>
        </p:nvSpPr>
        <p:spPr>
          <a:xfrm>
            <a:off x="1945035" y="3647357"/>
            <a:ext cx="1117441" cy="306467"/>
          </a:xfrm>
          <a:prstGeom prst="roundRect">
            <a:avLst/>
          </a:prstGeom>
          <a:solidFill>
            <a:srgbClr val="00B050"/>
          </a:solidFill>
          <a:ln w="25400">
            <a:noFill/>
          </a:ln>
        </p:spPr>
        <p:txBody>
          <a:bodyPr wrap="square" l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FFFFFF"/>
                </a:solidFill>
                <a:latin typeface="Aptos" panose="020B0004020202020204" pitchFamily="34" charset="0"/>
              </a:rPr>
              <a:t>C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OSMOS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2F45B04-E00D-E71C-1C07-4058B567C433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2217180" y="1970901"/>
            <a:ext cx="0" cy="6251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903E1319-6A0F-C66E-6BCB-496021DA69BD}"/>
              </a:ext>
            </a:extLst>
          </p:cNvPr>
          <p:cNvSpPr/>
          <p:nvPr/>
        </p:nvSpPr>
        <p:spPr>
          <a:xfrm>
            <a:off x="2572465" y="2596082"/>
            <a:ext cx="461042" cy="40725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?</a:t>
            </a:r>
            <a:endParaRPr lang="en-GB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A923C0B-31CC-A651-3AFD-DEF33BB822D0}"/>
              </a:ext>
            </a:extLst>
          </p:cNvPr>
          <p:cNvSpPr/>
          <p:nvPr/>
        </p:nvSpPr>
        <p:spPr>
          <a:xfrm>
            <a:off x="9494052" y="2609206"/>
            <a:ext cx="461042" cy="40725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?</a:t>
            </a:r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567973-56C2-D0B7-D669-99ACE165944E}"/>
              </a:ext>
            </a:extLst>
          </p:cNvPr>
          <p:cNvSpPr/>
          <p:nvPr/>
        </p:nvSpPr>
        <p:spPr>
          <a:xfrm>
            <a:off x="4208770" y="1752144"/>
            <a:ext cx="1095988" cy="4072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XML</a:t>
            </a:r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AA68CA4-BAF8-C7C4-BBD8-36E28AAA8453}"/>
              </a:ext>
            </a:extLst>
          </p:cNvPr>
          <p:cNvSpPr/>
          <p:nvPr/>
        </p:nvSpPr>
        <p:spPr>
          <a:xfrm>
            <a:off x="4416459" y="1259621"/>
            <a:ext cx="1605607" cy="40725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/>
              <a:t>Where? EDC?</a:t>
            </a:r>
            <a:endParaRPr lang="en-GB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97D7EC-78F0-BCCB-D366-18C1C0D6E371}"/>
              </a:ext>
            </a:extLst>
          </p:cNvPr>
          <p:cNvSpPr txBox="1"/>
          <p:nvPr/>
        </p:nvSpPr>
        <p:spPr>
          <a:xfrm>
            <a:off x="9688244" y="1575633"/>
            <a:ext cx="1846975" cy="307777"/>
          </a:xfrm>
          <a:prstGeom prst="rect">
            <a:avLst/>
          </a:prstGeom>
          <a:solidFill>
            <a:srgbClr val="FFFF00"/>
          </a:solidFill>
          <a:ln w="25400">
            <a:gradFill flip="none" rotWithShape="1">
              <a:gsLst>
                <a:gs pos="5000">
                  <a:schemeClr val="accent1"/>
                </a:gs>
                <a:gs pos="100000">
                  <a:schemeClr val="accent4"/>
                </a:gs>
              </a:gsLst>
              <a:lin ang="2700000" scaled="1"/>
              <a:tileRect/>
            </a:gra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400">
                <a:latin typeface="Aptos" panose="020B0004020202020204" pitchFamily="34" charset="0"/>
              </a:rPr>
              <a:t>WIP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6752813-2E19-DEBF-8ADA-36C3C36B8686}"/>
              </a:ext>
            </a:extLst>
          </p:cNvPr>
          <p:cNvCxnSpPr>
            <a:cxnSpLocks/>
            <a:stCxn id="12" idx="3"/>
            <a:endCxn id="8" idx="1"/>
          </p:cNvCxnSpPr>
          <p:nvPr/>
        </p:nvCxnSpPr>
        <p:spPr>
          <a:xfrm flipV="1">
            <a:off x="1228625" y="1817668"/>
            <a:ext cx="440560" cy="9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8572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759E9-E157-7017-2AFD-C05450B31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Rectangle 2173">
            <a:extLst>
              <a:ext uri="{FF2B5EF4-FFF2-40B4-BE49-F238E27FC236}">
                <a16:creationId xmlns:a16="http://schemas.microsoft.com/office/drawing/2014/main" id="{385484E8-522D-2D73-F962-44C382FBD9A4}"/>
              </a:ext>
            </a:extLst>
          </p:cNvPr>
          <p:cNvSpPr/>
          <p:nvPr/>
        </p:nvSpPr>
        <p:spPr>
          <a:xfrm>
            <a:off x="10549658" y="1869033"/>
            <a:ext cx="275641" cy="194167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F5176B95-4831-33BB-26FC-9D01E9F57496}"/>
              </a:ext>
            </a:extLst>
          </p:cNvPr>
          <p:cNvSpPr/>
          <p:nvPr/>
        </p:nvSpPr>
        <p:spPr>
          <a:xfrm>
            <a:off x="2417037" y="3429000"/>
            <a:ext cx="6898313" cy="1984121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  <a:alpha val="18000"/>
            </a:schemeClr>
          </a:solidFill>
          <a:ln w="12700">
            <a:solidFill>
              <a:srgbClr val="3C17CF"/>
            </a:solidFill>
            <a:prstDash val="soli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CADF29-97A0-7876-D601-999B5268C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89" y="239394"/>
            <a:ext cx="11555037" cy="924164"/>
          </a:xfrm>
        </p:spPr>
        <p:txBody>
          <a:bodyPr/>
          <a:lstStyle/>
          <a:p>
            <a:r>
              <a:rPr lang="en-US"/>
              <a:t>Phase 1 with Tungsten is almost complete; we are working on automating Phase 2 and 3</a:t>
            </a:r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BDC037-BACD-F2B0-52EF-66D067DF88B7}"/>
              </a:ext>
            </a:extLst>
          </p:cNvPr>
          <p:cNvSpPr txBox="1"/>
          <p:nvPr/>
        </p:nvSpPr>
        <p:spPr>
          <a:xfrm>
            <a:off x="2257560" y="2586036"/>
            <a:ext cx="628523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Proxy?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7953D3B-2744-9C89-49F7-BDF7C5D18A3E}"/>
              </a:ext>
            </a:extLst>
          </p:cNvPr>
          <p:cNvCxnSpPr>
            <a:cxnSpLocks/>
            <a:stCxn id="55" idx="3"/>
            <a:endCxn id="67" idx="1"/>
          </p:cNvCxnSpPr>
          <p:nvPr/>
        </p:nvCxnSpPr>
        <p:spPr>
          <a:xfrm>
            <a:off x="985622" y="4437363"/>
            <a:ext cx="450998" cy="433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85958EE-3F7B-0D73-0FBD-A1D3ACE582CF}"/>
              </a:ext>
            </a:extLst>
          </p:cNvPr>
          <p:cNvSpPr txBox="1"/>
          <p:nvPr/>
        </p:nvSpPr>
        <p:spPr>
          <a:xfrm>
            <a:off x="961705" y="4506743"/>
            <a:ext cx="560693" cy="369332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Image (TIF)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+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Text (JSON)</a:t>
            </a:r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9F54457A-077D-BBD8-4F83-5524DD64CE21}"/>
              </a:ext>
            </a:extLst>
          </p:cNvPr>
          <p:cNvCxnSpPr>
            <a:cxnSpLocks/>
            <a:stCxn id="47" idx="3"/>
            <a:endCxn id="53" idx="1"/>
          </p:cNvCxnSpPr>
          <p:nvPr/>
        </p:nvCxnSpPr>
        <p:spPr>
          <a:xfrm>
            <a:off x="5126198" y="2643500"/>
            <a:ext cx="1001927" cy="2800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989FFBF-982F-8A80-B9C4-AE37CC1480B5}"/>
              </a:ext>
            </a:extLst>
          </p:cNvPr>
          <p:cNvSpPr txBox="1"/>
          <p:nvPr/>
        </p:nvSpPr>
        <p:spPr>
          <a:xfrm>
            <a:off x="309575" y="4128051"/>
            <a:ext cx="729715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OCR 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(+MSDI)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E399E8-DD01-27A7-AA46-D761307031B1}"/>
              </a:ext>
            </a:extLst>
          </p:cNvPr>
          <p:cNvSpPr txBox="1"/>
          <p:nvPr/>
        </p:nvSpPr>
        <p:spPr>
          <a:xfrm>
            <a:off x="5290074" y="2361673"/>
            <a:ext cx="737816" cy="2923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Image (TIF)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+ Text (JSON)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6928FD01-B65C-ED86-07F4-FF142F6C3F58}"/>
              </a:ext>
            </a:extLst>
          </p:cNvPr>
          <p:cNvCxnSpPr>
            <a:cxnSpLocks/>
            <a:stCxn id="138" idx="3"/>
            <a:endCxn id="53" idx="3"/>
          </p:cNvCxnSpPr>
          <p:nvPr/>
        </p:nvCxnSpPr>
        <p:spPr>
          <a:xfrm flipH="1" flipV="1">
            <a:off x="9427924" y="2646300"/>
            <a:ext cx="2388212" cy="1774761"/>
          </a:xfrm>
          <a:prstGeom prst="bentConnector3">
            <a:avLst>
              <a:gd name="adj1" fmla="val -9572"/>
            </a:avLst>
          </a:prstGeom>
          <a:ln w="28575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3E6881D4-6C6C-E687-0B3C-1044EAC2FB3A}"/>
              </a:ext>
            </a:extLst>
          </p:cNvPr>
          <p:cNvSpPr/>
          <p:nvPr/>
        </p:nvSpPr>
        <p:spPr>
          <a:xfrm>
            <a:off x="4480596" y="2135968"/>
            <a:ext cx="645602" cy="1015063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8E9C186-0FE1-74A2-B5F2-BB4040DB0970}"/>
              </a:ext>
            </a:extLst>
          </p:cNvPr>
          <p:cNvGrpSpPr/>
          <p:nvPr/>
        </p:nvGrpSpPr>
        <p:grpSpPr>
          <a:xfrm>
            <a:off x="4408498" y="2180944"/>
            <a:ext cx="848790" cy="645919"/>
            <a:chOff x="3131745" y="1328917"/>
            <a:chExt cx="848790" cy="645919"/>
          </a:xfrm>
        </p:grpSpPr>
        <p:pic>
          <p:nvPicPr>
            <p:cNvPr id="49" name="Graphic 48" descr="Document outline">
              <a:extLst>
                <a:ext uri="{FF2B5EF4-FFF2-40B4-BE49-F238E27FC236}">
                  <a16:creationId xmlns:a16="http://schemas.microsoft.com/office/drawing/2014/main" id="{3CA722FA-401D-C995-3D01-CFB27DB916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68304" y="1621617"/>
              <a:ext cx="353219" cy="353219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8669842-E151-ECB3-6DFA-B1E830157629}"/>
                </a:ext>
              </a:extLst>
            </p:cNvPr>
            <p:cNvSpPr txBox="1"/>
            <p:nvPr/>
          </p:nvSpPr>
          <p:spPr>
            <a:xfrm>
              <a:off x="3131745" y="1328917"/>
              <a:ext cx="848790" cy="2923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36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Known</a:t>
              </a:r>
              <a:b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</a:b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Form Codes</a:t>
              </a:r>
              <a:endParaRPr kumimoji="0" lang="en-GB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47276B27-A358-5072-0B10-63AF170B2B95}"/>
              </a:ext>
            </a:extLst>
          </p:cNvPr>
          <p:cNvCxnSpPr>
            <a:cxnSpLocks/>
            <a:stCxn id="67" idx="0"/>
            <a:endCxn id="130" idx="2"/>
          </p:cNvCxnSpPr>
          <p:nvPr/>
        </p:nvCxnSpPr>
        <p:spPr>
          <a:xfrm rot="16200000" flipV="1">
            <a:off x="1262646" y="3668986"/>
            <a:ext cx="1036756" cy="844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3AE20A8B-8959-79A1-6AC7-DF95F8DA1331}"/>
              </a:ext>
            </a:extLst>
          </p:cNvPr>
          <p:cNvCxnSpPr>
            <a:cxnSpLocks/>
            <a:stCxn id="67" idx="2"/>
          </p:cNvCxnSpPr>
          <p:nvPr/>
        </p:nvCxnSpPr>
        <p:spPr>
          <a:xfrm rot="5400000" flipH="1" flipV="1">
            <a:off x="2077945" y="4276006"/>
            <a:ext cx="123111" cy="716110"/>
          </a:xfrm>
          <a:prstGeom prst="bentConnector4">
            <a:avLst>
              <a:gd name="adj1" fmla="val -185686"/>
              <a:gd name="adj2" fmla="val 74076"/>
            </a:avLst>
          </a:prstGeom>
          <a:ln w="28575">
            <a:solidFill>
              <a:srgbClr val="3C17C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C73CB619-CD4D-F263-894E-75A32FD40120}"/>
              </a:ext>
            </a:extLst>
          </p:cNvPr>
          <p:cNvSpPr/>
          <p:nvPr/>
        </p:nvSpPr>
        <p:spPr>
          <a:xfrm>
            <a:off x="6128125" y="1949666"/>
            <a:ext cx="3299799" cy="1393268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EA0C42-AB6C-5AE0-C2C6-4031DFA22D77}"/>
              </a:ext>
            </a:extLst>
          </p:cNvPr>
          <p:cNvSpPr txBox="1"/>
          <p:nvPr/>
        </p:nvSpPr>
        <p:spPr>
          <a:xfrm>
            <a:off x="8567987" y="2633289"/>
            <a:ext cx="786407" cy="66172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Documents manually processed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from work items in Workflow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F723C7C-A2E3-4E51-E163-3464970E5522}"/>
              </a:ext>
            </a:extLst>
          </p:cNvPr>
          <p:cNvSpPr/>
          <p:nvPr/>
        </p:nvSpPr>
        <p:spPr>
          <a:xfrm>
            <a:off x="340469" y="4106503"/>
            <a:ext cx="645153" cy="66172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6" name="Graphic 55" descr="Magnifying glass with solid fill">
            <a:extLst>
              <a:ext uri="{FF2B5EF4-FFF2-40B4-BE49-F238E27FC236}">
                <a16:creationId xmlns:a16="http://schemas.microsoft.com/office/drawing/2014/main" id="{6457FB17-DEB8-4743-164C-092EBF5F41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0943" y="4381649"/>
            <a:ext cx="352066" cy="352066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32CCD714-1DAD-2C69-D7D3-6CFB1A4E1598}"/>
              </a:ext>
            </a:extLst>
          </p:cNvPr>
          <p:cNvSpPr txBox="1"/>
          <p:nvPr/>
        </p:nvSpPr>
        <p:spPr>
          <a:xfrm>
            <a:off x="4523667" y="2866218"/>
            <a:ext cx="611421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E.g., W8, Direct Credit  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grpSp>
        <p:nvGrpSpPr>
          <p:cNvPr id="2065" name="Group 2064">
            <a:extLst>
              <a:ext uri="{FF2B5EF4-FFF2-40B4-BE49-F238E27FC236}">
                <a16:creationId xmlns:a16="http://schemas.microsoft.com/office/drawing/2014/main" id="{1F41D884-DBFE-7754-0B48-1325FF2C7E5B}"/>
              </a:ext>
            </a:extLst>
          </p:cNvPr>
          <p:cNvGrpSpPr/>
          <p:nvPr/>
        </p:nvGrpSpPr>
        <p:grpSpPr>
          <a:xfrm>
            <a:off x="2520809" y="3976488"/>
            <a:ext cx="739408" cy="1093879"/>
            <a:chOff x="3707858" y="4087319"/>
            <a:chExt cx="739408" cy="1093879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B2393961-A186-0A52-0BC2-D661512F1C82}"/>
                </a:ext>
              </a:extLst>
            </p:cNvPr>
            <p:cNvGrpSpPr/>
            <p:nvPr/>
          </p:nvGrpSpPr>
          <p:grpSpPr>
            <a:xfrm>
              <a:off x="3716942" y="4200780"/>
              <a:ext cx="730324" cy="528105"/>
              <a:chOff x="3213886" y="2239956"/>
              <a:chExt cx="730324" cy="528105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AA81FDF-9359-25AA-7DF6-1F07D274FD4A}"/>
                  </a:ext>
                </a:extLst>
              </p:cNvPr>
              <p:cNvSpPr txBox="1"/>
              <p:nvPr/>
            </p:nvSpPr>
            <p:spPr>
              <a:xfrm>
                <a:off x="3213886" y="2239956"/>
                <a:ext cx="730324" cy="169277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36000" rtlCol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srgbClr val="3C17C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Unknown</a:t>
                </a:r>
                <a:endParaRPr kumimoji="0" lang="en-GB" sz="800" b="1" i="0" u="none" strike="noStrike" kern="1200" cap="none" spc="0" normalizeH="0" baseline="0" noProof="0">
                  <a:ln>
                    <a:noFill/>
                  </a:ln>
                  <a:solidFill>
                    <a:srgbClr val="3C17C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45" name="Graphic 44" descr="Paper outline">
                <a:extLst>
                  <a:ext uri="{FF2B5EF4-FFF2-40B4-BE49-F238E27FC236}">
                    <a16:creationId xmlns:a16="http://schemas.microsoft.com/office/drawing/2014/main" id="{1C290B8E-D8EB-1DAF-BADF-FE723D594C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360886" y="2392388"/>
                <a:ext cx="375673" cy="375673"/>
              </a:xfrm>
              <a:prstGeom prst="rect">
                <a:avLst/>
              </a:prstGeom>
            </p:spPr>
          </p:pic>
        </p:grp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6A09BD6-AF32-0281-CCD8-FEC9FE589FCE}"/>
                </a:ext>
              </a:extLst>
            </p:cNvPr>
            <p:cNvSpPr/>
            <p:nvPr/>
          </p:nvSpPr>
          <p:spPr>
            <a:xfrm>
              <a:off x="3707858" y="4087319"/>
              <a:ext cx="645602" cy="1093879"/>
            </a:xfrm>
            <a:prstGeom prst="rect">
              <a:avLst/>
            </a:prstGeom>
            <a:noFill/>
            <a:ln w="9525">
              <a:solidFill>
                <a:schemeClr val="accent4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84EC057-5F4A-C79A-84B7-D208C8EE1A0A}"/>
                </a:ext>
              </a:extLst>
            </p:cNvPr>
            <p:cNvSpPr txBox="1"/>
            <p:nvPr/>
          </p:nvSpPr>
          <p:spPr>
            <a:xfrm>
              <a:off x="3750929" y="4776329"/>
              <a:ext cx="611421" cy="3693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rPr>
                <a:t>E.g., Share Certificate, Death Cert.</a:t>
              </a: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61D739E-D750-8963-C6AE-DFF298586676}"/>
              </a:ext>
            </a:extLst>
          </p:cNvPr>
          <p:cNvCxnSpPr>
            <a:cxnSpLocks/>
          </p:cNvCxnSpPr>
          <p:nvPr/>
        </p:nvCxnSpPr>
        <p:spPr>
          <a:xfrm>
            <a:off x="3166411" y="4523428"/>
            <a:ext cx="263083" cy="0"/>
          </a:xfrm>
          <a:prstGeom prst="straightConnector1">
            <a:avLst/>
          </a:prstGeom>
          <a:ln w="38100">
            <a:solidFill>
              <a:srgbClr val="3C17C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651FDB14-5C99-F593-5298-B998013B7DED}"/>
              </a:ext>
            </a:extLst>
          </p:cNvPr>
          <p:cNvCxnSpPr>
            <a:cxnSpLocks/>
            <a:stCxn id="47" idx="2"/>
          </p:cNvCxnSpPr>
          <p:nvPr/>
        </p:nvCxnSpPr>
        <p:spPr>
          <a:xfrm rot="5400000">
            <a:off x="3410776" y="2583866"/>
            <a:ext cx="825457" cy="1959787"/>
          </a:xfrm>
          <a:prstGeom prst="bentConnector3">
            <a:avLst>
              <a:gd name="adj1" fmla="val 29594"/>
            </a:avLst>
          </a:prstGeom>
          <a:ln w="28575">
            <a:solidFill>
              <a:schemeClr val="accent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58376EF-DEE9-B36C-84B5-7EA4BA94A03F}"/>
              </a:ext>
            </a:extLst>
          </p:cNvPr>
          <p:cNvGrpSpPr/>
          <p:nvPr/>
        </p:nvGrpSpPr>
        <p:grpSpPr>
          <a:xfrm>
            <a:off x="1436620" y="4187786"/>
            <a:ext cx="689651" cy="507830"/>
            <a:chOff x="2304673" y="3446141"/>
            <a:chExt cx="689651" cy="507830"/>
          </a:xfrm>
        </p:grpSpPr>
        <p:sp>
          <p:nvSpPr>
            <p:cNvPr id="67" name="Flowchart: Decision 66">
              <a:extLst>
                <a:ext uri="{FF2B5EF4-FFF2-40B4-BE49-F238E27FC236}">
                  <a16:creationId xmlns:a16="http://schemas.microsoft.com/office/drawing/2014/main" id="{1FCC3C98-AD7B-9214-9B36-EDEE1252CE54}"/>
                </a:ext>
              </a:extLst>
            </p:cNvPr>
            <p:cNvSpPr/>
            <p:nvPr/>
          </p:nvSpPr>
          <p:spPr>
            <a:xfrm>
              <a:off x="2304673" y="3446141"/>
              <a:ext cx="689651" cy="507830"/>
            </a:xfrm>
            <a:prstGeom prst="flowChartDecision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3AFF1A5-5344-7319-CC00-B58E1083932F}"/>
                </a:ext>
              </a:extLst>
            </p:cNvPr>
            <p:cNvSpPr txBox="1"/>
            <p:nvPr/>
          </p:nvSpPr>
          <p:spPr>
            <a:xfrm>
              <a:off x="2362212" y="3545320"/>
              <a:ext cx="628523" cy="29238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36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Barcode recognized?</a:t>
              </a: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CDBC1CE1-3EBC-8D76-7CE5-849A7225C7A1}"/>
              </a:ext>
            </a:extLst>
          </p:cNvPr>
          <p:cNvSpPr txBox="1"/>
          <p:nvPr/>
        </p:nvSpPr>
        <p:spPr>
          <a:xfrm>
            <a:off x="1677384" y="3908559"/>
            <a:ext cx="241435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Yes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C4BAB6B-CBD1-BA85-CF3A-41A8F14068BA}"/>
              </a:ext>
            </a:extLst>
          </p:cNvPr>
          <p:cNvSpPr txBox="1"/>
          <p:nvPr/>
        </p:nvSpPr>
        <p:spPr>
          <a:xfrm>
            <a:off x="1659256" y="4876075"/>
            <a:ext cx="241435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39AF25E-AF8D-252E-7F5B-CE80FC54357B}"/>
              </a:ext>
            </a:extLst>
          </p:cNvPr>
          <p:cNvGrpSpPr/>
          <p:nvPr/>
        </p:nvGrpSpPr>
        <p:grpSpPr>
          <a:xfrm>
            <a:off x="6301053" y="2006748"/>
            <a:ext cx="2185480" cy="1219668"/>
            <a:chOff x="7163905" y="807903"/>
            <a:chExt cx="2185480" cy="1219668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F8593FD-B500-92CE-FEF6-2DFD2CC86561}"/>
                </a:ext>
              </a:extLst>
            </p:cNvPr>
            <p:cNvSpPr txBox="1"/>
            <p:nvPr/>
          </p:nvSpPr>
          <p:spPr>
            <a:xfrm>
              <a:off x="7998646" y="914597"/>
              <a:ext cx="682548" cy="162553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36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‘High Volume’</a:t>
              </a: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73" name="Connector: Elbow 72">
              <a:extLst>
                <a:ext uri="{FF2B5EF4-FFF2-40B4-BE49-F238E27FC236}">
                  <a16:creationId xmlns:a16="http://schemas.microsoft.com/office/drawing/2014/main" id="{375B3788-3B77-39DE-FC6C-2E363D095889}"/>
                </a:ext>
              </a:extLst>
            </p:cNvPr>
            <p:cNvCxnSpPr>
              <a:cxnSpLocks/>
              <a:stCxn id="87" idx="3"/>
              <a:endCxn id="81" idx="1"/>
            </p:cNvCxnSpPr>
            <p:nvPr/>
          </p:nvCxnSpPr>
          <p:spPr>
            <a:xfrm flipV="1">
              <a:off x="7736843" y="1093033"/>
              <a:ext cx="1024139" cy="354769"/>
            </a:xfrm>
            <a:prstGeom prst="bentConnector3">
              <a:avLst>
                <a:gd name="adj1" fmla="val 68247"/>
              </a:avLst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7211136E-C06A-D5BB-9CC3-A57E18C87BF1}"/>
                </a:ext>
              </a:extLst>
            </p:cNvPr>
            <p:cNvGrpSpPr/>
            <p:nvPr/>
          </p:nvGrpSpPr>
          <p:grpSpPr>
            <a:xfrm>
              <a:off x="7163905" y="1162672"/>
              <a:ext cx="572938" cy="570259"/>
              <a:chOff x="6545060" y="1269352"/>
              <a:chExt cx="572938" cy="570259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C3CE728B-D3C5-C821-FC13-48860D9C44C1}"/>
                  </a:ext>
                </a:extLst>
              </p:cNvPr>
              <p:cNvGrpSpPr/>
              <p:nvPr/>
            </p:nvGrpSpPr>
            <p:grpSpPr>
              <a:xfrm>
                <a:off x="6619237" y="1341412"/>
                <a:ext cx="435263" cy="414861"/>
                <a:chOff x="4967053" y="3335479"/>
                <a:chExt cx="548961" cy="528549"/>
              </a:xfrm>
            </p:grpSpPr>
            <p:pic>
              <p:nvPicPr>
                <p:cNvPr id="88" name="Graphic 87" descr="Database outline">
                  <a:extLst>
                    <a:ext uri="{FF2B5EF4-FFF2-40B4-BE49-F238E27FC236}">
                      <a16:creationId xmlns:a16="http://schemas.microsoft.com/office/drawing/2014/main" id="{508B2FE5-FF45-B101-3F09-D27D2A39BD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67053" y="3335479"/>
                  <a:ext cx="528549" cy="528549"/>
                </a:xfrm>
                <a:prstGeom prst="rect">
                  <a:avLst/>
                </a:prstGeom>
              </p:spPr>
            </p:pic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D450393D-0358-D7BD-900B-617749A803A5}"/>
                    </a:ext>
                  </a:extLst>
                </p:cNvPr>
                <p:cNvSpPr txBox="1"/>
                <p:nvPr/>
              </p:nvSpPr>
              <p:spPr>
                <a:xfrm>
                  <a:off x="5251425" y="3582992"/>
                  <a:ext cx="264589" cy="117636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6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444444">
                          <a:lumMod val="5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EDC</a:t>
                  </a:r>
                  <a:endParaRPr kumimoji="0" lang="en-GB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444444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54451FFE-E6E2-A22C-5263-6CB9CE9597FC}"/>
                  </a:ext>
                </a:extLst>
              </p:cNvPr>
              <p:cNvSpPr/>
              <p:nvPr/>
            </p:nvSpPr>
            <p:spPr>
              <a:xfrm>
                <a:off x="6545060" y="1269352"/>
                <a:ext cx="572938" cy="570259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CCD1150E-FFC5-B44A-D263-EA98F04B8103}"/>
                </a:ext>
              </a:extLst>
            </p:cNvPr>
            <p:cNvGrpSpPr/>
            <p:nvPr/>
          </p:nvGrpSpPr>
          <p:grpSpPr>
            <a:xfrm>
              <a:off x="8760982" y="807903"/>
              <a:ext cx="588403" cy="1219668"/>
              <a:chOff x="9178457" y="767263"/>
              <a:chExt cx="588403" cy="1219668"/>
            </a:xfrm>
          </p:grpSpPr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6F559B0A-3165-81DF-70E1-85CE23028801}"/>
                  </a:ext>
                </a:extLst>
              </p:cNvPr>
              <p:cNvGrpSpPr/>
              <p:nvPr/>
            </p:nvGrpSpPr>
            <p:grpSpPr>
              <a:xfrm>
                <a:off x="9204219" y="1427520"/>
                <a:ext cx="523981" cy="518708"/>
                <a:chOff x="12278528" y="114300"/>
                <a:chExt cx="660854" cy="660854"/>
              </a:xfrm>
            </p:grpSpPr>
            <p:pic>
              <p:nvPicPr>
                <p:cNvPr id="84" name="Graphic 83" descr="Programmer male outline">
                  <a:extLst>
                    <a:ext uri="{FF2B5EF4-FFF2-40B4-BE49-F238E27FC236}">
                      <a16:creationId xmlns:a16="http://schemas.microsoft.com/office/drawing/2014/main" id="{CB5300B8-2EE2-696F-A34E-6FCE0F671E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278528" y="114300"/>
                  <a:ext cx="660854" cy="660854"/>
                </a:xfrm>
                <a:prstGeom prst="rect">
                  <a:avLst/>
                </a:prstGeom>
              </p:spPr>
            </p:pic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5903245F-BF75-27CE-E544-B4020DD3DD66}"/>
                    </a:ext>
                  </a:extLst>
                </p:cNvPr>
                <p:cNvSpPr txBox="1"/>
                <p:nvPr/>
              </p:nvSpPr>
              <p:spPr>
                <a:xfrm>
                  <a:off x="12343471" y="586948"/>
                  <a:ext cx="530970" cy="117636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6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444444">
                          <a:lumMod val="5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Workflow</a:t>
                  </a:r>
                  <a:endParaRPr kumimoji="0" lang="en-GB" sz="600" b="1" i="0" u="none" strike="noStrike" kern="1200" cap="none" spc="0" normalizeH="0" baseline="0" noProof="0">
                    <a:ln>
                      <a:noFill/>
                    </a:ln>
                    <a:solidFill>
                      <a:srgbClr val="444444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5345A1AE-E754-1C23-CFD0-0E778CAE9B56}"/>
                  </a:ext>
                </a:extLst>
              </p:cNvPr>
              <p:cNvGrpSpPr/>
              <p:nvPr/>
            </p:nvGrpSpPr>
            <p:grpSpPr>
              <a:xfrm>
                <a:off x="9178457" y="767263"/>
                <a:ext cx="588403" cy="570259"/>
                <a:chOff x="8696783" y="1269352"/>
                <a:chExt cx="588403" cy="570259"/>
              </a:xfrm>
            </p:grpSpPr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72D856AB-3595-70D1-70B1-C7CA01300D3A}"/>
                    </a:ext>
                  </a:extLst>
                </p:cNvPr>
                <p:cNvGrpSpPr/>
                <p:nvPr/>
              </p:nvGrpSpPr>
              <p:grpSpPr>
                <a:xfrm>
                  <a:off x="8757302" y="1358519"/>
                  <a:ext cx="527884" cy="414861"/>
                  <a:chOff x="8792668" y="5006416"/>
                  <a:chExt cx="665777" cy="528549"/>
                </a:xfrm>
              </p:grpSpPr>
              <p:pic>
                <p:nvPicPr>
                  <p:cNvPr id="82" name="Graphic 81" descr="Database outline">
                    <a:extLst>
                      <a:ext uri="{FF2B5EF4-FFF2-40B4-BE49-F238E27FC236}">
                        <a16:creationId xmlns:a16="http://schemas.microsoft.com/office/drawing/2014/main" id="{20D7612C-7778-74F5-E72C-7ED1D09D9D4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792668" y="5006416"/>
                    <a:ext cx="528549" cy="528549"/>
                  </a:xfrm>
                  <a:prstGeom prst="rect">
                    <a:avLst/>
                  </a:prstGeom>
                </p:spPr>
              </p:pic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A3A103F9-81E1-D63F-121C-16FB3588B470}"/>
                      </a:ext>
                    </a:extLst>
                  </p:cNvPr>
                  <p:cNvSpPr txBox="1"/>
                  <p:nvPr/>
                </p:nvSpPr>
                <p:spPr>
                  <a:xfrm>
                    <a:off x="9086504" y="5256279"/>
                    <a:ext cx="371941" cy="117636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noFill/>
                  </a:ln>
                </p:spPr>
                <p:txBody>
                  <a:bodyPr wrap="square" lIns="0" tIns="0" rIns="0" bIns="0" rtlCol="0" anchor="ctr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44444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rPr>
                      <a:t>SCRIP</a:t>
                    </a:r>
                    <a:endParaRPr kumimoji="0" lang="en-GB" sz="6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444444">
                          <a:lumMod val="50000"/>
                        </a:srgbClr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55C4F555-146B-2DAB-1665-69EC34CC031F}"/>
                    </a:ext>
                  </a:extLst>
                </p:cNvPr>
                <p:cNvSpPr/>
                <p:nvPr/>
              </p:nvSpPr>
              <p:spPr>
                <a:xfrm>
                  <a:off x="8696783" y="1269352"/>
                  <a:ext cx="572938" cy="570259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444444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20646619-BFF6-8365-C01A-46FD5C11212F}"/>
                  </a:ext>
                </a:extLst>
              </p:cNvPr>
              <p:cNvSpPr/>
              <p:nvPr/>
            </p:nvSpPr>
            <p:spPr>
              <a:xfrm>
                <a:off x="9182314" y="1416672"/>
                <a:ext cx="572938" cy="570259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cxnSp>
          <p:nvCxnSpPr>
            <p:cNvPr id="76" name="Connector: Elbow 75">
              <a:extLst>
                <a:ext uri="{FF2B5EF4-FFF2-40B4-BE49-F238E27FC236}">
                  <a16:creationId xmlns:a16="http://schemas.microsoft.com/office/drawing/2014/main" id="{EFBEC0C6-05ED-C800-3583-9ABA5454BAEA}"/>
                </a:ext>
              </a:extLst>
            </p:cNvPr>
            <p:cNvCxnSpPr>
              <a:cxnSpLocks/>
              <a:stCxn id="87" idx="3"/>
              <a:endCxn id="79" idx="1"/>
            </p:cNvCxnSpPr>
            <p:nvPr/>
          </p:nvCxnSpPr>
          <p:spPr>
            <a:xfrm>
              <a:off x="7736843" y="1447802"/>
              <a:ext cx="1027996" cy="294640"/>
            </a:xfrm>
            <a:prstGeom prst="bentConnector3">
              <a:avLst>
                <a:gd name="adj1" fmla="val 67870"/>
              </a:avLst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586DB524-4654-F372-387B-296F66E0085C}"/>
              </a:ext>
            </a:extLst>
          </p:cNvPr>
          <p:cNvSpPr txBox="1"/>
          <p:nvPr/>
        </p:nvSpPr>
        <p:spPr>
          <a:xfrm>
            <a:off x="4577693" y="3098816"/>
            <a:ext cx="434274" cy="130246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Fall-outs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B2E806D-8D87-B487-0E54-1E91B44C1381}"/>
              </a:ext>
            </a:extLst>
          </p:cNvPr>
          <p:cNvSpPr/>
          <p:nvPr/>
        </p:nvSpPr>
        <p:spPr>
          <a:xfrm>
            <a:off x="8423717" y="3602524"/>
            <a:ext cx="800274" cy="868852"/>
          </a:xfrm>
          <a:prstGeom prst="rect">
            <a:avLst/>
          </a:prstGeom>
          <a:noFill/>
          <a:ln w="9525">
            <a:solidFill>
              <a:srgbClr val="3C17C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EB710936-A59B-DF74-ACF3-60B3BA0D4A06}"/>
              </a:ext>
            </a:extLst>
          </p:cNvPr>
          <p:cNvCxnSpPr>
            <a:cxnSpLocks/>
            <a:stCxn id="94" idx="3"/>
          </p:cNvCxnSpPr>
          <p:nvPr/>
        </p:nvCxnSpPr>
        <p:spPr>
          <a:xfrm flipH="1" flipV="1">
            <a:off x="8188456" y="3226416"/>
            <a:ext cx="1035535" cy="810534"/>
          </a:xfrm>
          <a:prstGeom prst="bentConnector4">
            <a:avLst>
              <a:gd name="adj1" fmla="val -22076"/>
              <a:gd name="adj2" fmla="val 79748"/>
            </a:avLst>
          </a:prstGeom>
          <a:ln w="28575">
            <a:solidFill>
              <a:srgbClr val="3C17CF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9" name="Graphic 98" descr="User outline">
            <a:extLst>
              <a:ext uri="{FF2B5EF4-FFF2-40B4-BE49-F238E27FC236}">
                <a16:creationId xmlns:a16="http://schemas.microsoft.com/office/drawing/2014/main" id="{8FD4CA08-4753-250F-B788-1CD383338E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01379" y="3969421"/>
            <a:ext cx="431239" cy="431239"/>
          </a:xfrm>
          <a:prstGeom prst="rect">
            <a:avLst/>
          </a:prstGeom>
        </p:spPr>
      </p:pic>
      <p:sp>
        <p:nvSpPr>
          <p:cNvPr id="100" name="TextBox 99">
            <a:extLst>
              <a:ext uri="{FF2B5EF4-FFF2-40B4-BE49-F238E27FC236}">
                <a16:creationId xmlns:a16="http://schemas.microsoft.com/office/drawing/2014/main" id="{6E2E247E-9867-C03B-B8CF-D959724F75F7}"/>
              </a:ext>
            </a:extLst>
          </p:cNvPr>
          <p:cNvSpPr txBox="1"/>
          <p:nvPr/>
        </p:nvSpPr>
        <p:spPr>
          <a:xfrm>
            <a:off x="8541946" y="3637003"/>
            <a:ext cx="527517" cy="2923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Manual review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3C17C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68B8CFF-DC86-5E6E-EE1E-2DA0DF9F9507}"/>
              </a:ext>
            </a:extLst>
          </p:cNvPr>
          <p:cNvSpPr txBox="1"/>
          <p:nvPr/>
        </p:nvSpPr>
        <p:spPr>
          <a:xfrm>
            <a:off x="755671" y="3827202"/>
            <a:ext cx="567238" cy="1538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Image (TIF)</a:t>
            </a:r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7" name="Graphic 106" descr="Photocopier outline">
            <a:extLst>
              <a:ext uri="{FF2B5EF4-FFF2-40B4-BE49-F238E27FC236}">
                <a16:creationId xmlns:a16="http://schemas.microsoft.com/office/drawing/2014/main" id="{AB72FCBF-A20C-59AC-E665-F6B7384545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2332" y="3295902"/>
            <a:ext cx="368927" cy="368927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B82ED70B-A5AB-63D4-81DB-D2AE934CBABF}"/>
              </a:ext>
            </a:extLst>
          </p:cNvPr>
          <p:cNvSpPr txBox="1"/>
          <p:nvPr/>
        </p:nvSpPr>
        <p:spPr>
          <a:xfrm>
            <a:off x="435720" y="3199354"/>
            <a:ext cx="452613" cy="12311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Scanner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9" name="Graphic 108" descr="Envelope outline">
            <a:extLst>
              <a:ext uri="{FF2B5EF4-FFF2-40B4-BE49-F238E27FC236}">
                <a16:creationId xmlns:a16="http://schemas.microsoft.com/office/drawing/2014/main" id="{85EF938C-D81F-B5CF-224F-4525EF851C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6936" y="2465817"/>
            <a:ext cx="334967" cy="269511"/>
          </a:xfrm>
          <a:prstGeom prst="rect">
            <a:avLst/>
          </a:prstGeom>
        </p:spPr>
      </p:pic>
      <p:sp>
        <p:nvSpPr>
          <p:cNvPr id="110" name="Rectangle 109">
            <a:extLst>
              <a:ext uri="{FF2B5EF4-FFF2-40B4-BE49-F238E27FC236}">
                <a16:creationId xmlns:a16="http://schemas.microsoft.com/office/drawing/2014/main" id="{872EF859-3342-F3F3-A958-34A43EB279FF}"/>
              </a:ext>
            </a:extLst>
          </p:cNvPr>
          <p:cNvSpPr/>
          <p:nvPr/>
        </p:nvSpPr>
        <p:spPr>
          <a:xfrm>
            <a:off x="340469" y="3134616"/>
            <a:ext cx="645153" cy="57600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6EEBCC5D-9574-EF1E-42D2-7E073972D666}"/>
              </a:ext>
            </a:extLst>
          </p:cNvPr>
          <p:cNvCxnSpPr>
            <a:cxnSpLocks/>
            <a:stCxn id="110" idx="2"/>
            <a:endCxn id="55" idx="0"/>
          </p:cNvCxnSpPr>
          <p:nvPr/>
        </p:nvCxnSpPr>
        <p:spPr>
          <a:xfrm>
            <a:off x="663046" y="3710616"/>
            <a:ext cx="0" cy="39588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1FC5301-0D74-01D5-8B02-5D7B85F16158}"/>
              </a:ext>
            </a:extLst>
          </p:cNvPr>
          <p:cNvCxnSpPr>
            <a:cxnSpLocks/>
            <a:stCxn id="114" idx="2"/>
            <a:endCxn id="110" idx="0"/>
          </p:cNvCxnSpPr>
          <p:nvPr/>
        </p:nvCxnSpPr>
        <p:spPr>
          <a:xfrm>
            <a:off x="663046" y="2804764"/>
            <a:ext cx="0" cy="32985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12065D1-1D11-5D3D-9F51-CA4A8B7733D1}"/>
              </a:ext>
            </a:extLst>
          </p:cNvPr>
          <p:cNvSpPr txBox="1"/>
          <p:nvPr/>
        </p:nvSpPr>
        <p:spPr>
          <a:xfrm>
            <a:off x="722716" y="2897031"/>
            <a:ext cx="270427" cy="1538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Paper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2BB0D0C-A376-E8BD-AFF3-13AE7340E143}"/>
              </a:ext>
            </a:extLst>
          </p:cNvPr>
          <p:cNvSpPr/>
          <p:nvPr/>
        </p:nvSpPr>
        <p:spPr>
          <a:xfrm>
            <a:off x="340469" y="2228764"/>
            <a:ext cx="645153" cy="57600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F95646B-47F6-1EF9-C25D-E491F6F4F44E}"/>
              </a:ext>
            </a:extLst>
          </p:cNvPr>
          <p:cNvSpPr txBox="1"/>
          <p:nvPr/>
        </p:nvSpPr>
        <p:spPr>
          <a:xfrm>
            <a:off x="435720" y="2290215"/>
            <a:ext cx="452613" cy="12311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Mail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93186C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5703050D-DBAA-77DC-F76D-CC95CBFF5067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3766272" y="1969812"/>
            <a:ext cx="714324" cy="673688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8161FF34-111A-F5CB-1879-79A5FF289A7D}"/>
              </a:ext>
            </a:extLst>
          </p:cNvPr>
          <p:cNvCxnSpPr>
            <a:cxnSpLocks/>
            <a:stCxn id="134" idx="0"/>
          </p:cNvCxnSpPr>
          <p:nvPr/>
        </p:nvCxnSpPr>
        <p:spPr>
          <a:xfrm rot="5400000" flipH="1" flipV="1">
            <a:off x="2578271" y="1943534"/>
            <a:ext cx="489013" cy="541571"/>
          </a:xfrm>
          <a:prstGeom prst="bentConnector2">
            <a:avLst/>
          </a:prstGeom>
          <a:ln w="28575">
            <a:solidFill>
              <a:schemeClr val="accent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2" name="Picture 121">
            <a:extLst>
              <a:ext uri="{FF2B5EF4-FFF2-40B4-BE49-F238E27FC236}">
                <a16:creationId xmlns:a16="http://schemas.microsoft.com/office/drawing/2014/main" id="{F3239C62-6559-C8B4-1786-96DEA80958B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14417" y="3577549"/>
            <a:ext cx="624815" cy="156204"/>
          </a:xfrm>
          <a:prstGeom prst="rect">
            <a:avLst/>
          </a:prstGeom>
        </p:spPr>
      </p:pic>
      <p:grpSp>
        <p:nvGrpSpPr>
          <p:cNvPr id="123" name="Group 122">
            <a:extLst>
              <a:ext uri="{FF2B5EF4-FFF2-40B4-BE49-F238E27FC236}">
                <a16:creationId xmlns:a16="http://schemas.microsoft.com/office/drawing/2014/main" id="{1FA5A4D8-E593-162A-DA32-19F6A6326C4E}"/>
              </a:ext>
            </a:extLst>
          </p:cNvPr>
          <p:cNvGrpSpPr/>
          <p:nvPr/>
        </p:nvGrpSpPr>
        <p:grpSpPr>
          <a:xfrm>
            <a:off x="3093563" y="1341342"/>
            <a:ext cx="672709" cy="1089622"/>
            <a:chOff x="8786398" y="5816078"/>
            <a:chExt cx="672709" cy="1089622"/>
          </a:xfrm>
        </p:grpSpPr>
        <p:pic>
          <p:nvPicPr>
            <p:cNvPr id="124" name="Graphic 123" descr="Artificial Intelligence outline">
              <a:extLst>
                <a:ext uri="{FF2B5EF4-FFF2-40B4-BE49-F238E27FC236}">
                  <a16:creationId xmlns:a16="http://schemas.microsoft.com/office/drawing/2014/main" id="{C52075E9-9823-828F-07E5-E10F787D21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956012" y="6151453"/>
              <a:ext cx="386585" cy="386585"/>
            </a:xfrm>
            <a:prstGeom prst="rect">
              <a:avLst/>
            </a:prstGeom>
          </p:spPr>
        </p:pic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CE038FFB-B71E-38CC-D3BF-0708F45BCAF7}"/>
                </a:ext>
              </a:extLst>
            </p:cNvPr>
            <p:cNvSpPr txBox="1"/>
            <p:nvPr/>
          </p:nvSpPr>
          <p:spPr>
            <a:xfrm>
              <a:off x="8888366" y="6010766"/>
              <a:ext cx="485262" cy="12311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>
                  <a:ln>
                    <a:noFill/>
                  </a:ln>
                  <a:solidFill>
                    <a:srgbClr val="93186C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LLM</a:t>
              </a:r>
              <a:endParaRPr kumimoji="0" lang="en-GB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1AD2B1B3-EC92-ECCC-6116-D0C7FBCE7B9F}"/>
                </a:ext>
              </a:extLst>
            </p:cNvPr>
            <p:cNvSpPr/>
            <p:nvPr/>
          </p:nvSpPr>
          <p:spPr>
            <a:xfrm>
              <a:off x="8786398" y="5983396"/>
              <a:ext cx="672709" cy="922304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127" name="Picture 4" descr="OpenAI Logo, symbol, meaning, history, PNG, brand">
              <a:extLst>
                <a:ext uri="{FF2B5EF4-FFF2-40B4-BE49-F238E27FC236}">
                  <a16:creationId xmlns:a16="http://schemas.microsoft.com/office/drawing/2014/main" id="{8AC71848-879E-7632-9EEC-155D61E5BF2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594" b="19955"/>
            <a:stretch>
              <a:fillRect/>
            </a:stretch>
          </p:blipFill>
          <p:spPr bwMode="auto">
            <a:xfrm>
              <a:off x="8956012" y="5816078"/>
              <a:ext cx="496374" cy="1520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4272C1D7-28C4-F6F1-8FE0-D7979B70730E}"/>
                </a:ext>
              </a:extLst>
            </p:cNvPr>
            <p:cNvSpPr txBox="1"/>
            <p:nvPr/>
          </p:nvSpPr>
          <p:spPr>
            <a:xfrm>
              <a:off x="8798600" y="6520136"/>
              <a:ext cx="655270" cy="3693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Extracts fields for all Proxy variations</a:t>
              </a: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519FD2E3-C9F8-AD61-0687-57C7413944EB}"/>
              </a:ext>
            </a:extLst>
          </p:cNvPr>
          <p:cNvSpPr txBox="1"/>
          <p:nvPr/>
        </p:nvSpPr>
        <p:spPr>
          <a:xfrm>
            <a:off x="1485294" y="2365847"/>
            <a:ext cx="590617" cy="41549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Matching logic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template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8E6B8F1-4812-7230-301B-9CE63520F53D}"/>
              </a:ext>
            </a:extLst>
          </p:cNvPr>
          <p:cNvSpPr/>
          <p:nvPr/>
        </p:nvSpPr>
        <p:spPr>
          <a:xfrm>
            <a:off x="1480115" y="2135968"/>
            <a:ext cx="600973" cy="1015062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31" name="Graphic 130" descr="Checkmark with solid fill">
            <a:extLst>
              <a:ext uri="{FF2B5EF4-FFF2-40B4-BE49-F238E27FC236}">
                <a16:creationId xmlns:a16="http://schemas.microsoft.com/office/drawing/2014/main" id="{E87C778D-36D3-71DC-ED31-4F2A7262CD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670854" y="2734006"/>
            <a:ext cx="251083" cy="251083"/>
          </a:xfrm>
          <a:prstGeom prst="rect">
            <a:avLst/>
          </a:prstGeom>
        </p:spPr>
      </p:pic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CCAC4BCD-D4DC-9319-F39D-B9571E0CA1AA}"/>
              </a:ext>
            </a:extLst>
          </p:cNvPr>
          <p:cNvCxnSpPr>
            <a:cxnSpLocks/>
            <a:stCxn id="130" idx="3"/>
            <a:endCxn id="134" idx="1"/>
          </p:cNvCxnSpPr>
          <p:nvPr/>
        </p:nvCxnSpPr>
        <p:spPr>
          <a:xfrm>
            <a:off x="2081088" y="2643499"/>
            <a:ext cx="246112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3" name="Picture 132">
            <a:extLst>
              <a:ext uri="{FF2B5EF4-FFF2-40B4-BE49-F238E27FC236}">
                <a16:creationId xmlns:a16="http://schemas.microsoft.com/office/drawing/2014/main" id="{124C2886-A600-331F-FDED-9F649B154C8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68194" y="1926803"/>
            <a:ext cx="624815" cy="156204"/>
          </a:xfrm>
          <a:prstGeom prst="rect">
            <a:avLst/>
          </a:prstGeom>
        </p:spPr>
      </p:pic>
      <p:sp>
        <p:nvSpPr>
          <p:cNvPr id="134" name="Flowchart: Decision 133">
            <a:extLst>
              <a:ext uri="{FF2B5EF4-FFF2-40B4-BE49-F238E27FC236}">
                <a16:creationId xmlns:a16="http://schemas.microsoft.com/office/drawing/2014/main" id="{6D78AC5A-5A21-1142-C95B-E4FCA61FDF70}"/>
              </a:ext>
            </a:extLst>
          </p:cNvPr>
          <p:cNvSpPr/>
          <p:nvPr/>
        </p:nvSpPr>
        <p:spPr>
          <a:xfrm>
            <a:off x="2327200" y="2458825"/>
            <a:ext cx="449583" cy="369347"/>
          </a:xfrm>
          <a:prstGeom prst="flowChartDecision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EAEBF112-3A1D-4DF0-93C4-8BE4CC94DADA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2764075" y="2643499"/>
            <a:ext cx="1716521" cy="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018EBCA1-4398-72A0-557E-A6610C17D666}"/>
              </a:ext>
            </a:extLst>
          </p:cNvPr>
          <p:cNvSpPr txBox="1"/>
          <p:nvPr/>
        </p:nvSpPr>
        <p:spPr>
          <a:xfrm>
            <a:off x="2413000" y="2192508"/>
            <a:ext cx="241435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Yes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BD39AC6-F6DE-161D-5ED5-E0AE5358F810}"/>
              </a:ext>
            </a:extLst>
          </p:cNvPr>
          <p:cNvSpPr txBox="1"/>
          <p:nvPr/>
        </p:nvSpPr>
        <p:spPr>
          <a:xfrm>
            <a:off x="2849923" y="2581943"/>
            <a:ext cx="241435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D58CD3A-73A7-D473-61C9-0D5A18A9FD1B}"/>
              </a:ext>
            </a:extLst>
          </p:cNvPr>
          <p:cNvSpPr/>
          <p:nvPr/>
        </p:nvSpPr>
        <p:spPr>
          <a:xfrm>
            <a:off x="9571963" y="3429000"/>
            <a:ext cx="2244173" cy="19841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7D48A85-B6AF-FDA3-4E32-B8B339A002CE}"/>
              </a:ext>
            </a:extLst>
          </p:cNvPr>
          <p:cNvGrpSpPr/>
          <p:nvPr/>
        </p:nvGrpSpPr>
        <p:grpSpPr>
          <a:xfrm>
            <a:off x="10549647" y="1027587"/>
            <a:ext cx="275641" cy="194381"/>
            <a:chOff x="9515474" y="9885"/>
            <a:chExt cx="276214" cy="288588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37273781-09D0-47EF-0117-05FE8D9E2AF4}"/>
                </a:ext>
              </a:extLst>
            </p:cNvPr>
            <p:cNvSpPr/>
            <p:nvPr/>
          </p:nvSpPr>
          <p:spPr>
            <a:xfrm>
              <a:off x="9515474" y="10044"/>
              <a:ext cx="276214" cy="28827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149" name="Graphic 148" descr="Transfer with solid fill">
              <a:extLst>
                <a:ext uri="{FF2B5EF4-FFF2-40B4-BE49-F238E27FC236}">
                  <a16:creationId xmlns:a16="http://schemas.microsoft.com/office/drawing/2014/main" id="{6A2DE097-5A22-8E74-E132-97C5E9DCC9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534865" y="9885"/>
              <a:ext cx="217728" cy="288588"/>
            </a:xfrm>
            <a:prstGeom prst="rect">
              <a:avLst/>
            </a:prstGeom>
          </p:spPr>
        </p:pic>
      </p:grpSp>
      <p:sp>
        <p:nvSpPr>
          <p:cNvPr id="141" name="Rectangle 140">
            <a:extLst>
              <a:ext uri="{FF2B5EF4-FFF2-40B4-BE49-F238E27FC236}">
                <a16:creationId xmlns:a16="http://schemas.microsoft.com/office/drawing/2014/main" id="{B89A2F69-EB15-C36F-81C8-0862A96EFD00}"/>
              </a:ext>
            </a:extLst>
          </p:cNvPr>
          <p:cNvSpPr/>
          <p:nvPr/>
        </p:nvSpPr>
        <p:spPr>
          <a:xfrm>
            <a:off x="10549658" y="1292715"/>
            <a:ext cx="275641" cy="194167"/>
          </a:xfrm>
          <a:prstGeom prst="rect">
            <a:avLst/>
          </a:prstGeom>
          <a:ln>
            <a:solidFill>
              <a:schemeClr val="accent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42" name="Graphic 141" descr="Transfer with solid fill">
            <a:extLst>
              <a:ext uri="{FF2B5EF4-FFF2-40B4-BE49-F238E27FC236}">
                <a16:creationId xmlns:a16="http://schemas.microsoft.com/office/drawing/2014/main" id="{EBA814A4-8D62-3C5E-43DB-29DD0A33A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569010" y="1292608"/>
            <a:ext cx="221627" cy="194381"/>
          </a:xfrm>
          <a:prstGeom prst="rect">
            <a:avLst/>
          </a:prstGeom>
        </p:spPr>
      </p:pic>
      <p:sp>
        <p:nvSpPr>
          <p:cNvPr id="143" name="Rectangle 142">
            <a:extLst>
              <a:ext uri="{FF2B5EF4-FFF2-40B4-BE49-F238E27FC236}">
                <a16:creationId xmlns:a16="http://schemas.microsoft.com/office/drawing/2014/main" id="{7A6862D0-A3A1-3921-2340-DFDD54D268AA}"/>
              </a:ext>
            </a:extLst>
          </p:cNvPr>
          <p:cNvSpPr/>
          <p:nvPr/>
        </p:nvSpPr>
        <p:spPr>
          <a:xfrm>
            <a:off x="10549658" y="1569315"/>
            <a:ext cx="275641" cy="194167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44" name="Graphic 143" descr="Transfer with solid fill">
            <a:extLst>
              <a:ext uri="{FF2B5EF4-FFF2-40B4-BE49-F238E27FC236}">
                <a16:creationId xmlns:a16="http://schemas.microsoft.com/office/drawing/2014/main" id="{51DF7547-81C2-A3E2-930F-FCEF9C7FBD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569010" y="1569208"/>
            <a:ext cx="230294" cy="194381"/>
          </a:xfrm>
          <a:prstGeom prst="rect">
            <a:avLst/>
          </a:prstGeom>
        </p:spPr>
      </p:pic>
      <p:sp>
        <p:nvSpPr>
          <p:cNvPr id="145" name="TextBox 144">
            <a:extLst>
              <a:ext uri="{FF2B5EF4-FFF2-40B4-BE49-F238E27FC236}">
                <a16:creationId xmlns:a16="http://schemas.microsoft.com/office/drawing/2014/main" id="{9C600ADD-387E-78AC-0AA3-EAF1076AB254}"/>
              </a:ext>
            </a:extLst>
          </p:cNvPr>
          <p:cNvSpPr txBox="1"/>
          <p:nvPr/>
        </p:nvSpPr>
        <p:spPr>
          <a:xfrm>
            <a:off x="10881306" y="1066256"/>
            <a:ext cx="1089020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Phase 1 – known forms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27A98EF-538A-D76C-DE19-8EF8B426B021}"/>
              </a:ext>
            </a:extLst>
          </p:cNvPr>
          <p:cNvSpPr txBox="1"/>
          <p:nvPr/>
        </p:nvSpPr>
        <p:spPr>
          <a:xfrm>
            <a:off x="10887181" y="1315436"/>
            <a:ext cx="1046465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Phase 2 - Classification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FC92119-4961-DEE8-B064-8931A43F8B3D}"/>
              </a:ext>
            </a:extLst>
          </p:cNvPr>
          <p:cNvSpPr txBox="1"/>
          <p:nvPr/>
        </p:nvSpPr>
        <p:spPr>
          <a:xfrm>
            <a:off x="10900814" y="1594675"/>
            <a:ext cx="998009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Phase 3 - Processing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33867F4F-7DE2-FC70-0275-E45BDD80A585}"/>
              </a:ext>
            </a:extLst>
          </p:cNvPr>
          <p:cNvSpPr txBox="1"/>
          <p:nvPr/>
        </p:nvSpPr>
        <p:spPr>
          <a:xfrm>
            <a:off x="9620009" y="3445692"/>
            <a:ext cx="1518253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Processing (RPA automation)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93" name="Rectangle: Rounded Corners 2092">
            <a:extLst>
              <a:ext uri="{FF2B5EF4-FFF2-40B4-BE49-F238E27FC236}">
                <a16:creationId xmlns:a16="http://schemas.microsoft.com/office/drawing/2014/main" id="{9D3E01CC-65C8-764E-2D99-B6083DA24C7F}"/>
              </a:ext>
            </a:extLst>
          </p:cNvPr>
          <p:cNvSpPr/>
          <p:nvPr/>
        </p:nvSpPr>
        <p:spPr>
          <a:xfrm>
            <a:off x="3475117" y="3493243"/>
            <a:ext cx="2267494" cy="185470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3C17CF"/>
            </a:solidFill>
            <a:prstDash val="soli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2" name="Graphic 21" descr="Artificial Intelligence outline">
            <a:extLst>
              <a:ext uri="{FF2B5EF4-FFF2-40B4-BE49-F238E27FC236}">
                <a16:creationId xmlns:a16="http://schemas.microsoft.com/office/drawing/2014/main" id="{A3ABA814-C712-3800-9CA4-D757968265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682503" y="4216434"/>
            <a:ext cx="313260" cy="31326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DBCC509-34C9-D9B0-2381-4EC182F1E520}"/>
              </a:ext>
            </a:extLst>
          </p:cNvPr>
          <p:cNvSpPr txBox="1"/>
          <p:nvPr/>
        </p:nvSpPr>
        <p:spPr>
          <a:xfrm>
            <a:off x="3717068" y="4093351"/>
            <a:ext cx="485262" cy="12311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LLM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E6E61A-CFAF-061D-549D-1F50C60EF4C6}"/>
              </a:ext>
            </a:extLst>
          </p:cNvPr>
          <p:cNvSpPr/>
          <p:nvPr/>
        </p:nvSpPr>
        <p:spPr>
          <a:xfrm>
            <a:off x="3649452" y="4068244"/>
            <a:ext cx="1897927" cy="972999"/>
          </a:xfrm>
          <a:prstGeom prst="rect">
            <a:avLst/>
          </a:prstGeom>
          <a:noFill/>
          <a:ln w="9525">
            <a:solidFill>
              <a:srgbClr val="3C17C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5" name="Picture 4" descr="OpenAI Logo, symbol, meaning, history, PNG, brand">
            <a:extLst>
              <a:ext uri="{FF2B5EF4-FFF2-40B4-BE49-F238E27FC236}">
                <a16:creationId xmlns:a16="http://schemas.microsoft.com/office/drawing/2014/main" id="{80DB2FD6-F4EE-B364-FFB7-F238B12450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94" b="19955"/>
          <a:stretch>
            <a:fillRect/>
          </a:stretch>
        </p:blipFill>
        <p:spPr bwMode="auto">
          <a:xfrm>
            <a:off x="3819066" y="3908187"/>
            <a:ext cx="496374" cy="152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67766C7-FD23-352B-FD40-39B57248CD36}"/>
              </a:ext>
            </a:extLst>
          </p:cNvPr>
          <p:cNvSpPr txBox="1"/>
          <p:nvPr/>
        </p:nvSpPr>
        <p:spPr>
          <a:xfrm>
            <a:off x="3739618" y="4581252"/>
            <a:ext cx="655270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Extracts </a:t>
            </a:r>
            <a:r>
              <a:rPr lang="en-US" sz="800">
                <a:solidFill>
                  <a:srgbClr val="444444"/>
                </a:solidFill>
                <a:latin typeface="Aptos" panose="02110004020202020204"/>
              </a:rPr>
              <a:t>intent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and fields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788335C-3C97-3867-3ADA-9C1A42C559A3}"/>
              </a:ext>
            </a:extLst>
          </p:cNvPr>
          <p:cNvCxnSpPr>
            <a:cxnSpLocks/>
          </p:cNvCxnSpPr>
          <p:nvPr/>
        </p:nvCxnSpPr>
        <p:spPr>
          <a:xfrm>
            <a:off x="4394888" y="4670071"/>
            <a:ext cx="208508" cy="0"/>
          </a:xfrm>
          <a:prstGeom prst="straightConnector1">
            <a:avLst/>
          </a:prstGeom>
          <a:ln w="38100">
            <a:solidFill>
              <a:srgbClr val="3C17C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E23F9EA-1D91-52A1-EE07-B30A349F9620}"/>
              </a:ext>
            </a:extLst>
          </p:cNvPr>
          <p:cNvSpPr txBox="1"/>
          <p:nvPr/>
        </p:nvSpPr>
        <p:spPr>
          <a:xfrm>
            <a:off x="4670372" y="4507498"/>
            <a:ext cx="877007" cy="492443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Transforms unstructured data into a structured output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8FCBD52-C31B-0868-AA37-AFDFE48E2E3C}"/>
              </a:ext>
            </a:extLst>
          </p:cNvPr>
          <p:cNvCxnSpPr>
            <a:cxnSpLocks/>
          </p:cNvCxnSpPr>
          <p:nvPr/>
        </p:nvCxnSpPr>
        <p:spPr>
          <a:xfrm>
            <a:off x="5741396" y="4523868"/>
            <a:ext cx="209724" cy="0"/>
          </a:xfrm>
          <a:prstGeom prst="straightConnector1">
            <a:avLst/>
          </a:prstGeom>
          <a:ln w="38100">
            <a:solidFill>
              <a:srgbClr val="3C17C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C6BEC1D-662D-DA5E-87BE-374D68351DEF}"/>
              </a:ext>
            </a:extLst>
          </p:cNvPr>
          <p:cNvSpPr txBox="1"/>
          <p:nvPr/>
        </p:nvSpPr>
        <p:spPr>
          <a:xfrm>
            <a:off x="6038977" y="4373659"/>
            <a:ext cx="877007" cy="369332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444444"/>
                </a:solidFill>
                <a:latin typeface="Aptos" panose="02110004020202020204"/>
              </a:rPr>
              <a:t>Logic to verify data matches with our database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FF2BE3-0D47-7981-1A28-126BC5B6F03F}"/>
              </a:ext>
            </a:extLst>
          </p:cNvPr>
          <p:cNvSpPr txBox="1"/>
          <p:nvPr/>
        </p:nvSpPr>
        <p:spPr>
          <a:xfrm>
            <a:off x="6194563" y="4220763"/>
            <a:ext cx="485262" cy="12311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&lt;/&gt;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A66E852-D938-BDA5-2F10-270AB5C8BBDB}"/>
              </a:ext>
            </a:extLst>
          </p:cNvPr>
          <p:cNvSpPr/>
          <p:nvPr/>
        </p:nvSpPr>
        <p:spPr>
          <a:xfrm>
            <a:off x="5986297" y="4197680"/>
            <a:ext cx="929687" cy="629793"/>
          </a:xfrm>
          <a:prstGeom prst="rect">
            <a:avLst/>
          </a:prstGeom>
          <a:noFill/>
          <a:ln w="9525">
            <a:solidFill>
              <a:srgbClr val="3C17C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506CC1C8-6E4D-DFA9-F5D5-1FE34D8BC976}"/>
              </a:ext>
            </a:extLst>
          </p:cNvPr>
          <p:cNvSpPr/>
          <p:nvPr/>
        </p:nvSpPr>
        <p:spPr>
          <a:xfrm>
            <a:off x="8423716" y="4693087"/>
            <a:ext cx="803651" cy="486442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3C17CF"/>
            </a:solidFill>
            <a:prstDash val="solid"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7168CEBF-73FC-8EFF-4FFF-3AF4A8BA1364}"/>
              </a:ext>
            </a:extLst>
          </p:cNvPr>
          <p:cNvSpPr txBox="1"/>
          <p:nvPr/>
        </p:nvSpPr>
        <p:spPr>
          <a:xfrm>
            <a:off x="8549220" y="4876075"/>
            <a:ext cx="527517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rgbClr val="3C17CF"/>
                </a:solidFill>
                <a:latin typeface="Aptos" panose="02110004020202020204"/>
              </a:rPr>
              <a:t>Workflow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rgbClr val="3C17C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31AF1641-8E2E-A00F-624C-D943C2A2C71E}"/>
              </a:ext>
            </a:extLst>
          </p:cNvPr>
          <p:cNvSpPr/>
          <p:nvPr/>
        </p:nvSpPr>
        <p:spPr>
          <a:xfrm>
            <a:off x="9696829" y="3929391"/>
            <a:ext cx="842643" cy="1151446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A0391B8A-915F-F63E-4205-81590E094400}"/>
              </a:ext>
            </a:extLst>
          </p:cNvPr>
          <p:cNvSpPr txBox="1"/>
          <p:nvPr/>
        </p:nvSpPr>
        <p:spPr>
          <a:xfrm>
            <a:off x="9813270" y="4542228"/>
            <a:ext cx="726202" cy="538609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Transcation approved manually for Processing </a:t>
            </a:r>
          </a:p>
        </p:txBody>
      </p:sp>
      <p:pic>
        <p:nvPicPr>
          <p:cNvPr id="2061" name="Graphic 2060" descr="Programmer male outline">
            <a:extLst>
              <a:ext uri="{FF2B5EF4-FFF2-40B4-BE49-F238E27FC236}">
                <a16:creationId xmlns:a16="http://schemas.microsoft.com/office/drawing/2014/main" id="{3DD533DE-5908-DBE5-348B-F1F3A0BBA1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15882" y="3957080"/>
            <a:ext cx="523981" cy="518708"/>
          </a:xfrm>
          <a:prstGeom prst="rect">
            <a:avLst/>
          </a:prstGeom>
        </p:spPr>
      </p:pic>
      <p:sp>
        <p:nvSpPr>
          <p:cNvPr id="2062" name="TextBox 2061">
            <a:extLst>
              <a:ext uri="{FF2B5EF4-FFF2-40B4-BE49-F238E27FC236}">
                <a16:creationId xmlns:a16="http://schemas.microsoft.com/office/drawing/2014/main" id="{B00D23C0-5600-F409-1265-97BC3593D58F}"/>
              </a:ext>
            </a:extLst>
          </p:cNvPr>
          <p:cNvSpPr txBox="1"/>
          <p:nvPr/>
        </p:nvSpPr>
        <p:spPr>
          <a:xfrm>
            <a:off x="9862884" y="4327520"/>
            <a:ext cx="420998" cy="92333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444444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Workflow</a:t>
            </a:r>
            <a:endParaRPr kumimoji="0" lang="en-GB" sz="600" b="1" i="0" u="none" strike="noStrike" kern="1200" cap="none" spc="0" normalizeH="0" baseline="0" noProof="0">
              <a:ln>
                <a:noFill/>
              </a:ln>
              <a:solidFill>
                <a:srgbClr val="444444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60A20DBD-F30E-C144-87EA-8B7B6CF8F189}"/>
              </a:ext>
            </a:extLst>
          </p:cNvPr>
          <p:cNvSpPr/>
          <p:nvPr/>
        </p:nvSpPr>
        <p:spPr>
          <a:xfrm>
            <a:off x="10785899" y="3929391"/>
            <a:ext cx="926250" cy="1151446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69" name="TextBox 2068">
            <a:extLst>
              <a:ext uri="{FF2B5EF4-FFF2-40B4-BE49-F238E27FC236}">
                <a16:creationId xmlns:a16="http://schemas.microsoft.com/office/drawing/2014/main" id="{FA3630D2-554B-B789-4C49-A0B5F08D7028}"/>
              </a:ext>
            </a:extLst>
          </p:cNvPr>
          <p:cNvSpPr txBox="1"/>
          <p:nvPr/>
        </p:nvSpPr>
        <p:spPr>
          <a:xfrm>
            <a:off x="10844118" y="4219224"/>
            <a:ext cx="832289" cy="784830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RPA automations in </a:t>
            </a:r>
            <a:r>
              <a:rPr kumimoji="0" lang="en-GB" sz="800" b="0" i="0" u="none" strike="noStrike" kern="1200" cap="none" spc="0" normalizeH="0" baseline="0" noProof="0" err="1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BluePrism</a:t>
            </a: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complete transaction processing, using APIs to SCRIP</a:t>
            </a:r>
          </a:p>
        </p:txBody>
      </p:sp>
      <p:pic>
        <p:nvPicPr>
          <p:cNvPr id="2071" name="Picture 2070">
            <a:extLst>
              <a:ext uri="{FF2B5EF4-FFF2-40B4-BE49-F238E27FC236}">
                <a16:creationId xmlns:a16="http://schemas.microsoft.com/office/drawing/2014/main" id="{12CCB9D6-F9C4-7573-0227-6CBDCE35996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17" t="31329" r="15246" b="29464"/>
          <a:stretch>
            <a:fillRect/>
          </a:stretch>
        </p:blipFill>
        <p:spPr>
          <a:xfrm>
            <a:off x="10886162" y="3960164"/>
            <a:ext cx="702125" cy="240510"/>
          </a:xfrm>
          <a:prstGeom prst="rect">
            <a:avLst/>
          </a:prstGeom>
        </p:spPr>
      </p:pic>
      <p:cxnSp>
        <p:nvCxnSpPr>
          <p:cNvPr id="2072" name="Straight Arrow Connector 2071">
            <a:extLst>
              <a:ext uri="{FF2B5EF4-FFF2-40B4-BE49-F238E27FC236}">
                <a16:creationId xmlns:a16="http://schemas.microsoft.com/office/drawing/2014/main" id="{D5D7A48A-DB8B-1E6F-73E2-F3DE8A629A44}"/>
              </a:ext>
            </a:extLst>
          </p:cNvPr>
          <p:cNvCxnSpPr>
            <a:cxnSpLocks/>
          </p:cNvCxnSpPr>
          <p:nvPr/>
        </p:nvCxnSpPr>
        <p:spPr>
          <a:xfrm flipV="1">
            <a:off x="10527285" y="4460113"/>
            <a:ext cx="258614" cy="1939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5" name="Connector: Elbow 2074">
            <a:extLst>
              <a:ext uri="{FF2B5EF4-FFF2-40B4-BE49-F238E27FC236}">
                <a16:creationId xmlns:a16="http://schemas.microsoft.com/office/drawing/2014/main" id="{A5BCA8EB-5A6B-823B-3783-29868C5AC4DD}"/>
              </a:ext>
            </a:extLst>
          </p:cNvPr>
          <p:cNvCxnSpPr>
            <a:cxnSpLocks/>
            <a:endCxn id="183" idx="1"/>
          </p:cNvCxnSpPr>
          <p:nvPr/>
        </p:nvCxnSpPr>
        <p:spPr>
          <a:xfrm flipV="1">
            <a:off x="9223990" y="4505114"/>
            <a:ext cx="472839" cy="430175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0" name="TextBox 2089">
            <a:extLst>
              <a:ext uri="{FF2B5EF4-FFF2-40B4-BE49-F238E27FC236}">
                <a16:creationId xmlns:a16="http://schemas.microsoft.com/office/drawing/2014/main" id="{9525F709-FD2D-AFF3-F8F0-6746069C9214}"/>
              </a:ext>
            </a:extLst>
          </p:cNvPr>
          <p:cNvSpPr txBox="1"/>
          <p:nvPr/>
        </p:nvSpPr>
        <p:spPr>
          <a:xfrm>
            <a:off x="2449140" y="3452682"/>
            <a:ext cx="715406" cy="169277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Classification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3C17C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05" name="TextBox 2104">
            <a:extLst>
              <a:ext uri="{FF2B5EF4-FFF2-40B4-BE49-F238E27FC236}">
                <a16:creationId xmlns:a16="http://schemas.microsoft.com/office/drawing/2014/main" id="{CAC75082-A8A9-9D1D-42B9-AA0F43C72AB7}"/>
              </a:ext>
            </a:extLst>
          </p:cNvPr>
          <p:cNvSpPr txBox="1"/>
          <p:nvPr/>
        </p:nvSpPr>
        <p:spPr>
          <a:xfrm>
            <a:off x="7606411" y="4821376"/>
            <a:ext cx="560693" cy="1538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XML</a:t>
            </a:r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3C17C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06" name="TextBox 2105">
            <a:extLst>
              <a:ext uri="{FF2B5EF4-FFF2-40B4-BE49-F238E27FC236}">
                <a16:creationId xmlns:a16="http://schemas.microsoft.com/office/drawing/2014/main" id="{5A68C7FD-3C21-D658-7984-9678B24C8A7D}"/>
              </a:ext>
            </a:extLst>
          </p:cNvPr>
          <p:cNvSpPr txBox="1"/>
          <p:nvPr/>
        </p:nvSpPr>
        <p:spPr>
          <a:xfrm>
            <a:off x="7220452" y="3835494"/>
            <a:ext cx="1186489" cy="15388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Doc </a:t>
            </a:r>
            <a:r>
              <a:rPr lang="en-US" sz="700">
                <a:solidFill>
                  <a:srgbClr val="3C17CF"/>
                </a:solidFill>
                <a:latin typeface="Aptos" panose="02110004020202020204"/>
              </a:rPr>
              <a:t>IMG + extracted details</a:t>
            </a:r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3C17C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107" name="Straight Arrow Connector 2106">
            <a:extLst>
              <a:ext uri="{FF2B5EF4-FFF2-40B4-BE49-F238E27FC236}">
                <a16:creationId xmlns:a16="http://schemas.microsoft.com/office/drawing/2014/main" id="{103CD1E4-4693-76A2-16FB-4107C0533A54}"/>
              </a:ext>
            </a:extLst>
          </p:cNvPr>
          <p:cNvCxnSpPr>
            <a:cxnSpLocks/>
          </p:cNvCxnSpPr>
          <p:nvPr/>
        </p:nvCxnSpPr>
        <p:spPr>
          <a:xfrm>
            <a:off x="6305433" y="4827473"/>
            <a:ext cx="0" cy="816002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0" name="Straight Arrow Connector 2109">
            <a:extLst>
              <a:ext uri="{FF2B5EF4-FFF2-40B4-BE49-F238E27FC236}">
                <a16:creationId xmlns:a16="http://schemas.microsoft.com/office/drawing/2014/main" id="{611D68A0-A868-9CB1-FA69-0610E31CA5E5}"/>
              </a:ext>
            </a:extLst>
          </p:cNvPr>
          <p:cNvCxnSpPr>
            <a:cxnSpLocks/>
          </p:cNvCxnSpPr>
          <p:nvPr/>
        </p:nvCxnSpPr>
        <p:spPr>
          <a:xfrm flipV="1">
            <a:off x="6575639" y="4844000"/>
            <a:ext cx="0" cy="782645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7" name="TextBox 2116">
            <a:extLst>
              <a:ext uri="{FF2B5EF4-FFF2-40B4-BE49-F238E27FC236}">
                <a16:creationId xmlns:a16="http://schemas.microsoft.com/office/drawing/2014/main" id="{D8EA36E4-7E79-BE5C-6289-34CB9D9A1E51}"/>
              </a:ext>
            </a:extLst>
          </p:cNvPr>
          <p:cNvSpPr txBox="1"/>
          <p:nvPr/>
        </p:nvSpPr>
        <p:spPr>
          <a:xfrm>
            <a:off x="6049244" y="5723784"/>
            <a:ext cx="978362" cy="169277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chemeClr val="accent3"/>
                </a:solidFill>
                <a:latin typeface="Aptos" panose="02110004020202020204"/>
              </a:rPr>
              <a:t>COSMOS Company 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18" name="TextBox 2117">
            <a:extLst>
              <a:ext uri="{FF2B5EF4-FFF2-40B4-BE49-F238E27FC236}">
                <a16:creationId xmlns:a16="http://schemas.microsoft.com/office/drawing/2014/main" id="{92A9EAC1-8480-79D2-4ADB-73D3AC595F6D}"/>
              </a:ext>
            </a:extLst>
          </p:cNvPr>
          <p:cNvSpPr txBox="1"/>
          <p:nvPr/>
        </p:nvSpPr>
        <p:spPr>
          <a:xfrm>
            <a:off x="10898671" y="5618315"/>
            <a:ext cx="723181" cy="169277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chemeClr val="accent3"/>
                </a:solidFill>
                <a:latin typeface="Aptos" panose="02110004020202020204"/>
              </a:rPr>
              <a:t>SCRIP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119" name="Straight Arrow Connector 2118">
            <a:extLst>
              <a:ext uri="{FF2B5EF4-FFF2-40B4-BE49-F238E27FC236}">
                <a16:creationId xmlns:a16="http://schemas.microsoft.com/office/drawing/2014/main" id="{B3CB8E59-93D7-375B-888E-169661AACAB4}"/>
              </a:ext>
            </a:extLst>
          </p:cNvPr>
          <p:cNvCxnSpPr>
            <a:cxnSpLocks/>
          </p:cNvCxnSpPr>
          <p:nvPr/>
        </p:nvCxnSpPr>
        <p:spPr>
          <a:xfrm>
            <a:off x="11099502" y="5072057"/>
            <a:ext cx="0" cy="484012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0" name="Straight Arrow Connector 2119">
            <a:extLst>
              <a:ext uri="{FF2B5EF4-FFF2-40B4-BE49-F238E27FC236}">
                <a16:creationId xmlns:a16="http://schemas.microsoft.com/office/drawing/2014/main" id="{03416088-0500-38BB-4D04-B6A08FCED3EB}"/>
              </a:ext>
            </a:extLst>
          </p:cNvPr>
          <p:cNvCxnSpPr>
            <a:cxnSpLocks/>
          </p:cNvCxnSpPr>
          <p:nvPr/>
        </p:nvCxnSpPr>
        <p:spPr>
          <a:xfrm flipV="1">
            <a:off x="11369708" y="5088584"/>
            <a:ext cx="0" cy="484902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9" name="TextBox 2128">
            <a:extLst>
              <a:ext uri="{FF2B5EF4-FFF2-40B4-BE49-F238E27FC236}">
                <a16:creationId xmlns:a16="http://schemas.microsoft.com/office/drawing/2014/main" id="{349E98DD-293C-BFB0-3DE1-16EDA7F9664E}"/>
              </a:ext>
            </a:extLst>
          </p:cNvPr>
          <p:cNvSpPr txBox="1"/>
          <p:nvPr/>
        </p:nvSpPr>
        <p:spPr>
          <a:xfrm>
            <a:off x="6038977" y="5966180"/>
            <a:ext cx="988629" cy="169277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chemeClr val="accent3"/>
                </a:solidFill>
                <a:latin typeface="Aptos" panose="02110004020202020204"/>
              </a:rPr>
              <a:t>COSMOS Investor </a:t>
            </a:r>
            <a:endParaRPr kumimoji="0" lang="en-GB" sz="800" b="1" i="0" u="none" strike="noStrike" kern="120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30" name="TextBox 2129">
            <a:extLst>
              <a:ext uri="{FF2B5EF4-FFF2-40B4-BE49-F238E27FC236}">
                <a16:creationId xmlns:a16="http://schemas.microsoft.com/office/drawing/2014/main" id="{CF22730C-D9CD-45C4-485C-602446CC10A6}"/>
              </a:ext>
            </a:extLst>
          </p:cNvPr>
          <p:cNvSpPr txBox="1"/>
          <p:nvPr/>
        </p:nvSpPr>
        <p:spPr>
          <a:xfrm>
            <a:off x="6027890" y="6196594"/>
            <a:ext cx="989151" cy="538609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>
                <a:solidFill>
                  <a:schemeClr val="accent3"/>
                </a:solidFill>
                <a:latin typeface="Aptos" panose="02110004020202020204"/>
              </a:rPr>
              <a:t>Elastic in lieu of Cosmos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accent3"/>
                </a:solidFill>
                <a:latin typeface="Aptos" panose="02110004020202020204"/>
              </a:rPr>
              <a:t>(dev only, not prod) but easy to set up</a:t>
            </a:r>
            <a:endParaRPr kumimoji="0" lang="en-GB" sz="800" i="0" u="none" strike="noStrike" kern="120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31" name="TextBox 2130">
            <a:extLst>
              <a:ext uri="{FF2B5EF4-FFF2-40B4-BE49-F238E27FC236}">
                <a16:creationId xmlns:a16="http://schemas.microsoft.com/office/drawing/2014/main" id="{7BA5D6F0-9220-18C3-2AB3-A551FC729796}"/>
              </a:ext>
            </a:extLst>
          </p:cNvPr>
          <p:cNvSpPr txBox="1"/>
          <p:nvPr/>
        </p:nvSpPr>
        <p:spPr>
          <a:xfrm>
            <a:off x="7125222" y="5701581"/>
            <a:ext cx="1327895" cy="415498"/>
          </a:xfrm>
          <a:prstGeom prst="rect">
            <a:avLst/>
          </a:prstGeom>
          <a:solidFill>
            <a:schemeClr val="bg2">
              <a:lumMod val="95000"/>
            </a:schemeClr>
          </a:solidFill>
          <a:ln w="19050">
            <a:noFill/>
          </a:ln>
        </p:spPr>
        <p:txBody>
          <a:bodyPr wrap="square" lIns="0" tIns="0" rIns="36000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Open question - </a:t>
            </a: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What load can it handle? We expect to send many requests per day </a:t>
            </a:r>
            <a:endParaRPr kumimoji="0" lang="en-GB" sz="80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134" name="Group 2133">
            <a:extLst>
              <a:ext uri="{FF2B5EF4-FFF2-40B4-BE49-F238E27FC236}">
                <a16:creationId xmlns:a16="http://schemas.microsoft.com/office/drawing/2014/main" id="{6ED7E14B-A571-B542-5FCA-A187DE0C9128}"/>
              </a:ext>
            </a:extLst>
          </p:cNvPr>
          <p:cNvGrpSpPr/>
          <p:nvPr/>
        </p:nvGrpSpPr>
        <p:grpSpPr>
          <a:xfrm>
            <a:off x="7067015" y="4324305"/>
            <a:ext cx="628523" cy="361617"/>
            <a:chOff x="4771822" y="6086808"/>
            <a:chExt cx="628523" cy="361617"/>
          </a:xfrm>
        </p:grpSpPr>
        <p:sp>
          <p:nvSpPr>
            <p:cNvPr id="2132" name="Flowchart: Decision 2131">
              <a:extLst>
                <a:ext uri="{FF2B5EF4-FFF2-40B4-BE49-F238E27FC236}">
                  <a16:creationId xmlns:a16="http://schemas.microsoft.com/office/drawing/2014/main" id="{224AC72A-6588-D14E-5AE8-56860B3892BB}"/>
                </a:ext>
              </a:extLst>
            </p:cNvPr>
            <p:cNvSpPr/>
            <p:nvPr/>
          </p:nvSpPr>
          <p:spPr>
            <a:xfrm>
              <a:off x="4829377" y="6086808"/>
              <a:ext cx="460697" cy="361617"/>
            </a:xfrm>
            <a:prstGeom prst="flowChartDecision">
              <a:avLst/>
            </a:prstGeom>
            <a:noFill/>
            <a:ln>
              <a:solidFill>
                <a:srgbClr val="3C17CF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33" name="TextBox 2132">
              <a:extLst>
                <a:ext uri="{FF2B5EF4-FFF2-40B4-BE49-F238E27FC236}">
                  <a16:creationId xmlns:a16="http://schemas.microsoft.com/office/drawing/2014/main" id="{4867C7DD-3262-B7F9-8734-0A730B007664}"/>
                </a:ext>
              </a:extLst>
            </p:cNvPr>
            <p:cNvSpPr txBox="1"/>
            <p:nvPr/>
          </p:nvSpPr>
          <p:spPr>
            <a:xfrm>
              <a:off x="4771822" y="6188060"/>
              <a:ext cx="628523" cy="16927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360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Match?</a:t>
              </a:r>
              <a:endPara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cxnSp>
        <p:nvCxnSpPr>
          <p:cNvPr id="2135" name="Straight Arrow Connector 2134">
            <a:extLst>
              <a:ext uri="{FF2B5EF4-FFF2-40B4-BE49-F238E27FC236}">
                <a16:creationId xmlns:a16="http://schemas.microsoft.com/office/drawing/2014/main" id="{91E46788-1606-B76E-F549-22838ED2B0B7}"/>
              </a:ext>
            </a:extLst>
          </p:cNvPr>
          <p:cNvCxnSpPr>
            <a:cxnSpLocks/>
          </p:cNvCxnSpPr>
          <p:nvPr/>
        </p:nvCxnSpPr>
        <p:spPr>
          <a:xfrm>
            <a:off x="6915984" y="4512576"/>
            <a:ext cx="209724" cy="0"/>
          </a:xfrm>
          <a:prstGeom prst="straightConnector1">
            <a:avLst/>
          </a:prstGeom>
          <a:ln w="38100">
            <a:solidFill>
              <a:srgbClr val="3C17C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8" name="Connector: Elbow 2137">
            <a:extLst>
              <a:ext uri="{FF2B5EF4-FFF2-40B4-BE49-F238E27FC236}">
                <a16:creationId xmlns:a16="http://schemas.microsoft.com/office/drawing/2014/main" id="{050F5FD3-2C10-6669-FFCB-F69813FB7965}"/>
              </a:ext>
            </a:extLst>
          </p:cNvPr>
          <p:cNvCxnSpPr>
            <a:cxnSpLocks/>
            <a:stCxn id="2132" idx="0"/>
          </p:cNvCxnSpPr>
          <p:nvPr/>
        </p:nvCxnSpPr>
        <p:spPr>
          <a:xfrm rot="5400000" flipH="1" flipV="1">
            <a:off x="7694004" y="3630336"/>
            <a:ext cx="354884" cy="1033054"/>
          </a:xfrm>
          <a:prstGeom prst="bentConnector2">
            <a:avLst/>
          </a:prstGeom>
          <a:ln w="28575">
            <a:solidFill>
              <a:srgbClr val="3C17CF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6" name="TextBox 2135">
            <a:extLst>
              <a:ext uri="{FF2B5EF4-FFF2-40B4-BE49-F238E27FC236}">
                <a16:creationId xmlns:a16="http://schemas.microsoft.com/office/drawing/2014/main" id="{A1E38C7D-1DB1-29E6-7605-8833E56B6C30}"/>
              </a:ext>
            </a:extLst>
          </p:cNvPr>
          <p:cNvSpPr txBox="1"/>
          <p:nvPr/>
        </p:nvSpPr>
        <p:spPr>
          <a:xfrm>
            <a:off x="7226751" y="4089578"/>
            <a:ext cx="241435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144" name="Connector: Elbow 2143">
            <a:extLst>
              <a:ext uri="{FF2B5EF4-FFF2-40B4-BE49-F238E27FC236}">
                <a16:creationId xmlns:a16="http://schemas.microsoft.com/office/drawing/2014/main" id="{6F349B39-47D8-7CE4-F401-37AFD41FACE5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59106" y="4281735"/>
            <a:ext cx="260267" cy="1068640"/>
          </a:xfrm>
          <a:prstGeom prst="bentConnector2">
            <a:avLst/>
          </a:prstGeom>
          <a:ln w="28575">
            <a:solidFill>
              <a:srgbClr val="3C17CF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7" name="TextBox 2136">
            <a:extLst>
              <a:ext uri="{FF2B5EF4-FFF2-40B4-BE49-F238E27FC236}">
                <a16:creationId xmlns:a16="http://schemas.microsoft.com/office/drawing/2014/main" id="{3FEC2F56-C0B5-A2E1-CD47-CF1F0BBED85B}"/>
              </a:ext>
            </a:extLst>
          </p:cNvPr>
          <p:cNvSpPr txBox="1"/>
          <p:nvPr/>
        </p:nvSpPr>
        <p:spPr>
          <a:xfrm>
            <a:off x="7232668" y="4752964"/>
            <a:ext cx="241435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Yes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172" name="Graphic 2171" descr="Transfer with solid fill">
            <a:extLst>
              <a:ext uri="{FF2B5EF4-FFF2-40B4-BE49-F238E27FC236}">
                <a16:creationId xmlns:a16="http://schemas.microsoft.com/office/drawing/2014/main" id="{79C7A08E-018B-3C52-6BE3-CD906730BC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569010" y="1868926"/>
            <a:ext cx="230294" cy="194381"/>
          </a:xfrm>
          <a:prstGeom prst="rect">
            <a:avLst/>
          </a:prstGeom>
        </p:spPr>
      </p:pic>
      <p:sp>
        <p:nvSpPr>
          <p:cNvPr id="2173" name="TextBox 2172">
            <a:extLst>
              <a:ext uri="{FF2B5EF4-FFF2-40B4-BE49-F238E27FC236}">
                <a16:creationId xmlns:a16="http://schemas.microsoft.com/office/drawing/2014/main" id="{6B718512-F631-27D4-E282-1581BF161B5B}"/>
              </a:ext>
            </a:extLst>
          </p:cNvPr>
          <p:cNvSpPr txBox="1"/>
          <p:nvPr/>
        </p:nvSpPr>
        <p:spPr>
          <a:xfrm>
            <a:off x="10900814" y="1894393"/>
            <a:ext cx="998009" cy="123111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API calls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75" name="Rectangle: Rounded Corners 2174">
            <a:extLst>
              <a:ext uri="{FF2B5EF4-FFF2-40B4-BE49-F238E27FC236}">
                <a16:creationId xmlns:a16="http://schemas.microsoft.com/office/drawing/2014/main" id="{B10FD210-6598-70DF-E282-EF3337BAA969}"/>
              </a:ext>
            </a:extLst>
          </p:cNvPr>
          <p:cNvSpPr/>
          <p:nvPr/>
        </p:nvSpPr>
        <p:spPr>
          <a:xfrm>
            <a:off x="5741396" y="5288685"/>
            <a:ext cx="6337393" cy="1569315"/>
          </a:xfrm>
          <a:prstGeom prst="round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0595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B8A35-A42D-616D-BB8E-41328E257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C46593B-BD9F-E19C-A1B5-295F736204FA}"/>
              </a:ext>
            </a:extLst>
          </p:cNvPr>
          <p:cNvCxnSpPr>
            <a:cxnSpLocks/>
          </p:cNvCxnSpPr>
          <p:nvPr/>
        </p:nvCxnSpPr>
        <p:spPr>
          <a:xfrm flipV="1">
            <a:off x="15173065" y="1624683"/>
            <a:ext cx="446238" cy="8128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CC2A87A6-4803-283F-A368-5B4FF033B22D}"/>
              </a:ext>
            </a:extLst>
          </p:cNvPr>
          <p:cNvCxnSpPr>
            <a:cxnSpLocks/>
          </p:cNvCxnSpPr>
          <p:nvPr/>
        </p:nvCxnSpPr>
        <p:spPr>
          <a:xfrm>
            <a:off x="15173064" y="2448268"/>
            <a:ext cx="446238" cy="58971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1" name="TextBox 2090">
            <a:extLst>
              <a:ext uri="{FF2B5EF4-FFF2-40B4-BE49-F238E27FC236}">
                <a16:creationId xmlns:a16="http://schemas.microsoft.com/office/drawing/2014/main" id="{3075A017-4B57-FFF0-D9E2-B34B6555B98B}"/>
              </a:ext>
            </a:extLst>
          </p:cNvPr>
          <p:cNvSpPr txBox="1"/>
          <p:nvPr/>
        </p:nvSpPr>
        <p:spPr>
          <a:xfrm>
            <a:off x="246947" y="706724"/>
            <a:ext cx="11869474" cy="246221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1. Leveraging separate agents for each transaction. </a:t>
            </a:r>
            <a:r>
              <a:rPr kumimoji="0" lang="en-US" sz="12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Once classification has been determined, the documents are presented to an LLM to extract data. </a:t>
            </a:r>
            <a:endParaRPr kumimoji="0" lang="en-GB" sz="12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CBDC414-5EFE-9DF0-2C4D-E95A6FDFCB57}"/>
              </a:ext>
            </a:extLst>
          </p:cNvPr>
          <p:cNvSpPr txBox="1">
            <a:spLocks/>
          </p:cNvSpPr>
          <p:nvPr/>
        </p:nvSpPr>
        <p:spPr>
          <a:xfrm>
            <a:off x="192067" y="239394"/>
            <a:ext cx="12922354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ts val="3240"/>
              </a:lnSpc>
              <a:spcBef>
                <a:spcPct val="0"/>
              </a:spcBef>
              <a:buNone/>
              <a:defRPr lang="en-US" sz="3200" b="0" i="0" kern="1200" spc="-80" baseline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/>
              <a:t>AI tool strategy and approach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30D38C-4357-8765-2E9F-797F85E30581}"/>
              </a:ext>
            </a:extLst>
          </p:cNvPr>
          <p:cNvSpPr txBox="1"/>
          <p:nvPr/>
        </p:nvSpPr>
        <p:spPr>
          <a:xfrm>
            <a:off x="208528" y="2847991"/>
            <a:ext cx="11525047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93186C"/>
                </a:solidFill>
                <a:latin typeface="Aptos" panose="02110004020202020204"/>
              </a:rPr>
              <a:t>2.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93186C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Using a RAG approach to identify intent and extract data from any incoming set of documents.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Rather than creating separate agents, the LLM is given an instruction to read the documents, identify the intent, and rely on supporting DOPs to extract the data for each case. </a:t>
            </a:r>
            <a:endParaRPr kumimoji="0" lang="en-GB" sz="12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01A8A8-992A-4E24-44D5-05B96562894E}"/>
              </a:ext>
            </a:extLst>
          </p:cNvPr>
          <p:cNvSpPr txBox="1"/>
          <p:nvPr/>
        </p:nvSpPr>
        <p:spPr>
          <a:xfrm>
            <a:off x="206401" y="4889977"/>
            <a:ext cx="11525047" cy="215444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93186C"/>
                </a:solidFill>
                <a:latin typeface="Aptos" panose="02110004020202020204"/>
              </a:rPr>
              <a:t>3. Leveraging an Orchestrator and then Transaction specialist </a:t>
            </a:r>
            <a:r>
              <a:rPr lang="en-US" sz="1400" b="1">
                <a:solidFill>
                  <a:schemeClr val="accent1"/>
                </a:solidFill>
                <a:latin typeface="Aptos" panose="02110004020202020204"/>
              </a:rPr>
              <a:t>agent</a:t>
            </a:r>
            <a:r>
              <a:rPr lang="en-US" sz="1400">
                <a:solidFill>
                  <a:schemeClr val="accent1"/>
                </a:solidFill>
                <a:latin typeface="Aptos" panose="02110004020202020204"/>
              </a:rPr>
              <a:t>;</a:t>
            </a:r>
            <a:r>
              <a:rPr lang="en-US" sz="1400">
                <a:latin typeface="Aptos" panose="02110004020202020204"/>
              </a:rPr>
              <a:t> </a:t>
            </a:r>
            <a:r>
              <a:rPr lang="en-US" sz="1200">
                <a:latin typeface="Aptos" panose="02110004020202020204"/>
              </a:rPr>
              <a:t>one to identify the intent and route to the specialized agent for each transaction.  </a:t>
            </a:r>
            <a:endParaRPr kumimoji="0" lang="en-GB" sz="12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118" name="Group 2117">
            <a:extLst>
              <a:ext uri="{FF2B5EF4-FFF2-40B4-BE49-F238E27FC236}">
                <a16:creationId xmlns:a16="http://schemas.microsoft.com/office/drawing/2014/main" id="{5894BEE9-F4B5-50F7-3E6E-F3AFEE9AB9FF}"/>
              </a:ext>
            </a:extLst>
          </p:cNvPr>
          <p:cNvGrpSpPr/>
          <p:nvPr/>
        </p:nvGrpSpPr>
        <p:grpSpPr>
          <a:xfrm>
            <a:off x="217296" y="3399215"/>
            <a:ext cx="8654739" cy="1351062"/>
            <a:chOff x="222176" y="3758455"/>
            <a:chExt cx="8654739" cy="1351062"/>
          </a:xfrm>
        </p:grpSpPr>
        <p:sp>
          <p:nvSpPr>
            <p:cNvPr id="2068" name="TextBox 2067">
              <a:extLst>
                <a:ext uri="{FF2B5EF4-FFF2-40B4-BE49-F238E27FC236}">
                  <a16:creationId xmlns:a16="http://schemas.microsoft.com/office/drawing/2014/main" id="{53B9D2E4-56E0-C86A-B0AC-BFDDE1F614DA}"/>
                </a:ext>
              </a:extLst>
            </p:cNvPr>
            <p:cNvSpPr txBox="1"/>
            <p:nvPr/>
          </p:nvSpPr>
          <p:spPr>
            <a:xfrm>
              <a:off x="4180442" y="3759848"/>
              <a:ext cx="1684046" cy="1384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i="1" u="none" strike="noStrike" kern="1200" cap="none" spc="0" normalizeH="0" baseline="0" noProof="0">
                  <a:ln>
                    <a:noFill/>
                  </a:ln>
                  <a:solidFill>
                    <a:srgbClr val="3C17C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Relevant data sent for processing</a:t>
              </a:r>
            </a:p>
          </p:txBody>
        </p:sp>
        <p:sp>
          <p:nvSpPr>
            <p:cNvPr id="2069" name="TextBox 2068">
              <a:extLst>
                <a:ext uri="{FF2B5EF4-FFF2-40B4-BE49-F238E27FC236}">
                  <a16:creationId xmlns:a16="http://schemas.microsoft.com/office/drawing/2014/main" id="{59CDCE83-4E8B-2486-1714-AFBB0564DE65}"/>
                </a:ext>
              </a:extLst>
            </p:cNvPr>
            <p:cNvSpPr txBox="1"/>
            <p:nvPr/>
          </p:nvSpPr>
          <p:spPr>
            <a:xfrm>
              <a:off x="6267869" y="3759847"/>
              <a:ext cx="1122034" cy="1384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i="1" u="none" strike="noStrike" kern="1200" cap="none" spc="0" normalizeH="0" baseline="0" noProof="0">
                  <a:ln>
                    <a:noFill/>
                  </a:ln>
                  <a:solidFill>
                    <a:srgbClr val="3C17C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Data verified </a:t>
              </a:r>
            </a:p>
          </p:txBody>
        </p:sp>
        <p:sp>
          <p:nvSpPr>
            <p:cNvPr id="2070" name="TextBox 2069">
              <a:extLst>
                <a:ext uri="{FF2B5EF4-FFF2-40B4-BE49-F238E27FC236}">
                  <a16:creationId xmlns:a16="http://schemas.microsoft.com/office/drawing/2014/main" id="{11796FF8-60C5-7581-11AB-2E43A9D97D8B}"/>
                </a:ext>
              </a:extLst>
            </p:cNvPr>
            <p:cNvSpPr txBox="1"/>
            <p:nvPr/>
          </p:nvSpPr>
          <p:spPr>
            <a:xfrm>
              <a:off x="7478589" y="3758455"/>
              <a:ext cx="1398326" cy="1384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i="1" u="none" strike="noStrike" kern="1200" cap="none" spc="0" normalizeH="0" baseline="0" noProof="0">
                  <a:ln>
                    <a:noFill/>
                  </a:ln>
                  <a:solidFill>
                    <a:srgbClr val="3C17C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Transaction processed </a:t>
              </a:r>
            </a:p>
          </p:txBody>
        </p:sp>
        <p:sp>
          <p:nvSpPr>
            <p:cNvPr id="2072" name="Rectangle: Rounded Corners 2071">
              <a:extLst>
                <a:ext uri="{FF2B5EF4-FFF2-40B4-BE49-F238E27FC236}">
                  <a16:creationId xmlns:a16="http://schemas.microsoft.com/office/drawing/2014/main" id="{2B5BE7C2-B218-0DBE-ECEA-2BAD8A6E7438}"/>
                </a:ext>
              </a:extLst>
            </p:cNvPr>
            <p:cNvSpPr/>
            <p:nvPr/>
          </p:nvSpPr>
          <p:spPr>
            <a:xfrm>
              <a:off x="222176" y="4006615"/>
              <a:ext cx="1415314" cy="369332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000" b="1">
                  <a:solidFill>
                    <a:schemeClr val="bg1"/>
                  </a:solidFill>
                </a:rPr>
                <a:t>Document scanned</a:t>
              </a:r>
            </a:p>
            <a:p>
              <a:pPr algn="ctr"/>
              <a:r>
                <a:rPr lang="en-GB" sz="1000" b="1">
                  <a:solidFill>
                    <a:schemeClr val="bg1"/>
                  </a:solidFill>
                </a:rPr>
                <a:t>(mailroom)</a:t>
              </a:r>
            </a:p>
          </p:txBody>
        </p:sp>
        <p:sp>
          <p:nvSpPr>
            <p:cNvPr id="2073" name="Rectangle: Rounded Corners 2072">
              <a:extLst>
                <a:ext uri="{FF2B5EF4-FFF2-40B4-BE49-F238E27FC236}">
                  <a16:creationId xmlns:a16="http://schemas.microsoft.com/office/drawing/2014/main" id="{6A43A4DB-F820-D9A8-443D-EBC5382F6661}"/>
                </a:ext>
              </a:extLst>
            </p:cNvPr>
            <p:cNvSpPr/>
            <p:nvPr/>
          </p:nvSpPr>
          <p:spPr>
            <a:xfrm>
              <a:off x="1991594" y="4011228"/>
              <a:ext cx="1894605" cy="510064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000" b="1">
                  <a:solidFill>
                    <a:schemeClr val="bg1"/>
                  </a:solidFill>
                </a:rPr>
                <a:t>Agent to identify intent, refer to DOPs to extract necessary data</a:t>
              </a:r>
            </a:p>
          </p:txBody>
        </p:sp>
        <p:cxnSp>
          <p:nvCxnSpPr>
            <p:cNvPr id="2075" name="Straight Arrow Connector 2074">
              <a:extLst>
                <a:ext uri="{FF2B5EF4-FFF2-40B4-BE49-F238E27FC236}">
                  <a16:creationId xmlns:a16="http://schemas.microsoft.com/office/drawing/2014/main" id="{D40512B7-455F-457F-4611-966F7A310591}"/>
                </a:ext>
              </a:extLst>
            </p:cNvPr>
            <p:cNvCxnSpPr>
              <a:cxnSpLocks/>
            </p:cNvCxnSpPr>
            <p:nvPr/>
          </p:nvCxnSpPr>
          <p:spPr>
            <a:xfrm>
              <a:off x="1693739" y="4186658"/>
              <a:ext cx="2580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81" name="Rectangle: Rounded Corners 2080">
              <a:extLst>
                <a:ext uri="{FF2B5EF4-FFF2-40B4-BE49-F238E27FC236}">
                  <a16:creationId xmlns:a16="http://schemas.microsoft.com/office/drawing/2014/main" id="{1817F4AC-826F-AB7A-6DBF-0CDE7325F116}"/>
                </a:ext>
              </a:extLst>
            </p:cNvPr>
            <p:cNvSpPr/>
            <p:nvPr/>
          </p:nvSpPr>
          <p:spPr>
            <a:xfrm>
              <a:off x="4171202" y="4029806"/>
              <a:ext cx="1564926" cy="369332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000" b="1">
                  <a:solidFill>
                    <a:schemeClr val="bg1"/>
                  </a:solidFill>
                </a:rPr>
                <a:t>Extracted data  sent to workflow</a:t>
              </a:r>
            </a:p>
          </p:txBody>
        </p:sp>
        <p:sp>
          <p:nvSpPr>
            <p:cNvPr id="2082" name="Rectangle: Rounded Corners 2081">
              <a:extLst>
                <a:ext uri="{FF2B5EF4-FFF2-40B4-BE49-F238E27FC236}">
                  <a16:creationId xmlns:a16="http://schemas.microsoft.com/office/drawing/2014/main" id="{01E1C895-2102-EC20-8406-553EC55A0BB5}"/>
                </a:ext>
              </a:extLst>
            </p:cNvPr>
            <p:cNvSpPr/>
            <p:nvPr/>
          </p:nvSpPr>
          <p:spPr>
            <a:xfrm>
              <a:off x="7402388" y="4029806"/>
              <a:ext cx="1398327" cy="369332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000" b="1">
                  <a:solidFill>
                    <a:schemeClr val="bg1"/>
                  </a:solidFill>
                </a:rPr>
                <a:t>RPA bot to compete transaction</a:t>
              </a:r>
            </a:p>
          </p:txBody>
        </p:sp>
        <p:sp>
          <p:nvSpPr>
            <p:cNvPr id="2083" name="Rectangle: Rounded Corners 2082">
              <a:extLst>
                <a:ext uri="{FF2B5EF4-FFF2-40B4-BE49-F238E27FC236}">
                  <a16:creationId xmlns:a16="http://schemas.microsoft.com/office/drawing/2014/main" id="{8FF8D9ED-7E3D-8FDD-E440-2D612A8505A2}"/>
                </a:ext>
              </a:extLst>
            </p:cNvPr>
            <p:cNvSpPr/>
            <p:nvPr/>
          </p:nvSpPr>
          <p:spPr>
            <a:xfrm>
              <a:off x="5992848" y="4029806"/>
              <a:ext cx="1122034" cy="369332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000" b="1">
                  <a:solidFill>
                    <a:schemeClr val="bg1"/>
                  </a:solidFill>
                </a:rPr>
                <a:t>Human validation</a:t>
              </a:r>
            </a:p>
          </p:txBody>
        </p:sp>
        <p:cxnSp>
          <p:nvCxnSpPr>
            <p:cNvPr id="2084" name="Straight Arrow Connector 2083">
              <a:extLst>
                <a:ext uri="{FF2B5EF4-FFF2-40B4-BE49-F238E27FC236}">
                  <a16:creationId xmlns:a16="http://schemas.microsoft.com/office/drawing/2014/main" id="{B1A75C76-B72D-5DFA-F488-BA7992CBB3D4}"/>
                </a:ext>
              </a:extLst>
            </p:cNvPr>
            <p:cNvCxnSpPr>
              <a:cxnSpLocks/>
            </p:cNvCxnSpPr>
            <p:nvPr/>
          </p:nvCxnSpPr>
          <p:spPr>
            <a:xfrm>
              <a:off x="3914482" y="4212799"/>
              <a:ext cx="2580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Straight Arrow Connector 2085">
              <a:extLst>
                <a:ext uri="{FF2B5EF4-FFF2-40B4-BE49-F238E27FC236}">
                  <a16:creationId xmlns:a16="http://schemas.microsoft.com/office/drawing/2014/main" id="{C0B3E6F1-CF3D-49C5-4038-A5397913FFBF}"/>
                </a:ext>
              </a:extLst>
            </p:cNvPr>
            <p:cNvCxnSpPr>
              <a:cxnSpLocks/>
            </p:cNvCxnSpPr>
            <p:nvPr/>
          </p:nvCxnSpPr>
          <p:spPr>
            <a:xfrm>
              <a:off x="5736128" y="4212799"/>
              <a:ext cx="2580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3" name="Straight Arrow Connector 2092">
              <a:extLst>
                <a:ext uri="{FF2B5EF4-FFF2-40B4-BE49-F238E27FC236}">
                  <a16:creationId xmlns:a16="http://schemas.microsoft.com/office/drawing/2014/main" id="{786296CA-CC7D-3E8F-0588-29077D3E0466}"/>
                </a:ext>
              </a:extLst>
            </p:cNvPr>
            <p:cNvCxnSpPr>
              <a:cxnSpLocks/>
            </p:cNvCxnSpPr>
            <p:nvPr/>
          </p:nvCxnSpPr>
          <p:spPr>
            <a:xfrm>
              <a:off x="7133932" y="4212799"/>
              <a:ext cx="2580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94" name="TextBox 2093">
              <a:extLst>
                <a:ext uri="{FF2B5EF4-FFF2-40B4-BE49-F238E27FC236}">
                  <a16:creationId xmlns:a16="http://schemas.microsoft.com/office/drawing/2014/main" id="{87DA8015-3DCF-0EDB-7EF8-C42D172BD3B6}"/>
                </a:ext>
              </a:extLst>
            </p:cNvPr>
            <p:cNvSpPr txBox="1"/>
            <p:nvPr/>
          </p:nvSpPr>
          <p:spPr>
            <a:xfrm>
              <a:off x="2180959" y="3763282"/>
              <a:ext cx="1910797" cy="13849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900" i="1">
                  <a:solidFill>
                    <a:srgbClr val="3C17CF"/>
                  </a:solidFill>
                  <a:latin typeface="Aptos" panose="02110004020202020204"/>
                </a:rPr>
                <a:t>Classification and extraction</a:t>
              </a:r>
              <a:endParaRPr kumimoji="0" lang="en-GB" sz="900" i="1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00" name="Rectangle: Rounded Corners 2099">
              <a:extLst>
                <a:ext uri="{FF2B5EF4-FFF2-40B4-BE49-F238E27FC236}">
                  <a16:creationId xmlns:a16="http://schemas.microsoft.com/office/drawing/2014/main" id="{39F06F66-75DD-4FAE-79A2-FB487934AC56}"/>
                </a:ext>
              </a:extLst>
            </p:cNvPr>
            <p:cNvSpPr/>
            <p:nvPr/>
          </p:nvSpPr>
          <p:spPr>
            <a:xfrm>
              <a:off x="1991594" y="4740185"/>
              <a:ext cx="1905397" cy="369332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000" b="1">
                  <a:solidFill>
                    <a:schemeClr val="bg1"/>
                  </a:solidFill>
                </a:rPr>
                <a:t>DOPs to identify the specific case and what to extract</a:t>
              </a:r>
            </a:p>
          </p:txBody>
        </p:sp>
        <p:cxnSp>
          <p:nvCxnSpPr>
            <p:cNvPr id="2103" name="Straight Arrow Connector 2102">
              <a:extLst>
                <a:ext uri="{FF2B5EF4-FFF2-40B4-BE49-F238E27FC236}">
                  <a16:creationId xmlns:a16="http://schemas.microsoft.com/office/drawing/2014/main" id="{E6FD4E90-86EC-973A-F6E3-8068C532DD2C}"/>
                </a:ext>
              </a:extLst>
            </p:cNvPr>
            <p:cNvCxnSpPr>
              <a:cxnSpLocks/>
            </p:cNvCxnSpPr>
            <p:nvPr/>
          </p:nvCxnSpPr>
          <p:spPr>
            <a:xfrm>
              <a:off x="2539773" y="4543414"/>
              <a:ext cx="0" cy="208598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6" name="Straight Arrow Connector 2105">
              <a:extLst>
                <a:ext uri="{FF2B5EF4-FFF2-40B4-BE49-F238E27FC236}">
                  <a16:creationId xmlns:a16="http://schemas.microsoft.com/office/drawing/2014/main" id="{E47AF7D0-5ABE-996B-6F1A-CECAA85691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5814" y="4543414"/>
              <a:ext cx="0" cy="204383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110" name="Graphic 2109" descr="Artificial Intelligence outline">
              <a:extLst>
                <a:ext uri="{FF2B5EF4-FFF2-40B4-BE49-F238E27FC236}">
                  <a16:creationId xmlns:a16="http://schemas.microsoft.com/office/drawing/2014/main" id="{C5447A0A-1BAE-33F4-BB29-42C769CC04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83336" y="4202118"/>
              <a:ext cx="313260" cy="313260"/>
            </a:xfrm>
            <a:prstGeom prst="rect">
              <a:avLst/>
            </a:prstGeom>
          </p:spPr>
        </p:pic>
      </p:grpSp>
      <p:grpSp>
        <p:nvGrpSpPr>
          <p:cNvPr id="2117" name="Group 2116">
            <a:extLst>
              <a:ext uri="{FF2B5EF4-FFF2-40B4-BE49-F238E27FC236}">
                <a16:creationId xmlns:a16="http://schemas.microsoft.com/office/drawing/2014/main" id="{BC1B749D-7C00-11B8-EA4F-72C780029191}"/>
              </a:ext>
            </a:extLst>
          </p:cNvPr>
          <p:cNvGrpSpPr/>
          <p:nvPr/>
        </p:nvGrpSpPr>
        <p:grpSpPr>
          <a:xfrm>
            <a:off x="178419" y="1033312"/>
            <a:ext cx="11938002" cy="1558134"/>
            <a:chOff x="192067" y="1303835"/>
            <a:chExt cx="11938002" cy="1558134"/>
          </a:xfrm>
        </p:grpSpPr>
        <p:grpSp>
          <p:nvGrpSpPr>
            <p:cNvPr id="2065" name="Group 2064">
              <a:extLst>
                <a:ext uri="{FF2B5EF4-FFF2-40B4-BE49-F238E27FC236}">
                  <a16:creationId xmlns:a16="http://schemas.microsoft.com/office/drawing/2014/main" id="{56D77260-946A-ED95-96CF-BADE3703271C}"/>
                </a:ext>
              </a:extLst>
            </p:cNvPr>
            <p:cNvGrpSpPr/>
            <p:nvPr/>
          </p:nvGrpSpPr>
          <p:grpSpPr>
            <a:xfrm>
              <a:off x="192067" y="1303835"/>
              <a:ext cx="11938002" cy="1558134"/>
              <a:chOff x="192067" y="1436392"/>
              <a:chExt cx="11938002" cy="1558134"/>
            </a:xfrm>
          </p:grpSpPr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24CEF813-F9B0-5A06-3CC7-F14A237A8CB2}"/>
                  </a:ext>
                </a:extLst>
              </p:cNvPr>
              <p:cNvSpPr txBox="1"/>
              <p:nvPr/>
            </p:nvSpPr>
            <p:spPr>
              <a:xfrm>
                <a:off x="5857996" y="1436392"/>
                <a:ext cx="1398326" cy="27699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900" i="1" u="none" strike="noStrike" kern="1200" cap="none" spc="0" normalizeH="0" baseline="0" noProof="0">
                    <a:ln>
                      <a:noFill/>
                    </a:ln>
                    <a:solidFill>
                      <a:srgbClr val="3C17C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Relevant data extracted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900" i="1">
                    <a:solidFill>
                      <a:srgbClr val="3C17CF"/>
                    </a:solidFill>
                    <a:latin typeface="Aptos" panose="02110004020202020204"/>
                  </a:rPr>
                  <a:t>Each agent has own prompt</a:t>
                </a:r>
                <a:endParaRPr kumimoji="0" lang="en-GB" sz="900" i="1" u="none" strike="noStrike" kern="1200" cap="none" spc="0" normalizeH="0" baseline="0" noProof="0">
                  <a:ln>
                    <a:noFill/>
                  </a:ln>
                  <a:solidFill>
                    <a:srgbClr val="3C17C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6B92B129-AF79-20AB-EF98-39F48EF3E1CE}"/>
                  </a:ext>
                </a:extLst>
              </p:cNvPr>
              <p:cNvSpPr txBox="1"/>
              <p:nvPr/>
            </p:nvSpPr>
            <p:spPr>
              <a:xfrm>
                <a:off x="7433596" y="1491272"/>
                <a:ext cx="1684046" cy="13849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900" i="1" u="none" strike="noStrike" kern="1200" cap="none" spc="0" normalizeH="0" baseline="0" noProof="0">
                    <a:ln>
                      <a:noFill/>
                    </a:ln>
                    <a:solidFill>
                      <a:srgbClr val="3C17C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Relevant data sent for processing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E6B81E14-978E-9DFE-3C12-AAE6FDD3F7EE}"/>
                  </a:ext>
                </a:extLst>
              </p:cNvPr>
              <p:cNvSpPr txBox="1"/>
              <p:nvPr/>
            </p:nvSpPr>
            <p:spPr>
              <a:xfrm>
                <a:off x="9521023" y="1491271"/>
                <a:ext cx="1122034" cy="13849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900" i="1" u="none" strike="noStrike" kern="1200" cap="none" spc="0" normalizeH="0" baseline="0" noProof="0">
                    <a:ln>
                      <a:noFill/>
                    </a:ln>
                    <a:solidFill>
                      <a:srgbClr val="3C17C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Data verified 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D51E5C2A-1F5D-CCB9-314E-A15811C91F43}"/>
                  </a:ext>
                </a:extLst>
              </p:cNvPr>
              <p:cNvSpPr txBox="1"/>
              <p:nvPr/>
            </p:nvSpPr>
            <p:spPr>
              <a:xfrm>
                <a:off x="10731743" y="1489879"/>
                <a:ext cx="1398326" cy="13849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900" i="1" u="none" strike="noStrike" kern="1200" cap="none" spc="0" normalizeH="0" baseline="0" noProof="0">
                    <a:ln>
                      <a:noFill/>
                    </a:ln>
                    <a:solidFill>
                      <a:srgbClr val="3C17C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Transaction processed </a:t>
                </a:r>
              </a:p>
            </p:txBody>
          </p:sp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D7A5ED49-07F8-1218-F54E-FFD7F8D052F1}"/>
                  </a:ext>
                </a:extLst>
              </p:cNvPr>
              <p:cNvSpPr/>
              <p:nvPr/>
            </p:nvSpPr>
            <p:spPr>
              <a:xfrm>
                <a:off x="192067" y="2117985"/>
                <a:ext cx="1415314" cy="369332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000" b="1">
                    <a:solidFill>
                      <a:schemeClr val="bg1"/>
                    </a:solidFill>
                  </a:rPr>
                  <a:t>Document scanned</a:t>
                </a:r>
              </a:p>
              <a:p>
                <a:pPr algn="ctr"/>
                <a:r>
                  <a:rPr lang="en-GB" sz="1000" b="1">
                    <a:solidFill>
                      <a:schemeClr val="bg1"/>
                    </a:solidFill>
                  </a:rPr>
                  <a:t>(mailroom)</a:t>
                </a:r>
              </a:p>
            </p:txBody>
          </p:sp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F66FEAA8-AE79-1C23-E6A3-7EFD3FC28622}"/>
                  </a:ext>
                </a:extLst>
              </p:cNvPr>
              <p:cNvSpPr/>
              <p:nvPr/>
            </p:nvSpPr>
            <p:spPr>
              <a:xfrm>
                <a:off x="1961486" y="2122598"/>
                <a:ext cx="1196977" cy="369332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000" b="1">
                    <a:solidFill>
                      <a:schemeClr val="bg1"/>
                    </a:solidFill>
                  </a:rPr>
                  <a:t>Classification (human)</a:t>
                </a:r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FE74147E-78A2-9645-ED3A-58DBA509EAE6}"/>
                  </a:ext>
                </a:extLst>
              </p:cNvPr>
              <p:cNvSpPr/>
              <p:nvPr/>
            </p:nvSpPr>
            <p:spPr>
              <a:xfrm>
                <a:off x="5844062" y="1761229"/>
                <a:ext cx="1323574" cy="579526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000" b="1">
                    <a:solidFill>
                      <a:schemeClr val="bg1"/>
                    </a:solidFill>
                  </a:rPr>
                  <a:t>Specialised transaction agent</a:t>
                </a:r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70532B2E-8960-0F93-C36B-018C0ABC37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63630" y="2298028"/>
                <a:ext cx="25809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7267E71-918F-6052-8621-E62672CBE798}"/>
                  </a:ext>
                </a:extLst>
              </p:cNvPr>
              <p:cNvSpPr txBox="1"/>
              <p:nvPr/>
            </p:nvSpPr>
            <p:spPr>
              <a:xfrm>
                <a:off x="3230612" y="2352333"/>
                <a:ext cx="1219766" cy="41549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900" i="1" u="none" strike="noStrike" kern="1200" cap="none" spc="0" normalizeH="0" baseline="0" noProof="0">
                    <a:ln>
                      <a:noFill/>
                    </a:ln>
                    <a:solidFill>
                      <a:srgbClr val="3C17C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Classification triggers specialised transaction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900" i="1" u="none" strike="noStrike" kern="1200" cap="none" spc="0" normalizeH="0" baseline="0" noProof="0">
                    <a:ln>
                      <a:noFill/>
                    </a:ln>
                    <a:solidFill>
                      <a:srgbClr val="3C17C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agent to extract data</a:t>
                </a:r>
              </a:p>
            </p:txBody>
          </p:sp>
          <p:cxnSp>
            <p:nvCxnSpPr>
              <p:cNvPr id="67" name="Connector: Elbow 66">
                <a:extLst>
                  <a:ext uri="{FF2B5EF4-FFF2-40B4-BE49-F238E27FC236}">
                    <a16:creationId xmlns:a16="http://schemas.microsoft.com/office/drawing/2014/main" id="{08A7A01D-FDD7-7F71-1B56-A55CCF68C10F}"/>
                  </a:ext>
                </a:extLst>
              </p:cNvPr>
              <p:cNvCxnSpPr>
                <a:cxnSpLocks/>
                <a:stCxn id="5" idx="3"/>
                <a:endCxn id="2058" idx="1"/>
              </p:cNvCxnSpPr>
              <p:nvPr/>
            </p:nvCxnSpPr>
            <p:spPr>
              <a:xfrm>
                <a:off x="3158463" y="2307264"/>
                <a:ext cx="2699533" cy="397499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ABC81DDE-22C3-EDEF-8962-C53341914079}"/>
                  </a:ext>
                </a:extLst>
              </p:cNvPr>
              <p:cNvSpPr txBox="1"/>
              <p:nvPr/>
            </p:nvSpPr>
            <p:spPr>
              <a:xfrm>
                <a:off x="4646674" y="1818269"/>
                <a:ext cx="1089454" cy="13849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900" i="1" u="none" strike="noStrike" kern="1200" cap="none" spc="0" normalizeH="0" baseline="0" noProof="0" err="1">
                    <a:ln>
                      <a:noFill/>
                    </a:ln>
                    <a:solidFill>
                      <a:srgbClr val="3C17C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e.g</a:t>
                </a:r>
                <a:r>
                  <a:rPr kumimoji="0" lang="en-GB" sz="900" i="1" u="none" strike="noStrike" kern="1200" cap="none" spc="0" normalizeH="0" baseline="0" noProof="0">
                    <a:ln>
                      <a:noFill/>
                    </a:ln>
                    <a:solidFill>
                      <a:srgbClr val="3C17C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, DRIP OCP agent</a:t>
                </a: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62E7466A-0F7A-1C60-0978-948CEBCFA3E9}"/>
                  </a:ext>
                </a:extLst>
              </p:cNvPr>
              <p:cNvSpPr txBox="1"/>
              <p:nvPr/>
            </p:nvSpPr>
            <p:spPr>
              <a:xfrm>
                <a:off x="4646674" y="2415763"/>
                <a:ext cx="1089454" cy="27699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900" i="1" u="none" strike="noStrike" kern="1200" cap="none" spc="0" normalizeH="0" baseline="0" noProof="0" err="1">
                    <a:ln>
                      <a:noFill/>
                    </a:ln>
                    <a:solidFill>
                      <a:srgbClr val="3C17C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e.g</a:t>
                </a:r>
                <a:r>
                  <a:rPr kumimoji="0" lang="en-GB" sz="900" i="1" u="none" strike="noStrike" kern="1200" cap="none" spc="0" normalizeH="0" baseline="0" noProof="0">
                    <a:ln>
                      <a:noFill/>
                    </a:ln>
                    <a:solidFill>
                      <a:srgbClr val="3C17C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, </a:t>
                </a:r>
                <a:r>
                  <a:rPr lang="en-GB" sz="900" i="1">
                    <a:solidFill>
                      <a:srgbClr val="3C17CF"/>
                    </a:solidFill>
                    <a:latin typeface="Aptos" panose="02110004020202020204"/>
                  </a:rPr>
                  <a:t>Sell Stock </a:t>
                </a:r>
                <a:r>
                  <a:rPr kumimoji="0" lang="en-GB" sz="900" i="1" u="none" strike="noStrike" kern="1200" cap="none" spc="0" normalizeH="0" baseline="0" noProof="0">
                    <a:ln>
                      <a:noFill/>
                    </a:ln>
                    <a:solidFill>
                      <a:srgbClr val="3C17C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agent and more…</a:t>
                </a:r>
              </a:p>
            </p:txBody>
          </p:sp>
          <p:sp>
            <p:nvSpPr>
              <p:cNvPr id="99" name="Rectangle: Rounded Corners 98">
                <a:extLst>
                  <a:ext uri="{FF2B5EF4-FFF2-40B4-BE49-F238E27FC236}">
                    <a16:creationId xmlns:a16="http://schemas.microsoft.com/office/drawing/2014/main" id="{149F7FCB-B250-5491-99F8-F329E336907A}"/>
                  </a:ext>
                </a:extLst>
              </p:cNvPr>
              <p:cNvSpPr/>
              <p:nvPr/>
            </p:nvSpPr>
            <p:spPr>
              <a:xfrm>
                <a:off x="7424356" y="1761230"/>
                <a:ext cx="1564926" cy="369332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000" b="1">
                    <a:solidFill>
                      <a:schemeClr val="bg1"/>
                    </a:solidFill>
                  </a:rPr>
                  <a:t>Extracted data  sent to workflow</a:t>
                </a:r>
              </a:p>
            </p:txBody>
          </p:sp>
          <p:sp>
            <p:nvSpPr>
              <p:cNvPr id="100" name="Rectangle: Rounded Corners 99">
                <a:extLst>
                  <a:ext uri="{FF2B5EF4-FFF2-40B4-BE49-F238E27FC236}">
                    <a16:creationId xmlns:a16="http://schemas.microsoft.com/office/drawing/2014/main" id="{E8DAD0E2-4D49-EB1F-4813-ED223A892F4D}"/>
                  </a:ext>
                </a:extLst>
              </p:cNvPr>
              <p:cNvSpPr/>
              <p:nvPr/>
            </p:nvSpPr>
            <p:spPr>
              <a:xfrm>
                <a:off x="10655542" y="1761230"/>
                <a:ext cx="1398327" cy="369332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000" b="1">
                    <a:solidFill>
                      <a:schemeClr val="bg1"/>
                    </a:solidFill>
                  </a:rPr>
                  <a:t>RPA bot to complete transaction</a:t>
                </a:r>
              </a:p>
            </p:txBody>
          </p:sp>
          <p:sp>
            <p:nvSpPr>
              <p:cNvPr id="101" name="Rectangle: Rounded Corners 100">
                <a:extLst>
                  <a:ext uri="{FF2B5EF4-FFF2-40B4-BE49-F238E27FC236}">
                    <a16:creationId xmlns:a16="http://schemas.microsoft.com/office/drawing/2014/main" id="{29F300B9-75E1-6848-81B5-13FDF9B722EC}"/>
                  </a:ext>
                </a:extLst>
              </p:cNvPr>
              <p:cNvSpPr/>
              <p:nvPr/>
            </p:nvSpPr>
            <p:spPr>
              <a:xfrm>
                <a:off x="9246002" y="1761230"/>
                <a:ext cx="1122034" cy="369332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000" b="1">
                    <a:solidFill>
                      <a:schemeClr val="bg1"/>
                    </a:solidFill>
                  </a:rPr>
                  <a:t>Human validation</a:t>
                </a:r>
              </a:p>
            </p:txBody>
          </p:sp>
          <p:cxnSp>
            <p:nvCxnSpPr>
              <p:cNvPr id="121" name="Straight Arrow Connector 120">
                <a:extLst>
                  <a:ext uri="{FF2B5EF4-FFF2-40B4-BE49-F238E27FC236}">
                    <a16:creationId xmlns:a16="http://schemas.microsoft.com/office/drawing/2014/main" id="{82E116BC-4580-E1D1-7858-A9AA5F474E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67636" y="1944223"/>
                <a:ext cx="25809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Arrow Connector 121">
                <a:extLst>
                  <a:ext uri="{FF2B5EF4-FFF2-40B4-BE49-F238E27FC236}">
                    <a16:creationId xmlns:a16="http://schemas.microsoft.com/office/drawing/2014/main" id="{B7DDAD24-7439-5139-B8BB-D0E9089AE9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89282" y="1944223"/>
                <a:ext cx="25809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5809681F-C635-5FE9-AA19-0317F61299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87086" y="1944223"/>
                <a:ext cx="25809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3E41C995-67C1-8BE3-3E4D-179B9B161032}"/>
                  </a:ext>
                </a:extLst>
              </p:cNvPr>
              <p:cNvSpPr txBox="1"/>
              <p:nvPr/>
            </p:nvSpPr>
            <p:spPr>
              <a:xfrm>
                <a:off x="1982376" y="1955155"/>
                <a:ext cx="1323573" cy="13849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900" i="1" u="none" strike="noStrike" kern="1200" cap="none" spc="0" normalizeH="0" baseline="0" noProof="0">
                    <a:ln>
                      <a:noFill/>
                    </a:ln>
                    <a:solidFill>
                      <a:srgbClr val="3C17CF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Documents classified</a:t>
                </a:r>
              </a:p>
            </p:txBody>
          </p:sp>
          <p:sp>
            <p:nvSpPr>
              <p:cNvPr id="2058" name="Rectangle: Rounded Corners 2057">
                <a:extLst>
                  <a:ext uri="{FF2B5EF4-FFF2-40B4-BE49-F238E27FC236}">
                    <a16:creationId xmlns:a16="http://schemas.microsoft.com/office/drawing/2014/main" id="{7502B965-67EE-4364-C0FC-2D4FC6B76984}"/>
                  </a:ext>
                </a:extLst>
              </p:cNvPr>
              <p:cNvSpPr/>
              <p:nvPr/>
            </p:nvSpPr>
            <p:spPr>
              <a:xfrm>
                <a:off x="5857996" y="2414999"/>
                <a:ext cx="1323574" cy="579527"/>
              </a:xfrm>
              <a:prstGeom prst="roundRect">
                <a:avLst/>
              </a:prstGeom>
              <a:solidFill>
                <a:schemeClr val="bg2">
                  <a:lumMod val="85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000" b="1">
                    <a:solidFill>
                      <a:schemeClr val="bg1">
                        <a:lumMod val="50000"/>
                      </a:schemeClr>
                    </a:solidFill>
                  </a:rPr>
                  <a:t>Specialised transaction agent</a:t>
                </a:r>
              </a:p>
            </p:txBody>
          </p:sp>
          <p:cxnSp>
            <p:nvCxnSpPr>
              <p:cNvPr id="65" name="Connector: Elbow 64">
                <a:extLst>
                  <a:ext uri="{FF2B5EF4-FFF2-40B4-BE49-F238E27FC236}">
                    <a16:creationId xmlns:a16="http://schemas.microsoft.com/office/drawing/2014/main" id="{BCAEBD17-9F98-D88B-912B-F6B60034489C}"/>
                  </a:ext>
                </a:extLst>
              </p:cNvPr>
              <p:cNvCxnSpPr>
                <a:cxnSpLocks/>
                <a:stCxn id="5" idx="3"/>
                <a:endCxn id="7" idx="1"/>
              </p:cNvCxnSpPr>
              <p:nvPr/>
            </p:nvCxnSpPr>
            <p:spPr>
              <a:xfrm flipV="1">
                <a:off x="3158463" y="2050992"/>
                <a:ext cx="2685599" cy="256272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64" name="TextBox 2063">
                <a:extLst>
                  <a:ext uri="{FF2B5EF4-FFF2-40B4-BE49-F238E27FC236}">
                    <a16:creationId xmlns:a16="http://schemas.microsoft.com/office/drawing/2014/main" id="{399B1D9C-6ECA-165D-BD79-DA039BCFBDDA}"/>
                  </a:ext>
                </a:extLst>
              </p:cNvPr>
              <p:cNvSpPr txBox="1"/>
              <p:nvPr/>
            </p:nvSpPr>
            <p:spPr>
              <a:xfrm>
                <a:off x="3261939" y="2795290"/>
                <a:ext cx="1219766" cy="138499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900" i="1" u="none" strike="noStrike" kern="1200" cap="none" spc="0" normalizeH="0" baseline="0" noProof="0">
                    <a:ln>
                      <a:noFill/>
                    </a:ln>
                    <a:solidFill>
                      <a:srgbClr val="3C17CF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Workflow?</a:t>
                </a:r>
              </a:p>
            </p:txBody>
          </p:sp>
        </p:grpSp>
        <p:pic>
          <p:nvPicPr>
            <p:cNvPr id="2112" name="Graphic 2111" descr="Artificial Intelligence outline">
              <a:extLst>
                <a:ext uri="{FF2B5EF4-FFF2-40B4-BE49-F238E27FC236}">
                  <a16:creationId xmlns:a16="http://schemas.microsoft.com/office/drawing/2014/main" id="{71D3C5EB-A60F-6E0C-FCBA-ED91B03EDB1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67004" y="1639290"/>
              <a:ext cx="313260" cy="313260"/>
            </a:xfrm>
            <a:prstGeom prst="rect">
              <a:avLst/>
            </a:prstGeom>
          </p:spPr>
        </p:pic>
        <p:pic>
          <p:nvPicPr>
            <p:cNvPr id="2114" name="Graphic 2113" descr="Artificial Intelligence outline">
              <a:extLst>
                <a:ext uri="{FF2B5EF4-FFF2-40B4-BE49-F238E27FC236}">
                  <a16:creationId xmlns:a16="http://schemas.microsoft.com/office/drawing/2014/main" id="{7BDA30B3-959E-5C63-F489-F69A8652A7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74171" y="2312800"/>
              <a:ext cx="313260" cy="313260"/>
            </a:xfrm>
            <a:prstGeom prst="rect">
              <a:avLst/>
            </a:prstGeom>
          </p:spPr>
        </p:pic>
      </p:grpSp>
      <p:sp>
        <p:nvSpPr>
          <p:cNvPr id="2123" name="TextBox 2122">
            <a:extLst>
              <a:ext uri="{FF2B5EF4-FFF2-40B4-BE49-F238E27FC236}">
                <a16:creationId xmlns:a16="http://schemas.microsoft.com/office/drawing/2014/main" id="{52075D1A-BB28-7B6D-A602-62C52BCBC5EF}"/>
              </a:ext>
            </a:extLst>
          </p:cNvPr>
          <p:cNvSpPr txBox="1"/>
          <p:nvPr/>
        </p:nvSpPr>
        <p:spPr>
          <a:xfrm>
            <a:off x="5736414" y="5146600"/>
            <a:ext cx="1398326" cy="415498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i="1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Transaction classified, relevant data extracted.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i="1">
                <a:solidFill>
                  <a:srgbClr val="3C17CF"/>
                </a:solidFill>
                <a:latin typeface="Aptos" panose="02110004020202020204"/>
              </a:rPr>
              <a:t>Each agent has own prompt</a:t>
            </a:r>
            <a:endParaRPr kumimoji="0" lang="en-GB" sz="900" i="1" u="none" strike="noStrike" kern="1200" cap="none" spc="0" normalizeH="0" baseline="0" noProof="0">
              <a:ln>
                <a:noFill/>
              </a:ln>
              <a:solidFill>
                <a:srgbClr val="3C17C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24" name="TextBox 2123">
            <a:extLst>
              <a:ext uri="{FF2B5EF4-FFF2-40B4-BE49-F238E27FC236}">
                <a16:creationId xmlns:a16="http://schemas.microsoft.com/office/drawing/2014/main" id="{05700E0E-1630-609E-C111-7BA7E1F89862}"/>
              </a:ext>
            </a:extLst>
          </p:cNvPr>
          <p:cNvSpPr txBox="1"/>
          <p:nvPr/>
        </p:nvSpPr>
        <p:spPr>
          <a:xfrm>
            <a:off x="7312014" y="5313115"/>
            <a:ext cx="1684046" cy="138499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i="1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Relevant data sent for processing</a:t>
            </a:r>
          </a:p>
        </p:txBody>
      </p:sp>
      <p:sp>
        <p:nvSpPr>
          <p:cNvPr id="2125" name="TextBox 2124">
            <a:extLst>
              <a:ext uri="{FF2B5EF4-FFF2-40B4-BE49-F238E27FC236}">
                <a16:creationId xmlns:a16="http://schemas.microsoft.com/office/drawing/2014/main" id="{7EF9E163-7233-948F-5162-B2AB5AFB0626}"/>
              </a:ext>
            </a:extLst>
          </p:cNvPr>
          <p:cNvSpPr txBox="1"/>
          <p:nvPr/>
        </p:nvSpPr>
        <p:spPr>
          <a:xfrm>
            <a:off x="9399441" y="5313114"/>
            <a:ext cx="1122034" cy="138499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i="1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Data verified </a:t>
            </a:r>
          </a:p>
        </p:txBody>
      </p:sp>
      <p:sp>
        <p:nvSpPr>
          <p:cNvPr id="2126" name="TextBox 2125">
            <a:extLst>
              <a:ext uri="{FF2B5EF4-FFF2-40B4-BE49-F238E27FC236}">
                <a16:creationId xmlns:a16="http://schemas.microsoft.com/office/drawing/2014/main" id="{979810CF-90E4-A2E5-BD46-BE52CB29ADDD}"/>
              </a:ext>
            </a:extLst>
          </p:cNvPr>
          <p:cNvSpPr txBox="1"/>
          <p:nvPr/>
        </p:nvSpPr>
        <p:spPr>
          <a:xfrm>
            <a:off x="10610161" y="5311722"/>
            <a:ext cx="1398326" cy="138499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i="1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Transaction processed </a:t>
            </a:r>
          </a:p>
        </p:txBody>
      </p:sp>
      <p:sp>
        <p:nvSpPr>
          <p:cNvPr id="2127" name="Rectangle: Rounded Corners 2126">
            <a:extLst>
              <a:ext uri="{FF2B5EF4-FFF2-40B4-BE49-F238E27FC236}">
                <a16:creationId xmlns:a16="http://schemas.microsoft.com/office/drawing/2014/main" id="{8185D044-2E8F-F34E-86B2-9702B3B241F5}"/>
              </a:ext>
            </a:extLst>
          </p:cNvPr>
          <p:cNvSpPr/>
          <p:nvPr/>
        </p:nvSpPr>
        <p:spPr>
          <a:xfrm>
            <a:off x="217296" y="5503503"/>
            <a:ext cx="1415314" cy="369332"/>
          </a:xfrm>
          <a:prstGeom prst="roundRect">
            <a:avLst/>
          </a:prstGeom>
          <a:solidFill>
            <a:schemeClr val="accent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b="1">
                <a:solidFill>
                  <a:schemeClr val="bg1"/>
                </a:solidFill>
              </a:rPr>
              <a:t>Document scanned</a:t>
            </a:r>
          </a:p>
          <a:p>
            <a:pPr algn="ctr"/>
            <a:r>
              <a:rPr lang="en-GB" sz="1000" b="1">
                <a:solidFill>
                  <a:schemeClr val="bg1"/>
                </a:solidFill>
              </a:rPr>
              <a:t>(mailroom)</a:t>
            </a:r>
          </a:p>
        </p:txBody>
      </p:sp>
      <p:sp>
        <p:nvSpPr>
          <p:cNvPr id="2129" name="Rectangle: Rounded Corners 2128">
            <a:extLst>
              <a:ext uri="{FF2B5EF4-FFF2-40B4-BE49-F238E27FC236}">
                <a16:creationId xmlns:a16="http://schemas.microsoft.com/office/drawing/2014/main" id="{62C2F5C8-7ED3-7362-A158-C54FAD48B14C}"/>
              </a:ext>
            </a:extLst>
          </p:cNvPr>
          <p:cNvSpPr/>
          <p:nvPr/>
        </p:nvSpPr>
        <p:spPr>
          <a:xfrm>
            <a:off x="5722480" y="5583072"/>
            <a:ext cx="1323574" cy="579526"/>
          </a:xfrm>
          <a:prstGeom prst="roundRect">
            <a:avLst/>
          </a:prstGeom>
          <a:solidFill>
            <a:schemeClr val="accent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b="1">
                <a:solidFill>
                  <a:schemeClr val="bg1"/>
                </a:solidFill>
              </a:rPr>
              <a:t>Specialised transaction agent</a:t>
            </a:r>
          </a:p>
        </p:txBody>
      </p:sp>
      <p:cxnSp>
        <p:nvCxnSpPr>
          <p:cNvPr id="2130" name="Straight Arrow Connector 2129">
            <a:extLst>
              <a:ext uri="{FF2B5EF4-FFF2-40B4-BE49-F238E27FC236}">
                <a16:creationId xmlns:a16="http://schemas.microsoft.com/office/drawing/2014/main" id="{232EDB87-5DA0-5FA2-F893-D57D72793B1E}"/>
              </a:ext>
            </a:extLst>
          </p:cNvPr>
          <p:cNvCxnSpPr>
            <a:cxnSpLocks/>
          </p:cNvCxnSpPr>
          <p:nvPr/>
        </p:nvCxnSpPr>
        <p:spPr>
          <a:xfrm>
            <a:off x="1688859" y="5683546"/>
            <a:ext cx="2580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2" name="Connector: Elbow 2131">
            <a:extLst>
              <a:ext uri="{FF2B5EF4-FFF2-40B4-BE49-F238E27FC236}">
                <a16:creationId xmlns:a16="http://schemas.microsoft.com/office/drawing/2014/main" id="{3A26DFA9-73EC-4352-7845-5910973F07D6}"/>
              </a:ext>
            </a:extLst>
          </p:cNvPr>
          <p:cNvCxnSpPr>
            <a:cxnSpLocks/>
          </p:cNvCxnSpPr>
          <p:nvPr/>
        </p:nvCxnSpPr>
        <p:spPr>
          <a:xfrm>
            <a:off x="4606324" y="5868880"/>
            <a:ext cx="1080446" cy="628078"/>
          </a:xfrm>
          <a:prstGeom prst="bentConnector3">
            <a:avLst>
              <a:gd name="adj1" fmla="val 1113"/>
            </a:avLst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3" name="TextBox 2132">
            <a:extLst>
              <a:ext uri="{FF2B5EF4-FFF2-40B4-BE49-F238E27FC236}">
                <a16:creationId xmlns:a16="http://schemas.microsoft.com/office/drawing/2014/main" id="{670E7CD5-2DAC-32BB-D299-D825D10A8D2A}"/>
              </a:ext>
            </a:extLst>
          </p:cNvPr>
          <p:cNvSpPr txBox="1"/>
          <p:nvPr/>
        </p:nvSpPr>
        <p:spPr>
          <a:xfrm>
            <a:off x="4655968" y="5696059"/>
            <a:ext cx="1089454" cy="138499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i="1" u="none" strike="noStrike" kern="1200" cap="none" spc="0" normalizeH="0" baseline="0" noProof="0" err="1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e.g</a:t>
            </a:r>
            <a:r>
              <a:rPr kumimoji="0" lang="en-GB" sz="900" i="1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DRIP OCP agent</a:t>
            </a:r>
          </a:p>
        </p:txBody>
      </p:sp>
      <p:sp>
        <p:nvSpPr>
          <p:cNvPr id="2134" name="TextBox 2133">
            <a:extLst>
              <a:ext uri="{FF2B5EF4-FFF2-40B4-BE49-F238E27FC236}">
                <a16:creationId xmlns:a16="http://schemas.microsoft.com/office/drawing/2014/main" id="{2E973323-0406-EDED-12E3-7B47796DB4C2}"/>
              </a:ext>
            </a:extLst>
          </p:cNvPr>
          <p:cNvSpPr txBox="1"/>
          <p:nvPr/>
        </p:nvSpPr>
        <p:spPr>
          <a:xfrm>
            <a:off x="4722773" y="6197660"/>
            <a:ext cx="1089454" cy="276999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i="1" u="none" strike="noStrike" kern="1200" cap="none" spc="0" normalizeH="0" baseline="0" noProof="0" err="1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e.g</a:t>
            </a:r>
            <a:r>
              <a:rPr kumimoji="0" lang="en-GB" sz="900" i="1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</a:t>
            </a:r>
            <a:r>
              <a:rPr lang="en-GB" sz="900" i="1">
                <a:solidFill>
                  <a:srgbClr val="3C17CF"/>
                </a:solidFill>
                <a:latin typeface="Aptos" panose="02110004020202020204"/>
              </a:rPr>
              <a:t>Sell Stock </a:t>
            </a:r>
            <a:r>
              <a:rPr kumimoji="0" lang="en-GB" sz="900" i="1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agent and more…</a:t>
            </a:r>
          </a:p>
        </p:txBody>
      </p:sp>
      <p:sp>
        <p:nvSpPr>
          <p:cNvPr id="2135" name="Rectangle: Rounded Corners 2134">
            <a:extLst>
              <a:ext uri="{FF2B5EF4-FFF2-40B4-BE49-F238E27FC236}">
                <a16:creationId xmlns:a16="http://schemas.microsoft.com/office/drawing/2014/main" id="{53EB2E9F-658B-5568-A3B7-6C87A812596E}"/>
              </a:ext>
            </a:extLst>
          </p:cNvPr>
          <p:cNvSpPr/>
          <p:nvPr/>
        </p:nvSpPr>
        <p:spPr>
          <a:xfrm>
            <a:off x="7302774" y="5583073"/>
            <a:ext cx="1564926" cy="369332"/>
          </a:xfrm>
          <a:prstGeom prst="roundRect">
            <a:avLst/>
          </a:prstGeom>
          <a:solidFill>
            <a:schemeClr val="accent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b="1">
                <a:solidFill>
                  <a:schemeClr val="bg1"/>
                </a:solidFill>
              </a:rPr>
              <a:t>Extracted data  sent to workflow</a:t>
            </a:r>
          </a:p>
        </p:txBody>
      </p:sp>
      <p:sp>
        <p:nvSpPr>
          <p:cNvPr id="2136" name="Rectangle: Rounded Corners 2135">
            <a:extLst>
              <a:ext uri="{FF2B5EF4-FFF2-40B4-BE49-F238E27FC236}">
                <a16:creationId xmlns:a16="http://schemas.microsoft.com/office/drawing/2014/main" id="{01AE492C-CA94-F199-445F-BE46F807A04B}"/>
              </a:ext>
            </a:extLst>
          </p:cNvPr>
          <p:cNvSpPr/>
          <p:nvPr/>
        </p:nvSpPr>
        <p:spPr>
          <a:xfrm>
            <a:off x="10533960" y="5583073"/>
            <a:ext cx="1398327" cy="369332"/>
          </a:xfrm>
          <a:prstGeom prst="roundRect">
            <a:avLst/>
          </a:prstGeom>
          <a:solidFill>
            <a:schemeClr val="accent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b="1">
                <a:solidFill>
                  <a:schemeClr val="bg1"/>
                </a:solidFill>
              </a:rPr>
              <a:t>RPA bot to complete transaction</a:t>
            </a:r>
          </a:p>
        </p:txBody>
      </p:sp>
      <p:sp>
        <p:nvSpPr>
          <p:cNvPr id="2137" name="Rectangle: Rounded Corners 2136">
            <a:extLst>
              <a:ext uri="{FF2B5EF4-FFF2-40B4-BE49-F238E27FC236}">
                <a16:creationId xmlns:a16="http://schemas.microsoft.com/office/drawing/2014/main" id="{A201894F-9976-33D6-23F5-2377A1CAC933}"/>
              </a:ext>
            </a:extLst>
          </p:cNvPr>
          <p:cNvSpPr/>
          <p:nvPr/>
        </p:nvSpPr>
        <p:spPr>
          <a:xfrm>
            <a:off x="9124420" y="5583073"/>
            <a:ext cx="1122034" cy="369332"/>
          </a:xfrm>
          <a:prstGeom prst="roundRect">
            <a:avLst/>
          </a:prstGeom>
          <a:solidFill>
            <a:schemeClr val="accent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b="1">
                <a:solidFill>
                  <a:schemeClr val="bg1"/>
                </a:solidFill>
              </a:rPr>
              <a:t>Human validation</a:t>
            </a:r>
          </a:p>
        </p:txBody>
      </p:sp>
      <p:cxnSp>
        <p:nvCxnSpPr>
          <p:cNvPr id="2138" name="Straight Arrow Connector 2137">
            <a:extLst>
              <a:ext uri="{FF2B5EF4-FFF2-40B4-BE49-F238E27FC236}">
                <a16:creationId xmlns:a16="http://schemas.microsoft.com/office/drawing/2014/main" id="{59D5D2CD-2E38-4C0B-90E8-47AB868041A4}"/>
              </a:ext>
            </a:extLst>
          </p:cNvPr>
          <p:cNvCxnSpPr>
            <a:cxnSpLocks/>
          </p:cNvCxnSpPr>
          <p:nvPr/>
        </p:nvCxnSpPr>
        <p:spPr>
          <a:xfrm>
            <a:off x="7046054" y="5766066"/>
            <a:ext cx="2580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9" name="Straight Arrow Connector 2138">
            <a:extLst>
              <a:ext uri="{FF2B5EF4-FFF2-40B4-BE49-F238E27FC236}">
                <a16:creationId xmlns:a16="http://schemas.microsoft.com/office/drawing/2014/main" id="{1DE55F89-C82D-C432-83DB-337F2121ABE7}"/>
              </a:ext>
            </a:extLst>
          </p:cNvPr>
          <p:cNvCxnSpPr>
            <a:cxnSpLocks/>
          </p:cNvCxnSpPr>
          <p:nvPr/>
        </p:nvCxnSpPr>
        <p:spPr>
          <a:xfrm>
            <a:off x="8867700" y="5766066"/>
            <a:ext cx="2580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0" name="Straight Arrow Connector 2139">
            <a:extLst>
              <a:ext uri="{FF2B5EF4-FFF2-40B4-BE49-F238E27FC236}">
                <a16:creationId xmlns:a16="http://schemas.microsoft.com/office/drawing/2014/main" id="{43BBF981-5632-D54A-BC10-19BA837F931E}"/>
              </a:ext>
            </a:extLst>
          </p:cNvPr>
          <p:cNvCxnSpPr>
            <a:cxnSpLocks/>
          </p:cNvCxnSpPr>
          <p:nvPr/>
        </p:nvCxnSpPr>
        <p:spPr>
          <a:xfrm>
            <a:off x="10265504" y="5766066"/>
            <a:ext cx="2580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1" name="TextBox 2140">
            <a:extLst>
              <a:ext uri="{FF2B5EF4-FFF2-40B4-BE49-F238E27FC236}">
                <a16:creationId xmlns:a16="http://schemas.microsoft.com/office/drawing/2014/main" id="{0E345F11-E1A5-DBBE-8E0B-257EB2FA662D}"/>
              </a:ext>
            </a:extLst>
          </p:cNvPr>
          <p:cNvSpPr txBox="1"/>
          <p:nvPr/>
        </p:nvSpPr>
        <p:spPr>
          <a:xfrm>
            <a:off x="2176079" y="5311722"/>
            <a:ext cx="1587873" cy="138499"/>
          </a:xfrm>
          <a:prstGeom prst="rect">
            <a:avLst/>
          </a:prstGeom>
          <a:noFill/>
          <a:ln w="25400"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i="1" u="none" strike="noStrike" kern="1200" cap="none" spc="0" normalizeH="0" baseline="0" noProof="0">
                <a:ln>
                  <a:noFill/>
                </a:ln>
                <a:solidFill>
                  <a:srgbClr val="3C17C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Categorization (intent only)</a:t>
            </a:r>
          </a:p>
        </p:txBody>
      </p:sp>
      <p:sp>
        <p:nvSpPr>
          <p:cNvPr id="2142" name="Rectangle: Rounded Corners 2141">
            <a:extLst>
              <a:ext uri="{FF2B5EF4-FFF2-40B4-BE49-F238E27FC236}">
                <a16:creationId xmlns:a16="http://schemas.microsoft.com/office/drawing/2014/main" id="{921B1B71-7BCD-2028-F357-31BE5DDB8713}"/>
              </a:ext>
            </a:extLst>
          </p:cNvPr>
          <p:cNvSpPr/>
          <p:nvPr/>
        </p:nvSpPr>
        <p:spPr>
          <a:xfrm>
            <a:off x="5736414" y="6236842"/>
            <a:ext cx="1323574" cy="579527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b="1">
                <a:solidFill>
                  <a:schemeClr val="bg1">
                    <a:lumMod val="50000"/>
                  </a:schemeClr>
                </a:solidFill>
              </a:rPr>
              <a:t>Specialised transaction agent</a:t>
            </a:r>
          </a:p>
        </p:txBody>
      </p:sp>
      <p:cxnSp>
        <p:nvCxnSpPr>
          <p:cNvPr id="2143" name="Connector: Elbow 2142">
            <a:extLst>
              <a:ext uri="{FF2B5EF4-FFF2-40B4-BE49-F238E27FC236}">
                <a16:creationId xmlns:a16="http://schemas.microsoft.com/office/drawing/2014/main" id="{857FF26B-BC0C-E428-D16F-2C7CD7AFBD39}"/>
              </a:ext>
            </a:extLst>
          </p:cNvPr>
          <p:cNvCxnSpPr>
            <a:cxnSpLocks/>
            <a:stCxn id="2163" idx="3"/>
            <a:endCxn id="2129" idx="1"/>
          </p:cNvCxnSpPr>
          <p:nvPr/>
        </p:nvCxnSpPr>
        <p:spPr>
          <a:xfrm>
            <a:off x="3886035" y="5692590"/>
            <a:ext cx="1836445" cy="180245"/>
          </a:xfrm>
          <a:prstGeom prst="bentConnector3">
            <a:avLst>
              <a:gd name="adj1" fmla="val 3957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21" name="Graphic 2120" descr="Artificial Intelligence outline">
            <a:extLst>
              <a:ext uri="{FF2B5EF4-FFF2-40B4-BE49-F238E27FC236}">
                <a16:creationId xmlns:a16="http://schemas.microsoft.com/office/drawing/2014/main" id="{D5CDAB4C-9F28-AC42-61BF-922B266C01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45422" y="5593690"/>
            <a:ext cx="313260" cy="313260"/>
          </a:xfrm>
          <a:prstGeom prst="rect">
            <a:avLst/>
          </a:prstGeom>
        </p:spPr>
      </p:pic>
      <p:pic>
        <p:nvPicPr>
          <p:cNvPr id="2122" name="Graphic 2121" descr="Artificial Intelligence outline">
            <a:extLst>
              <a:ext uri="{FF2B5EF4-FFF2-40B4-BE49-F238E27FC236}">
                <a16:creationId xmlns:a16="http://schemas.microsoft.com/office/drawing/2014/main" id="{99EE7514-1B42-5B31-1C06-AB30C9F671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52589" y="6267200"/>
            <a:ext cx="313260" cy="313260"/>
          </a:xfrm>
          <a:prstGeom prst="rect">
            <a:avLst/>
          </a:prstGeom>
        </p:spPr>
      </p:pic>
      <p:cxnSp>
        <p:nvCxnSpPr>
          <p:cNvPr id="2146" name="Straight Connector 2145">
            <a:extLst>
              <a:ext uri="{FF2B5EF4-FFF2-40B4-BE49-F238E27FC236}">
                <a16:creationId xmlns:a16="http://schemas.microsoft.com/office/drawing/2014/main" id="{59CDC63F-3048-DD3E-8D62-7B2B00447CE1}"/>
              </a:ext>
            </a:extLst>
          </p:cNvPr>
          <p:cNvCxnSpPr/>
          <p:nvPr/>
        </p:nvCxnSpPr>
        <p:spPr>
          <a:xfrm>
            <a:off x="217296" y="2689963"/>
            <a:ext cx="11669904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7" name="Straight Connector 2146">
            <a:extLst>
              <a:ext uri="{FF2B5EF4-FFF2-40B4-BE49-F238E27FC236}">
                <a16:creationId xmlns:a16="http://schemas.microsoft.com/office/drawing/2014/main" id="{2D73E20F-E068-26BB-329F-4908E275B1CA}"/>
              </a:ext>
            </a:extLst>
          </p:cNvPr>
          <p:cNvCxnSpPr/>
          <p:nvPr/>
        </p:nvCxnSpPr>
        <p:spPr>
          <a:xfrm>
            <a:off x="213911" y="4834499"/>
            <a:ext cx="11669904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3" name="Rectangle: Rounded Corners 2162">
            <a:extLst>
              <a:ext uri="{FF2B5EF4-FFF2-40B4-BE49-F238E27FC236}">
                <a16:creationId xmlns:a16="http://schemas.microsoft.com/office/drawing/2014/main" id="{F99E4A38-839F-70AF-7FEE-2901091DAA38}"/>
              </a:ext>
            </a:extLst>
          </p:cNvPr>
          <p:cNvSpPr/>
          <p:nvPr/>
        </p:nvSpPr>
        <p:spPr>
          <a:xfrm>
            <a:off x="1991430" y="5484841"/>
            <a:ext cx="1894605" cy="415498"/>
          </a:xfrm>
          <a:prstGeom prst="roundRect">
            <a:avLst/>
          </a:prstGeom>
          <a:solidFill>
            <a:schemeClr val="accent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b="1">
                <a:solidFill>
                  <a:schemeClr val="bg1"/>
                </a:solidFill>
              </a:rPr>
              <a:t>Orchestrator Agent to identify intent, assign queue</a:t>
            </a:r>
          </a:p>
        </p:txBody>
      </p:sp>
      <p:sp>
        <p:nvSpPr>
          <p:cNvPr id="2164" name="Rectangle: Rounded Corners 2163">
            <a:extLst>
              <a:ext uri="{FF2B5EF4-FFF2-40B4-BE49-F238E27FC236}">
                <a16:creationId xmlns:a16="http://schemas.microsoft.com/office/drawing/2014/main" id="{E3CA6C81-A4D2-30BE-221D-58FC51921849}"/>
              </a:ext>
            </a:extLst>
          </p:cNvPr>
          <p:cNvSpPr/>
          <p:nvPr/>
        </p:nvSpPr>
        <p:spPr>
          <a:xfrm>
            <a:off x="1991430" y="6107885"/>
            <a:ext cx="1905397" cy="369332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b="1">
                <a:solidFill>
                  <a:schemeClr val="bg1"/>
                </a:solidFill>
              </a:rPr>
              <a:t>DOPs to identify the specific case and what to extract</a:t>
            </a:r>
          </a:p>
        </p:txBody>
      </p:sp>
      <p:cxnSp>
        <p:nvCxnSpPr>
          <p:cNvPr id="2165" name="Straight Arrow Connector 2164">
            <a:extLst>
              <a:ext uri="{FF2B5EF4-FFF2-40B4-BE49-F238E27FC236}">
                <a16:creationId xmlns:a16="http://schemas.microsoft.com/office/drawing/2014/main" id="{12BF3C8D-D86B-DAC8-57B6-A42B47BF6517}"/>
              </a:ext>
            </a:extLst>
          </p:cNvPr>
          <p:cNvCxnSpPr>
            <a:cxnSpLocks/>
          </p:cNvCxnSpPr>
          <p:nvPr/>
        </p:nvCxnSpPr>
        <p:spPr>
          <a:xfrm>
            <a:off x="2539609" y="5911114"/>
            <a:ext cx="0" cy="208598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6" name="Straight Arrow Connector 2165">
            <a:extLst>
              <a:ext uri="{FF2B5EF4-FFF2-40B4-BE49-F238E27FC236}">
                <a16:creationId xmlns:a16="http://schemas.microsoft.com/office/drawing/2014/main" id="{79D039A5-D796-1A3D-FDCE-5C8E29EFF194}"/>
              </a:ext>
            </a:extLst>
          </p:cNvPr>
          <p:cNvCxnSpPr>
            <a:cxnSpLocks/>
          </p:cNvCxnSpPr>
          <p:nvPr/>
        </p:nvCxnSpPr>
        <p:spPr>
          <a:xfrm flipV="1">
            <a:off x="3235650" y="5911114"/>
            <a:ext cx="0" cy="20438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67" name="Graphic 2166" descr="Artificial Intelligence outline">
            <a:extLst>
              <a:ext uri="{FF2B5EF4-FFF2-40B4-BE49-F238E27FC236}">
                <a16:creationId xmlns:a16="http://schemas.microsoft.com/office/drawing/2014/main" id="{1EA92BE0-CE45-7D15-7838-6FF2BED2A0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3205" y="5533160"/>
            <a:ext cx="313260" cy="31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4208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14866-60DD-0243-C5DD-737763EEC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B594AFE-AAFF-240F-A0EB-675952B72982}"/>
              </a:ext>
            </a:extLst>
          </p:cNvPr>
          <p:cNvSpPr txBox="1">
            <a:spLocks/>
          </p:cNvSpPr>
          <p:nvPr/>
        </p:nvSpPr>
        <p:spPr>
          <a:xfrm>
            <a:off x="192067" y="239394"/>
            <a:ext cx="12922354" cy="51379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ts val="3240"/>
              </a:lnSpc>
              <a:spcBef>
                <a:spcPct val="0"/>
              </a:spcBef>
              <a:buNone/>
              <a:defRPr lang="en-US" sz="3200" b="0" i="0" kern="1200" spc="-80" baseline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/>
              <a:t>AI tool strategy and approach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23F890-02AD-BD5A-0A75-B68C0ED50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707353"/>
              </p:ext>
            </p:extLst>
          </p:nvPr>
        </p:nvGraphicFramePr>
        <p:xfrm>
          <a:off x="276445" y="1540247"/>
          <a:ext cx="11655633" cy="3763642"/>
        </p:xfrm>
        <a:graphic>
          <a:graphicData uri="http://schemas.openxmlformats.org/drawingml/2006/table">
            <a:tbl>
              <a:tblPr firstRow="1" firstCol="1">
                <a:tableStyleId>{3B4B98B0-60AC-42C2-AFA5-B58CD77FA1E5}</a:tableStyleId>
              </a:tblPr>
              <a:tblGrid>
                <a:gridCol w="1508090">
                  <a:extLst>
                    <a:ext uri="{9D8B030D-6E8A-4147-A177-3AD203B41FA5}">
                      <a16:colId xmlns:a16="http://schemas.microsoft.com/office/drawing/2014/main" val="374322866"/>
                    </a:ext>
                  </a:extLst>
                </a:gridCol>
                <a:gridCol w="3341411">
                  <a:extLst>
                    <a:ext uri="{9D8B030D-6E8A-4147-A177-3AD203B41FA5}">
                      <a16:colId xmlns:a16="http://schemas.microsoft.com/office/drawing/2014/main" val="2261069113"/>
                    </a:ext>
                  </a:extLst>
                </a:gridCol>
                <a:gridCol w="3082389">
                  <a:extLst>
                    <a:ext uri="{9D8B030D-6E8A-4147-A177-3AD203B41FA5}">
                      <a16:colId xmlns:a16="http://schemas.microsoft.com/office/drawing/2014/main" val="2150783287"/>
                    </a:ext>
                  </a:extLst>
                </a:gridCol>
                <a:gridCol w="3723743">
                  <a:extLst>
                    <a:ext uri="{9D8B030D-6E8A-4147-A177-3AD203B41FA5}">
                      <a16:colId xmlns:a16="http://schemas.microsoft.com/office/drawing/2014/main" val="1692035901"/>
                    </a:ext>
                  </a:extLst>
                </a:gridCol>
              </a:tblGrid>
              <a:tr h="161027">
                <a:tc>
                  <a:txBody>
                    <a:bodyPr/>
                    <a:lstStyle/>
                    <a:p>
                      <a:pPr algn="ctr"/>
                      <a:endParaRPr lang="en-GB" sz="1200"/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Option 1- multiple specialised agents</a:t>
                      </a: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Option 2- One agent + RAG</a:t>
                      </a: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Option 3- Orchestrator agent + specialised agent</a:t>
                      </a:r>
                    </a:p>
                  </a:txBody>
                  <a:tcP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0049950"/>
                  </a:ext>
                </a:extLst>
              </a:tr>
              <a:tr h="766317">
                <a:tc>
                  <a:txBody>
                    <a:bodyPr/>
                    <a:lstStyle/>
                    <a:p>
                      <a:r>
                        <a:rPr lang="en-GB" sz="12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Documents classified by human operators, then routed to the specialised AI agent to extract data and sent to workflow for the RPA bot to complete the transaction. 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One agent that identifies document intent, and refers to a knowledge base of DOPs to classify and extract data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Intent and categorization handled by the first agent, and then classification and data extraction handled by a second agent (possibly using RAG).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530280"/>
                  </a:ext>
                </a:extLst>
              </a:tr>
              <a:tr h="766317">
                <a:tc>
                  <a:txBody>
                    <a:bodyPr/>
                    <a:lstStyle/>
                    <a:p>
                      <a:r>
                        <a:rPr lang="en-GB" sz="1200"/>
                        <a:t>Schematic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GB" sz="1200"/>
                    </a:p>
                  </a:txBody>
                  <a:tcPr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GB" sz="1200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GB" sz="1200" b="1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548320"/>
                  </a:ext>
                </a:extLst>
              </a:tr>
              <a:tr h="766317">
                <a:tc>
                  <a:txBody>
                    <a:bodyPr/>
                    <a:lstStyle/>
                    <a:p>
                      <a:r>
                        <a:rPr lang="en-GB" sz="1200"/>
                        <a:t>Automation efficiency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High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Medium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029544"/>
                  </a:ext>
                </a:extLst>
              </a:tr>
              <a:tr h="566864">
                <a:tc>
                  <a:txBody>
                    <a:bodyPr/>
                    <a:lstStyle/>
                    <a:p>
                      <a:r>
                        <a:rPr lang="en-GB" sz="1200"/>
                        <a:t>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Simple (prompt only)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Medium (one or more RAG agents needed)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Medium (one or more RAG agents needed)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162420"/>
                  </a:ext>
                </a:extLst>
              </a:tr>
              <a:tr h="566864">
                <a:tc>
                  <a:txBody>
                    <a:bodyPr/>
                    <a:lstStyle/>
                    <a:p>
                      <a:r>
                        <a:rPr lang="en-GB" sz="1200"/>
                        <a:t>OKRs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/>
                        <a:t>Accuracy, speed, cost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Accuracy, speed, cost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Accuracy, speed, cost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89507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EEE3A26-6CF9-C20D-4EFE-8901769C5DFA}"/>
              </a:ext>
            </a:extLst>
          </p:cNvPr>
          <p:cNvSpPr txBox="1"/>
          <p:nvPr/>
        </p:nvSpPr>
        <p:spPr>
          <a:xfrm>
            <a:off x="276446" y="907769"/>
            <a:ext cx="11440666" cy="307777"/>
          </a:xfrm>
          <a:prstGeom prst="rect">
            <a:avLst/>
          </a:prstGeom>
          <a:solidFill>
            <a:srgbClr val="F2EAF0"/>
          </a:solidFill>
          <a:ln w="2540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l"/>
            <a:r>
              <a:rPr lang="en-GB" sz="1400">
                <a:solidFill>
                  <a:schemeClr val="accent1"/>
                </a:solidFill>
                <a:latin typeface="Aptos" panose="020B0004020202020204" pitchFamily="34" charset="0"/>
              </a:rPr>
              <a:t>Depending on initial test results, the preferred option will be based on a trade-off between LLM accuracy, speed and cost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106F6BF-2C41-FBE0-69EC-B50CA9F497D4}"/>
              </a:ext>
            </a:extLst>
          </p:cNvPr>
          <p:cNvSpPr/>
          <p:nvPr/>
        </p:nvSpPr>
        <p:spPr>
          <a:xfrm>
            <a:off x="1921126" y="2853320"/>
            <a:ext cx="854260" cy="369332"/>
          </a:xfrm>
          <a:prstGeom prst="roundRect">
            <a:avLst/>
          </a:prstGeom>
          <a:solidFill>
            <a:schemeClr val="accent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>
                <a:solidFill>
                  <a:schemeClr val="bg1"/>
                </a:solidFill>
              </a:rPr>
              <a:t>Document scanned and classified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5CBFB4F-AE53-8E20-0DA3-26520C06F607}"/>
              </a:ext>
            </a:extLst>
          </p:cNvPr>
          <p:cNvCxnSpPr>
            <a:cxnSpLocks/>
          </p:cNvCxnSpPr>
          <p:nvPr/>
        </p:nvCxnSpPr>
        <p:spPr>
          <a:xfrm>
            <a:off x="2818948" y="3037986"/>
            <a:ext cx="1810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8476E5C-8454-0714-2A49-41BBBCCB9EE8}"/>
              </a:ext>
            </a:extLst>
          </p:cNvPr>
          <p:cNvSpPr/>
          <p:nvPr/>
        </p:nvSpPr>
        <p:spPr>
          <a:xfrm>
            <a:off x="3022291" y="2853320"/>
            <a:ext cx="854260" cy="369332"/>
          </a:xfrm>
          <a:prstGeom prst="roundRect">
            <a:avLst/>
          </a:prstGeom>
          <a:solidFill>
            <a:schemeClr val="accent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>
                <a:solidFill>
                  <a:schemeClr val="bg1"/>
                </a:solidFill>
              </a:rPr>
              <a:t>LLM extracts data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F77AE61-BA85-663A-3C48-8320F1A81629}"/>
              </a:ext>
            </a:extLst>
          </p:cNvPr>
          <p:cNvSpPr/>
          <p:nvPr/>
        </p:nvSpPr>
        <p:spPr>
          <a:xfrm>
            <a:off x="4123456" y="2853320"/>
            <a:ext cx="854260" cy="369332"/>
          </a:xfrm>
          <a:prstGeom prst="roundRect">
            <a:avLst/>
          </a:prstGeom>
          <a:solidFill>
            <a:schemeClr val="accent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>
                <a:solidFill>
                  <a:schemeClr val="bg1"/>
                </a:solidFill>
              </a:rPr>
              <a:t>RPA completes transaction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3071CD5-E0E5-0813-13F6-4FB65CF4DBC8}"/>
              </a:ext>
            </a:extLst>
          </p:cNvPr>
          <p:cNvCxnSpPr>
            <a:cxnSpLocks/>
          </p:cNvCxnSpPr>
          <p:nvPr/>
        </p:nvCxnSpPr>
        <p:spPr>
          <a:xfrm>
            <a:off x="3910567" y="3037986"/>
            <a:ext cx="1810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883E9C1-A4D3-476E-3E3D-1572C1D0215C}"/>
              </a:ext>
            </a:extLst>
          </p:cNvPr>
          <p:cNvSpPr/>
          <p:nvPr/>
        </p:nvSpPr>
        <p:spPr>
          <a:xfrm>
            <a:off x="5224621" y="2867157"/>
            <a:ext cx="727473" cy="369332"/>
          </a:xfrm>
          <a:prstGeom prst="roundRect">
            <a:avLst/>
          </a:prstGeom>
          <a:solidFill>
            <a:schemeClr val="accent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>
                <a:solidFill>
                  <a:schemeClr val="bg1"/>
                </a:solidFill>
              </a:rPr>
              <a:t>Document scanned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321590-9AAD-E047-7078-7209D856BAAB}"/>
              </a:ext>
            </a:extLst>
          </p:cNvPr>
          <p:cNvCxnSpPr>
            <a:cxnSpLocks/>
          </p:cNvCxnSpPr>
          <p:nvPr/>
        </p:nvCxnSpPr>
        <p:spPr>
          <a:xfrm>
            <a:off x="5952094" y="3051823"/>
            <a:ext cx="1810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CC58E73-9199-78DE-5302-9869FEF9382E}"/>
              </a:ext>
            </a:extLst>
          </p:cNvPr>
          <p:cNvSpPr/>
          <p:nvPr/>
        </p:nvSpPr>
        <p:spPr>
          <a:xfrm>
            <a:off x="6145154" y="2867157"/>
            <a:ext cx="854260" cy="369332"/>
          </a:xfrm>
          <a:prstGeom prst="roundRect">
            <a:avLst/>
          </a:prstGeom>
          <a:solidFill>
            <a:schemeClr val="accent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>
                <a:solidFill>
                  <a:schemeClr val="bg1"/>
                </a:solidFill>
              </a:rPr>
              <a:t>Agent classifies, extracts data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79980F5-C097-B0D3-DDE6-4E8CA1C88448}"/>
              </a:ext>
            </a:extLst>
          </p:cNvPr>
          <p:cNvSpPr/>
          <p:nvPr/>
        </p:nvSpPr>
        <p:spPr>
          <a:xfrm>
            <a:off x="7180460" y="2867157"/>
            <a:ext cx="854260" cy="369332"/>
          </a:xfrm>
          <a:prstGeom prst="roundRect">
            <a:avLst/>
          </a:prstGeom>
          <a:solidFill>
            <a:schemeClr val="accent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>
                <a:solidFill>
                  <a:schemeClr val="bg1"/>
                </a:solidFill>
              </a:rPr>
              <a:t>RPA completes transaction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E174E4-2E8B-7397-6EFF-B9335080FE24}"/>
              </a:ext>
            </a:extLst>
          </p:cNvPr>
          <p:cNvCxnSpPr>
            <a:cxnSpLocks/>
          </p:cNvCxnSpPr>
          <p:nvPr/>
        </p:nvCxnSpPr>
        <p:spPr>
          <a:xfrm>
            <a:off x="6999414" y="3051823"/>
            <a:ext cx="1810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4244DDE-C020-A784-5352-8AFA65E1929E}"/>
              </a:ext>
            </a:extLst>
          </p:cNvPr>
          <p:cNvSpPr/>
          <p:nvPr/>
        </p:nvSpPr>
        <p:spPr>
          <a:xfrm>
            <a:off x="8282441" y="2867157"/>
            <a:ext cx="766533" cy="369332"/>
          </a:xfrm>
          <a:prstGeom prst="roundRect">
            <a:avLst/>
          </a:prstGeom>
          <a:solidFill>
            <a:schemeClr val="accent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>
                <a:solidFill>
                  <a:schemeClr val="bg1"/>
                </a:solidFill>
              </a:rPr>
              <a:t>Document scanned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4D571EA-FE29-28B1-E461-126D218B3E56}"/>
              </a:ext>
            </a:extLst>
          </p:cNvPr>
          <p:cNvCxnSpPr>
            <a:cxnSpLocks/>
          </p:cNvCxnSpPr>
          <p:nvPr/>
        </p:nvCxnSpPr>
        <p:spPr>
          <a:xfrm>
            <a:off x="9048974" y="3051823"/>
            <a:ext cx="1810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36D781B-DB52-3488-5F13-C53509E9B1FC}"/>
              </a:ext>
            </a:extLst>
          </p:cNvPr>
          <p:cNvSpPr/>
          <p:nvPr/>
        </p:nvSpPr>
        <p:spPr>
          <a:xfrm>
            <a:off x="9230834" y="2867157"/>
            <a:ext cx="666195" cy="369332"/>
          </a:xfrm>
          <a:prstGeom prst="roundRect">
            <a:avLst/>
          </a:prstGeom>
          <a:solidFill>
            <a:schemeClr val="accent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>
                <a:solidFill>
                  <a:schemeClr val="bg1"/>
                </a:solidFill>
              </a:rPr>
              <a:t>Agent identifies intent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85068A0-02AA-DCC2-C456-B6ECD03A46B0}"/>
              </a:ext>
            </a:extLst>
          </p:cNvPr>
          <p:cNvSpPr/>
          <p:nvPr/>
        </p:nvSpPr>
        <p:spPr>
          <a:xfrm>
            <a:off x="11096705" y="2867157"/>
            <a:ext cx="774361" cy="369332"/>
          </a:xfrm>
          <a:prstGeom prst="roundRect">
            <a:avLst/>
          </a:prstGeom>
          <a:solidFill>
            <a:schemeClr val="accent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>
                <a:solidFill>
                  <a:schemeClr val="bg1"/>
                </a:solidFill>
              </a:rPr>
              <a:t>RPA completes transaction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4482D93-A0C0-BC23-E40A-32050F5D00FB}"/>
              </a:ext>
            </a:extLst>
          </p:cNvPr>
          <p:cNvCxnSpPr>
            <a:cxnSpLocks/>
          </p:cNvCxnSpPr>
          <p:nvPr/>
        </p:nvCxnSpPr>
        <p:spPr>
          <a:xfrm>
            <a:off x="10915659" y="3051823"/>
            <a:ext cx="1810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A01395D-4DAA-8907-2FA3-603A54C8A941}"/>
              </a:ext>
            </a:extLst>
          </p:cNvPr>
          <p:cNvSpPr/>
          <p:nvPr/>
        </p:nvSpPr>
        <p:spPr>
          <a:xfrm>
            <a:off x="10078075" y="2867157"/>
            <a:ext cx="871326" cy="369332"/>
          </a:xfrm>
          <a:prstGeom prst="roundRect">
            <a:avLst/>
          </a:prstGeom>
          <a:solidFill>
            <a:schemeClr val="accent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>
                <a:solidFill>
                  <a:schemeClr val="bg1"/>
                </a:solidFill>
              </a:rPr>
              <a:t>Agent classifies, extracts data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A9BCAFA-6644-011F-A065-2BA6F4711CB0}"/>
              </a:ext>
            </a:extLst>
          </p:cNvPr>
          <p:cNvCxnSpPr>
            <a:cxnSpLocks/>
          </p:cNvCxnSpPr>
          <p:nvPr/>
        </p:nvCxnSpPr>
        <p:spPr>
          <a:xfrm>
            <a:off x="9912055" y="3051823"/>
            <a:ext cx="1810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01241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A2AD48-2FF6-C790-B62E-2E8D4AE94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Estimated FTE and financial impact (placeholder, WIP)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EE970F-34EE-BEB4-513D-02BECC1B80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BDC51F-5D11-B24C-B440-508FFDF318C8}" type="slidenum">
              <a:rPr kumimoji="0" lang="en-AU" sz="1000" b="1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AU" sz="10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441BB4C-C232-6B70-3552-AF88710AF0AD}"/>
              </a:ext>
            </a:extLst>
          </p:cNvPr>
          <p:cNvGraphicFramePr>
            <a:graphicFrameLocks noGrp="1"/>
          </p:cNvGraphicFramePr>
          <p:nvPr/>
        </p:nvGraphicFramePr>
        <p:xfrm>
          <a:off x="564755" y="753189"/>
          <a:ext cx="11211956" cy="5516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41307">
                  <a:extLst>
                    <a:ext uri="{9D8B030D-6E8A-4147-A177-3AD203B41FA5}">
                      <a16:colId xmlns:a16="http://schemas.microsoft.com/office/drawing/2014/main" val="2473169541"/>
                    </a:ext>
                  </a:extLst>
                </a:gridCol>
                <a:gridCol w="1624301">
                  <a:extLst>
                    <a:ext uri="{9D8B030D-6E8A-4147-A177-3AD203B41FA5}">
                      <a16:colId xmlns:a16="http://schemas.microsoft.com/office/drawing/2014/main" val="215451699"/>
                    </a:ext>
                  </a:extLst>
                </a:gridCol>
                <a:gridCol w="1332004">
                  <a:extLst>
                    <a:ext uri="{9D8B030D-6E8A-4147-A177-3AD203B41FA5}">
                      <a16:colId xmlns:a16="http://schemas.microsoft.com/office/drawing/2014/main" val="1612148242"/>
                    </a:ext>
                  </a:extLst>
                </a:gridCol>
                <a:gridCol w="1332004">
                  <a:extLst>
                    <a:ext uri="{9D8B030D-6E8A-4147-A177-3AD203B41FA5}">
                      <a16:colId xmlns:a16="http://schemas.microsoft.com/office/drawing/2014/main" val="2180850032"/>
                    </a:ext>
                  </a:extLst>
                </a:gridCol>
                <a:gridCol w="1195102">
                  <a:extLst>
                    <a:ext uri="{9D8B030D-6E8A-4147-A177-3AD203B41FA5}">
                      <a16:colId xmlns:a16="http://schemas.microsoft.com/office/drawing/2014/main" val="4201129329"/>
                    </a:ext>
                  </a:extLst>
                </a:gridCol>
                <a:gridCol w="1309311">
                  <a:extLst>
                    <a:ext uri="{9D8B030D-6E8A-4147-A177-3AD203B41FA5}">
                      <a16:colId xmlns:a16="http://schemas.microsoft.com/office/drawing/2014/main" val="295134441"/>
                    </a:ext>
                  </a:extLst>
                </a:gridCol>
                <a:gridCol w="1454769">
                  <a:extLst>
                    <a:ext uri="{9D8B030D-6E8A-4147-A177-3AD203B41FA5}">
                      <a16:colId xmlns:a16="http://schemas.microsoft.com/office/drawing/2014/main" val="749790248"/>
                    </a:ext>
                  </a:extLst>
                </a:gridCol>
                <a:gridCol w="2223158">
                  <a:extLst>
                    <a:ext uri="{9D8B030D-6E8A-4147-A177-3AD203B41FA5}">
                      <a16:colId xmlns:a16="http://schemas.microsoft.com/office/drawing/2014/main" val="41723262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Tranche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Transaction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Volume (annual)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Processing FTE (current)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Total FTE (current)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Human AHT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Hours saved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/>
                        <a:t>Expected impact (USD)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230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000" b="1"/>
                        <a:t>1</a:t>
                      </a:r>
                    </a:p>
                  </a:txBody>
                  <a:tcPr>
                    <a:solidFill>
                      <a:srgbClr val="EEE7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/>
                        <a:t>Drip OCP</a:t>
                      </a:r>
                    </a:p>
                  </a:txBody>
                  <a:tcPr>
                    <a:solidFill>
                      <a:srgbClr val="EEE7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b="1"/>
                    </a:p>
                  </a:txBody>
                  <a:tcPr>
                    <a:solidFill>
                      <a:srgbClr val="EEE7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/>
                        <a:t>0.60</a:t>
                      </a:r>
                    </a:p>
                  </a:txBody>
                  <a:tcPr>
                    <a:solidFill>
                      <a:srgbClr val="EEE7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/>
                        <a:t>1.14</a:t>
                      </a:r>
                    </a:p>
                  </a:txBody>
                  <a:tcPr>
                    <a:solidFill>
                      <a:srgbClr val="EEE7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b="1"/>
                    </a:p>
                  </a:txBody>
                  <a:tcPr>
                    <a:solidFill>
                      <a:srgbClr val="EEE7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b="1"/>
                    </a:p>
                  </a:txBody>
                  <a:tcPr>
                    <a:solidFill>
                      <a:srgbClr val="EEE7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b="1"/>
                    </a:p>
                  </a:txBody>
                  <a:tcPr>
                    <a:solidFill>
                      <a:srgbClr val="EE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021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000" b="1"/>
                        <a:t>1</a:t>
                      </a:r>
                    </a:p>
                  </a:txBody>
                  <a:tcPr>
                    <a:solidFill>
                      <a:srgbClr val="EEE7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/>
                        <a:t>Sell Stock</a:t>
                      </a:r>
                    </a:p>
                  </a:txBody>
                  <a:tcPr>
                    <a:solidFill>
                      <a:srgbClr val="EEE7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b="1"/>
                    </a:p>
                  </a:txBody>
                  <a:tcPr>
                    <a:solidFill>
                      <a:srgbClr val="EEE7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/>
                        <a:t>2.95</a:t>
                      </a:r>
                    </a:p>
                  </a:txBody>
                  <a:tcPr>
                    <a:solidFill>
                      <a:srgbClr val="EEE7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1"/>
                        <a:t>3.33</a:t>
                      </a:r>
                    </a:p>
                  </a:txBody>
                  <a:tcPr>
                    <a:solidFill>
                      <a:srgbClr val="EEE7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b="1"/>
                    </a:p>
                  </a:txBody>
                  <a:tcPr>
                    <a:solidFill>
                      <a:srgbClr val="EEE7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b="1"/>
                    </a:p>
                  </a:txBody>
                  <a:tcPr>
                    <a:solidFill>
                      <a:srgbClr val="EEE7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 b="1"/>
                    </a:p>
                  </a:txBody>
                  <a:tcPr>
                    <a:solidFill>
                      <a:srgbClr val="EE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52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kern="1200">
                          <a:solidFill>
                            <a:schemeClr val="tx1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Transfer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000" kern="1200">
                        <a:solidFill>
                          <a:schemeClr val="tx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tx1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12.64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tx1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14.40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>
                        <a:solidFill>
                          <a:schemeClr val="tx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>
                        <a:solidFill>
                          <a:schemeClr val="tx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>
                        <a:solidFill>
                          <a:schemeClr val="tx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790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kern="1200" err="1">
                          <a:solidFill>
                            <a:schemeClr val="tx1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TransferLimited</a:t>
                      </a:r>
                      <a:endParaRPr lang="en-GB" sz="1000" kern="1200">
                        <a:solidFill>
                          <a:schemeClr val="tx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000" kern="1200">
                        <a:solidFill>
                          <a:schemeClr val="tx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tx1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3.67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tx1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4.08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>
                        <a:solidFill>
                          <a:schemeClr val="tx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>
                        <a:solidFill>
                          <a:schemeClr val="tx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>
                        <a:solidFill>
                          <a:schemeClr val="tx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861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kern="1200" err="1">
                          <a:solidFill>
                            <a:schemeClr val="tx1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TransferNonRoutine</a:t>
                      </a:r>
                      <a:endParaRPr lang="en-GB" sz="1000" kern="1200">
                        <a:solidFill>
                          <a:schemeClr val="tx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000" kern="1200">
                        <a:solidFill>
                          <a:schemeClr val="tx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tx1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3.34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tx1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3.56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>
                        <a:solidFill>
                          <a:schemeClr val="tx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>
                        <a:solidFill>
                          <a:schemeClr val="tx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>
                        <a:solidFill>
                          <a:schemeClr val="tx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47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kern="1200" err="1">
                          <a:solidFill>
                            <a:schemeClr val="tx1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TransferSell</a:t>
                      </a:r>
                      <a:endParaRPr lang="en-GB" sz="1000" kern="1200">
                        <a:solidFill>
                          <a:schemeClr val="tx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000" kern="1200">
                        <a:solidFill>
                          <a:schemeClr val="tx1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tx1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3.06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tx1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3.53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>
                        <a:solidFill>
                          <a:schemeClr val="tx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>
                        <a:solidFill>
                          <a:schemeClr val="tx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>
                        <a:solidFill>
                          <a:schemeClr val="tx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872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BeneficiaryUpdate</a:t>
                      </a:r>
                      <a:endParaRPr lang="en-GB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2.07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2.4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191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CertReplacement</a:t>
                      </a:r>
                      <a:endParaRPr lang="en-GB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1.64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1.97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284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BookTransferReserve</a:t>
                      </a:r>
                      <a:endParaRPr lang="en-GB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1.48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1.64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73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Proxy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1.39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1.44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17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CustodialTransfer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1.15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1.29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400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ADDRESS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1.11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1.38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064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DuplicateHoldingStmt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0.92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1.01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347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WireRequest</a:t>
                      </a:r>
                      <a:endParaRPr lang="en-GB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0.88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0.88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6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DueDiligence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0.87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1.03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554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MANDATE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0.85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1.08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971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CertLost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0.84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0.86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177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DealingAdjustment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0.83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0.84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983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TransferBeneficiary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0.81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0.96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39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EsppTransfer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0.78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0.89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234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HoldingConfirmInstit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0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0.75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0.83</a:t>
                      </a:r>
                    </a:p>
                  </a:txBody>
                  <a:tcPr anchor="b"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000"/>
                    </a:p>
                  </a:txBody>
                  <a:tcPr>
                    <a:solidFill>
                      <a:schemeClr val="bg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898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7363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omputershareTheme">
  <a:themeElements>
    <a:clrScheme name="Custom 1">
      <a:dk1>
        <a:srgbClr val="444444"/>
      </a:dk1>
      <a:lt1>
        <a:srgbClr val="FFFFFF"/>
      </a:lt1>
      <a:dk2>
        <a:srgbClr val="432063"/>
      </a:dk2>
      <a:lt2>
        <a:srgbClr val="FFFFFF"/>
      </a:lt2>
      <a:accent1>
        <a:srgbClr val="93186C"/>
      </a:accent1>
      <a:accent2>
        <a:srgbClr val="432063"/>
      </a:accent2>
      <a:accent3>
        <a:srgbClr val="B922F3"/>
      </a:accent3>
      <a:accent4>
        <a:srgbClr val="003CAC"/>
      </a:accent4>
      <a:accent5>
        <a:srgbClr val="FF3700"/>
      </a:accent5>
      <a:accent6>
        <a:srgbClr val="FF9900"/>
      </a:accent6>
      <a:hlink>
        <a:srgbClr val="93186C"/>
      </a:hlink>
      <a:folHlink>
        <a:srgbClr val="8F53C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 w="25400">
          <a:gradFill flip="none" rotWithShape="1">
            <a:gsLst>
              <a:gs pos="5000">
                <a:schemeClr val="accent1"/>
              </a:gs>
              <a:gs pos="100000">
                <a:schemeClr val="accent4"/>
              </a:gs>
            </a:gsLst>
            <a:lin ang="2700000" scaled="1"/>
            <a:tileRect/>
          </a:gradFill>
        </a:ln>
      </a:spPr>
      <a:bodyPr wrap="square" rtlCol="0">
        <a:spAutoFit/>
      </a:bodyPr>
      <a:lstStyle>
        <a:defPPr marL="173038" indent="-173038" algn="l">
          <a:buFont typeface="Aptos" panose="020B0004020202020204" pitchFamily="34" charset="0"/>
          <a:buChar char="›"/>
          <a:defRPr sz="1400" dirty="0" err="1" smtClean="0">
            <a:latin typeface="Aptos" panose="020B00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mputershare PowerPoint Template - internal.pptx" id="{0B0C7E1C-F3FF-45C6-AB81-2319357A16D1}" vid="{E435934F-C702-49EB-B4B2-86D1AFAF8566}"/>
    </a:ext>
  </a:extLst>
</a:theme>
</file>

<file path=ppt/theme/theme2.xml><?xml version="1.0" encoding="utf-8"?>
<a:theme xmlns:a="http://schemas.openxmlformats.org/drawingml/2006/main" name="2_ComputershareTheme">
  <a:themeElements>
    <a:clrScheme name="Custom 5">
      <a:dk1>
        <a:srgbClr val="444444"/>
      </a:dk1>
      <a:lt1>
        <a:srgbClr val="FFFFFF"/>
      </a:lt1>
      <a:dk2>
        <a:srgbClr val="432063"/>
      </a:dk2>
      <a:lt2>
        <a:srgbClr val="FFFFFF"/>
      </a:lt2>
      <a:accent1>
        <a:srgbClr val="93186C"/>
      </a:accent1>
      <a:accent2>
        <a:srgbClr val="432063"/>
      </a:accent2>
      <a:accent3>
        <a:srgbClr val="B922F3"/>
      </a:accent3>
      <a:accent4>
        <a:srgbClr val="3C17CF"/>
      </a:accent4>
      <a:accent5>
        <a:srgbClr val="FF3700"/>
      </a:accent5>
      <a:accent6>
        <a:srgbClr val="FF9900"/>
      </a:accent6>
      <a:hlink>
        <a:srgbClr val="93186C"/>
      </a:hlink>
      <a:folHlink>
        <a:srgbClr val="8F53C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 w="25400">
          <a:gradFill flip="none" rotWithShape="1">
            <a:gsLst>
              <a:gs pos="5000">
                <a:schemeClr val="accent1"/>
              </a:gs>
              <a:gs pos="100000">
                <a:schemeClr val="accent4"/>
              </a:gs>
            </a:gsLst>
            <a:lin ang="2700000" scaled="1"/>
            <a:tileRect/>
          </a:gradFill>
        </a:ln>
      </a:spPr>
      <a:bodyPr wrap="square" rtlCol="0">
        <a:spAutoFit/>
      </a:bodyPr>
      <a:lstStyle>
        <a:defPPr algn="l">
          <a:defRPr sz="1400" dirty="0" smtClean="0">
            <a:latin typeface="Aptos" panose="020B00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mputershareTheme" id="{F2F14128-E12C-CB40-B1DE-F2C68FAB68AC}" vid="{B4E90B88-FFA4-B849-ADBB-1696CDE69A6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CC29C079D0CF43947B548A35A2F993" ma:contentTypeVersion="15" ma:contentTypeDescription="Create a new document." ma:contentTypeScope="" ma:versionID="bcc7051e51e36116d512e55db4f265b7">
  <xsd:schema xmlns:xsd="http://www.w3.org/2001/XMLSchema" xmlns:xs="http://www.w3.org/2001/XMLSchema" xmlns:p="http://schemas.microsoft.com/office/2006/metadata/properties" xmlns:ns2="ea76e736-eeed-46c0-8e52-56216e064ccb" xmlns:ns3="75d2ee0a-448e-426a-a13e-c2dad1fe9398" targetNamespace="http://schemas.microsoft.com/office/2006/metadata/properties" ma:root="true" ma:fieldsID="6e50d6419170c7233cb57d3ebbf7272d" ns2:_="" ns3:_="">
    <xsd:import namespace="ea76e736-eeed-46c0-8e52-56216e064ccb"/>
    <xsd:import namespace="75d2ee0a-448e-426a-a13e-c2dad1fe93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76e736-eeed-46c0-8e52-56216e064c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14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0c60e84-6fe9-49f5-9d78-07dd9ae7235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d2ee0a-448e-426a-a13e-c2dad1fe939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ac94b388-d2b0-4f10-99e0-bfe1c9298792}" ma:internalName="TaxCatchAll" ma:showField="CatchAllData" ma:web="75d2ee0a-448e-426a-a13e-c2dad1fe93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5d2ee0a-448e-426a-a13e-c2dad1fe9398" xsi:nil="true"/>
    <lcf76f155ced4ddcb4097134ff3c332f xmlns="ea76e736-eeed-46c0-8e52-56216e064cc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F4577EA-97AB-460E-8712-CE457F1A954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228F849-48B2-4692-85B7-0699F6590B6D}">
  <ds:schemaRefs>
    <ds:schemaRef ds:uri="75d2ee0a-448e-426a-a13e-c2dad1fe9398"/>
    <ds:schemaRef ds:uri="ea76e736-eeed-46c0-8e52-56216e064c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E2FB1CF-6835-444E-9EE7-A95D8352D37B}">
  <ds:schemaRefs>
    <ds:schemaRef ds:uri="http://schemas.microsoft.com/office/2006/metadata/properties"/>
    <ds:schemaRef ds:uri="http://purl.org/dc/terms/"/>
    <ds:schemaRef ds:uri="http://www.w3.org/XML/1998/namespace"/>
    <ds:schemaRef ds:uri="http://schemas.microsoft.com/office/infopath/2007/PartnerControls"/>
    <ds:schemaRef ds:uri="http://purl.org/dc/elements/1.1/"/>
    <ds:schemaRef ds:uri="75d2ee0a-448e-426a-a13e-c2dad1fe9398"/>
    <ds:schemaRef ds:uri="http://schemas.microsoft.com/office/2006/documentManagement/types"/>
    <ds:schemaRef ds:uri="http://schemas.openxmlformats.org/package/2006/metadata/core-properties"/>
    <ds:schemaRef ds:uri="ea76e736-eeed-46c0-8e52-56216e064ccb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3f1b6f0c-3a11-45de-a302-7fe97b0d9a64}" enabled="0" method="" siteId="{3f1b6f0c-3a11-45de-a302-7fe97b0d9a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</TotalTime>
  <Words>8385</Words>
  <Application>Microsoft Office PowerPoint</Application>
  <PresentationFormat>Widescreen</PresentationFormat>
  <Paragraphs>1887</Paragraphs>
  <Slides>48</Slides>
  <Notes>24</Notes>
  <HiddenSlides>2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9" baseType="lpstr">
      <vt:lpstr>Aptos</vt:lpstr>
      <vt:lpstr>Aptos Light</vt:lpstr>
      <vt:lpstr>Aptos SemiBold</vt:lpstr>
      <vt:lpstr>Arial</vt:lpstr>
      <vt:lpstr>Courier New</vt:lpstr>
      <vt:lpstr>Segoe UI</vt:lpstr>
      <vt:lpstr>System Font Regular</vt:lpstr>
      <vt:lpstr>Wingdings</vt:lpstr>
      <vt:lpstr>ComputershareTheme</vt:lpstr>
      <vt:lpstr>2_ComputershareTheme</vt:lpstr>
      <vt:lpstr>think-cell Slide</vt:lpstr>
      <vt:lpstr>Tungsten Phase 2 Pilot</vt:lpstr>
      <vt:lpstr>Status update</vt:lpstr>
      <vt:lpstr>Timeline</vt:lpstr>
      <vt:lpstr>Tranche Burndown Charts</vt:lpstr>
      <vt:lpstr>Benefit Equivalency Timeline</vt:lpstr>
      <vt:lpstr>PowerPoint Presentation</vt:lpstr>
      <vt:lpstr>Reference &amp; Old Slides</vt:lpstr>
      <vt:lpstr>Recap: Current incoming mail flow</vt:lpstr>
      <vt:lpstr>PowerPoint Presentation</vt:lpstr>
      <vt:lpstr>Phase 1 with Tungsten is almost complete; we are working on automating Phase 2 and 3</vt:lpstr>
      <vt:lpstr>Overview of Document Processing workplan</vt:lpstr>
      <vt:lpstr>Weekly workplan for Tranche 1 (DRIP OCP &amp; SellStock)</vt:lpstr>
      <vt:lpstr>Processing – DRIP OCP flow</vt:lpstr>
      <vt:lpstr>Status update</vt:lpstr>
      <vt:lpstr>PowerPoint Presentation</vt:lpstr>
      <vt:lpstr>PowerPoint Presentation</vt:lpstr>
      <vt:lpstr>Simple Transaction  Recordkeeping (DRIP OCP)</vt:lpstr>
      <vt:lpstr>Recordkeeping: DRIP OCP</vt:lpstr>
      <vt:lpstr>Standard Transaction  Sell Stock</vt:lpstr>
      <vt:lpstr>Overview: SellStock</vt:lpstr>
      <vt:lpstr>PowerPoint Presentation</vt:lpstr>
      <vt:lpstr>What data is necessary to classify?</vt:lpstr>
      <vt:lpstr>Extracting categorization instructions using Copilot, rewriting it for an LLM to scan</vt:lpstr>
      <vt:lpstr>Step by step flow – how to categorize DRIP OCP</vt:lpstr>
      <vt:lpstr>Extracting classification instructions using Copilot, rewriting it for an LLM to scan</vt:lpstr>
      <vt:lpstr>Step-by-step instructions optimized for an LLM to scan</vt:lpstr>
      <vt:lpstr>Step-by-step instructions optimized for an LLM to scan</vt:lpstr>
      <vt:lpstr>Asking Copilot to design a schema of the details necessary to classify DRIP OCP</vt:lpstr>
      <vt:lpstr>Validate that processing DOPs have the same key fields</vt:lpstr>
      <vt:lpstr>Step by step flow</vt:lpstr>
      <vt:lpstr>Step-by-step instructions to classify DRIP OCP</vt:lpstr>
      <vt:lpstr>Step by step flow</vt:lpstr>
      <vt:lpstr>Step by step flow</vt:lpstr>
      <vt:lpstr>Address update – DOP vs call center </vt:lpstr>
      <vt:lpstr>PowerPoint Presentation</vt:lpstr>
      <vt:lpstr>Impact on Mailroom operations journey</vt:lpstr>
      <vt:lpstr>Pilot Kick-off &amp; Recap</vt:lpstr>
      <vt:lpstr>2.   Approach for technical design for MVP</vt:lpstr>
      <vt:lpstr>Phase 1 with Tungsten is almost complete; we are working automating Phase 2 and 3</vt:lpstr>
      <vt:lpstr>What data is necessary to classify?</vt:lpstr>
      <vt:lpstr>Document attributes &amp; structure</vt:lpstr>
      <vt:lpstr>Context preparation stages</vt:lpstr>
      <vt:lpstr>What is the structure of our tables?</vt:lpstr>
      <vt:lpstr>Automating mailroom and account recordkeeping processes</vt:lpstr>
      <vt:lpstr>Phase 1 with Tungsten is almost complete; we are working on automating Phase 2 and 3</vt:lpstr>
      <vt:lpstr>PowerPoint Presentation</vt:lpstr>
      <vt:lpstr>PowerPoint Presentation</vt:lpstr>
      <vt:lpstr>Estimated FTE and financial impact (placeholder, WIP)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Myesha Azim</dc:creator>
  <cp:lastModifiedBy>Pankaj Singh</cp:lastModifiedBy>
  <cp:revision>2</cp:revision>
  <dcterms:created xsi:type="dcterms:W3CDTF">2025-10-29T14:45:06Z</dcterms:created>
  <dcterms:modified xsi:type="dcterms:W3CDTF">2026-05-28T22:13:26Z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0x0101009DCC29C079D0CF43947B548A35A2F993</vt:lpwstr>
  </property>
  <property fmtid="{D5CDD505-2E9C-101B-9397-08002B2CF9AE}" pid="3" name="MediaServiceImageTags">
    <vt:lpwstr/>
  </property>
</Properties>
</file>