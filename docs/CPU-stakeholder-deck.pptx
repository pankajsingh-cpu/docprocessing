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60" r:id="rId5"/>
    <p:sldId id="262" r:id="rId6"/>
    <p:sldId id="261" r:id="rId7"/>
    <p:sldId id="258" r:id="rId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21E67"/>
    <a:srgbClr val="8B1A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38" d="100"/>
          <a:sy n="138" d="100"/>
        </p:scale>
        <p:origin x="834" y="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6FE404-1D2A-4280-9002-840936C466C6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B04378-670D-4509-9252-90CD65821D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9200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Add arrows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B04378-670D-4509-9252-90CD65821D49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30422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Where we are at vs where we need to be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B04378-670D-4509-9252-90CD65821D49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51318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Move to appendix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B04378-670D-4509-9252-90CD65821D49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81888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5C0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286000" y="0"/>
            <a:ext cx="2286000" cy="5143500"/>
          </a:xfrm>
          <a:prstGeom prst="rect">
            <a:avLst/>
          </a:prstGeom>
          <a:solidFill>
            <a:srgbClr val="701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0" y="0"/>
            <a:ext cx="1828800" cy="5143500"/>
          </a:xfrm>
          <a:prstGeom prst="rect">
            <a:avLst/>
          </a:prstGeom>
          <a:solidFill>
            <a:srgbClr val="8B1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9B2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029200" y="-731520"/>
            <a:ext cx="4754880" cy="4754880"/>
          </a:xfrm>
          <a:prstGeom prst="ellipse">
            <a:avLst/>
          </a:prstGeom>
          <a:solidFill>
            <a:srgbClr val="7B16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394960" y="-502920"/>
            <a:ext cx="4114800" cy="4114800"/>
          </a:xfrm>
          <a:prstGeom prst="ellipse">
            <a:avLst/>
          </a:prstGeom>
          <a:solidFill>
            <a:srgbClr val="6A1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669280" y="274320"/>
            <a:ext cx="54864" cy="54864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669280" y="960120"/>
            <a:ext cx="54864" cy="54864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669280" y="1645920"/>
            <a:ext cx="54864" cy="54864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669280" y="2331720"/>
            <a:ext cx="54864" cy="54864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669280" y="3017520"/>
            <a:ext cx="54864" cy="54864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144768" y="274320"/>
            <a:ext cx="54864" cy="54864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144768" y="960120"/>
            <a:ext cx="54864" cy="54864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144768" y="1645920"/>
            <a:ext cx="54864" cy="54864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144768" y="2331720"/>
            <a:ext cx="54864" cy="54864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144768" y="3017520"/>
            <a:ext cx="54864" cy="54864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620256" y="274320"/>
            <a:ext cx="54864" cy="54864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620256" y="960120"/>
            <a:ext cx="54864" cy="54864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620256" y="1645920"/>
            <a:ext cx="54864" cy="54864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620256" y="2331720"/>
            <a:ext cx="54864" cy="54864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620256" y="3017520"/>
            <a:ext cx="54864" cy="54864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095744" y="274320"/>
            <a:ext cx="54864" cy="54864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095744" y="960120"/>
            <a:ext cx="54864" cy="54864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095744" y="1645920"/>
            <a:ext cx="54864" cy="54864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095744" y="2331720"/>
            <a:ext cx="54864" cy="54864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095744" y="3017520"/>
            <a:ext cx="54864" cy="54864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571232" y="274320"/>
            <a:ext cx="54864" cy="54864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571232" y="960120"/>
            <a:ext cx="54864" cy="54864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571232" y="1645920"/>
            <a:ext cx="54864" cy="54864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571232" y="2331720"/>
            <a:ext cx="54864" cy="54864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7571232" y="3017520"/>
            <a:ext cx="54864" cy="54864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046720" y="274320"/>
            <a:ext cx="54864" cy="54864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046720" y="960120"/>
            <a:ext cx="54864" cy="54864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046720" y="1645920"/>
            <a:ext cx="54864" cy="54864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046720" y="2331720"/>
            <a:ext cx="54864" cy="54864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046720" y="3017520"/>
            <a:ext cx="54864" cy="54864"/>
          </a:xfrm>
          <a:prstGeom prst="ellipse">
            <a:avLst/>
          </a:prstGeom>
          <a:solidFill>
            <a:srgbClr val="C07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754880" y="4206240"/>
            <a:ext cx="4206240" cy="73152"/>
          </a:xfrm>
          <a:prstGeom prst="rect">
            <a:avLst/>
          </a:prstGeom>
          <a:solidFill>
            <a:srgbClr val="E88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754880" y="4297680"/>
            <a:ext cx="4206240" cy="3657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74320" y="201168"/>
            <a:ext cx="182880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MAY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1234440"/>
            <a:ext cx="5029200" cy="11887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Backoffice Document</a:t>
            </a:r>
          </a:p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Processing Solution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2487168"/>
            <a:ext cx="502920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AI-Assisted Intent Classification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" y="3127248"/>
            <a:ext cx="411480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  <a:latin typeface="Calibri"/>
              </a:rPr>
              <a:t>Pankaj Singh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" y="3438144"/>
            <a:ext cx="4114800" cy="23774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>
                <a:solidFill>
                  <a:srgbClr val="C070C8"/>
                </a:solidFill>
                <a:latin typeface="Calibri"/>
              </a:rPr>
              <a:t>Senior Solutions Architect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3739896"/>
            <a:ext cx="4114800" cy="23774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>
                <a:solidFill>
                  <a:srgbClr val="C070C8"/>
                </a:solidFill>
                <a:latin typeface="Calibri"/>
              </a:rPr>
              <a:t>19th May 2026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4617720"/>
            <a:ext cx="9144000" cy="521207"/>
          </a:xfrm>
          <a:prstGeom prst="rect">
            <a:avLst/>
          </a:prstGeom>
          <a:solidFill>
            <a:srgbClr val="8B1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30352" y="4681728"/>
            <a:ext cx="256032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300" b="1" dirty="0">
                <a:solidFill>
                  <a:srgbClr val="FFFFFF"/>
                </a:solidFill>
                <a:latin typeface="Calibri"/>
              </a:rPr>
              <a:t>Computershare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91840" y="4727448"/>
            <a:ext cx="365760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0">
                <a:solidFill>
                  <a:srgbClr val="DDAADD"/>
                </a:solidFill>
                <a:latin typeface="Calibri"/>
              </a:rPr>
              <a:t>Computershare Distribution Only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8939D61B-D6CE-9F19-4046-91B185719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" y="4702172"/>
            <a:ext cx="1248156" cy="3270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731520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200" b="1">
                <a:solidFill>
                  <a:srgbClr val="8B1A8F"/>
                </a:solidFill>
                <a:latin typeface="Calibri"/>
              </a:rPr>
              <a:t>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>
                <a:solidFill>
                  <a:srgbClr val="9E9E9E"/>
                </a:solidFill>
                <a:latin typeface="Calibri"/>
              </a:rPr>
              <a:t>Modular monolith today; same module boundaries as the AKS pods in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28016"/>
            <a:ext cx="118872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750" b="0">
                <a:solidFill>
                  <a:srgbClr val="9E9E9E"/>
                </a:solidFill>
                <a:latin typeface="Calibri"/>
              </a:rPr>
              <a:t>MAY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96112"/>
            <a:ext cx="9144000" cy="36576"/>
          </a:xfrm>
          <a:prstGeom prst="rect">
            <a:avLst/>
          </a:prstGeom>
          <a:solidFill>
            <a:srgbClr val="E88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74320" y="1019556"/>
            <a:ext cx="1417320" cy="502920"/>
          </a:xfrm>
          <a:prstGeom prst="roundRect">
            <a:avLst>
              <a:gd name="adj" fmla="val 10000"/>
            </a:avLst>
          </a:prstGeom>
          <a:solidFill>
            <a:srgbClr val="5C0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  <a:latin typeface="Calibri"/>
              </a:rPr>
              <a:t>Tungsten /</a:t>
            </a:r>
          </a:p>
          <a:p>
            <a:pPr algn="ctr"/>
            <a:r>
              <a:rPr sz="900" b="1" dirty="0">
                <a:solidFill>
                  <a:srgbClr val="FFFFFF"/>
                </a:solidFill>
                <a:latin typeface="Calibri"/>
              </a:rPr>
              <a:t>File Share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005701"/>
            <a:ext cx="1417320" cy="502920"/>
          </a:xfrm>
          <a:prstGeom prst="roundRect">
            <a:avLst>
              <a:gd name="adj" fmla="val 10000"/>
            </a:avLst>
          </a:prstGeom>
          <a:solidFill>
            <a:srgbClr val="5C0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 dirty="0">
                <a:solidFill>
                  <a:srgbClr val="FFFFFF"/>
                </a:solidFill>
                <a:latin typeface="Calibri"/>
              </a:rPr>
              <a:t>EDC / Workflow</a:t>
            </a:r>
          </a:p>
          <a:p>
            <a:pPr algn="ctr"/>
            <a:r>
              <a:rPr sz="900" b="1" dirty="0">
                <a:solidFill>
                  <a:srgbClr val="FFFFFF"/>
                </a:solidFill>
                <a:latin typeface="Calibri"/>
              </a:rPr>
              <a:t>(RPA)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" y="1892808"/>
            <a:ext cx="1828800" cy="2194560"/>
          </a:xfrm>
          <a:prstGeom prst="roundRect">
            <a:avLst>
              <a:gd name="adj" fmla="val 10000"/>
            </a:avLst>
          </a:prstGeom>
          <a:solidFill>
            <a:srgbClr val="F5E6F7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94944" y="1892808"/>
            <a:ext cx="1828800" cy="411480"/>
          </a:xfrm>
          <a:prstGeom prst="roundRect">
            <a:avLst>
              <a:gd name="adj" fmla="val 20000"/>
            </a:avLst>
          </a:prstGeom>
          <a:solidFill>
            <a:srgbClr val="8B1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8096" y="1938528"/>
            <a:ext cx="292608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8B1A8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" y="1938528"/>
            <a:ext cx="13716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INGEST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395728"/>
            <a:ext cx="1645920" cy="1554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00" b="0">
                <a:solidFill>
                  <a:srgbClr val="424242"/>
                </a:solidFill>
                <a:latin typeface="Calibri"/>
              </a:rPr>
              <a:t>Watcher + Ingest.Service</a:t>
            </a:r>
          </a:p>
          <a:p>
            <a:pPr algn="ctr"/>
            <a:r>
              <a:rPr sz="900" b="0">
                <a:solidFill>
                  <a:srgbClr val="424242"/>
                </a:solidFill>
                <a:latin typeface="Calibri"/>
              </a:rPr>
              <a:t>FileSystemWatcher / blob upload</a:t>
            </a:r>
          </a:p>
          <a:p>
            <a:pPr algn="ctr"/>
            <a:r>
              <a:rPr sz="900" b="0">
                <a:solidFill>
                  <a:srgbClr val="424242"/>
                </a:solidFill>
                <a:latin typeface="Calibri"/>
              </a:rPr>
              <a:t>DocumentIngestedEvent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2172" y="2715768"/>
            <a:ext cx="73152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800" b="1">
                <a:solidFill>
                  <a:srgbClr val="424242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96896" y="1892808"/>
            <a:ext cx="1828800" cy="2194560"/>
          </a:xfrm>
          <a:prstGeom prst="roundRect">
            <a:avLst>
              <a:gd name="adj" fmla="val 10000"/>
            </a:avLst>
          </a:prstGeom>
          <a:solidFill>
            <a:srgbClr val="FFF3E0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596896" y="1892808"/>
            <a:ext cx="1828800" cy="411480"/>
          </a:xfrm>
          <a:prstGeom prst="roundRect">
            <a:avLst>
              <a:gd name="adj" fmla="val 20000"/>
            </a:avLst>
          </a:prstGeom>
          <a:solidFill>
            <a:srgbClr val="C4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670048" y="1938528"/>
            <a:ext cx="292608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C45E00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8376" y="1938528"/>
            <a:ext cx="13716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EXTRACT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88335" y="2395728"/>
            <a:ext cx="1645920" cy="1554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00" b="0">
                <a:solidFill>
                  <a:srgbClr val="424242"/>
                </a:solidFill>
                <a:latin typeface="Calibri"/>
              </a:rPr>
              <a:t>Azure Document Intelligence</a:t>
            </a:r>
          </a:p>
          <a:p>
            <a:pPr algn="ctr"/>
            <a:r>
              <a:rPr sz="900" b="0">
                <a:solidFill>
                  <a:srgbClr val="424242"/>
                </a:solidFill>
                <a:latin typeface="Calibri"/>
              </a:rPr>
              <a:t>prebuilt-layout OCR</a:t>
            </a:r>
          </a:p>
          <a:p>
            <a:pPr algn="ctr"/>
            <a:r>
              <a:rPr sz="900" b="0">
                <a:solidFill>
                  <a:srgbClr val="424242"/>
                </a:solidFill>
                <a:latin typeface="Calibri"/>
              </a:rPr>
              <a:t>Flattened to plain 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64124" y="2715768"/>
            <a:ext cx="73152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800" b="1">
                <a:solidFill>
                  <a:srgbClr val="424242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98848" y="1892808"/>
            <a:ext cx="1828800" cy="219456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498848" y="1892808"/>
            <a:ext cx="1828800" cy="411480"/>
          </a:xfrm>
          <a:prstGeom prst="roundRect">
            <a:avLst>
              <a:gd name="adj" fmla="val 20000"/>
            </a:avLst>
          </a:prstGeom>
          <a:solidFill>
            <a:srgbClr val="5A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0" y="1938528"/>
            <a:ext cx="292608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5A9E5C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10328" y="1938528"/>
            <a:ext cx="13716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CLASSIFY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2395728"/>
            <a:ext cx="1645920" cy="1554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00" b="0">
                <a:solidFill>
                  <a:srgbClr val="424242"/>
                </a:solidFill>
                <a:latin typeface="Calibri"/>
              </a:rPr>
              <a:t>MAF agent + KB tool loop</a:t>
            </a:r>
          </a:p>
          <a:p>
            <a:pPr algn="ctr"/>
            <a:r>
              <a:rPr sz="900" b="0">
                <a:solidFill>
                  <a:srgbClr val="424242"/>
                </a:solidFill>
                <a:latin typeface="Calibri"/>
              </a:rPr>
              <a:t>Semantic intent search</a:t>
            </a:r>
          </a:p>
          <a:p>
            <a:pPr algn="ctr"/>
            <a:r>
              <a:rPr sz="900" b="0">
                <a:solidFill>
                  <a:srgbClr val="424242"/>
                </a:solidFill>
                <a:latin typeface="Calibri"/>
              </a:rPr>
              <a:t>Strict JSON 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66076" y="2715768"/>
            <a:ext cx="73152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800" b="1">
                <a:solidFill>
                  <a:srgbClr val="424242"/>
                </a:solidFill>
                <a:latin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1892808"/>
            <a:ext cx="1828800" cy="2194560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400800" y="1892808"/>
            <a:ext cx="1828800" cy="41148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73952" y="1938528"/>
            <a:ext cx="292608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1565C0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1938528"/>
            <a:ext cx="13716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PERSIST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2395728"/>
            <a:ext cx="1645920" cy="1554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900" b="0">
                <a:solidFill>
                  <a:srgbClr val="424242"/>
                </a:solidFill>
                <a:latin typeface="Calibri"/>
              </a:rPr>
              <a:t>Azure SQL row</a:t>
            </a:r>
          </a:p>
          <a:p>
            <a:pPr algn="ctr"/>
            <a:r>
              <a:rPr sz="900" b="0">
                <a:solidFill>
                  <a:srgbClr val="424242"/>
                </a:solidFill>
                <a:latin typeface="Calibri"/>
              </a:rPr>
              <a:t>Archive blob copy</a:t>
            </a:r>
          </a:p>
          <a:p>
            <a:pPr algn="ctr"/>
            <a:r>
              <a:rPr sz="900" b="0">
                <a:solidFill>
                  <a:srgbClr val="424242"/>
                </a:solidFill>
                <a:latin typeface="Calibri"/>
              </a:rPr>
              <a:t>Outbound workflow hand-off</a:t>
            </a:r>
          </a:p>
        </p:txBody>
      </p:sp>
      <p:cxnSp>
        <p:nvCxnSpPr>
          <p:cNvPr id="32" name="Connector 31"/>
          <p:cNvCxnSpPr>
            <a:cxnSpLocks/>
          </p:cNvCxnSpPr>
          <p:nvPr/>
        </p:nvCxnSpPr>
        <p:spPr>
          <a:xfrm>
            <a:off x="1691640" y="1371600"/>
            <a:ext cx="504306" cy="544068"/>
          </a:xfrm>
          <a:prstGeom prst="line">
            <a:avLst/>
          </a:prstGeom>
          <a:ln w="19050">
            <a:solidFill>
              <a:srgbClr val="42424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>
            <a:cxnSpLocks/>
            <a:endCxn id="8" idx="1"/>
          </p:cNvCxnSpPr>
          <p:nvPr/>
        </p:nvCxnSpPr>
        <p:spPr>
          <a:xfrm flipV="1">
            <a:off x="6948054" y="1257161"/>
            <a:ext cx="504306" cy="635647"/>
          </a:xfrm>
          <a:prstGeom prst="line">
            <a:avLst/>
          </a:prstGeom>
          <a:ln w="19050">
            <a:solidFill>
              <a:srgbClr val="42424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74320" y="4160520"/>
            <a:ext cx="8595360" cy="566928"/>
          </a:xfrm>
          <a:prstGeom prst="rect">
            <a:avLst/>
          </a:prstGeom>
          <a:solidFill>
            <a:srgbClr val="FFF3E0"/>
          </a:solidFill>
          <a:ln w="635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74320" y="4160520"/>
            <a:ext cx="91440" cy="566928"/>
          </a:xfrm>
          <a:prstGeom prst="rect">
            <a:avLst/>
          </a:prstGeom>
          <a:solidFill>
            <a:srgbClr val="E88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4187952"/>
            <a:ext cx="548640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>
                <a:solidFill>
                  <a:srgbClr val="8B1A8F"/>
                </a:solidFill>
                <a:latin typeface="Calibri"/>
              </a:rPr>
              <a:t>Orchestrator  •  MassTransit Saga (DocumentSaga)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434840"/>
            <a:ext cx="813816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50" b="0">
                <a:solidFill>
                  <a:srgbClr val="424242"/>
                </a:solidFill>
                <a:latin typeface="Calibri"/>
              </a:rPr>
              <a:t>Durable EF Core state — AwaitingOcr → AwaitingClassification → Persisted; failure paths land in DLQ via DocumentFailedEvent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8B1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82880" y="4901184"/>
            <a:ext cx="22860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dirty="0">
                <a:solidFill>
                  <a:srgbClr val="FFFFFF"/>
                </a:solidFill>
                <a:latin typeface="Calibri"/>
              </a:rPr>
              <a:t>Computershare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0" y="4901184"/>
            <a:ext cx="36576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750" b="0">
                <a:solidFill>
                  <a:srgbClr val="DDAADD"/>
                </a:solidFill>
                <a:latin typeface="Calibri"/>
              </a:rPr>
              <a:t>Computershare Distribution Only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4901184"/>
            <a:ext cx="9144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04C41AFA-478D-BADA-4D41-5BB0A6C38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99" y="4900353"/>
            <a:ext cx="862584" cy="2260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731520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200" b="1">
                <a:solidFill>
                  <a:srgbClr val="8B1A8F"/>
                </a:solidFill>
                <a:latin typeface="Calibri"/>
              </a:rPr>
              <a:t>Document Classification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>
                <a:solidFill>
                  <a:srgbClr val="9E9E9E"/>
                </a:solidFill>
                <a:latin typeface="Calibri"/>
              </a:rPr>
              <a:t>Per-document flow from arrival to handoff, with decision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28016"/>
            <a:ext cx="118872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750" b="0">
                <a:solidFill>
                  <a:srgbClr val="9E9E9E"/>
                </a:solidFill>
                <a:latin typeface="Calibri"/>
              </a:rPr>
              <a:t>MAY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96112"/>
            <a:ext cx="9144000" cy="36576"/>
          </a:xfrm>
          <a:prstGeom prst="rect">
            <a:avLst/>
          </a:prstGeom>
          <a:solidFill>
            <a:srgbClr val="E88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" y="1280160"/>
            <a:ext cx="1554480" cy="594360"/>
          </a:xfrm>
          <a:prstGeom prst="roundRect">
            <a:avLst>
              <a:gd name="adj" fmla="val 10000"/>
            </a:avLst>
          </a:prstGeom>
          <a:solidFill>
            <a:srgbClr val="F5E6F7"/>
          </a:solidFill>
          <a:ln w="508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" y="1280160"/>
            <a:ext cx="73152" cy="594360"/>
          </a:xfrm>
          <a:prstGeom prst="rect">
            <a:avLst/>
          </a:prstGeom>
          <a:solidFill>
            <a:srgbClr val="8B1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4592" y="1307592"/>
            <a:ext cx="1389888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>
                <a:solidFill>
                  <a:srgbClr val="8B1A8F"/>
                </a:solidFill>
                <a:latin typeface="Calibri"/>
              </a:rPr>
              <a:t>Document</a:t>
            </a:r>
          </a:p>
          <a:p>
            <a:pPr algn="l"/>
            <a:r>
              <a:rPr sz="1000" b="1">
                <a:solidFill>
                  <a:srgbClr val="8B1A8F"/>
                </a:solidFill>
                <a:latin typeface="Calibri"/>
              </a:rPr>
              <a:t>arrives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" y="1554480"/>
            <a:ext cx="1389888" cy="3017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424242"/>
                </a:solidFill>
                <a:latin typeface="Calibri"/>
              </a:rPr>
              <a:t>PDF / TIF in landing</a:t>
            </a:r>
          </a:p>
          <a:p>
            <a:pPr algn="l"/>
            <a:r>
              <a:rPr sz="800" b="0">
                <a:solidFill>
                  <a:srgbClr val="424242"/>
                </a:solidFill>
                <a:latin typeface="Calibri"/>
              </a:rPr>
              <a:t>folder or Event Grid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83664" y="1280160"/>
            <a:ext cx="1554480" cy="594360"/>
          </a:xfrm>
          <a:prstGeom prst="roundRect">
            <a:avLst>
              <a:gd name="adj" fmla="val 10000"/>
            </a:avLst>
          </a:prstGeom>
          <a:solidFill>
            <a:srgbClr val="FFF3E0"/>
          </a:solidFill>
          <a:ln w="508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883664" y="1280160"/>
            <a:ext cx="73152" cy="594360"/>
          </a:xfrm>
          <a:prstGeom prst="rect">
            <a:avLst/>
          </a:prstGeom>
          <a:solidFill>
            <a:srgbClr val="C4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993392" y="1307592"/>
            <a:ext cx="1389888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dirty="0">
                <a:solidFill>
                  <a:srgbClr val="C45E00"/>
                </a:solidFill>
                <a:latin typeface="Calibri"/>
              </a:rPr>
              <a:t>OCR extract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93392" y="1554480"/>
            <a:ext cx="1389888" cy="3017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424242"/>
                </a:solidFill>
                <a:latin typeface="Calibri"/>
              </a:rPr>
              <a:t>Azure Document</a:t>
            </a:r>
          </a:p>
          <a:p>
            <a:pPr algn="l"/>
            <a:r>
              <a:rPr sz="800" b="0">
                <a:solidFill>
                  <a:srgbClr val="424242"/>
                </a:solidFill>
                <a:latin typeface="Calibri"/>
              </a:rPr>
              <a:t>Intelligence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30752" y="1280160"/>
            <a:ext cx="1554480" cy="594360"/>
          </a:xfrm>
          <a:prstGeom prst="roundRect">
            <a:avLst>
              <a:gd name="adj" fmla="val 10000"/>
            </a:avLst>
          </a:prstGeom>
          <a:solidFill>
            <a:srgbClr val="FFF3E0"/>
          </a:solidFill>
          <a:ln w="508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730752" y="1280160"/>
            <a:ext cx="73152" cy="594360"/>
          </a:xfrm>
          <a:prstGeom prst="rect">
            <a:avLst/>
          </a:prstGeom>
          <a:solidFill>
            <a:srgbClr val="C4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40480" y="1307592"/>
            <a:ext cx="1389888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dirty="0">
                <a:solidFill>
                  <a:srgbClr val="C45E00"/>
                </a:solidFill>
                <a:latin typeface="Calibri"/>
              </a:rPr>
              <a:t>Flatten 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1554480"/>
            <a:ext cx="1389888" cy="3017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424242"/>
                </a:solidFill>
                <a:latin typeface="Calibri"/>
              </a:rPr>
              <a:t>OcrTextFlattener</a:t>
            </a:r>
          </a:p>
          <a:p>
            <a:pPr algn="l"/>
            <a:r>
              <a:rPr sz="800" b="0">
                <a:solidFill>
                  <a:srgbClr val="424242"/>
                </a:solidFill>
                <a:latin typeface="Calibri"/>
              </a:rPr>
              <a:t>→ plain text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98068" y="1280160"/>
            <a:ext cx="1554480" cy="59436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508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598068" y="1280160"/>
            <a:ext cx="73152" cy="594360"/>
          </a:xfrm>
          <a:prstGeom prst="rect">
            <a:avLst/>
          </a:prstGeom>
          <a:solidFill>
            <a:srgbClr val="5A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07796" y="1307592"/>
            <a:ext cx="1389888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dirty="0">
                <a:solidFill>
                  <a:srgbClr val="5A9E5C"/>
                </a:solidFill>
                <a:latin typeface="Calibri"/>
              </a:rPr>
              <a:t>KB 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07796" y="1554480"/>
            <a:ext cx="1389888" cy="3017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424242"/>
                </a:solidFill>
                <a:latin typeface="Calibri"/>
              </a:rPr>
              <a:t>search_intent_kb</a:t>
            </a:r>
          </a:p>
          <a:p>
            <a:pPr algn="l"/>
            <a:r>
              <a:rPr sz="800" b="0">
                <a:solidFill>
                  <a:srgbClr val="424242"/>
                </a:solidFill>
                <a:latin typeface="Calibri"/>
              </a:rPr>
              <a:t>tool (semantic)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79792" y="1280160"/>
            <a:ext cx="1554480" cy="59436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508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479792" y="1280160"/>
            <a:ext cx="73152" cy="594360"/>
          </a:xfrm>
          <a:prstGeom prst="rect">
            <a:avLst/>
          </a:prstGeom>
          <a:solidFill>
            <a:srgbClr val="5A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89520" y="1307592"/>
            <a:ext cx="1389888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dirty="0">
                <a:solidFill>
                  <a:srgbClr val="5A9E5C"/>
                </a:solidFill>
                <a:latin typeface="Calibri"/>
              </a:rPr>
              <a:t>Agent classify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1554480"/>
            <a:ext cx="1389888" cy="3017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424242"/>
                </a:solidFill>
                <a:latin typeface="Calibri"/>
              </a:rPr>
              <a:t>MAF tool loop</a:t>
            </a:r>
          </a:p>
          <a:p>
            <a:pPr algn="l"/>
            <a:r>
              <a:rPr sz="800" b="0">
                <a:solidFill>
                  <a:srgbClr val="424242"/>
                </a:solidFill>
                <a:latin typeface="Calibri"/>
              </a:rPr>
              <a:t>strict JSON</a:t>
            </a:r>
          </a:p>
        </p:txBody>
      </p:sp>
      <p:sp>
        <p:nvSpPr>
          <p:cNvPr id="31" name="Diamond 30"/>
          <p:cNvSpPr/>
          <p:nvPr/>
        </p:nvSpPr>
        <p:spPr>
          <a:xfrm>
            <a:off x="7035616" y="2206751"/>
            <a:ext cx="1554480" cy="685800"/>
          </a:xfrm>
          <a:prstGeom prst="diamond">
            <a:avLst/>
          </a:prstGeom>
          <a:solidFill>
            <a:srgbClr val="E88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Calibri"/>
              </a:rPr>
              <a:t>Valid JSON?</a:t>
            </a:r>
          </a:p>
        </p:txBody>
      </p:sp>
      <p:sp>
        <p:nvSpPr>
          <p:cNvPr id="32" name="Diamond 31"/>
          <p:cNvSpPr/>
          <p:nvPr/>
        </p:nvSpPr>
        <p:spPr>
          <a:xfrm>
            <a:off x="4078369" y="2228850"/>
            <a:ext cx="1554480" cy="685800"/>
          </a:xfrm>
          <a:prstGeom prst="diamond">
            <a:avLst/>
          </a:prstGeom>
          <a:solidFill>
            <a:srgbClr val="E88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 dirty="0" err="1">
                <a:solidFill>
                  <a:srgbClr val="FFFFFF"/>
                </a:solidFill>
                <a:latin typeface="Calibri"/>
              </a:rPr>
              <a:t>Recognised</a:t>
            </a:r>
            <a:endParaRPr sz="100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sz="1000" b="1" dirty="0">
                <a:solidFill>
                  <a:srgbClr val="FFFFFF"/>
                </a:solidFill>
                <a:latin typeface="Calibri"/>
              </a:rPr>
              <a:t>intent?</a:t>
            </a:r>
          </a:p>
        </p:txBody>
      </p:sp>
      <p:sp>
        <p:nvSpPr>
          <p:cNvPr id="33" name="Diamond 32"/>
          <p:cNvSpPr/>
          <p:nvPr/>
        </p:nvSpPr>
        <p:spPr>
          <a:xfrm>
            <a:off x="1005841" y="2228850"/>
            <a:ext cx="1554480" cy="685800"/>
          </a:xfrm>
          <a:prstGeom prst="diamond">
            <a:avLst/>
          </a:prstGeom>
          <a:solidFill>
            <a:srgbClr val="E88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Calibri"/>
              </a:rPr>
              <a:t>Confidence ≥</a:t>
            </a:r>
          </a:p>
          <a:p>
            <a:pPr algn="ctr"/>
            <a:r>
              <a:rPr sz="1000" b="1" dirty="0">
                <a:solidFill>
                  <a:srgbClr val="FFFFFF"/>
                </a:solidFill>
                <a:latin typeface="Calibri"/>
              </a:rPr>
              <a:t>threshold?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80" y="2795778"/>
            <a:ext cx="1554480" cy="28315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800" b="0" dirty="0">
                <a:solidFill>
                  <a:srgbClr val="424242"/>
                </a:solidFill>
                <a:latin typeface="Calibri"/>
              </a:rPr>
              <a:t>Reformat once</a:t>
            </a:r>
            <a:r>
              <a:rPr lang="en-GB" sz="800" b="0" dirty="0">
                <a:solidFill>
                  <a:srgbClr val="424242"/>
                </a:solidFill>
                <a:latin typeface="Calibri"/>
              </a:rPr>
              <a:t>,</a:t>
            </a:r>
            <a:endParaRPr sz="800" b="0" dirty="0">
              <a:solidFill>
                <a:srgbClr val="424242"/>
              </a:solidFill>
              <a:latin typeface="Calibri"/>
            </a:endParaRPr>
          </a:p>
          <a:p>
            <a:pPr algn="ctr"/>
            <a:r>
              <a:rPr sz="800" b="0" dirty="0">
                <a:solidFill>
                  <a:srgbClr val="424242"/>
                </a:solidFill>
                <a:latin typeface="Calibri"/>
              </a:rPr>
              <a:t>else fail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8855" y="3648456"/>
            <a:ext cx="23317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8855" y="3648456"/>
            <a:ext cx="73152" cy="5943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56871" y="3694176"/>
            <a:ext cx="2148839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 dirty="0">
                <a:solidFill>
                  <a:srgbClr val="2E7D32"/>
                </a:solidFill>
                <a:latin typeface="Calibri"/>
              </a:rPr>
              <a:t>Auto persist + handoff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6871" y="3922776"/>
            <a:ext cx="2148839" cy="3017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50" b="0">
                <a:solidFill>
                  <a:srgbClr val="424242"/>
                </a:solidFill>
                <a:latin typeface="Calibri"/>
              </a:rPr>
              <a:t>SQL row + archive blob</a:t>
            </a:r>
          </a:p>
          <a:p>
            <a:pPr algn="l"/>
            <a:r>
              <a:rPr sz="850" b="0">
                <a:solidFill>
                  <a:srgbClr val="424242"/>
                </a:solidFill>
                <a:latin typeface="Calibri"/>
              </a:rPr>
              <a:t>+ outbound /workflow/handoff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92098" y="3644020"/>
            <a:ext cx="23317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835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692098" y="3644020"/>
            <a:ext cx="73152" cy="594360"/>
          </a:xfrm>
          <a:prstGeom prst="rect">
            <a:avLst/>
          </a:prstGeom>
          <a:solidFill>
            <a:srgbClr val="2835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820114" y="3689740"/>
            <a:ext cx="2148839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 dirty="0">
                <a:solidFill>
                  <a:srgbClr val="283593"/>
                </a:solidFill>
                <a:latin typeface="Calibri"/>
              </a:rPr>
              <a:t>Route to HITL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20114" y="3918340"/>
            <a:ext cx="2148839" cy="3017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50" b="0" dirty="0">
                <a:solidFill>
                  <a:srgbClr val="424242"/>
                </a:solidFill>
                <a:latin typeface="Calibri"/>
              </a:rPr>
              <a:t>Unknown intent OR</a:t>
            </a:r>
          </a:p>
          <a:p>
            <a:pPr algn="l"/>
            <a:r>
              <a:rPr sz="850" b="0" dirty="0">
                <a:solidFill>
                  <a:srgbClr val="424242"/>
                </a:solidFill>
                <a:latin typeface="Calibri"/>
              </a:rPr>
              <a:t>low-confidence prediction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47688" y="3653028"/>
            <a:ext cx="233172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C0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647688" y="3653028"/>
            <a:ext cx="73152" cy="594360"/>
          </a:xfrm>
          <a:prstGeom prst="rect">
            <a:avLst/>
          </a:prstGeom>
          <a:solidFill>
            <a:srgbClr val="5C0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775704" y="3698748"/>
            <a:ext cx="2148839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 dirty="0" err="1">
                <a:solidFill>
                  <a:srgbClr val="5C0F6E"/>
                </a:solidFill>
                <a:latin typeface="Calibri"/>
              </a:rPr>
              <a:t>DocumentFailedEvent</a:t>
            </a:r>
            <a:endParaRPr sz="1050" b="1" dirty="0">
              <a:solidFill>
                <a:srgbClr val="5C0F6E"/>
              </a:solidFill>
              <a:latin typeface="Calibri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775704" y="3927348"/>
            <a:ext cx="2148839" cy="3017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50" b="0">
                <a:solidFill>
                  <a:srgbClr val="424242"/>
                </a:solidFill>
                <a:latin typeface="Calibri"/>
              </a:rPr>
              <a:t>Bad JSON, 429 exhausted,</a:t>
            </a:r>
          </a:p>
          <a:p>
            <a:pPr algn="l"/>
            <a:r>
              <a:rPr sz="850" b="0">
                <a:solidFill>
                  <a:srgbClr val="424242"/>
                </a:solidFill>
                <a:latin typeface="Calibri"/>
              </a:rPr>
              <a:t>or OCR rejection → DLQ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8B1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82880" y="4901184"/>
            <a:ext cx="22860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dirty="0">
                <a:solidFill>
                  <a:srgbClr val="FFFFFF"/>
                </a:solidFill>
                <a:latin typeface="Calibri"/>
              </a:rPr>
              <a:t>Computershare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43200" y="4901184"/>
            <a:ext cx="36576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750" b="0">
                <a:solidFill>
                  <a:srgbClr val="DDAADD"/>
                </a:solidFill>
                <a:latin typeface="Calibri"/>
              </a:rPr>
              <a:t>Computershare Distribution Only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46720" y="4901184"/>
            <a:ext cx="9144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259CF76-3468-3DE3-6146-537A38831D90}"/>
              </a:ext>
            </a:extLst>
          </p:cNvPr>
          <p:cNvCxnSpPr>
            <a:stCxn id="7" idx="3"/>
            <a:endCxn id="13" idx="1"/>
          </p:cNvCxnSpPr>
          <p:nvPr/>
        </p:nvCxnSpPr>
        <p:spPr>
          <a:xfrm>
            <a:off x="1609344" y="1577340"/>
            <a:ext cx="2743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1EC5114D-6716-2D6D-B0FB-708D36EBE2F9}"/>
              </a:ext>
            </a:extLst>
          </p:cNvPr>
          <p:cNvCxnSpPr>
            <a:stCxn id="12" idx="3"/>
            <a:endCxn id="18" idx="1"/>
          </p:cNvCxnSpPr>
          <p:nvPr/>
        </p:nvCxnSpPr>
        <p:spPr>
          <a:xfrm>
            <a:off x="3438144" y="1577340"/>
            <a:ext cx="2926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E3EE48C-804D-0220-A33B-022DD73FD59A}"/>
              </a:ext>
            </a:extLst>
          </p:cNvPr>
          <p:cNvCxnSpPr>
            <a:cxnSpLocks/>
            <a:stCxn id="17" idx="3"/>
            <a:endCxn id="23" idx="1"/>
          </p:cNvCxnSpPr>
          <p:nvPr/>
        </p:nvCxnSpPr>
        <p:spPr>
          <a:xfrm>
            <a:off x="5285232" y="1577340"/>
            <a:ext cx="31283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A387FCB-3AF2-062B-9A7D-C5ABA690813A}"/>
              </a:ext>
            </a:extLst>
          </p:cNvPr>
          <p:cNvCxnSpPr>
            <a:stCxn id="22" idx="3"/>
            <a:endCxn id="28" idx="1"/>
          </p:cNvCxnSpPr>
          <p:nvPr/>
        </p:nvCxnSpPr>
        <p:spPr>
          <a:xfrm>
            <a:off x="7152548" y="1577340"/>
            <a:ext cx="3272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8" name="Picture 67">
            <a:extLst>
              <a:ext uri="{FF2B5EF4-FFF2-40B4-BE49-F238E27FC236}">
                <a16:creationId xmlns:a16="http://schemas.microsoft.com/office/drawing/2014/main" id="{2BF55602-FE92-7C77-CCD6-27D9EAC369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99" y="4900353"/>
            <a:ext cx="862584" cy="226005"/>
          </a:xfrm>
          <a:prstGeom prst="rect">
            <a:avLst/>
          </a:prstGeom>
        </p:spPr>
      </p:pic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BBF10BF-92A6-CC7E-DD31-04D13847A21B}"/>
              </a:ext>
            </a:extLst>
          </p:cNvPr>
          <p:cNvCxnSpPr>
            <a:cxnSpLocks/>
            <a:endCxn id="31" idx="3"/>
          </p:cNvCxnSpPr>
          <p:nvPr/>
        </p:nvCxnSpPr>
        <p:spPr>
          <a:xfrm rot="5400000">
            <a:off x="8395164" y="2090789"/>
            <a:ext cx="653794" cy="26393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B38C7881-EF25-3CD5-09C8-A39C5F8ED8D7}"/>
              </a:ext>
            </a:extLst>
          </p:cNvPr>
          <p:cNvCxnSpPr>
            <a:cxnSpLocks/>
            <a:stCxn id="31" idx="1"/>
            <a:endCxn id="32" idx="3"/>
          </p:cNvCxnSpPr>
          <p:nvPr/>
        </p:nvCxnSpPr>
        <p:spPr>
          <a:xfrm flipH="1">
            <a:off x="5632849" y="2549651"/>
            <a:ext cx="1402767" cy="220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E3685EE2-3170-7B1F-9FB2-48DF59A81745}"/>
              </a:ext>
            </a:extLst>
          </p:cNvPr>
          <p:cNvCxnSpPr>
            <a:cxnSpLocks/>
            <a:stCxn id="31" idx="2"/>
            <a:endCxn id="45" idx="0"/>
          </p:cNvCxnSpPr>
          <p:nvPr/>
        </p:nvCxnSpPr>
        <p:spPr>
          <a:xfrm rot="16200000" flipH="1">
            <a:off x="7432964" y="3272443"/>
            <a:ext cx="760477" cy="69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0BBBDC18-9BD3-92AC-7F27-0E64F54123E6}"/>
              </a:ext>
            </a:extLst>
          </p:cNvPr>
          <p:cNvCxnSpPr>
            <a:cxnSpLocks/>
            <a:stCxn id="32" idx="1"/>
            <a:endCxn id="33" idx="3"/>
          </p:cNvCxnSpPr>
          <p:nvPr/>
        </p:nvCxnSpPr>
        <p:spPr>
          <a:xfrm flipH="1">
            <a:off x="2560321" y="2571750"/>
            <a:ext cx="15180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6960B7D5-BA59-A899-151D-116360474086}"/>
              </a:ext>
            </a:extLst>
          </p:cNvPr>
          <p:cNvSpPr txBox="1"/>
          <p:nvPr/>
        </p:nvSpPr>
        <p:spPr>
          <a:xfrm>
            <a:off x="2792594" y="2345383"/>
            <a:ext cx="3561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/>
              <a:t>yes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232787C-FBAA-65B4-91CF-22D6766A016E}"/>
              </a:ext>
            </a:extLst>
          </p:cNvPr>
          <p:cNvSpPr txBox="1"/>
          <p:nvPr/>
        </p:nvSpPr>
        <p:spPr>
          <a:xfrm>
            <a:off x="6527368" y="2339036"/>
            <a:ext cx="3561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/>
              <a:t>yes</a:t>
            </a:r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99CE9397-0342-0AD4-E10A-E1C4C03B9132}"/>
              </a:ext>
            </a:extLst>
          </p:cNvPr>
          <p:cNvCxnSpPr>
            <a:cxnSpLocks/>
            <a:stCxn id="32" idx="2"/>
            <a:endCxn id="41" idx="0"/>
          </p:cNvCxnSpPr>
          <p:nvPr/>
        </p:nvCxnSpPr>
        <p:spPr>
          <a:xfrm>
            <a:off x="4855609" y="2914650"/>
            <a:ext cx="2349" cy="7293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D2650874-5EDA-E1E6-127F-8C1A6D33E08F}"/>
              </a:ext>
            </a:extLst>
          </p:cNvPr>
          <p:cNvCxnSpPr>
            <a:cxnSpLocks/>
            <a:stCxn id="33" idx="3"/>
            <a:endCxn id="41" idx="1"/>
          </p:cNvCxnSpPr>
          <p:nvPr/>
        </p:nvCxnSpPr>
        <p:spPr>
          <a:xfrm>
            <a:off x="2560321" y="2571750"/>
            <a:ext cx="1131777" cy="136945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D5923803-331A-C677-5C79-3A0AAFF5FBB6}"/>
              </a:ext>
            </a:extLst>
          </p:cNvPr>
          <p:cNvCxnSpPr>
            <a:cxnSpLocks/>
            <a:stCxn id="33" idx="2"/>
            <a:endCxn id="37" idx="0"/>
          </p:cNvCxnSpPr>
          <p:nvPr/>
        </p:nvCxnSpPr>
        <p:spPr>
          <a:xfrm>
            <a:off x="1783081" y="2914650"/>
            <a:ext cx="11634" cy="7338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3E192F3B-0265-208F-1977-A7D7239828C6}"/>
              </a:ext>
            </a:extLst>
          </p:cNvPr>
          <p:cNvSpPr txBox="1"/>
          <p:nvPr/>
        </p:nvSpPr>
        <p:spPr>
          <a:xfrm>
            <a:off x="1783081" y="3054847"/>
            <a:ext cx="3193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/>
              <a:t>no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AA0C3B21-2C36-E97E-0042-EF6E7C0D1B40}"/>
              </a:ext>
            </a:extLst>
          </p:cNvPr>
          <p:cNvSpPr txBox="1"/>
          <p:nvPr/>
        </p:nvSpPr>
        <p:spPr>
          <a:xfrm>
            <a:off x="3126209" y="3054312"/>
            <a:ext cx="3193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/>
              <a:t>no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448BF850-0788-BD31-9D6F-DCC89B8DAD75}"/>
              </a:ext>
            </a:extLst>
          </p:cNvPr>
          <p:cNvSpPr txBox="1"/>
          <p:nvPr/>
        </p:nvSpPr>
        <p:spPr>
          <a:xfrm>
            <a:off x="4857958" y="3032779"/>
            <a:ext cx="3193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/>
              <a:t>no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5E52F12C-E88D-7881-32A4-7E57ADE2EA9E}"/>
              </a:ext>
            </a:extLst>
          </p:cNvPr>
          <p:cNvSpPr txBox="1"/>
          <p:nvPr/>
        </p:nvSpPr>
        <p:spPr>
          <a:xfrm>
            <a:off x="7772400" y="3011753"/>
            <a:ext cx="3193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dirty="0"/>
              <a:t>no</a:t>
            </a: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B04D6C55-0E48-556B-23A7-32A14182389A}"/>
              </a:ext>
            </a:extLst>
          </p:cNvPr>
          <p:cNvCxnSpPr>
            <a:stCxn id="46" idx="1"/>
            <a:endCxn id="41" idx="3"/>
          </p:cNvCxnSpPr>
          <p:nvPr/>
        </p:nvCxnSpPr>
        <p:spPr>
          <a:xfrm flipH="1" flipV="1">
            <a:off x="6023818" y="3941200"/>
            <a:ext cx="623870" cy="90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28016"/>
            <a:ext cx="731520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200" b="1" dirty="0">
                <a:solidFill>
                  <a:srgbClr val="8B1A8F"/>
                </a:solidFill>
                <a:latin typeface="Calibri"/>
              </a:rPr>
              <a:t>Local Today vs Production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28016"/>
            <a:ext cx="118872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750" b="0">
                <a:solidFill>
                  <a:srgbClr val="9E9E9E"/>
                </a:solidFill>
                <a:latin typeface="Calibri"/>
              </a:rPr>
              <a:t>MAY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96112"/>
            <a:ext cx="9144000" cy="36576"/>
          </a:xfrm>
          <a:prstGeom prst="rect">
            <a:avLst/>
          </a:prstGeom>
          <a:solidFill>
            <a:srgbClr val="E88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1188720" cy="292608"/>
          </a:xfrm>
          <a:prstGeom prst="rect">
            <a:avLst/>
          </a:prstGeom>
          <a:solidFill>
            <a:srgbClr val="8B1A8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Concern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1051560"/>
            <a:ext cx="1783080" cy="292608"/>
          </a:xfrm>
          <a:prstGeom prst="rect">
            <a:avLst/>
          </a:prstGeom>
          <a:solidFill>
            <a:srgbClr val="8B1A8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Local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051560"/>
            <a:ext cx="2011680" cy="292608"/>
          </a:xfrm>
          <a:prstGeom prst="rect">
            <a:avLst/>
          </a:prstGeom>
          <a:solidFill>
            <a:srgbClr val="8B1A8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Production (UK South)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44168"/>
            <a:ext cx="11887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0">
                <a:solidFill>
                  <a:srgbClr val="424242"/>
                </a:solidFill>
                <a:latin typeface="Calibri"/>
              </a:rPr>
              <a:t>File arrival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63040" y="1344168"/>
            <a:ext cx="17830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0">
                <a:solidFill>
                  <a:srgbClr val="424242"/>
                </a:solidFill>
                <a:latin typeface="Calibri"/>
              </a:rPr>
              <a:t>FileSystemWatcher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344168"/>
            <a:ext cx="20116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0">
                <a:solidFill>
                  <a:srgbClr val="424242"/>
                </a:solidFill>
                <a:latin typeface="Calibri"/>
              </a:rPr>
              <a:t>Azure Files + Event Grid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636776"/>
            <a:ext cx="1188720" cy="292608"/>
          </a:xfrm>
          <a:prstGeom prst="rect">
            <a:avLst/>
          </a:prstGeom>
          <a:solidFill>
            <a:srgbClr val="F5E6F7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0">
                <a:solidFill>
                  <a:srgbClr val="424242"/>
                </a:solidFill>
                <a:latin typeface="Calibri"/>
              </a:rPr>
              <a:t>Message bus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63040" y="1636776"/>
            <a:ext cx="1783080" cy="292608"/>
          </a:xfrm>
          <a:prstGeom prst="rect">
            <a:avLst/>
          </a:prstGeom>
          <a:solidFill>
            <a:srgbClr val="F5E6F7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0" dirty="0">
                <a:solidFill>
                  <a:srgbClr val="424242"/>
                </a:solidFill>
                <a:latin typeface="Calibri"/>
              </a:rPr>
              <a:t>RabbitMQ container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1636776"/>
            <a:ext cx="2011680" cy="292608"/>
          </a:xfrm>
          <a:prstGeom prst="rect">
            <a:avLst/>
          </a:prstGeom>
          <a:solidFill>
            <a:srgbClr val="F5E6F7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0">
                <a:solidFill>
                  <a:srgbClr val="424242"/>
                </a:solidFill>
                <a:latin typeface="Calibri"/>
              </a:rPr>
              <a:t>Azure Service Bus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929384"/>
            <a:ext cx="11887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0">
                <a:solidFill>
                  <a:srgbClr val="424242"/>
                </a:solidFill>
                <a:latin typeface="Calibri"/>
              </a:rPr>
              <a:t>Blob store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63040" y="1929384"/>
            <a:ext cx="17830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0">
                <a:solidFill>
                  <a:srgbClr val="424242"/>
                </a:solidFill>
                <a:latin typeface="Calibri"/>
              </a:rPr>
              <a:t>Azurite emulator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929384"/>
            <a:ext cx="20116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0">
                <a:solidFill>
                  <a:srgbClr val="424242"/>
                </a:solidFill>
                <a:latin typeface="Calibri"/>
              </a:rPr>
              <a:t>Azure Blob (managed identity)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221991"/>
            <a:ext cx="1188720" cy="292608"/>
          </a:xfrm>
          <a:prstGeom prst="rect">
            <a:avLst/>
          </a:prstGeom>
          <a:solidFill>
            <a:srgbClr val="F5E6F7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0">
                <a:solidFill>
                  <a:srgbClr val="424242"/>
                </a:solidFill>
                <a:latin typeface="Calibri"/>
              </a:rPr>
              <a:t>SQL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0" y="2221991"/>
            <a:ext cx="1783080" cy="292608"/>
          </a:xfrm>
          <a:prstGeom prst="rect">
            <a:avLst/>
          </a:prstGeom>
          <a:solidFill>
            <a:srgbClr val="F5E6F7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0">
                <a:solidFill>
                  <a:srgbClr val="424242"/>
                </a:solidFill>
                <a:latin typeface="Calibri"/>
              </a:rPr>
              <a:t>SQL Server container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46120" y="2221991"/>
            <a:ext cx="2011680" cy="292608"/>
          </a:xfrm>
          <a:prstGeom prst="rect">
            <a:avLst/>
          </a:prstGeom>
          <a:solidFill>
            <a:srgbClr val="F5E6F7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0">
                <a:solidFill>
                  <a:srgbClr val="424242"/>
                </a:solidFill>
                <a:latin typeface="Calibri"/>
              </a:rPr>
              <a:t>Azure SQL (managed identity)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514600"/>
            <a:ext cx="11887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0">
                <a:solidFill>
                  <a:srgbClr val="424242"/>
                </a:solidFill>
                <a:latin typeface="Calibri"/>
              </a:rPr>
              <a:t>OCR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463040" y="2514600"/>
            <a:ext cx="17830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0">
                <a:solidFill>
                  <a:srgbClr val="424242"/>
                </a:solidFill>
                <a:latin typeface="Calibri"/>
              </a:rPr>
              <a:t>Azure DI (F0)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46120" y="2514600"/>
            <a:ext cx="20116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0">
                <a:solidFill>
                  <a:srgbClr val="424242"/>
                </a:solidFill>
                <a:latin typeface="Calibri"/>
              </a:rPr>
              <a:t>Azure DI (S0/S1, UK South)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807208"/>
            <a:ext cx="1188720" cy="292608"/>
          </a:xfrm>
          <a:prstGeom prst="rect">
            <a:avLst/>
          </a:prstGeom>
          <a:solidFill>
            <a:srgbClr val="F5E6F7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0">
                <a:solidFill>
                  <a:srgbClr val="424242"/>
                </a:solidFill>
                <a:latin typeface="Calibri"/>
              </a:rPr>
              <a:t>Chat LLM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63040" y="2807208"/>
            <a:ext cx="1783080" cy="292608"/>
          </a:xfrm>
          <a:prstGeom prst="rect">
            <a:avLst/>
          </a:prstGeom>
          <a:solidFill>
            <a:srgbClr val="F5E6F7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0">
                <a:solidFill>
                  <a:srgbClr val="424242"/>
                </a:solidFill>
                <a:latin typeface="Calibri"/>
              </a:rPr>
              <a:t>GitHub Models gpt-4.1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46120" y="2807208"/>
            <a:ext cx="2011680" cy="292608"/>
          </a:xfrm>
          <a:prstGeom prst="rect">
            <a:avLst/>
          </a:prstGeom>
          <a:solidFill>
            <a:srgbClr val="F5E6F7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0">
                <a:solidFill>
                  <a:srgbClr val="424242"/>
                </a:solidFill>
                <a:latin typeface="Calibri"/>
              </a:rPr>
              <a:t>Azure OpenAI gpt-5.1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099816"/>
            <a:ext cx="11887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0">
                <a:solidFill>
                  <a:srgbClr val="424242"/>
                </a:solidFill>
                <a:latin typeface="Calibri"/>
              </a:rPr>
              <a:t>Vector store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63040" y="3099816"/>
            <a:ext cx="17830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0">
                <a:solidFill>
                  <a:srgbClr val="424242"/>
                </a:solidFill>
                <a:latin typeface="Calibri"/>
              </a:rPr>
              <a:t>InMemoryVectorStore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46120" y="3099816"/>
            <a:ext cx="20116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0">
                <a:solidFill>
                  <a:srgbClr val="424242"/>
                </a:solidFill>
                <a:latin typeface="Calibri"/>
              </a:rPr>
              <a:t>Azure AI Search (hybrid)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392424"/>
            <a:ext cx="1188720" cy="292608"/>
          </a:xfrm>
          <a:prstGeom prst="rect">
            <a:avLst/>
          </a:prstGeom>
          <a:solidFill>
            <a:srgbClr val="F5E6F7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0">
                <a:solidFill>
                  <a:srgbClr val="424242"/>
                </a:solidFill>
                <a:latin typeface="Calibri"/>
              </a:rPr>
              <a:t>Secrets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63040" y="3392424"/>
            <a:ext cx="1783080" cy="292608"/>
          </a:xfrm>
          <a:prstGeom prst="rect">
            <a:avLst/>
          </a:prstGeom>
          <a:solidFill>
            <a:srgbClr val="F5E6F7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0">
                <a:solidFill>
                  <a:srgbClr val="424242"/>
                </a:solidFill>
                <a:latin typeface="Calibri"/>
              </a:rPr>
              <a:t>dotnet user-secrets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46120" y="3392424"/>
            <a:ext cx="2011680" cy="292608"/>
          </a:xfrm>
          <a:prstGeom prst="rect">
            <a:avLst/>
          </a:prstGeom>
          <a:solidFill>
            <a:srgbClr val="F5E6F7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0">
                <a:solidFill>
                  <a:srgbClr val="424242"/>
                </a:solidFill>
                <a:latin typeface="Calibri"/>
              </a:rPr>
              <a:t>Key Vault + Workload Identity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685031"/>
            <a:ext cx="11887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0">
                <a:solidFill>
                  <a:srgbClr val="424242"/>
                </a:solidFill>
                <a:latin typeface="Calibri"/>
              </a:rPr>
              <a:t>Hosting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63040" y="3685031"/>
            <a:ext cx="17830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0">
                <a:solidFill>
                  <a:srgbClr val="424242"/>
                </a:solidFill>
                <a:latin typeface="Calibri"/>
              </a:rPr>
              <a:t>Aspire AppHost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46120" y="3685031"/>
            <a:ext cx="20116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0">
                <a:solidFill>
                  <a:srgbClr val="424242"/>
                </a:solidFill>
                <a:latin typeface="Calibri"/>
              </a:rPr>
              <a:t>AKS + KEDA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1005840"/>
            <a:ext cx="32918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8B1A8F"/>
                </a:solidFill>
                <a:latin typeface="Calibri"/>
              </a:rPr>
              <a:t>Baseline accuracy — 19 May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0" y="1261872"/>
            <a:ext cx="329184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50" b="0">
                <a:solidFill>
                  <a:srgbClr val="9E9E9E"/>
                </a:solidFill>
                <a:latin typeface="Calibri"/>
              </a:rPr>
              <a:t>40-document corpus from samples/SampleForms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77840" y="1554480"/>
            <a:ext cx="3291840" cy="868680"/>
          </a:xfrm>
          <a:prstGeom prst="rect">
            <a:avLst/>
          </a:prstGeom>
          <a:solidFill>
            <a:srgbClr val="E8F5E9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669279" y="1600200"/>
            <a:ext cx="128016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600" b="1">
                <a:solidFill>
                  <a:srgbClr val="2E7D32"/>
                </a:solidFill>
                <a:latin typeface="Calibri"/>
              </a:rPr>
              <a:t>100%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1600200"/>
            <a:ext cx="1874519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>
                <a:solidFill>
                  <a:srgbClr val="424242"/>
                </a:solidFill>
                <a:latin typeface="Calibri"/>
              </a:rPr>
              <a:t>intent accuracy on classified documents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79" y="2011680"/>
            <a:ext cx="31546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50" b="0">
                <a:solidFill>
                  <a:srgbClr val="424242"/>
                </a:solidFill>
                <a:latin typeface="Calibri"/>
              </a:rPr>
              <a:t>25 / 40 classified  •  0 mismatches  •  multi-intent detected on 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79" y="2194560"/>
            <a:ext cx="315468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9E9E9E"/>
                </a:solidFill>
                <a:latin typeface="Calibri"/>
              </a:rPr>
              <a:t>15 failures — all infra (rate cap, F0 size, 8k context)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77840" y="2542032"/>
            <a:ext cx="329184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>
                <a:solidFill>
                  <a:srgbClr val="8B1A8F"/>
                </a:solidFill>
                <a:latin typeface="Calibri"/>
              </a:rPr>
              <a:t>Per-intent precision / recall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77840" y="2788920"/>
            <a:ext cx="1097280" cy="292608"/>
          </a:xfrm>
          <a:prstGeom prst="rect">
            <a:avLst/>
          </a:prstGeom>
          <a:solidFill>
            <a:srgbClr val="8B1A8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1">
                <a:solidFill>
                  <a:srgbClr val="FFFFFF"/>
                </a:solidFill>
                <a:latin typeface="Calibri"/>
              </a:rPr>
              <a:t>Intent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75120" y="2788920"/>
            <a:ext cx="411480" cy="292608"/>
          </a:xfrm>
          <a:prstGeom prst="rect">
            <a:avLst/>
          </a:prstGeom>
          <a:solidFill>
            <a:srgbClr val="8B1A8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TP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086600" y="2788920"/>
            <a:ext cx="411480" cy="292608"/>
          </a:xfrm>
          <a:prstGeom prst="rect">
            <a:avLst/>
          </a:prstGeom>
          <a:solidFill>
            <a:srgbClr val="8B1A8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FP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98079" y="2788920"/>
            <a:ext cx="640080" cy="292608"/>
          </a:xfrm>
          <a:prstGeom prst="rect">
            <a:avLst/>
          </a:prstGeom>
          <a:solidFill>
            <a:srgbClr val="8B1A8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38159" y="2788920"/>
            <a:ext cx="731520" cy="292608"/>
          </a:xfrm>
          <a:prstGeom prst="rect">
            <a:avLst/>
          </a:prstGeom>
          <a:solidFill>
            <a:srgbClr val="8B1A8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577840" y="3081527"/>
            <a:ext cx="10972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0">
                <a:solidFill>
                  <a:srgbClr val="424242"/>
                </a:solidFill>
                <a:latin typeface="Calibri"/>
              </a:rPr>
              <a:t>drip_ocp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675120" y="3081527"/>
            <a:ext cx="4114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0">
                <a:solidFill>
                  <a:srgbClr val="424242"/>
                </a:solidFill>
                <a:latin typeface="Calibri"/>
              </a:rPr>
              <a:t>14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86600" y="3081527"/>
            <a:ext cx="4114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0">
                <a:solidFill>
                  <a:srgbClr val="424242"/>
                </a:solidFill>
                <a:latin typeface="Calibri"/>
              </a:rPr>
              <a:t>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98079" y="3081527"/>
            <a:ext cx="64008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0">
                <a:solidFill>
                  <a:srgbClr val="424242"/>
                </a:solidFill>
                <a:latin typeface="Calibri"/>
              </a:rPr>
              <a:t>93%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138159" y="3081527"/>
            <a:ext cx="7315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0">
                <a:solidFill>
                  <a:srgbClr val="424242"/>
                </a:solidFill>
                <a:latin typeface="Calibri"/>
              </a:rPr>
              <a:t>100%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77840" y="3374136"/>
            <a:ext cx="1097280" cy="292608"/>
          </a:xfrm>
          <a:prstGeom prst="rect">
            <a:avLst/>
          </a:prstGeom>
          <a:solidFill>
            <a:srgbClr val="F5E6F7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l"/>
            <a:r>
              <a:rPr sz="900" b="0">
                <a:solidFill>
                  <a:srgbClr val="424242"/>
                </a:solidFill>
                <a:latin typeface="Calibri"/>
              </a:rPr>
              <a:t>sell_stock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675120" y="3374136"/>
            <a:ext cx="411480" cy="292608"/>
          </a:xfrm>
          <a:prstGeom prst="rect">
            <a:avLst/>
          </a:prstGeom>
          <a:solidFill>
            <a:srgbClr val="F5E6F7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0">
                <a:solidFill>
                  <a:srgbClr val="424242"/>
                </a:solidFill>
                <a:latin typeface="Calibri"/>
              </a:rPr>
              <a:t>11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86600" y="3374136"/>
            <a:ext cx="411480" cy="292608"/>
          </a:xfrm>
          <a:prstGeom prst="rect">
            <a:avLst/>
          </a:prstGeom>
          <a:solidFill>
            <a:srgbClr val="F5E6F7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0">
                <a:solidFill>
                  <a:srgbClr val="424242"/>
                </a:solidFill>
                <a:latin typeface="Calibri"/>
              </a:rPr>
              <a:t>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98079" y="3374136"/>
            <a:ext cx="640080" cy="292608"/>
          </a:xfrm>
          <a:prstGeom prst="rect">
            <a:avLst/>
          </a:prstGeom>
          <a:solidFill>
            <a:srgbClr val="F5E6F7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0">
                <a:solidFill>
                  <a:srgbClr val="424242"/>
                </a:solidFill>
                <a:latin typeface="Calibri"/>
              </a:rPr>
              <a:t>100%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38159" y="3374136"/>
            <a:ext cx="731520" cy="292608"/>
          </a:xfrm>
          <a:prstGeom prst="rect">
            <a:avLst/>
          </a:prstGeom>
          <a:solidFill>
            <a:srgbClr val="F5E6F7"/>
          </a:solidFill>
          <a:ln w="381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900" b="0">
                <a:solidFill>
                  <a:srgbClr val="424242"/>
                </a:solidFill>
                <a:latin typeface="Calibri"/>
              </a:rPr>
              <a:t>100%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77840" y="3749039"/>
            <a:ext cx="3291840" cy="914400"/>
          </a:xfrm>
          <a:prstGeom prst="rect">
            <a:avLst/>
          </a:prstGeom>
          <a:solidFill>
            <a:srgbClr val="FFF3E0"/>
          </a:solidFill>
          <a:ln w="6350">
            <a:solidFill>
              <a:srgbClr val="E885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5577840" y="3749039"/>
            <a:ext cx="73152" cy="914400"/>
          </a:xfrm>
          <a:prstGeom prst="rect">
            <a:avLst/>
          </a:prstGeom>
          <a:solidFill>
            <a:srgbClr val="E88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705855" y="3776472"/>
            <a:ext cx="3108960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1">
                <a:solidFill>
                  <a:srgbClr val="E8850A"/>
                </a:solidFill>
                <a:latin typeface="Calibri"/>
              </a:rPr>
              <a:t>Read it as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705855" y="3959352"/>
            <a:ext cx="3108960" cy="7040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>
                <a:solidFill>
                  <a:srgbClr val="424242"/>
                </a:solidFill>
                <a:latin typeface="Calibri"/>
              </a:rPr>
              <a:t>•  Real-form accuracy is at parity with hand-curated test fixtures.</a:t>
            </a:r>
          </a:p>
          <a:p>
            <a:pPr algn="l"/>
            <a:r>
              <a:rPr sz="800" b="0">
                <a:solidFill>
                  <a:srgbClr val="424242"/>
                </a:solidFill>
                <a:latin typeface="Calibri"/>
              </a:rPr>
              <a:t>•  Multi-intent detection works — surfaced two true multi-intent forms.</a:t>
            </a:r>
          </a:p>
          <a:p>
            <a:pPr algn="l"/>
            <a:r>
              <a:rPr sz="800" b="0">
                <a:solidFill>
                  <a:srgbClr val="424242"/>
                </a:solidFill>
                <a:latin typeface="Calibri"/>
              </a:rPr>
              <a:t>•  Failure modes are all free-tier ceilings — they disappear in production.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821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82880" y="4901184"/>
            <a:ext cx="22860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dirty="0">
                <a:solidFill>
                  <a:srgbClr val="FFFFFF"/>
                </a:solidFill>
                <a:latin typeface="Calibri"/>
              </a:rPr>
              <a:t>Computershare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743200" y="4901184"/>
            <a:ext cx="36576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750" b="0">
                <a:solidFill>
                  <a:srgbClr val="DDAADD"/>
                </a:solidFill>
                <a:latin typeface="Calibri"/>
              </a:rPr>
              <a:t>Computershare Distribution Only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46720" y="4901184"/>
            <a:ext cx="9144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96D55A30-1D79-801A-C20F-572ABFA5528A}"/>
              </a:ext>
            </a:extLst>
          </p:cNvPr>
          <p:cNvCxnSpPr>
            <a:cxnSpLocks/>
          </p:cNvCxnSpPr>
          <p:nvPr/>
        </p:nvCxnSpPr>
        <p:spPr>
          <a:xfrm flipV="1">
            <a:off x="2354233" y="3977639"/>
            <a:ext cx="1040" cy="3291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F490C06-B5A4-B090-0FE1-9878757F3DCF}"/>
              </a:ext>
            </a:extLst>
          </p:cNvPr>
          <p:cNvCxnSpPr>
            <a:cxnSpLocks/>
          </p:cNvCxnSpPr>
          <p:nvPr/>
        </p:nvCxnSpPr>
        <p:spPr>
          <a:xfrm flipV="1">
            <a:off x="4087092" y="3977639"/>
            <a:ext cx="0" cy="3291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103DAAB5-9A53-7811-E6A5-FE864BB5C218}"/>
              </a:ext>
            </a:extLst>
          </p:cNvPr>
          <p:cNvSpPr txBox="1"/>
          <p:nvPr/>
        </p:nvSpPr>
        <p:spPr>
          <a:xfrm>
            <a:off x="1981203" y="4242816"/>
            <a:ext cx="9351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>
                <a:solidFill>
                  <a:srgbClr val="7030A0"/>
                </a:solidFill>
              </a:rPr>
              <a:t>We are here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35C30A5-777E-85D5-92C7-8823C1C32346}"/>
              </a:ext>
            </a:extLst>
          </p:cNvPr>
          <p:cNvSpPr txBox="1"/>
          <p:nvPr/>
        </p:nvSpPr>
        <p:spPr>
          <a:xfrm>
            <a:off x="3685312" y="4239214"/>
            <a:ext cx="9351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>
                <a:solidFill>
                  <a:srgbClr val="7030A0"/>
                </a:solidFill>
              </a:rPr>
              <a:t>We need to prove this</a:t>
            </a:r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C865F4C6-59FB-2165-98EA-F62675DAD2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99" y="4900353"/>
            <a:ext cx="862584" cy="2260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F4494E8-01D5-7A16-CCA9-076BF3A89AA5}"/>
              </a:ext>
            </a:extLst>
          </p:cNvPr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1801BA-5180-E2B5-8AD7-F23A66274C20}"/>
              </a:ext>
            </a:extLst>
          </p:cNvPr>
          <p:cNvSpPr txBox="1"/>
          <p:nvPr/>
        </p:nvSpPr>
        <p:spPr>
          <a:xfrm>
            <a:off x="326967" y="191732"/>
            <a:ext cx="7315200" cy="375487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lang="en-GB" sz="2200" b="1" dirty="0">
                <a:solidFill>
                  <a:srgbClr val="8B1A8F"/>
                </a:solidFill>
                <a:latin typeface="Calibri"/>
              </a:rPr>
              <a:t>Outstanding tasks for PoC</a:t>
            </a:r>
            <a:endParaRPr sz="2200" b="1" dirty="0">
              <a:solidFill>
                <a:srgbClr val="8B1A8F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568744-CBC7-D3E3-9145-A0B343478AFC}"/>
              </a:ext>
            </a:extLst>
          </p:cNvPr>
          <p:cNvSpPr txBox="1"/>
          <p:nvPr/>
        </p:nvSpPr>
        <p:spPr>
          <a:xfrm>
            <a:off x="7772400" y="128016"/>
            <a:ext cx="118872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750" b="0">
                <a:solidFill>
                  <a:srgbClr val="9E9E9E"/>
                </a:solidFill>
                <a:latin typeface="Calibri"/>
              </a:rPr>
              <a:t>MAY 2026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612742-1732-51F5-5844-4535C2A57DC0}"/>
              </a:ext>
            </a:extLst>
          </p:cNvPr>
          <p:cNvSpPr/>
          <p:nvPr/>
        </p:nvSpPr>
        <p:spPr>
          <a:xfrm>
            <a:off x="0" y="896112"/>
            <a:ext cx="9144000" cy="36576"/>
          </a:xfrm>
          <a:prstGeom prst="rect">
            <a:avLst/>
          </a:prstGeom>
          <a:solidFill>
            <a:srgbClr val="E88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5C98CB1-89E9-14DE-0F38-C5E254E4D4C7}"/>
              </a:ext>
            </a:extLst>
          </p:cNvPr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821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90587F5-F315-B6F9-B5F0-C6A33C4F53B0}"/>
              </a:ext>
            </a:extLst>
          </p:cNvPr>
          <p:cNvSpPr txBox="1"/>
          <p:nvPr/>
        </p:nvSpPr>
        <p:spPr>
          <a:xfrm>
            <a:off x="182880" y="4901184"/>
            <a:ext cx="22860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dirty="0">
                <a:solidFill>
                  <a:srgbClr val="FFFFFF"/>
                </a:solidFill>
                <a:latin typeface="Calibri"/>
              </a:rPr>
              <a:t>Computershare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20BBB20-5A37-9DEA-2823-E8AAD44490A5}"/>
              </a:ext>
            </a:extLst>
          </p:cNvPr>
          <p:cNvSpPr txBox="1"/>
          <p:nvPr/>
        </p:nvSpPr>
        <p:spPr>
          <a:xfrm>
            <a:off x="2743200" y="4901184"/>
            <a:ext cx="36576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750" b="0">
                <a:solidFill>
                  <a:srgbClr val="DDAADD"/>
                </a:solidFill>
                <a:latin typeface="Calibri"/>
              </a:rPr>
              <a:t>Computershare Distribution Only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47D695C-277F-27D8-DAC0-ADF0FEC79052}"/>
              </a:ext>
            </a:extLst>
          </p:cNvPr>
          <p:cNvSpPr txBox="1"/>
          <p:nvPr/>
        </p:nvSpPr>
        <p:spPr>
          <a:xfrm>
            <a:off x="8046720" y="4901184"/>
            <a:ext cx="9144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5100050C-EF9A-8D87-5C70-C36558731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99" y="4900353"/>
            <a:ext cx="862584" cy="226005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C17B1E29-F620-6DA3-C47A-9E3D541DFA72}"/>
              </a:ext>
            </a:extLst>
          </p:cNvPr>
          <p:cNvSpPr txBox="1"/>
          <p:nvPr/>
        </p:nvSpPr>
        <p:spPr>
          <a:xfrm>
            <a:off x="55419" y="1134147"/>
            <a:ext cx="620984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GB" dirty="0">
                <a:solidFill>
                  <a:srgbClr val="7030A0"/>
                </a:solidFill>
              </a:rPr>
              <a:t>Use Foundry and translate local deployment - PS</a:t>
            </a:r>
          </a:p>
          <a:p>
            <a:pPr marL="342900" indent="-342900">
              <a:buAutoNum type="arabicPeriod"/>
            </a:pPr>
            <a:r>
              <a:rPr lang="en-GB" dirty="0">
                <a:solidFill>
                  <a:srgbClr val="7030A0"/>
                </a:solidFill>
              </a:rPr>
              <a:t>Enrich knowledge-base for document intent types – JK/Doug</a:t>
            </a:r>
          </a:p>
          <a:p>
            <a:pPr marL="342900" indent="-342900">
              <a:buAutoNum type="arabicPeriod"/>
            </a:pPr>
            <a:r>
              <a:rPr lang="en-GB" dirty="0">
                <a:solidFill>
                  <a:srgbClr val="7030A0"/>
                </a:solidFill>
              </a:rPr>
              <a:t>Polish PoC for real-time demo with visual cues - PS</a:t>
            </a:r>
          </a:p>
        </p:txBody>
      </p:sp>
    </p:spTree>
    <p:extLst>
      <p:ext uri="{BB962C8B-B14F-4D97-AF65-F5344CB8AC3E}">
        <p14:creationId xmlns:p14="http://schemas.microsoft.com/office/powerpoint/2010/main" val="1060585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02F096-70F2-95EF-95CA-3A72F5FA4484}"/>
              </a:ext>
            </a:extLst>
          </p:cNvPr>
          <p:cNvSpPr txBox="1"/>
          <p:nvPr/>
        </p:nvSpPr>
        <p:spPr>
          <a:xfrm>
            <a:off x="320040" y="191732"/>
            <a:ext cx="7315200" cy="375487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lang="en-GB" sz="2200" b="1" dirty="0">
                <a:solidFill>
                  <a:srgbClr val="8B1A8F"/>
                </a:solidFill>
                <a:latin typeface="Calibri"/>
              </a:rPr>
              <a:t>Appendix</a:t>
            </a:r>
            <a:endParaRPr sz="2200" b="1" dirty="0">
              <a:solidFill>
                <a:srgbClr val="8B1A8F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57297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1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91732"/>
            <a:ext cx="7315200" cy="375487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200" b="1" dirty="0">
                <a:solidFill>
                  <a:srgbClr val="8B1A8F"/>
                </a:solidFill>
                <a:latin typeface="Calibri"/>
              </a:rPr>
              <a:t>Component View — C4 Level 3</a:t>
            </a:r>
            <a:r>
              <a:rPr lang="en-GB" sz="2200" b="1" dirty="0">
                <a:solidFill>
                  <a:srgbClr val="8B1A8F"/>
                </a:solidFill>
                <a:latin typeface="Calibri"/>
              </a:rPr>
              <a:t> (Technology detail)</a:t>
            </a:r>
            <a:endParaRPr sz="2200" b="1" dirty="0">
              <a:solidFill>
                <a:srgbClr val="8B1A8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0" y="128016"/>
            <a:ext cx="118872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750" b="0">
                <a:solidFill>
                  <a:srgbClr val="9E9E9E"/>
                </a:solidFill>
                <a:latin typeface="Calibri"/>
              </a:rPr>
              <a:t>MAY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96112"/>
            <a:ext cx="9144000" cy="36576"/>
          </a:xfrm>
          <a:prstGeom prst="rect">
            <a:avLst/>
          </a:prstGeom>
          <a:solidFill>
            <a:srgbClr val="E88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8595360" cy="566928"/>
          </a:xfrm>
          <a:prstGeom prst="rect">
            <a:avLst/>
          </a:prstGeom>
          <a:solidFill>
            <a:srgbClr val="F5E6F7"/>
          </a:solidFill>
          <a:ln w="508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164592" cy="566928"/>
          </a:xfrm>
          <a:prstGeom prst="rect">
            <a:avLst/>
          </a:prstGeom>
          <a:solidFill>
            <a:srgbClr val="8B1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033272"/>
            <a:ext cx="310896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>
                <a:solidFill>
                  <a:srgbClr val="8B1A8F"/>
                </a:solidFill>
                <a:latin typeface="Calibri"/>
              </a:rPr>
              <a:t>INGEST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61872"/>
            <a:ext cx="310896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50" b="0">
                <a:solidFill>
                  <a:srgbClr val="424242"/>
                </a:solidFill>
                <a:latin typeface="Calibri"/>
              </a:rPr>
              <a:t>File arrival to per-document publish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033272"/>
            <a:ext cx="5074920" cy="5120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>
                <a:solidFill>
                  <a:srgbClr val="424242"/>
                </a:solidFill>
                <a:latin typeface="Calibri"/>
              </a:rPr>
              <a:t>Ingest.Watcher  •  Ingest.Service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627632"/>
            <a:ext cx="8595360" cy="566928"/>
          </a:xfrm>
          <a:prstGeom prst="rect">
            <a:avLst/>
          </a:prstGeom>
          <a:solidFill>
            <a:srgbClr val="FFF3E0"/>
          </a:solidFill>
          <a:ln w="508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" y="1627632"/>
            <a:ext cx="164592" cy="566928"/>
          </a:xfrm>
          <a:prstGeom prst="rect">
            <a:avLst/>
          </a:prstGeom>
          <a:solidFill>
            <a:srgbClr val="C4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1655064"/>
            <a:ext cx="310896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>
                <a:solidFill>
                  <a:srgbClr val="C45E00"/>
                </a:solidFill>
                <a:latin typeface="Calibri"/>
              </a:rPr>
              <a:t>ORCHESTRATION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1883664"/>
            <a:ext cx="310896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50" b="0">
                <a:solidFill>
                  <a:srgbClr val="424242"/>
                </a:solidFill>
                <a:latin typeface="Calibri"/>
              </a:rPr>
              <a:t>MassTransit saga, EF Core, MassTransit.RabbitMQ ↔ AzureServiceBus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1655064"/>
            <a:ext cx="5074920" cy="5120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>
                <a:solidFill>
                  <a:srgbClr val="424242"/>
                </a:solidFill>
                <a:latin typeface="Calibri"/>
              </a:rPr>
              <a:t>Orchestration  (DocumentSaga state machine)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249424"/>
            <a:ext cx="8595360" cy="566928"/>
          </a:xfrm>
          <a:prstGeom prst="rect">
            <a:avLst/>
          </a:prstGeom>
          <a:solidFill>
            <a:srgbClr val="E8F5E9"/>
          </a:solidFill>
          <a:ln w="508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4320" y="2249424"/>
            <a:ext cx="164592" cy="566928"/>
          </a:xfrm>
          <a:prstGeom prst="rect">
            <a:avLst/>
          </a:prstGeom>
          <a:solidFill>
            <a:srgbClr val="5A9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2276856"/>
            <a:ext cx="310896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>
                <a:solidFill>
                  <a:srgbClr val="5A9E5C"/>
                </a:solidFill>
                <a:latin typeface="Calibri"/>
              </a:rPr>
              <a:t>AI 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505456"/>
            <a:ext cx="310896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50" b="0">
                <a:solidFill>
                  <a:srgbClr val="424242"/>
                </a:solidFill>
                <a:latin typeface="Calibri"/>
              </a:rPr>
              <a:t>OCR, classifier and grounded KB tool loop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2276856"/>
            <a:ext cx="5074920" cy="5120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>
                <a:solidFill>
                  <a:srgbClr val="424242"/>
                </a:solidFill>
                <a:latin typeface="Calibri"/>
              </a:rPr>
              <a:t>Ocr  •  Classifier (MAF)  •  KnowledgeBase  •  Embeddings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871216"/>
            <a:ext cx="8595360" cy="566928"/>
          </a:xfrm>
          <a:prstGeom prst="rect">
            <a:avLst/>
          </a:prstGeom>
          <a:solidFill>
            <a:srgbClr val="E3F2FD"/>
          </a:solidFill>
          <a:ln w="508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4320" y="2871216"/>
            <a:ext cx="164592" cy="566928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2898648"/>
            <a:ext cx="310896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>
                <a:solidFill>
                  <a:srgbClr val="1565C0"/>
                </a:solidFill>
                <a:latin typeface="Calibri"/>
              </a:rPr>
              <a:t>PERSISTENCE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127248"/>
            <a:ext cx="310896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50" b="0">
                <a:solidFill>
                  <a:srgbClr val="424242"/>
                </a:solidFill>
                <a:latin typeface="Calibri"/>
              </a:rPr>
              <a:t>Structured + archive sinks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2898648"/>
            <a:ext cx="5074920" cy="5120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>
                <a:solidFill>
                  <a:srgbClr val="424242"/>
                </a:solidFill>
                <a:latin typeface="Calibri"/>
              </a:rPr>
              <a:t>Persistence.Sql  •  Persistence.Archive  •  Outbound.Workflow  •  Api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493008"/>
            <a:ext cx="8595360" cy="566928"/>
          </a:xfrm>
          <a:prstGeom prst="rect">
            <a:avLst/>
          </a:prstGeom>
          <a:solidFill>
            <a:srgbClr val="E8EAF6"/>
          </a:solidFill>
          <a:ln w="508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74320" y="3493008"/>
            <a:ext cx="164592" cy="566928"/>
          </a:xfrm>
          <a:prstGeom prst="rect">
            <a:avLst/>
          </a:prstGeom>
          <a:solidFill>
            <a:srgbClr val="2835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3520439"/>
            <a:ext cx="310896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>
                <a:solidFill>
                  <a:srgbClr val="283593"/>
                </a:solidFill>
                <a:latin typeface="Calibri"/>
              </a:rPr>
              <a:t>CROSS-CUTTING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3749039"/>
            <a:ext cx="310896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50" b="0">
                <a:solidFill>
                  <a:srgbClr val="424242"/>
                </a:solidFill>
                <a:latin typeface="Calibri"/>
              </a:rPr>
              <a:t>Shared by every executable, transport-agnostic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39" y="3520439"/>
            <a:ext cx="5074920" cy="51206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50" b="1">
                <a:solidFill>
                  <a:srgbClr val="424242"/>
                </a:solidFill>
                <a:latin typeface="Calibri"/>
              </a:rPr>
              <a:t>Contracts  •  Common (LLM factory)  •  ServiceDefaults (OTel, health)  •  AppHost (Aspire)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160520"/>
            <a:ext cx="8595360" cy="566928"/>
          </a:xfrm>
          <a:prstGeom prst="rect">
            <a:avLst/>
          </a:prstGeom>
          <a:solidFill>
            <a:srgbClr val="F5E6F7"/>
          </a:solidFill>
          <a:ln w="508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74320" y="4160520"/>
            <a:ext cx="91440" cy="566928"/>
          </a:xfrm>
          <a:prstGeom prst="rect">
            <a:avLst/>
          </a:prstGeom>
          <a:solidFill>
            <a:srgbClr val="8B1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4187952"/>
            <a:ext cx="8412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1">
                <a:solidFill>
                  <a:srgbClr val="8B1A8F"/>
                </a:solidFill>
                <a:latin typeface="Calibri"/>
              </a:rPr>
              <a:t>Module boundaries chosen so production is wiring, not re-architecture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443984"/>
            <a:ext cx="841248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50" b="0">
                <a:solidFill>
                  <a:srgbClr val="424242"/>
                </a:solidFill>
                <a:latin typeface="Calibri"/>
              </a:rPr>
              <a:t>Inter-module communication via DocProcessing.Contracts records — no shared types. LLM access via DocProcessing.Common factory only.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8B1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82880" y="4901184"/>
            <a:ext cx="22860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dirty="0">
                <a:solidFill>
                  <a:srgbClr val="FFFFFF"/>
                </a:solidFill>
                <a:latin typeface="Calibri"/>
              </a:rPr>
              <a:t>Computershare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4901184"/>
            <a:ext cx="36576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750" b="0">
                <a:solidFill>
                  <a:srgbClr val="DDAADD"/>
                </a:solidFill>
                <a:latin typeface="Calibri"/>
              </a:rPr>
              <a:t>Computershare Distribution Only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4901184"/>
            <a:ext cx="91440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95EBA1D6-530B-0F6B-D91B-057D29941B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99" y="4900353"/>
            <a:ext cx="862584" cy="2260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666</Words>
  <Application>Microsoft Office PowerPoint</Application>
  <PresentationFormat>On-screen Show (16:9)</PresentationFormat>
  <Paragraphs>188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Pankaj Singh</cp:lastModifiedBy>
  <cp:revision>6</cp:revision>
  <dcterms:created xsi:type="dcterms:W3CDTF">2013-01-27T09:14:16Z</dcterms:created>
  <dcterms:modified xsi:type="dcterms:W3CDTF">2026-05-19T12:32:36Z</dcterms:modified>
  <cp:category/>
</cp:coreProperties>
</file>