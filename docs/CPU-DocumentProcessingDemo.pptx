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2" r:id="rId6"/>
    <p:sldId id="261" r:id="rId7"/>
    <p:sldId id="258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1E67"/>
    <a:srgbClr val="8B1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FE404-1D2A-4280-9002-840936C466C6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04378-670D-4509-9252-90CD65821D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20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arrows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4378-670D-4509-9252-90CD65821D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042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Where we are at vs where we need to 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4378-670D-4509-9252-90CD65821D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131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Move to 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4378-670D-4509-9252-90CD65821D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188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5C0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2286000" cy="5143500"/>
          </a:xfrm>
          <a:prstGeom prst="rect">
            <a:avLst/>
          </a:prstGeom>
          <a:solidFill>
            <a:srgbClr val="701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1828800" cy="5143500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9B2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-731520"/>
            <a:ext cx="4754880" cy="4754880"/>
          </a:xfrm>
          <a:prstGeom prst="ellipse">
            <a:avLst/>
          </a:prstGeom>
          <a:solidFill>
            <a:srgbClr val="7B1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94960" y="-502920"/>
            <a:ext cx="4114800" cy="4114800"/>
          </a:xfrm>
          <a:prstGeom prst="ellipse">
            <a:avLst/>
          </a:prstGeom>
          <a:solidFill>
            <a:srgbClr val="6A1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0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669280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9280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69280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69280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44768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44768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44768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44768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44768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20256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20256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620256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20256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20256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95744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95744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095744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95744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095744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71232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71232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571232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571232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571232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046720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046720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46720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046720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46720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54880" y="4206240"/>
            <a:ext cx="4206240" cy="73152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0" y="4297680"/>
            <a:ext cx="420624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201168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1234440"/>
            <a:ext cx="50292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Backoffice Document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Processing 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2487168"/>
            <a:ext cx="5029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AI-Assisted Intent Classification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3127248"/>
            <a:ext cx="4114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Pankaj Singh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3438144"/>
            <a:ext cx="411480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C070C8"/>
                </a:solidFill>
                <a:latin typeface="Calibri"/>
              </a:rPr>
              <a:t>Senior Solutions Architect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739896"/>
            <a:ext cx="411480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C070C8"/>
                </a:solidFill>
                <a:latin typeface="Calibri"/>
              </a:rPr>
              <a:t>19th May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617720"/>
            <a:ext cx="9144000" cy="521207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" y="4681728"/>
            <a:ext cx="256032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4727448"/>
            <a:ext cx="36576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939D61B-D6CE-9F19-4046-91B185719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4702172"/>
            <a:ext cx="1248156" cy="3270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7315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>
                <a:solidFill>
                  <a:srgbClr val="8B1A8F"/>
                </a:solidFill>
                <a:latin typeface="Calibr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19556"/>
            <a:ext cx="1417320" cy="502920"/>
          </a:xfrm>
          <a:prstGeom prst="roundRect">
            <a:avLst>
              <a:gd name="adj" fmla="val 10000"/>
            </a:avLst>
          </a:prstGeom>
          <a:solidFill>
            <a:srgbClr val="5C0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Tungsten /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File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005701"/>
            <a:ext cx="1417320" cy="502920"/>
          </a:xfrm>
          <a:prstGeom prst="roundRect">
            <a:avLst>
              <a:gd name="adj" fmla="val 10000"/>
            </a:avLst>
          </a:prstGeom>
          <a:solidFill>
            <a:srgbClr val="5C0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EDC / Workflow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(RPA)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892808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F5E6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4944" y="1892808"/>
            <a:ext cx="1828800" cy="411480"/>
          </a:xfrm>
          <a:prstGeom prst="roundRect">
            <a:avLst>
              <a:gd name="adj" fmla="val 20000"/>
            </a:avLst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" y="1938528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8B1A8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193852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395728"/>
            <a:ext cx="16459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Watcher + Ingest.Service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FileSystemWatcher / blob upload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DocumentIngestedEvent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172" y="2715768"/>
            <a:ext cx="7315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42424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1892808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596896" y="1892808"/>
            <a:ext cx="1828800" cy="411480"/>
          </a:xfrm>
          <a:prstGeom prst="roundRect">
            <a:avLst>
              <a:gd name="adj" fmla="val 20000"/>
            </a:avLst>
          </a:prstGeom>
          <a:solidFill>
            <a:srgbClr val="C4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70048" y="1938528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C45E00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193852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5" y="2395728"/>
            <a:ext cx="16459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Azure Document Intelligence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prebuilt-layout OCR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Flattened to plain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4124" y="2715768"/>
            <a:ext cx="7315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424242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1892808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98848" y="1892808"/>
            <a:ext cx="1828800" cy="411480"/>
          </a:xfrm>
          <a:prstGeom prst="roundRect">
            <a:avLst>
              <a:gd name="adj" fmla="val 20000"/>
            </a:avLst>
          </a:prstGeom>
          <a:solidFill>
            <a:srgbClr val="5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0" y="1938528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5A9E5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193852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395728"/>
            <a:ext cx="16459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MAF agent + KB tool loop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Semantic intent search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Strict JSON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6076" y="2715768"/>
            <a:ext cx="7315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424242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892808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0" y="1892808"/>
            <a:ext cx="1828800" cy="41148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73952" y="1938528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1565C0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193852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PERSIST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95728"/>
            <a:ext cx="16459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Azure SQL row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Archive blob copy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Outbound workflow hand-off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>
            <a:off x="1691640" y="1371600"/>
            <a:ext cx="504306" cy="544068"/>
          </a:xfrm>
          <a:prstGeom prst="line">
            <a:avLst/>
          </a:prstGeom>
          <a:ln w="19050">
            <a:solidFill>
              <a:srgbClr val="4242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  <a:endCxn id="8" idx="1"/>
          </p:cNvCxnSpPr>
          <p:nvPr/>
        </p:nvCxnSpPr>
        <p:spPr>
          <a:xfrm flipV="1">
            <a:off x="6948054" y="1257161"/>
            <a:ext cx="504306" cy="635647"/>
          </a:xfrm>
          <a:prstGeom prst="line">
            <a:avLst/>
          </a:prstGeom>
          <a:ln w="19050">
            <a:solidFill>
              <a:srgbClr val="4242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74320" y="4160520"/>
            <a:ext cx="8595360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4160520"/>
            <a:ext cx="91440" cy="566928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187952"/>
            <a:ext cx="5486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Orchestrator  •  MassTransit Saga (DocumentSaga)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34840"/>
            <a:ext cx="8138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Durable EF Core state — AwaitingOcr → AwaitingClassification → Persisted; failure paths land in DLQ via DocumentFailedEvent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4C41AFA-478D-BADA-4D41-5BB0A6C38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7315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>
                <a:solidFill>
                  <a:srgbClr val="8B1A8F"/>
                </a:solidFill>
                <a:latin typeface="Calibri"/>
              </a:rPr>
              <a:t>Document Classification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  <a:latin typeface="Calibri"/>
              </a:rPr>
              <a:t>Per-document flow from arrival to handoff, with decision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F5E6F7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" y="1280160"/>
            <a:ext cx="73152" cy="594360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Document</a:t>
            </a:r>
          </a:p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arrives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PDF / TIF in landing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folder or Event Grid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83664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83664" y="1280160"/>
            <a:ext cx="73152" cy="594360"/>
          </a:xfrm>
          <a:prstGeom prst="rect">
            <a:avLst/>
          </a:prstGeom>
          <a:solidFill>
            <a:srgbClr val="C4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93392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dirty="0">
                <a:solidFill>
                  <a:srgbClr val="C45E00"/>
                </a:solidFill>
                <a:latin typeface="Calibri"/>
              </a:rPr>
              <a:t>OCR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Azure Document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30752" y="1280160"/>
            <a:ext cx="73152" cy="594360"/>
          </a:xfrm>
          <a:prstGeom prst="rect">
            <a:avLst/>
          </a:prstGeom>
          <a:solidFill>
            <a:srgbClr val="C4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dirty="0">
                <a:solidFill>
                  <a:srgbClr val="C45E00"/>
                </a:solidFill>
                <a:latin typeface="Calibri"/>
              </a:rPr>
              <a:t>Flatten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OcrTextFlattener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→ plain 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98068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98068" y="1280160"/>
            <a:ext cx="73152" cy="594360"/>
          </a:xfrm>
          <a:prstGeom prst="rect">
            <a:avLst/>
          </a:prstGeom>
          <a:solidFill>
            <a:srgbClr val="5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7796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dirty="0">
                <a:solidFill>
                  <a:srgbClr val="5A9E5C"/>
                </a:solidFill>
                <a:latin typeface="Calibri"/>
              </a:rPr>
              <a:t>KB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7796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search_intent_kb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tool (semantic)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79792" y="1280160"/>
            <a:ext cx="73152" cy="594360"/>
          </a:xfrm>
          <a:prstGeom prst="rect">
            <a:avLst/>
          </a:prstGeom>
          <a:solidFill>
            <a:srgbClr val="5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dirty="0">
                <a:solidFill>
                  <a:srgbClr val="5A9E5C"/>
                </a:solidFill>
                <a:latin typeface="Calibri"/>
              </a:rPr>
              <a:t>Agent classify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MAF tool loop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strict JSON</a:t>
            </a:r>
          </a:p>
        </p:txBody>
      </p:sp>
      <p:sp>
        <p:nvSpPr>
          <p:cNvPr id="31" name="Diamond 30"/>
          <p:cNvSpPr/>
          <p:nvPr/>
        </p:nvSpPr>
        <p:spPr>
          <a:xfrm>
            <a:off x="7035616" y="2206751"/>
            <a:ext cx="1554480" cy="685800"/>
          </a:xfrm>
          <a:prstGeom prst="diamond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Valid JSON?</a:t>
            </a:r>
          </a:p>
        </p:txBody>
      </p:sp>
      <p:sp>
        <p:nvSpPr>
          <p:cNvPr id="32" name="Diamond 31"/>
          <p:cNvSpPr/>
          <p:nvPr/>
        </p:nvSpPr>
        <p:spPr>
          <a:xfrm>
            <a:off x="4078369" y="2228850"/>
            <a:ext cx="1554480" cy="685800"/>
          </a:xfrm>
          <a:prstGeom prst="diamond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Calibri"/>
              </a:rPr>
              <a:t>Recognised</a:t>
            </a:r>
            <a:endParaRPr sz="10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intent?</a:t>
            </a:r>
          </a:p>
        </p:txBody>
      </p:sp>
      <p:sp>
        <p:nvSpPr>
          <p:cNvPr id="33" name="Diamond 32"/>
          <p:cNvSpPr/>
          <p:nvPr/>
        </p:nvSpPr>
        <p:spPr>
          <a:xfrm>
            <a:off x="1005841" y="2228850"/>
            <a:ext cx="1554480" cy="685800"/>
          </a:xfrm>
          <a:prstGeom prst="diamond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Confidence ≥</a:t>
            </a:r>
          </a:p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threshold?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2795778"/>
            <a:ext cx="155448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dirty="0">
                <a:solidFill>
                  <a:srgbClr val="424242"/>
                </a:solidFill>
                <a:latin typeface="Calibri"/>
              </a:rPr>
              <a:t>Reformat once</a:t>
            </a:r>
            <a:r>
              <a:rPr lang="en-GB" sz="800" b="0" dirty="0">
                <a:solidFill>
                  <a:srgbClr val="424242"/>
                </a:solidFill>
                <a:latin typeface="Calibri"/>
              </a:rPr>
              <a:t>,</a:t>
            </a:r>
            <a:endParaRPr sz="800" b="0" dirty="0">
              <a:solidFill>
                <a:srgbClr val="424242"/>
              </a:solidFill>
              <a:latin typeface="Calibri"/>
            </a:endParaRPr>
          </a:p>
          <a:p>
            <a:pPr algn="ctr"/>
            <a:r>
              <a:rPr sz="800" b="0" dirty="0">
                <a:solidFill>
                  <a:srgbClr val="424242"/>
                </a:solidFill>
                <a:latin typeface="Calibri"/>
              </a:rPr>
              <a:t>else fail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855" y="3648456"/>
            <a:ext cx="23317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8855" y="3648456"/>
            <a:ext cx="73152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6871" y="3694176"/>
            <a:ext cx="214883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dirty="0">
                <a:solidFill>
                  <a:srgbClr val="2E7D32"/>
                </a:solidFill>
                <a:latin typeface="Calibri"/>
              </a:rPr>
              <a:t>Auto persist + handoff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871" y="3922776"/>
            <a:ext cx="2148839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SQL row + archive blob</a:t>
            </a:r>
          </a:p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+ outbound /workflow/handoff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92098" y="3644020"/>
            <a:ext cx="23317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835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92098" y="3644020"/>
            <a:ext cx="73152" cy="594360"/>
          </a:xfrm>
          <a:prstGeom prst="rect">
            <a:avLst/>
          </a:prstGeom>
          <a:solidFill>
            <a:srgbClr val="28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20114" y="3689740"/>
            <a:ext cx="214883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dirty="0">
                <a:solidFill>
                  <a:srgbClr val="283593"/>
                </a:solidFill>
                <a:latin typeface="Calibri"/>
              </a:rPr>
              <a:t>Route to HITL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20114" y="3918340"/>
            <a:ext cx="2148839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 dirty="0">
                <a:solidFill>
                  <a:srgbClr val="424242"/>
                </a:solidFill>
                <a:latin typeface="Calibri"/>
              </a:rPr>
              <a:t>Unknown intent OR</a:t>
            </a:r>
          </a:p>
          <a:p>
            <a:pPr algn="l"/>
            <a:r>
              <a:rPr sz="850" b="0" dirty="0">
                <a:solidFill>
                  <a:srgbClr val="424242"/>
                </a:solidFill>
                <a:latin typeface="Calibri"/>
              </a:rPr>
              <a:t>low-confidence prediction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47688" y="3653028"/>
            <a:ext cx="23317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C0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647688" y="3653028"/>
            <a:ext cx="73152" cy="594360"/>
          </a:xfrm>
          <a:prstGeom prst="rect">
            <a:avLst/>
          </a:prstGeom>
          <a:solidFill>
            <a:srgbClr val="5C0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75704" y="3698748"/>
            <a:ext cx="214883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dirty="0" err="1">
                <a:solidFill>
                  <a:srgbClr val="5C0F6E"/>
                </a:solidFill>
                <a:latin typeface="Calibri"/>
              </a:rPr>
              <a:t>DocumentFailedEvent</a:t>
            </a:r>
            <a:endParaRPr sz="1050" b="1" dirty="0">
              <a:solidFill>
                <a:srgbClr val="5C0F6E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75704" y="3927348"/>
            <a:ext cx="2148839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Bad JSON, 429 exhausted,</a:t>
            </a:r>
          </a:p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or OCR rejection → DLQ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259CF76-3468-3DE3-6146-537A38831D90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1609344" y="1577340"/>
            <a:ext cx="27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EC5114D-6716-2D6D-B0FB-708D36EBE2F9}"/>
              </a:ext>
            </a:extLst>
          </p:cNvPr>
          <p:cNvCxnSpPr>
            <a:stCxn id="12" idx="3"/>
            <a:endCxn id="18" idx="1"/>
          </p:cNvCxnSpPr>
          <p:nvPr/>
        </p:nvCxnSpPr>
        <p:spPr>
          <a:xfrm>
            <a:off x="3438144" y="1577340"/>
            <a:ext cx="292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E3EE48C-804D-0220-A33B-022DD73FD59A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5285232" y="1577340"/>
            <a:ext cx="312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A387FCB-3AF2-062B-9A7D-C5ABA690813A}"/>
              </a:ext>
            </a:extLst>
          </p:cNvPr>
          <p:cNvCxnSpPr>
            <a:stCxn id="22" idx="3"/>
            <a:endCxn id="28" idx="1"/>
          </p:cNvCxnSpPr>
          <p:nvPr/>
        </p:nvCxnSpPr>
        <p:spPr>
          <a:xfrm>
            <a:off x="7152548" y="1577340"/>
            <a:ext cx="3272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2BF55602-FE92-7C77-CCD6-27D9EAC36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BBF10BF-92A6-CC7E-DD31-04D13847A21B}"/>
              </a:ext>
            </a:extLst>
          </p:cNvPr>
          <p:cNvCxnSpPr>
            <a:cxnSpLocks/>
            <a:endCxn id="31" idx="3"/>
          </p:cNvCxnSpPr>
          <p:nvPr/>
        </p:nvCxnSpPr>
        <p:spPr>
          <a:xfrm rot="5400000">
            <a:off x="8395164" y="2090789"/>
            <a:ext cx="653794" cy="2639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38C7881-EF25-3CD5-09C8-A39C5F8ED8D7}"/>
              </a:ext>
            </a:extLst>
          </p:cNvPr>
          <p:cNvCxnSpPr>
            <a:cxnSpLocks/>
            <a:stCxn id="31" idx="1"/>
            <a:endCxn id="32" idx="3"/>
          </p:cNvCxnSpPr>
          <p:nvPr/>
        </p:nvCxnSpPr>
        <p:spPr>
          <a:xfrm flipH="1">
            <a:off x="5632849" y="2549651"/>
            <a:ext cx="1402767" cy="22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3685EE2-3170-7B1F-9FB2-48DF59A81745}"/>
              </a:ext>
            </a:extLst>
          </p:cNvPr>
          <p:cNvCxnSpPr>
            <a:cxnSpLocks/>
            <a:stCxn id="31" idx="2"/>
            <a:endCxn id="45" idx="0"/>
          </p:cNvCxnSpPr>
          <p:nvPr/>
        </p:nvCxnSpPr>
        <p:spPr>
          <a:xfrm rot="16200000" flipH="1">
            <a:off x="7432964" y="3272443"/>
            <a:ext cx="760477" cy="6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BBBDC18-9BD3-92AC-7F27-0E64F54123E6}"/>
              </a:ext>
            </a:extLst>
          </p:cNvPr>
          <p:cNvCxnSpPr>
            <a:cxnSpLocks/>
            <a:stCxn id="32" idx="1"/>
            <a:endCxn id="33" idx="3"/>
          </p:cNvCxnSpPr>
          <p:nvPr/>
        </p:nvCxnSpPr>
        <p:spPr>
          <a:xfrm flipH="1">
            <a:off x="2560321" y="2571750"/>
            <a:ext cx="1518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960B7D5-BA59-A899-151D-116360474086}"/>
              </a:ext>
            </a:extLst>
          </p:cNvPr>
          <p:cNvSpPr txBox="1"/>
          <p:nvPr/>
        </p:nvSpPr>
        <p:spPr>
          <a:xfrm>
            <a:off x="2792594" y="2345383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yes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232787C-FBAA-65B4-91CF-22D6766A016E}"/>
              </a:ext>
            </a:extLst>
          </p:cNvPr>
          <p:cNvSpPr txBox="1"/>
          <p:nvPr/>
        </p:nvSpPr>
        <p:spPr>
          <a:xfrm>
            <a:off x="6527368" y="2339036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yes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9CE9397-0342-0AD4-E10A-E1C4C03B9132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4855609" y="2914650"/>
            <a:ext cx="2349" cy="729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2650874-5EDA-E1E6-127F-8C1A6D33E08F}"/>
              </a:ext>
            </a:extLst>
          </p:cNvPr>
          <p:cNvCxnSpPr>
            <a:cxnSpLocks/>
            <a:stCxn id="33" idx="3"/>
            <a:endCxn id="41" idx="1"/>
          </p:cNvCxnSpPr>
          <p:nvPr/>
        </p:nvCxnSpPr>
        <p:spPr>
          <a:xfrm>
            <a:off x="2560321" y="2571750"/>
            <a:ext cx="1131777" cy="13694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5923803-331A-C677-5C79-3A0AAFF5FBB6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1783081" y="2914650"/>
            <a:ext cx="11634" cy="73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3E192F3B-0265-208F-1977-A7D7239828C6}"/>
              </a:ext>
            </a:extLst>
          </p:cNvPr>
          <p:cNvSpPr txBox="1"/>
          <p:nvPr/>
        </p:nvSpPr>
        <p:spPr>
          <a:xfrm>
            <a:off x="1783081" y="3054847"/>
            <a:ext cx="319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no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A0C3B21-2C36-E97E-0042-EF6E7C0D1B40}"/>
              </a:ext>
            </a:extLst>
          </p:cNvPr>
          <p:cNvSpPr txBox="1"/>
          <p:nvPr/>
        </p:nvSpPr>
        <p:spPr>
          <a:xfrm>
            <a:off x="3126209" y="3054312"/>
            <a:ext cx="319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no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48BF850-0788-BD31-9D6F-DCC89B8DAD75}"/>
              </a:ext>
            </a:extLst>
          </p:cNvPr>
          <p:cNvSpPr txBox="1"/>
          <p:nvPr/>
        </p:nvSpPr>
        <p:spPr>
          <a:xfrm>
            <a:off x="4857958" y="3032779"/>
            <a:ext cx="319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no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E52F12C-E88D-7881-32A4-7E57ADE2EA9E}"/>
              </a:ext>
            </a:extLst>
          </p:cNvPr>
          <p:cNvSpPr txBox="1"/>
          <p:nvPr/>
        </p:nvSpPr>
        <p:spPr>
          <a:xfrm>
            <a:off x="7772400" y="3011753"/>
            <a:ext cx="319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no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B04D6C55-0E48-556B-23A7-32A14182389A}"/>
              </a:ext>
            </a:extLst>
          </p:cNvPr>
          <p:cNvCxnSpPr>
            <a:stCxn id="46" idx="1"/>
            <a:endCxn id="41" idx="3"/>
          </p:cNvCxnSpPr>
          <p:nvPr/>
        </p:nvCxnSpPr>
        <p:spPr>
          <a:xfrm flipH="1" flipV="1">
            <a:off x="6023818" y="3941200"/>
            <a:ext cx="623870" cy="9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7315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 dirty="0">
                <a:solidFill>
                  <a:srgbClr val="8B1A8F"/>
                </a:solidFill>
                <a:latin typeface="Calibri"/>
              </a:rPr>
              <a:t>Local Today vs Production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Concern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051560"/>
            <a:ext cx="17830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Local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51560"/>
            <a:ext cx="20116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Production (UK South)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44168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File arrival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344168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FileSystemWatcher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44168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Files + Event 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36776"/>
            <a:ext cx="11887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Message bus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1636776"/>
            <a:ext cx="1783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 dirty="0">
                <a:solidFill>
                  <a:srgbClr val="424242"/>
                </a:solidFill>
                <a:latin typeface="Calibri"/>
              </a:rPr>
              <a:t>RabbitMQ container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636776"/>
            <a:ext cx="20116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Service Bus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29384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Blob 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1929384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Azurite emulator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929384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Blob (managed identity)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21991"/>
            <a:ext cx="11887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221991"/>
            <a:ext cx="1783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SQL Server container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221991"/>
            <a:ext cx="20116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SQL (managed identity)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14600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OCR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2514600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DI (F0)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514600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DI (S0/S1, UK South)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07208"/>
            <a:ext cx="11887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Chat LLM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2807208"/>
            <a:ext cx="1783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GitHub Models gpt-4.1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807208"/>
            <a:ext cx="20116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OpenAI gpt-5.1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99816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Vector 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3099816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InMemoryVectorStore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3099816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AI Search (hybrid)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92424"/>
            <a:ext cx="11887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Secrets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3392424"/>
            <a:ext cx="1783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dotnet user-secrets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3392424"/>
            <a:ext cx="20116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Key Vault + Workload Identity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685031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Hosting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3685031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Aspire AppHost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3685031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AKS + KEDA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1005840"/>
            <a:ext cx="3291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8B1A8F"/>
                </a:solidFill>
                <a:latin typeface="Calibri"/>
              </a:rPr>
              <a:t>Baseline accuracy — 19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1261872"/>
            <a:ext cx="32918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E9E9E"/>
                </a:solidFill>
                <a:latin typeface="Calibri"/>
              </a:rPr>
              <a:t>40-document corpus from samples/SampleForms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1554480"/>
            <a:ext cx="3291840" cy="86868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79" y="1600200"/>
            <a:ext cx="12801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600" b="1">
                <a:solidFill>
                  <a:srgbClr val="2E7D32"/>
                </a:solidFill>
                <a:latin typeface="Calibri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1600200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intent accuracy on classified documents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79" y="2011680"/>
            <a:ext cx="3154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25 / 40 classified  •  0 mismatches  •  multi-intent detected on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79" y="2194560"/>
            <a:ext cx="3154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E9E9E"/>
                </a:solidFill>
                <a:latin typeface="Calibri"/>
              </a:rPr>
              <a:t>15 failures — all infra (rate cap, F0 size, 8k context)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2542032"/>
            <a:ext cx="32918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Per-intent precision / recall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2788920"/>
            <a:ext cx="10972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2788920"/>
            <a:ext cx="4114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2788920"/>
            <a:ext cx="4114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2788920"/>
            <a:ext cx="6400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59" y="2788920"/>
            <a:ext cx="73152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3081527"/>
            <a:ext cx="10972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drip_ocp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3081527"/>
            <a:ext cx="4114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3081527"/>
            <a:ext cx="4114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3081527"/>
            <a:ext cx="640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93%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59" y="3081527"/>
            <a:ext cx="731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7840" y="3374136"/>
            <a:ext cx="10972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sell_stock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3374136"/>
            <a:ext cx="4114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86600" y="3374136"/>
            <a:ext cx="4114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3374136"/>
            <a:ext cx="640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100%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59" y="3374136"/>
            <a:ext cx="7315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3749039"/>
            <a:ext cx="3291840" cy="914400"/>
          </a:xfrm>
          <a:prstGeom prst="rect">
            <a:avLst/>
          </a:prstGeom>
          <a:solidFill>
            <a:srgbClr val="FFF3E0"/>
          </a:solidFill>
          <a:ln w="6350">
            <a:solidFill>
              <a:srgbClr val="E88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577840" y="3749039"/>
            <a:ext cx="73152" cy="914400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05855" y="3776472"/>
            <a:ext cx="31089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E8850A"/>
                </a:solidFill>
                <a:latin typeface="Calibri"/>
              </a:rPr>
              <a:t>Read it 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05855" y="3959352"/>
            <a:ext cx="3108960" cy="7040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•  Real-form accuracy is at parity with hand-curated test fixtures.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•  Multi-intent detection works — surfaced two true multi-intent forms.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•  Failure modes are all free-tier ceilings — they disappear in production.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21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6D55A30-1D79-801A-C20F-572ABFA5528A}"/>
              </a:ext>
            </a:extLst>
          </p:cNvPr>
          <p:cNvCxnSpPr>
            <a:cxnSpLocks/>
          </p:cNvCxnSpPr>
          <p:nvPr/>
        </p:nvCxnSpPr>
        <p:spPr>
          <a:xfrm flipV="1">
            <a:off x="2354233" y="3977639"/>
            <a:ext cx="1040" cy="329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490C06-B5A4-B090-0FE1-9878757F3DCF}"/>
              </a:ext>
            </a:extLst>
          </p:cNvPr>
          <p:cNvCxnSpPr>
            <a:cxnSpLocks/>
          </p:cNvCxnSpPr>
          <p:nvPr/>
        </p:nvCxnSpPr>
        <p:spPr>
          <a:xfrm flipV="1">
            <a:off x="4087092" y="3977639"/>
            <a:ext cx="0" cy="329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03DAAB5-9A53-7811-E6A5-FE864BB5C218}"/>
              </a:ext>
            </a:extLst>
          </p:cNvPr>
          <p:cNvSpPr txBox="1"/>
          <p:nvPr/>
        </p:nvSpPr>
        <p:spPr>
          <a:xfrm>
            <a:off x="1981203" y="4242816"/>
            <a:ext cx="935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7030A0"/>
                </a:solidFill>
              </a:rPr>
              <a:t>We are here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5C30A5-777E-85D5-92C7-8823C1C32346}"/>
              </a:ext>
            </a:extLst>
          </p:cNvPr>
          <p:cNvSpPr txBox="1"/>
          <p:nvPr/>
        </p:nvSpPr>
        <p:spPr>
          <a:xfrm>
            <a:off x="3685312" y="4239214"/>
            <a:ext cx="935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7030A0"/>
                </a:solidFill>
              </a:rPr>
              <a:t>We need to prove this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C865F4C6-59FB-2165-98EA-F62675DAD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4494E8-01D5-7A16-CCA9-076BF3A89AA5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1801BA-5180-E2B5-8AD7-F23A66274C20}"/>
              </a:ext>
            </a:extLst>
          </p:cNvPr>
          <p:cNvSpPr txBox="1"/>
          <p:nvPr/>
        </p:nvSpPr>
        <p:spPr>
          <a:xfrm>
            <a:off x="326967" y="191732"/>
            <a:ext cx="7315200" cy="37548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GB" sz="2200" b="1" dirty="0">
                <a:solidFill>
                  <a:srgbClr val="8B1A8F"/>
                </a:solidFill>
                <a:latin typeface="Calibri"/>
              </a:rPr>
              <a:t>Outstanding tasks for PoC</a:t>
            </a:r>
            <a:endParaRPr sz="2200" b="1" dirty="0">
              <a:solidFill>
                <a:srgbClr val="8B1A8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68744-CBC7-D3E3-9145-A0B343478AFC}"/>
              </a:ext>
            </a:extLst>
          </p:cNvPr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12742-1732-51F5-5844-4535C2A57DC0}"/>
              </a:ext>
            </a:extLst>
          </p:cNvPr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5C98CB1-89E9-14DE-0F38-C5E254E4D4C7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21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0587F5-F315-B6F9-B5F0-C6A33C4F53B0}"/>
              </a:ext>
            </a:extLst>
          </p:cNvPr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0BBB20-5A37-9DEA-2823-E8AAD44490A5}"/>
              </a:ext>
            </a:extLst>
          </p:cNvPr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7D695C-277F-27D8-DAC0-ADF0FEC79052}"/>
              </a:ext>
            </a:extLst>
          </p:cNvPr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100050C-EF9A-8D87-5C70-C3655873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17B1E29-F620-6DA3-C47A-9E3D541DFA72}"/>
              </a:ext>
            </a:extLst>
          </p:cNvPr>
          <p:cNvSpPr txBox="1"/>
          <p:nvPr/>
        </p:nvSpPr>
        <p:spPr>
          <a:xfrm>
            <a:off x="55419" y="1134147"/>
            <a:ext cx="62098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>
                <a:solidFill>
                  <a:srgbClr val="7030A0"/>
                </a:solidFill>
              </a:rPr>
              <a:t>Use Foundry and translate local deployment - PS</a:t>
            </a:r>
          </a:p>
          <a:p>
            <a:pPr marL="342900" indent="-342900">
              <a:buAutoNum type="arabicPeriod"/>
            </a:pPr>
            <a:r>
              <a:rPr lang="en-GB" dirty="0">
                <a:solidFill>
                  <a:srgbClr val="7030A0"/>
                </a:solidFill>
              </a:rPr>
              <a:t>Enrich knowledge-base for document intent types – JK/Doug</a:t>
            </a:r>
          </a:p>
          <a:p>
            <a:pPr marL="342900" indent="-342900">
              <a:buAutoNum type="arabicPeriod"/>
            </a:pPr>
            <a:r>
              <a:rPr lang="en-GB" dirty="0">
                <a:solidFill>
                  <a:srgbClr val="7030A0"/>
                </a:solidFill>
              </a:rPr>
              <a:t>Polish PoC for real-time demo with visual cues - PS</a:t>
            </a:r>
          </a:p>
        </p:txBody>
      </p:sp>
    </p:spTree>
    <p:extLst>
      <p:ext uri="{BB962C8B-B14F-4D97-AF65-F5344CB8AC3E}">
        <p14:creationId xmlns:p14="http://schemas.microsoft.com/office/powerpoint/2010/main" val="106058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2F096-70F2-95EF-95CA-3A72F5FA4484}"/>
              </a:ext>
            </a:extLst>
          </p:cNvPr>
          <p:cNvSpPr txBox="1"/>
          <p:nvPr/>
        </p:nvSpPr>
        <p:spPr>
          <a:xfrm>
            <a:off x="320040" y="191732"/>
            <a:ext cx="7315200" cy="37548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GB" sz="2200" b="1" dirty="0">
                <a:solidFill>
                  <a:srgbClr val="8B1A8F"/>
                </a:solidFill>
                <a:latin typeface="Calibri"/>
              </a:rPr>
              <a:t>Appendix</a:t>
            </a:r>
            <a:endParaRPr sz="2200" b="1" dirty="0">
              <a:solidFill>
                <a:srgbClr val="8B1A8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29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91732"/>
            <a:ext cx="7315200" cy="37548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 dirty="0">
                <a:solidFill>
                  <a:srgbClr val="8B1A8F"/>
                </a:solidFill>
                <a:latin typeface="Calibri"/>
              </a:rPr>
              <a:t>Component View — C4 Level 3</a:t>
            </a:r>
            <a:r>
              <a:rPr lang="en-GB" sz="2200" b="1" dirty="0">
                <a:solidFill>
                  <a:srgbClr val="8B1A8F"/>
                </a:solidFill>
                <a:latin typeface="Calibri"/>
              </a:rPr>
              <a:t> (Technology detail)</a:t>
            </a:r>
            <a:endParaRPr sz="2200" b="1" dirty="0">
              <a:solidFill>
                <a:srgbClr val="8B1A8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F5E6F7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64592" cy="5669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File arrival to per-document publish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033272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Ingest.Watcher  •  Ingest.Service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27632"/>
            <a:ext cx="8595360" cy="566928"/>
          </a:xfrm>
          <a:prstGeom prst="rect">
            <a:avLst/>
          </a:prstGeom>
          <a:solidFill>
            <a:srgbClr val="FFF3E0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627632"/>
            <a:ext cx="164592" cy="566928"/>
          </a:xfrm>
          <a:prstGeom prst="rect">
            <a:avLst/>
          </a:prstGeom>
          <a:solidFill>
            <a:srgbClr val="C4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655064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C45E00"/>
                </a:solidFill>
                <a:latin typeface="Calibri"/>
              </a:rP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83664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MassTransit saga, EF Core, MassTransit.RabbitMQ ↔ AzureServiceBus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655064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Orchestration  (DocumentSaga state machine)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49424"/>
            <a:ext cx="8595360" cy="566928"/>
          </a:xfrm>
          <a:prstGeom prst="rect">
            <a:avLst/>
          </a:prstGeom>
          <a:solidFill>
            <a:srgbClr val="E8F5E9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249424"/>
            <a:ext cx="164592" cy="566928"/>
          </a:xfrm>
          <a:prstGeom prst="rect">
            <a:avLst/>
          </a:prstGeom>
          <a:solidFill>
            <a:srgbClr val="5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276856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5A9E5C"/>
                </a:solidFill>
                <a:latin typeface="Calibri"/>
              </a:rPr>
              <a:t>AI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505456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OCR, classifier and grounded KB tool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276856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Ocr  •  Classifier (MAF)  •  KnowledgeBase  •  Embeddings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71216"/>
            <a:ext cx="8595360" cy="566928"/>
          </a:xfrm>
          <a:prstGeom prst="rect">
            <a:avLst/>
          </a:prstGeom>
          <a:solidFill>
            <a:srgbClr val="E3F2FD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871216"/>
            <a:ext cx="164592" cy="56692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898648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127248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Structured + archive sinks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2898648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Persistence.Sql  •  Persistence.Archive  •  Outbound.Workflow  • 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93008"/>
            <a:ext cx="8595360" cy="566928"/>
          </a:xfrm>
          <a:prstGeom prst="rect">
            <a:avLst/>
          </a:prstGeom>
          <a:solidFill>
            <a:srgbClr val="E8EAF6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3493008"/>
            <a:ext cx="164592" cy="566928"/>
          </a:xfrm>
          <a:prstGeom prst="rect">
            <a:avLst/>
          </a:prstGeom>
          <a:solidFill>
            <a:srgbClr val="28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520439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283593"/>
                </a:solidFill>
                <a:latin typeface="Calibri"/>
              </a:rPr>
              <a:t>CROSS-CUTTING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749039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Shared by every executable, transport-agnostic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520439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Contracts  •  Common (LLM factory)  •  ServiceDefaults (OTel, health)  •  AppHost (Aspire)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160520"/>
            <a:ext cx="8595360" cy="566928"/>
          </a:xfrm>
          <a:prstGeom prst="rect">
            <a:avLst/>
          </a:prstGeom>
          <a:solidFill>
            <a:srgbClr val="F5E6F7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4160520"/>
            <a:ext cx="91440" cy="5669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187952"/>
            <a:ext cx="8412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Module boundaries chosen so production is wiring, not re-architecture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43984"/>
            <a:ext cx="84124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Inter-module communication via DocProcessing.Contracts records — no shared types. LLM access via DocProcessing.Common factory only.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5EBA1D6-530B-0F6B-D91B-057D2994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653</Words>
  <Application>Microsoft Office PowerPoint</Application>
  <PresentationFormat>On-screen Show (16:9)</PresentationFormat>
  <Paragraphs>187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Pankaj Singh</cp:lastModifiedBy>
  <cp:revision>7</cp:revision>
  <dcterms:created xsi:type="dcterms:W3CDTF">2013-01-27T09:14:16Z</dcterms:created>
  <dcterms:modified xsi:type="dcterms:W3CDTF">2026-05-28T21:52:23Z</dcterms:modified>
  <cp:category/>
</cp:coreProperties>
</file>