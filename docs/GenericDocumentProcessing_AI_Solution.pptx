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147483472" r:id="rId4"/>
    <p:sldId id="260" r:id="rId5"/>
    <p:sldId id="262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4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14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3796"/>
            <a:ext cx="66799" cy="4675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F65FD0-31B1-93DF-F70B-31949D86D2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48650" y="4855678"/>
            <a:ext cx="929096" cy="1718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2736CE-5D5C-5F9F-8223-C6CD09AED2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3796"/>
            <a:ext cx="66799" cy="467590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F5FD75-16CE-37A1-5D34-696391DCB4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11944" y="1178719"/>
            <a:ext cx="8662160" cy="3557588"/>
          </a:xfrm>
          <a:prstGeom prst="rect">
            <a:avLst/>
          </a:prstGeom>
        </p:spPr>
        <p:txBody>
          <a:bodyPr/>
          <a:lstStyle>
            <a:lvl1pPr>
              <a:lnSpc>
                <a:spcPts val="1515"/>
              </a:lnSpc>
              <a:spcBef>
                <a:spcPts val="450"/>
              </a:spcBef>
              <a:spcAft>
                <a:spcPts val="450"/>
              </a:spcAft>
              <a:defRPr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1515"/>
              </a:lnSpc>
              <a:spcBef>
                <a:spcPts val="450"/>
              </a:spcBef>
              <a:spcAft>
                <a:spcPts val="450"/>
              </a:spcAft>
              <a:defRPr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ts val="1515"/>
              </a:lnSpc>
              <a:spcBef>
                <a:spcPts val="450"/>
              </a:spcBef>
              <a:spcAft>
                <a:spcPts val="450"/>
              </a:spcAft>
              <a:defRPr b="0" i="0">
                <a:solidFill>
                  <a:schemeClr val="tx1"/>
                </a:solidFill>
                <a:latin typeface="+mn-lt"/>
              </a:defRPr>
            </a:lvl3pPr>
            <a:lvl4pPr marL="1028700" indent="0">
              <a:lnSpc>
                <a:spcPct val="110000"/>
              </a:lnSpc>
              <a:spcAft>
                <a:spcPts val="450"/>
              </a:spcAft>
              <a:buNone/>
              <a:defRPr sz="825" b="0" i="0">
                <a:latin typeface="Aptos Light" panose="020B0004020202020204" pitchFamily="34" charset="0"/>
              </a:defRPr>
            </a:lvl4pPr>
            <a:lvl5pPr>
              <a:lnSpc>
                <a:spcPct val="110000"/>
              </a:lnSpc>
              <a:spcAft>
                <a:spcPts val="450"/>
              </a:spcAft>
              <a:defRPr b="0" i="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17613E-A34B-E13B-33C8-9CE58199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467" y="179545"/>
            <a:ext cx="8666278" cy="40440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2430"/>
              </a:lnSpc>
              <a:defRPr lang="en-US" sz="2400" spc="8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3C0513-D595-8A47-F133-7A4D4E96B9D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15584" y="612484"/>
            <a:ext cx="8662161" cy="2975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1620"/>
              </a:lnSpc>
              <a:spcBef>
                <a:spcPts val="0"/>
              </a:spcBef>
              <a:spcAft>
                <a:spcPts val="225"/>
              </a:spcAft>
              <a:buNone/>
              <a:defRPr sz="1350">
                <a:solidFill>
                  <a:schemeClr val="tx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EFF088-60AE-DBE6-A3BB-D1E258E83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70290" y="4941588"/>
            <a:ext cx="284052" cy="207749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75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3278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5C0F6E"/>
          </a:solidFill>
          <a:ln w="12700">
            <a:solidFill>
              <a:srgbClr val="5C0F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2286000" cy="5143500"/>
          </a:xfrm>
          <a:prstGeom prst="rect">
            <a:avLst/>
          </a:prstGeom>
          <a:solidFill>
            <a:srgbClr val="701480"/>
          </a:solidFill>
          <a:ln w="12700">
            <a:solidFill>
              <a:srgbClr val="701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0" y="0"/>
            <a:ext cx="1828800" cy="5143500"/>
          </a:xfrm>
          <a:prstGeom prst="rect">
            <a:avLst/>
          </a:prstGeom>
          <a:solidFill>
            <a:srgbClr val="8B1A8F"/>
          </a:solidFill>
          <a:ln w="12700">
            <a:solidFill>
              <a:srgbClr val="8B1A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9B2A9F"/>
          </a:solidFill>
          <a:ln w="12700">
            <a:solidFill>
              <a:srgbClr val="9B2A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029200" y="-731520"/>
            <a:ext cx="4754880" cy="4754880"/>
          </a:xfrm>
          <a:prstGeom prst="ellipse">
            <a:avLst/>
          </a:prstGeom>
          <a:solidFill>
            <a:srgbClr val="7B1685">
              <a:alpha val="80000"/>
            </a:srgbClr>
          </a:solidFill>
          <a:ln w="12700">
            <a:solidFill>
              <a:srgbClr val="A030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394960" y="-502920"/>
            <a:ext cx="4114800" cy="4114800"/>
          </a:xfrm>
          <a:prstGeom prst="ellipse">
            <a:avLst/>
          </a:prstGeom>
          <a:solidFill>
            <a:srgbClr val="6A1278">
              <a:alpha val="70000"/>
            </a:srgbClr>
          </a:solidFill>
          <a:ln w="12700">
            <a:solidFill>
              <a:srgbClr val="B040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669280" y="2743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144768" y="2743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620256" y="2743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095744" y="2743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571232" y="2743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046720" y="2743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669280" y="9601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144768" y="9601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620256" y="9601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095744" y="9601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571232" y="9601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046720" y="9601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669280" y="16459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144768" y="16459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620256" y="16459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095744" y="16459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571232" y="16459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046720" y="16459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669280" y="23317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144768" y="23317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620256" y="23317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7095744" y="23317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571232" y="23317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8046720" y="23317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669280" y="30175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144768" y="30175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620256" y="30175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095744" y="30175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571232" y="30175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046720" y="3017520"/>
            <a:ext cx="54864" cy="54864"/>
          </a:xfrm>
          <a:prstGeom prst="ellipse">
            <a:avLst/>
          </a:prstGeom>
          <a:solidFill>
            <a:srgbClr val="C070C8">
              <a:alpha val="60000"/>
            </a:srgbClr>
          </a:solidFill>
          <a:ln w="12700">
            <a:solidFill>
              <a:srgbClr val="C070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754880" y="4206240"/>
            <a:ext cx="4206240" cy="73152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754880" y="4297680"/>
            <a:ext cx="4206240" cy="36576"/>
          </a:xfrm>
          <a:prstGeom prst="rect">
            <a:avLst/>
          </a:prstGeom>
          <a:solidFill>
            <a:srgbClr val="F5A623">
              <a:alpha val="6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74320" y="201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12344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274320" y="24871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274320" y="31272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Pankaj Singh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74320" y="34381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Solutions Architect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B1A8F"/>
          </a:solidFill>
          <a:ln w="12700">
            <a:solidFill>
              <a:srgbClr val="8B1A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164592" y="4690872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30352" y="4681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291840" y="4727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800" dirty="0"/>
          </a:p>
        </p:txBody>
      </p:sp>
      <p:sp>
        <p:nvSpPr>
          <p:cNvPr id="49" name="Text 42">
            <a:extLst>
              <a:ext uri="{FF2B5EF4-FFF2-40B4-BE49-F238E27FC236}">
                <a16:creationId xmlns:a16="http://schemas.microsoft.com/office/drawing/2014/main" id="{74EA2EDE-9447-5FE0-609E-B98F67D506AB}"/>
              </a:ext>
            </a:extLst>
          </p:cNvPr>
          <p:cNvSpPr/>
          <p:nvPr/>
        </p:nvSpPr>
        <p:spPr>
          <a:xfrm>
            <a:off x="274320" y="37398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baseline="30000" dirty="0">
                <a:solidFill>
                  <a:srgbClr val="DD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r>
              <a:rPr lang="en-US" sz="1100" dirty="0">
                <a:solidFill>
                  <a:srgbClr val="DD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 w="12700">
            <a:solidFill>
              <a:srgbClr val="8B1A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12801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1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.NET AI-powered document processing pipeline — end to 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B1A8F"/>
          </a:solidFill>
          <a:ln w="12700">
            <a:solidFill>
              <a:srgbClr val="8B1A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shareholder documents from a watched file system folder, extracts structured text via Azure Document Intelligence (OCR), classifies document intent using a locally-hosted Phi-3.5-mini SLM via Foundry Local, and persists results on a locally running SQL Server — all orchestrated by a RouterAgent built on Microsoft Agent Framework (MAF)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691640"/>
            <a:ext cx="1993392" cy="2377440"/>
          </a:xfrm>
          <a:prstGeom prst="rect">
            <a:avLst/>
          </a:prstGeom>
          <a:solidFill>
            <a:srgbClr val="F5E6F7"/>
          </a:solidFill>
          <a:ln w="12700">
            <a:solidFill>
              <a:srgbClr val="8B1A8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1993392" cy="457200"/>
          </a:xfrm>
          <a:prstGeom prst="rect">
            <a:avLst/>
          </a:prstGeom>
          <a:solidFill>
            <a:srgbClr val="8B1A8F"/>
          </a:solidFill>
          <a:ln w="12700">
            <a:solidFill>
              <a:srgbClr val="8B1A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47472" y="1755648"/>
            <a:ext cx="329184" cy="32918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4747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2221992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Watch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/ processed / failed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 docs, cheques,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letters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67712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50A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50592" y="1691640"/>
            <a:ext cx="1993392" cy="2377440"/>
          </a:xfrm>
          <a:prstGeom prst="rect">
            <a:avLst/>
          </a:prstGeom>
          <a:solidFill>
            <a:srgbClr val="FFF3E0"/>
          </a:solidFill>
          <a:ln w="12700">
            <a:solidFill>
              <a:srgbClr val="C45E0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450592" y="1691640"/>
            <a:ext cx="1993392" cy="457200"/>
          </a:xfrm>
          <a:prstGeom prst="rect">
            <a:avLst/>
          </a:prstGeom>
          <a:solidFill>
            <a:srgbClr val="C45E00"/>
          </a:solidFill>
          <a:ln w="12700">
            <a:solidFill>
              <a:srgbClr val="C4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523744" y="1755648"/>
            <a:ext cx="329184" cy="32918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523744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07792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2221992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Document Intelligence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text parsing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extraction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43984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50A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26864" y="1691640"/>
            <a:ext cx="1993392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5A9E5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26864" y="1691640"/>
            <a:ext cx="1993392" cy="457200"/>
          </a:xfrm>
          <a:prstGeom prst="rect">
            <a:avLst/>
          </a:prstGeom>
          <a:solidFill>
            <a:srgbClr val="5A9E5C"/>
          </a:solidFill>
          <a:ln w="12700">
            <a:solidFill>
              <a:srgbClr val="5A9E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700016" y="1755648"/>
            <a:ext cx="329184" cy="32918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700016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84064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36592" y="2221992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Phi-3.5-mini-instruct SLM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 (CPU inference)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label + confidence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returned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20256" y="2697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50A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03136" y="1691640"/>
            <a:ext cx="1993392" cy="23774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803136" y="1691640"/>
            <a:ext cx="199339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876288" y="1755648"/>
            <a:ext cx="329184" cy="32918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87628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60336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12864" y="2221992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LocalDB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records &amp; scores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 err="1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LiteDB</a:t>
            </a: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 blob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</a:t>
            </a:r>
            <a:r>
              <a:rPr lang="en-US" sz="950" dirty="0" err="1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docs.db</a:t>
            </a: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160520"/>
            <a:ext cx="8503920" cy="603504"/>
          </a:xfrm>
          <a:prstGeom prst="rect">
            <a:avLst/>
          </a:prstGeom>
          <a:solidFill>
            <a:srgbClr val="FFF3E0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4320" y="4160520"/>
            <a:ext cx="64008" cy="603504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57200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RouterAgent  (Microsoft Agent Framework)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4439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full pipeline:  GetAsync  →  ExtractAsync  →  ClassifyAsync  →  SaveAsync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AEDB-5EFC-88E0-22CA-C351B6C1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5D3F80-7C10-B959-ADF6-4F1D915EA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67" y="179545"/>
            <a:ext cx="8666278" cy="400110"/>
          </a:xfrm>
        </p:spPr>
        <p:txBody>
          <a:bodyPr/>
          <a:lstStyle/>
          <a:p>
            <a:r>
              <a:rPr lang="en-GB" sz="2100"/>
              <a:t>AI Conceptual Architecture – Enterprise Knowledge &amp; Agent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5A12C-23EB-FAB9-3631-B7957B8E4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70290" y="4941588"/>
            <a:ext cx="184731" cy="207749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85345A-EB52-A63A-A2AE-5BE8DA868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6" y="556572"/>
            <a:ext cx="7246607" cy="423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44BCC9F9-B870-8859-D8A4-855F02281304}"/>
              </a:ext>
            </a:extLst>
          </p:cNvPr>
          <p:cNvSpPr/>
          <p:nvPr/>
        </p:nvSpPr>
        <p:spPr>
          <a:xfrm>
            <a:off x="0" y="4863583"/>
            <a:ext cx="9144000" cy="300269"/>
          </a:xfrm>
          <a:prstGeom prst="rect">
            <a:avLst/>
          </a:prstGeom>
          <a:solidFill>
            <a:srgbClr val="8B1A8F"/>
          </a:solidFill>
          <a:ln w="12700">
            <a:solidFill>
              <a:srgbClr val="8B1A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8E51442-3599-87EB-1320-F61218436D9D}"/>
              </a:ext>
            </a:extLst>
          </p:cNvPr>
          <p:cNvSpPr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EA06ABF-B42A-DEDF-11C2-25C41F76C2B7}"/>
              </a:ext>
            </a:extLst>
          </p:cNvPr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7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061E8C2-5298-BB5B-5B09-E40B99CC85A3}"/>
              </a:ext>
            </a:extLst>
          </p:cNvPr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8977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 w="12700">
            <a:solidFill>
              <a:srgbClr val="8B1A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32242"/>
            <a:ext cx="9144000" cy="36576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12801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1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 — Computershare 5-Layer Reference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B1A8F"/>
          </a:solidFill>
          <a:ln w="12700">
            <a:solidFill>
              <a:srgbClr val="8B1A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841901"/>
            <a:ext cx="8229600" cy="749808"/>
          </a:xfrm>
          <a:prstGeom prst="rect">
            <a:avLst/>
          </a:prstGeom>
          <a:solidFill>
            <a:srgbClr val="F5E6F7"/>
          </a:solidFill>
          <a:ln w="12700">
            <a:solidFill>
              <a:srgbClr val="C97F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2880" y="841901"/>
            <a:ext cx="182880" cy="749808"/>
          </a:xfrm>
          <a:prstGeom prst="rect">
            <a:avLst/>
          </a:prstGeom>
          <a:solidFill>
            <a:srgbClr val="7B0080"/>
          </a:solidFill>
          <a:ln w="12700">
            <a:solidFill>
              <a:srgbClr val="7B00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896765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134509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Interfaces &amp; Consumption Points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0" y="915053"/>
            <a:ext cx="0" cy="603504"/>
          </a:xfrm>
          <a:prstGeom prst="line">
            <a:avLst/>
          </a:prstGeom>
          <a:noFill/>
          <a:ln w="12700">
            <a:solidFill>
              <a:srgbClr val="C97F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794760" y="896765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Console App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Watch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(incoming / processed / failed folders)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1637429"/>
            <a:ext cx="822960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E8A0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82880" y="1637429"/>
            <a:ext cx="182880" cy="804672"/>
          </a:xfrm>
          <a:prstGeom prst="rect">
            <a:avLst/>
          </a:prstGeom>
          <a:solidFill>
            <a:srgbClr val="C45E00"/>
          </a:solidFill>
          <a:ln w="12700">
            <a:solidFill>
              <a:srgbClr val="C4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57200" y="169229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1930037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Creation, Workflow &amp; Multi-Agent Coordination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0" y="1710581"/>
            <a:ext cx="0" cy="658368"/>
          </a:xfrm>
          <a:prstGeom prst="line">
            <a:avLst/>
          </a:prstGeom>
          <a:noFill/>
          <a:ln w="12700">
            <a:solidFill>
              <a:srgbClr val="E8A0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794760" y="1692293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RouterAgent (Microsoft Agent Framework)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OcrProcessingAgent  •  IntentClassifierAgent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 Runtime (OpenAI-compatible API)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2487821"/>
            <a:ext cx="822960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5A9E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82880" y="2487821"/>
            <a:ext cx="18288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57200" y="2542685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LAYER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2780429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Models, Embeddings &amp; Reasoning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0" y="2560973"/>
            <a:ext cx="0" cy="566928"/>
          </a:xfrm>
          <a:prstGeom prst="line">
            <a:avLst/>
          </a:prstGeom>
          <a:noFill/>
          <a:ln w="12700">
            <a:solidFill>
              <a:srgbClr val="5A9E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794760" y="2542685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Phi-3.5-mini-instruct (generic-cpu)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 Catalog  •  Local SLM Inference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3246773"/>
            <a:ext cx="8229600" cy="694944"/>
          </a:xfrm>
          <a:prstGeom prst="rect">
            <a:avLst/>
          </a:prstGeom>
          <a:solidFill>
            <a:srgbClr val="E3F2FD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82880" y="3246773"/>
            <a:ext cx="182880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57200" y="3301637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 LAYER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3539381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Retrieval, RAG, Graph &amp; Semantic Search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0" y="3319925"/>
            <a:ext cx="0" cy="548640"/>
          </a:xfrm>
          <a:prstGeom prst="line">
            <a:avLst/>
          </a:prstGeom>
          <a:noFill/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794760" y="3301637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Document Intelligence (OCR / form parsing)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pipeline into structured format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3987437"/>
            <a:ext cx="8229600" cy="621792"/>
          </a:xfrm>
          <a:prstGeom prst="rect">
            <a:avLst/>
          </a:prstGeom>
          <a:solidFill>
            <a:srgbClr val="E8EAF6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182880" y="3987437"/>
            <a:ext cx="182880" cy="62179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57200" y="4042301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DATA FOUNDATION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4280045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Repositories, Governance &amp; Access Control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57600" y="4060589"/>
            <a:ext cx="0" cy="475488"/>
          </a:xfrm>
          <a:prstGeom prst="line">
            <a:avLst/>
          </a:prstGeom>
          <a:noFill/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794760" y="4042301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LocalDB — intent records &amp; confidence scores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LiteDB — raw document blobs  •  File System source folders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 w="12700">
            <a:solidFill>
              <a:srgbClr val="8B1A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12801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1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Technology — Cloud Alternatives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Dependency-inversion based architecture enables drop-in Azure cloud equivalents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B1A8F"/>
          </a:solidFill>
          <a:ln w="12700">
            <a:solidFill>
              <a:srgbClr val="8B1A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interfaces in DocumentProcessing.Core remain stable. Only infrastructure adapters change — enabling zero-disruption migration from local to cloud.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416052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4160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84048" y="15453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IIntentClassifier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18105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(Local)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4048" y="200253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Phi-3.5-mini (CPU)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65960" y="21305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06040" y="18105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06040" y="2002536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Phi-4 / o1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160520" cy="1371600"/>
          </a:xfrm>
          <a:prstGeom prst="rect">
            <a:avLst/>
          </a:prstGeom>
          <a:solidFill>
            <a:srgbClr val="E8EAF6"/>
          </a:solidFill>
          <a:ln w="12700">
            <a:solidFill>
              <a:srgbClr val="28359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160520" cy="25603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84048" y="30540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IIntentRepository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319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(Local)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84048" y="351129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LocalDB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(Intent Records)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65960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3593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606040" y="331927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06040" y="3511296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DB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Cosmos DB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508760"/>
            <a:ext cx="416052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754880" y="1508760"/>
            <a:ext cx="416052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864608" y="15453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IDocumentStorage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18105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(Local)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64608" y="200253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LiteDB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 Blobs)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46520" y="21305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86600" y="18105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086600" y="2002536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(scalable object store)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4160520" cy="1371600"/>
          </a:xfrm>
          <a:prstGeom prst="rect">
            <a:avLst/>
          </a:prstGeom>
          <a:solidFill>
            <a:srgbClr val="FFF3E0"/>
          </a:solidFill>
          <a:ln w="12700">
            <a:solidFill>
              <a:srgbClr val="C45E0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754880" y="3017520"/>
            <a:ext cx="4160520" cy="256032"/>
          </a:xfrm>
          <a:prstGeom prst="rect">
            <a:avLst/>
          </a:prstGeom>
          <a:solidFill>
            <a:srgbClr val="C45E00"/>
          </a:solidFill>
          <a:ln w="12700">
            <a:solidFill>
              <a:srgbClr val="C4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864608" y="30540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RouterAgent layer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64608" y="3319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(Local)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64608" y="351129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(MAF)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46520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5E00"/>
                </a:solidFill>
              </a:rPr>
              <a:t>→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086600" y="331927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086600" y="3511296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Agent Service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(managed orchestration)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590288"/>
            <a:ext cx="8595360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11480" y="45994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4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layer (interfaces) remains stable — only infrastructure adapters change. 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0F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5C0F6E"/>
          </a:solidFill>
          <a:ln w="12700">
            <a:solidFill>
              <a:srgbClr val="5C0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2286000" cy="5143500"/>
          </a:xfrm>
          <a:prstGeom prst="rect">
            <a:avLst/>
          </a:prstGeom>
          <a:solidFill>
            <a:srgbClr val="65147A"/>
          </a:solidFill>
          <a:ln w="12700">
            <a:solidFill>
              <a:srgbClr val="6514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0" y="0"/>
            <a:ext cx="2286000" cy="5143500"/>
          </a:xfrm>
          <a:prstGeom prst="rect">
            <a:avLst/>
          </a:prstGeom>
          <a:solidFill>
            <a:srgbClr val="701480"/>
          </a:solidFill>
          <a:ln w="12700">
            <a:solidFill>
              <a:srgbClr val="701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7B1685"/>
          </a:solidFill>
          <a:ln w="12700">
            <a:solidFill>
              <a:srgbClr val="7B16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73152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841248"/>
            <a:ext cx="8412480" cy="566928"/>
          </a:xfrm>
          <a:prstGeom prst="rect">
            <a:avLst/>
          </a:prstGeom>
          <a:solidFill>
            <a:srgbClr val="60108A">
              <a:alpha val="70000"/>
            </a:srgbClr>
          </a:solidFill>
          <a:ln w="12700">
            <a:solidFill>
              <a:srgbClr val="9B2A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65760" y="841248"/>
            <a:ext cx="54864" cy="566928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30352" y="9601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Dependency-inversion architecture — local → cloud migration with zero core domain changes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517904"/>
            <a:ext cx="8412480" cy="566928"/>
          </a:xfrm>
          <a:prstGeom prst="rect">
            <a:avLst/>
          </a:prstGeom>
          <a:solidFill>
            <a:srgbClr val="60108A">
              <a:alpha val="70000"/>
            </a:srgbClr>
          </a:solidFill>
          <a:ln w="12700">
            <a:solidFill>
              <a:srgbClr val="9B2A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65760" y="1517904"/>
            <a:ext cx="54864" cy="566928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30352" y="163677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SLM inference via Foundry Local means zero cloud cost during development &amp; prototyping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8412480" cy="566928"/>
          </a:xfrm>
          <a:prstGeom prst="rect">
            <a:avLst/>
          </a:prstGeom>
          <a:solidFill>
            <a:srgbClr val="60108A">
              <a:alpha val="70000"/>
            </a:srgbClr>
          </a:solidFill>
          <a:ln w="12700">
            <a:solidFill>
              <a:srgbClr val="9B2A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54864" cy="566928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30352" y="23134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lift-and-shift ready: Azure AI Foundry, Azure SQL, and Blob Storage are drop-in replacements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8412480" cy="566928"/>
          </a:xfrm>
          <a:prstGeom prst="rect">
            <a:avLst/>
          </a:prstGeom>
          <a:solidFill>
            <a:srgbClr val="60108A">
              <a:alpha val="70000"/>
            </a:srgbClr>
          </a:solidFill>
          <a:ln w="12700">
            <a:solidFill>
              <a:srgbClr val="9B2A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54864" cy="566928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0352" y="299008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RouterAgent (MAF) cleanly separates orchestration from OCR and classification agent concerns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547872"/>
            <a:ext cx="8412480" cy="566928"/>
          </a:xfrm>
          <a:prstGeom prst="rect">
            <a:avLst/>
          </a:prstGeom>
          <a:solidFill>
            <a:srgbClr val="60108A">
              <a:alpha val="70000"/>
            </a:srgbClr>
          </a:solidFill>
          <a:ln w="12700">
            <a:solidFill>
              <a:srgbClr val="9B2A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54864" cy="566928"/>
          </a:xfrm>
          <a:prstGeom prst="rect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30352" y="36667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aligned to Computershare's 5-layer AI reference model — ready for stakeholder communication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4A0860"/>
          </a:solidFill>
          <a:ln w="12700">
            <a:solidFill>
              <a:srgbClr val="4A08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64592" y="471830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12064" y="47091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D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Computershare Distribution Only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412480" y="47365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553</Words>
  <Application>Microsoft Office PowerPoint</Application>
  <PresentationFormat>On-screen Show (16:9)</PresentationFormat>
  <Paragraphs>130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 Light</vt:lpstr>
      <vt:lpstr>Aptos SemiBold</vt:lpstr>
      <vt:lpstr>Arial</vt:lpstr>
      <vt:lpstr>Calibri</vt:lpstr>
      <vt:lpstr>Office Theme</vt:lpstr>
      <vt:lpstr>PowerPoint Presentation</vt:lpstr>
      <vt:lpstr>PowerPoint Presentation</vt:lpstr>
      <vt:lpstr>AI Conceptual Architecture – Enterprise Knowledge &amp; Agent Platform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Processing Solution — AI Architecture</dc:title>
  <dc:subject>PptxGenJS Presentation</dc:subject>
  <dc:creator>Pankaj Singh — Computershare Solutions Architecture</dc:creator>
  <cp:lastModifiedBy>Pankaj Singh</cp:lastModifiedBy>
  <cp:revision>3</cp:revision>
  <dcterms:created xsi:type="dcterms:W3CDTF">2026-03-03T13:38:59Z</dcterms:created>
  <dcterms:modified xsi:type="dcterms:W3CDTF">2026-04-16T09:30:06Z</dcterms:modified>
</cp:coreProperties>
</file>