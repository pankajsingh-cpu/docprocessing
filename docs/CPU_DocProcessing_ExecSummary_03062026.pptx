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95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9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3048000" y="0"/>
            <a:ext cx="3048000" cy="6858000"/>
          </a:xfrm>
          <a:prstGeom prst="rect">
            <a:avLst/>
          </a:prstGeom>
          <a:solidFill>
            <a:srgbClr val="701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2438400" cy="6858000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9B2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Oval 5"/>
          <p:cNvSpPr/>
          <p:nvPr/>
        </p:nvSpPr>
        <p:spPr>
          <a:xfrm>
            <a:off x="6705600" y="-975360"/>
            <a:ext cx="6339840" cy="6339840"/>
          </a:xfrm>
          <a:prstGeom prst="ellipse">
            <a:avLst/>
          </a:prstGeom>
          <a:solidFill>
            <a:srgbClr val="7B1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Oval 6"/>
          <p:cNvSpPr/>
          <p:nvPr/>
        </p:nvSpPr>
        <p:spPr>
          <a:xfrm>
            <a:off x="7193280" y="-670560"/>
            <a:ext cx="5486400" cy="5486400"/>
          </a:xfrm>
          <a:prstGeom prst="ellipse">
            <a:avLst/>
          </a:prstGeom>
          <a:solidFill>
            <a:srgbClr val="6A1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Oval 7"/>
          <p:cNvSpPr/>
          <p:nvPr/>
        </p:nvSpPr>
        <p:spPr>
          <a:xfrm>
            <a:off x="7559040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7559040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Oval 9"/>
          <p:cNvSpPr/>
          <p:nvPr/>
        </p:nvSpPr>
        <p:spPr>
          <a:xfrm>
            <a:off x="7559040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Oval 10"/>
          <p:cNvSpPr/>
          <p:nvPr/>
        </p:nvSpPr>
        <p:spPr>
          <a:xfrm>
            <a:off x="7559040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Oval 11"/>
          <p:cNvSpPr/>
          <p:nvPr/>
        </p:nvSpPr>
        <p:spPr>
          <a:xfrm>
            <a:off x="7559040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Oval 12"/>
          <p:cNvSpPr/>
          <p:nvPr/>
        </p:nvSpPr>
        <p:spPr>
          <a:xfrm>
            <a:off x="8193024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Oval 13"/>
          <p:cNvSpPr/>
          <p:nvPr/>
        </p:nvSpPr>
        <p:spPr>
          <a:xfrm>
            <a:off x="8193024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Oval 14"/>
          <p:cNvSpPr/>
          <p:nvPr/>
        </p:nvSpPr>
        <p:spPr>
          <a:xfrm>
            <a:off x="8193024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Oval 15"/>
          <p:cNvSpPr/>
          <p:nvPr/>
        </p:nvSpPr>
        <p:spPr>
          <a:xfrm>
            <a:off x="8193024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Oval 16"/>
          <p:cNvSpPr/>
          <p:nvPr/>
        </p:nvSpPr>
        <p:spPr>
          <a:xfrm>
            <a:off x="8193024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Oval 17"/>
          <p:cNvSpPr/>
          <p:nvPr/>
        </p:nvSpPr>
        <p:spPr>
          <a:xfrm>
            <a:off x="8827008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Oval 18"/>
          <p:cNvSpPr/>
          <p:nvPr/>
        </p:nvSpPr>
        <p:spPr>
          <a:xfrm>
            <a:off x="8827008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Oval 19"/>
          <p:cNvSpPr/>
          <p:nvPr/>
        </p:nvSpPr>
        <p:spPr>
          <a:xfrm>
            <a:off x="8827008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Oval 20"/>
          <p:cNvSpPr/>
          <p:nvPr/>
        </p:nvSpPr>
        <p:spPr>
          <a:xfrm>
            <a:off x="8827008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Oval 21"/>
          <p:cNvSpPr/>
          <p:nvPr/>
        </p:nvSpPr>
        <p:spPr>
          <a:xfrm>
            <a:off x="8827008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Oval 22"/>
          <p:cNvSpPr/>
          <p:nvPr/>
        </p:nvSpPr>
        <p:spPr>
          <a:xfrm>
            <a:off x="9460992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Oval 23"/>
          <p:cNvSpPr/>
          <p:nvPr/>
        </p:nvSpPr>
        <p:spPr>
          <a:xfrm>
            <a:off x="9460992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Oval 24"/>
          <p:cNvSpPr/>
          <p:nvPr/>
        </p:nvSpPr>
        <p:spPr>
          <a:xfrm>
            <a:off x="9460992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Oval 25"/>
          <p:cNvSpPr/>
          <p:nvPr/>
        </p:nvSpPr>
        <p:spPr>
          <a:xfrm>
            <a:off x="9460992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Oval 26"/>
          <p:cNvSpPr/>
          <p:nvPr/>
        </p:nvSpPr>
        <p:spPr>
          <a:xfrm>
            <a:off x="9460992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Oval 27"/>
          <p:cNvSpPr/>
          <p:nvPr/>
        </p:nvSpPr>
        <p:spPr>
          <a:xfrm>
            <a:off x="10094976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Oval 28"/>
          <p:cNvSpPr/>
          <p:nvPr/>
        </p:nvSpPr>
        <p:spPr>
          <a:xfrm>
            <a:off x="10094976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Oval 29"/>
          <p:cNvSpPr/>
          <p:nvPr/>
        </p:nvSpPr>
        <p:spPr>
          <a:xfrm>
            <a:off x="10094976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Oval 30"/>
          <p:cNvSpPr/>
          <p:nvPr/>
        </p:nvSpPr>
        <p:spPr>
          <a:xfrm>
            <a:off x="10094976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Oval 31"/>
          <p:cNvSpPr/>
          <p:nvPr/>
        </p:nvSpPr>
        <p:spPr>
          <a:xfrm>
            <a:off x="10094976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Oval 32"/>
          <p:cNvSpPr/>
          <p:nvPr/>
        </p:nvSpPr>
        <p:spPr>
          <a:xfrm>
            <a:off x="10728960" y="3657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Oval 33"/>
          <p:cNvSpPr/>
          <p:nvPr/>
        </p:nvSpPr>
        <p:spPr>
          <a:xfrm>
            <a:off x="10728960" y="12801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Oval 34"/>
          <p:cNvSpPr/>
          <p:nvPr/>
        </p:nvSpPr>
        <p:spPr>
          <a:xfrm>
            <a:off x="10728960" y="21945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Oval 35"/>
          <p:cNvSpPr/>
          <p:nvPr/>
        </p:nvSpPr>
        <p:spPr>
          <a:xfrm>
            <a:off x="10728960" y="31089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Oval 36"/>
          <p:cNvSpPr/>
          <p:nvPr/>
        </p:nvSpPr>
        <p:spPr>
          <a:xfrm>
            <a:off x="10728960" y="4023360"/>
            <a:ext cx="73152" cy="73152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/>
          <p:cNvSpPr/>
          <p:nvPr/>
        </p:nvSpPr>
        <p:spPr>
          <a:xfrm>
            <a:off x="6339840" y="5608320"/>
            <a:ext cx="5608320" cy="9753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/>
          <p:cNvSpPr/>
          <p:nvPr/>
        </p:nvSpPr>
        <p:spPr>
          <a:xfrm>
            <a:off x="6339840" y="5730240"/>
            <a:ext cx="5608320" cy="487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365760" y="293442"/>
            <a:ext cx="2438400" cy="254365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1333" b="1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1645920"/>
            <a:ext cx="6705600" cy="1444370"/>
          </a:xfrm>
          <a:prstGeom prst="rect">
            <a:avLst/>
          </a:prstGeom>
          <a:noFill/>
        </p:spPr>
        <p:txBody>
          <a:bodyPr wrap="square" lIns="48768" tIns="24384" rIns="48768" bIns="24384" anchor="t">
            <a:spAutoFit/>
          </a:bodyPr>
          <a:lstStyle/>
          <a:p>
            <a:pPr algn="l"/>
            <a:r>
              <a:rPr sz="4533" b="1">
                <a:solidFill>
                  <a:srgbClr val="FFFFFF"/>
                </a:solidFill>
                <a:latin typeface="Calibri"/>
              </a:rPr>
              <a:t>Backoffice Document</a:t>
            </a:r>
          </a:p>
          <a:p>
            <a:pPr algn="l"/>
            <a:r>
              <a:rPr sz="4533" b="1">
                <a:solidFill>
                  <a:srgbClr val="FFFFFF"/>
                </a:solidFill>
                <a:latin typeface="Calibri"/>
              </a:rPr>
              <a:t>Processing 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421665"/>
            <a:ext cx="6705600" cy="459678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2667" b="1">
                <a:solidFill>
                  <a:srgbClr val="FFFFFF"/>
                </a:solidFill>
                <a:latin typeface="Calibri"/>
              </a:rPr>
              <a:t>AI-Assisted Intent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196453"/>
            <a:ext cx="5486400" cy="336567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1867" b="1">
                <a:solidFill>
                  <a:srgbClr val="F5A623"/>
                </a:solidFill>
                <a:latin typeface="Calibri"/>
              </a:rPr>
              <a:t>Pankaj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605183"/>
            <a:ext cx="5486400" cy="275012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1467">
                <a:solidFill>
                  <a:srgbClr val="C070C8"/>
                </a:solidFill>
                <a:latin typeface="Calibri"/>
              </a:rPr>
              <a:t>Senior Solutions Architect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007519"/>
            <a:ext cx="5486400" cy="275012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lang="en-GB" sz="1467">
                <a:solidFill>
                  <a:srgbClr val="C070C8"/>
                </a:solidFill>
                <a:latin typeface="Calibri"/>
              </a:rPr>
              <a:t>3</a:t>
            </a:r>
            <a:r>
              <a:rPr lang="en-GB" sz="1467" baseline="30000">
                <a:solidFill>
                  <a:srgbClr val="C070C8"/>
                </a:solidFill>
                <a:latin typeface="Calibri"/>
              </a:rPr>
              <a:t>rd</a:t>
            </a:r>
            <a:r>
              <a:rPr lang="en-GB" sz="1467">
                <a:solidFill>
                  <a:srgbClr val="C070C8"/>
                </a:solidFill>
                <a:latin typeface="Calibri"/>
              </a:rPr>
              <a:t> June</a:t>
            </a:r>
            <a:r>
              <a:rPr sz="1467">
                <a:solidFill>
                  <a:srgbClr val="C070C8"/>
                </a:solidFill>
                <a:latin typeface="Calibri"/>
              </a:rPr>
              <a:t> </a:t>
            </a:r>
            <a:r>
              <a:rPr sz="1467" dirty="0">
                <a:solidFill>
                  <a:srgbClr val="C070C8"/>
                </a:solidFill>
                <a:latin typeface="Calibri"/>
              </a:rPr>
              <a:t>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56961"/>
            <a:ext cx="12192000" cy="694943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707136" y="6315992"/>
            <a:ext cx="3413760" cy="315920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1733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367224"/>
            <a:ext cx="4876800" cy="213456"/>
          </a:xfrm>
          <a:prstGeom prst="rect">
            <a:avLst/>
          </a:prstGeom>
          <a:noFill/>
        </p:spPr>
        <p:txBody>
          <a:bodyPr wrap="square" lIns="48768" tIns="24384" rIns="48768" bIns="24384" anchor="ctr">
            <a:spAutoFit/>
          </a:bodyPr>
          <a:lstStyle/>
          <a:p>
            <a:pPr algn="l"/>
            <a:r>
              <a:rPr sz="1067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939D61B-D6CE-9F19-4046-91B18571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6269563"/>
            <a:ext cx="1664208" cy="436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46304" cy="1078992"/>
          </a:xfrm>
          <a:prstGeom prst="rect">
            <a:avLst/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Manual Document Classification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backoffice manually classifies semi- &amp; unstructured mail, extracts intent and data, and feeds it into Workflow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12191695" cy="411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51615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62895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1417320" cy="1481328"/>
          </a:xfrm>
          <a:prstGeom prst="roundRect">
            <a:avLst>
              <a:gd name="adj" fmla="val 3871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1480" y="1554480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1480" y="1764792"/>
            <a:ext cx="1417320" cy="21031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21208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arrives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2048256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shareholder mail received in the mailroom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Opened, sorted, batch-numbered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37944" y="2157984"/>
            <a:ext cx="182880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029968" y="1554480"/>
            <a:ext cx="1417320" cy="1481328"/>
          </a:xfrm>
          <a:prstGeom prst="roundRect">
            <a:avLst>
              <a:gd name="adj" fmla="val 3871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029968" y="1554480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029968" y="1764792"/>
            <a:ext cx="1417320" cy="21031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139696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route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9696" y="2048256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vs offshore by PO Box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forms → high-volume scan; white mail → manual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2157984"/>
            <a:ext cx="182880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648456" y="1554480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7E3E0"/>
          </a:solidFill>
          <a:ln w="12700">
            <a:solidFill>
              <a:srgbClr val="B23B3B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648456" y="155448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B23B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648456" y="1764792"/>
            <a:ext cx="2331720" cy="210312"/>
          </a:xfrm>
          <a:prstGeom prst="rect">
            <a:avLst/>
          </a:prstGeom>
          <a:solidFill>
            <a:srgbClr val="B23B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758184" y="15544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classification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58184" y="2048256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reads every page &amp; interprets all intents in the batch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data, fills a ticket / separator sheet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checks: medallion, amounts, stamping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157984"/>
            <a:ext cx="182880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181344" y="1554480"/>
            <a:ext cx="1600200" cy="1481328"/>
          </a:xfrm>
          <a:prstGeom prst="roundRect">
            <a:avLst>
              <a:gd name="adj" fmla="val 3704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81344" y="1554480"/>
            <a:ext cx="1600200" cy="420624"/>
          </a:xfrm>
          <a:prstGeom prst="roundRect">
            <a:avLst>
              <a:gd name="adj" fmla="val 1304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181344" y="1764792"/>
            <a:ext cx="1600200" cy="21031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291072" y="15544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capture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91072" y="2048256"/>
            <a:ext cx="1380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detail keyed into Workflow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&amp; verified by a human for completeness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90688" y="2157984"/>
            <a:ext cx="182880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982712" y="1554480"/>
            <a:ext cx="1417320" cy="1481328"/>
          </a:xfrm>
          <a:prstGeom prst="roundRect">
            <a:avLst>
              <a:gd name="adj" fmla="val 3871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982712" y="1554480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982712" y="1764792"/>
            <a:ext cx="1417320" cy="21031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092440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checks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92440" y="2048256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data services checks before processing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09176" y="2157984"/>
            <a:ext cx="182880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9601200" y="1554480"/>
            <a:ext cx="1600200" cy="1481328"/>
          </a:xfrm>
          <a:prstGeom prst="roundRect">
            <a:avLst>
              <a:gd name="adj" fmla="val 3704"/>
            </a:avLst>
          </a:prstGeom>
          <a:solidFill>
            <a:srgbClr val="EDE3F0"/>
          </a:solidFill>
          <a:ln w="12700">
            <a:solidFill>
              <a:srgbClr val="432063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9601200" y="1554480"/>
            <a:ext cx="1600200" cy="420624"/>
          </a:xfrm>
          <a:prstGeom prst="roundRect">
            <a:avLst>
              <a:gd name="adj" fmla="val 13043"/>
            </a:avLst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9601200" y="1764792"/>
            <a:ext cx="1600200" cy="210312"/>
          </a:xfrm>
          <a:prstGeom prst="rect">
            <a:avLst/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9710928" y="15544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710928" y="2048256"/>
            <a:ext cx="1380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manually processed by backoffice teams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pushed downstream (SCRIP)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51376" y="1280160"/>
            <a:ext cx="1371600" cy="237744"/>
          </a:xfrm>
          <a:prstGeom prst="rect">
            <a:avLst/>
          </a:prstGeom>
          <a:solidFill>
            <a:srgbClr val="B23B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151376" y="1280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mailroom volumes — 2024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1480" y="3675888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5720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2.7M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484632" y="422452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mails received per year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79192" y="3675888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2724912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4.1M (73%)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2752344" y="422452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routed to manual teams — 3.9M unknown / 0.2M recognised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46904" y="3675888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992624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020056" y="422452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manually processed in Workflow each year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14616" y="3675888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7260336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FTE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287768" y="422452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manual + 39 data services tied to this step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82328" y="3675888"/>
            <a:ext cx="2286000" cy="1078992"/>
          </a:xfrm>
          <a:prstGeom prst="roundRect">
            <a:avLst>
              <a:gd name="adj" fmla="val 508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9528048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9555480" y="42245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error rate on the manual path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11480" y="4983480"/>
            <a:ext cx="11356848" cy="1389888"/>
          </a:xfrm>
          <a:prstGeom prst="roundRect">
            <a:avLst>
              <a:gd name="adj" fmla="val 3289"/>
            </a:avLst>
          </a:prstGeom>
          <a:solidFill>
            <a:srgbClr val="F7E3E0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594360" y="5074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classification is the constraint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0080" y="5376672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&amp; cost — every semi/unstructured document needs a trained operator to read, interpret and classify; throughput is capped by headcount.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Multi-intent complexity — a single batch can carry several intents across pages (e.g. change of address + share sale + cheque); missed intents cause downstream errors.</a:t>
            </a:r>
            <a:endParaRPr lang="en-US" sz="11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turnaround — classification quality varies by operator, volume spikes need overtime/ramp-up, and shareholders wait longer for their requests to start.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46304" cy="1078992"/>
          </a:xfrm>
          <a:prstGeom prst="rect">
            <a:avLst/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State — Agentic AI Replaces Offline Classification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“offline classification” step is replaced by an agentic AI pipeline; people keep physical checks and oversight of low-confidence cases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12191695" cy="411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51615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62895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1554480" cy="877824"/>
          </a:xfrm>
          <a:prstGeom prst="roundRect">
            <a:avLst>
              <a:gd name="adj" fmla="val 6250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179222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+ sort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sort, batch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84248" y="2039112"/>
            <a:ext cx="274320" cy="274320"/>
          </a:xfrm>
          <a:prstGeom prst="rightArrow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276856" y="1737360"/>
            <a:ext cx="3200400" cy="877824"/>
          </a:xfrm>
          <a:prstGeom prst="roundRect">
            <a:avLst>
              <a:gd name="adj" fmla="val 6250"/>
            </a:avLst>
          </a:prstGeom>
          <a:solidFill>
            <a:srgbClr val="F7E3E0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368296" y="1792224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classification (HUMAN)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pages, interprets intents, extracts data, fills ticket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95544" y="2039112"/>
            <a:ext cx="274320" cy="274320"/>
          </a:xfrm>
          <a:prstGeom prst="rightArrow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788152" y="1737360"/>
            <a:ext cx="1737360" cy="877824"/>
          </a:xfrm>
          <a:prstGeom prst="roundRect">
            <a:avLst>
              <a:gd name="adj" fmla="val 6250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79592" y="179222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+ scan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to Workflow, verified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0" y="2039112"/>
            <a:ext cx="274320" cy="274320"/>
          </a:xfrm>
          <a:prstGeom prst="rightArrow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836408" y="1737360"/>
            <a:ext cx="1737360" cy="877824"/>
          </a:xfrm>
          <a:prstGeom prst="roundRect">
            <a:avLst>
              <a:gd name="adj" fmla="val 6250"/>
            </a:avLst>
          </a:prstGeom>
          <a:solidFill>
            <a:srgbClr val="EDE3F0"/>
          </a:solidFill>
          <a:ln w="12700">
            <a:solidFill>
              <a:srgbClr val="4320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927848" y="179222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5400000">
            <a:off x="4553712" y="2990088"/>
            <a:ext cx="1207008" cy="457200"/>
          </a:xfrm>
          <a:prstGeom prst="rightArrow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305245" y="29169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agentic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822192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2920" y="387705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+ physical checks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 — medallion, amounts, stamping only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50008" y="4187952"/>
            <a:ext cx="274320" cy="274320"/>
          </a:xfrm>
          <a:prstGeom prst="rightArrow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642616" y="3822192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34056" y="3877056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 + completeness check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15384" y="4187952"/>
            <a:ext cx="274320" cy="274320"/>
          </a:xfrm>
          <a:prstGeom prst="rightArrow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507992" y="3822192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5F0DC"/>
          </a:solidFill>
          <a:ln w="12700">
            <a:solidFill>
              <a:srgbClr val="5381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599432" y="387705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pipeline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RAG-grounded LLM classifies all intents and extracts the data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43800" y="4187952"/>
            <a:ext cx="274320" cy="274320"/>
          </a:xfrm>
          <a:prstGeom prst="rightArrow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3822192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BE6D5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927848" y="3877056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intent vs threshold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83496" y="4187952"/>
            <a:ext cx="274320" cy="274320"/>
          </a:xfrm>
          <a:prstGeom prst="rightArrow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9976104" y="3822192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EDE3F0"/>
          </a:solidFill>
          <a:ln w="12700">
            <a:solidFill>
              <a:srgbClr val="4320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067544" y="3877056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(RPA)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hand-off of work items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44968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44968" y="5065776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BE6D5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790688" y="5084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cases keep human oversight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5577840"/>
            <a:ext cx="11356848" cy="786384"/>
          </a:xfrm>
          <a:prstGeom prst="roundRect">
            <a:avLst>
              <a:gd name="adj" fmla="val 5814"/>
            </a:avLst>
          </a:prstGeom>
          <a:solidFill>
            <a:srgbClr val="E5F0DC"/>
          </a:solidFill>
          <a:ln w="12700">
            <a:solidFill>
              <a:srgbClr val="5381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94360" y="5632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4360" y="5888736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data extraction move from people to an AI agent  ·  humans keep physical checks and review only low-confidence work  ·  Tungsten scanning and Workflow are unchanged ·  the  AI pipeline slots between them ·  Failures and missing confidence threshold falls back to the human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46304" cy="1078992"/>
          </a:xfrm>
          <a:prstGeom prst="rect">
            <a:avLst/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.NET pipeline — a modular monolith today whose module boundaries become AKS pods in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12191695" cy="411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51615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62895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1122" y="1403604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1122" y="14036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/ File Share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E4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TIF/PDF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7543" y="1353312"/>
            <a:ext cx="1719072" cy="777240"/>
          </a:xfrm>
          <a:prstGeom prst="roundRect">
            <a:avLst>
              <a:gd name="adj" fmla="val 7059"/>
            </a:avLst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027543" y="1353312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/ Workflow (RPA)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E4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889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2542032" cy="21031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2560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" y="27889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3282696"/>
            <a:ext cx="23225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Ingest.Watcher + Ingest.Service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FileSystemWatcher → Event Grid / Service Bus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batch, stores raw bytes to blob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DocumentIngestedEvent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62656" y="3543300"/>
            <a:ext cx="146304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118104" y="27889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BE6D5"/>
          </a:solidFill>
          <a:ln w="12700">
            <a:solidFill>
              <a:srgbClr val="C55A11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118104" y="2788920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118104" y="2999232"/>
            <a:ext cx="2542032" cy="21031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209544" y="2880360"/>
            <a:ext cx="2560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209544" y="28803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38728" y="27889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27832" y="3282696"/>
            <a:ext cx="23225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DocProcessing.Ocr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prebuilt-layout OCR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OcrTextFlattener → plain 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543300"/>
            <a:ext cx="146304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824728" y="27889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E5F0DC"/>
          </a:solidFill>
          <a:ln w="12700">
            <a:solidFill>
              <a:srgbClr val="538135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824728" y="2788920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5381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824728" y="2999232"/>
            <a:ext cx="2542032" cy="210312"/>
          </a:xfrm>
          <a:prstGeom prst="rect">
            <a:avLst/>
          </a:prstGeom>
          <a:solidFill>
            <a:srgbClr val="5381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916168" y="2880360"/>
            <a:ext cx="2560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916168" y="28803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45352" y="27889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34456" y="3282696"/>
            <a:ext cx="23225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(MAF agent) + KnowledgeBase + Embeddings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 loop: search_intent_kb / get_intent_schema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→ GPT-5.1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JSON: intents, confidence, fields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75904" y="3543300"/>
            <a:ext cx="146304" cy="274320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531352" y="27889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DEEBF7"/>
          </a:solidFill>
          <a:ln w="12700">
            <a:solidFill>
              <a:srgbClr val="438DD5"/>
            </a:solidFill>
            <a:prstDash val="solid"/>
          </a:ln>
          <a:effectLst>
            <a:outerShdw blurRad="508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531352" y="2788920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438D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531352" y="2999232"/>
            <a:ext cx="2542032" cy="210312"/>
          </a:xfrm>
          <a:prstGeom prst="rect">
            <a:avLst/>
          </a:prstGeom>
          <a:solidFill>
            <a:srgbClr val="438D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622792" y="2880360"/>
            <a:ext cx="2560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8622792" y="28803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8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951976" y="27889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41080" y="3282696"/>
            <a:ext cx="23225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Persistence.Sql + Persistence.Archive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results row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source blob</a:t>
            </a:r>
            <a:endParaRPr lang="en-US" sz="1000" dirty="0"/>
          </a:p>
          <a:p>
            <a:pPr marL="0" indent="0" algn="l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Outbound.Workflow hand-off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rot="5400000">
            <a:off x="1234440" y="2340863"/>
            <a:ext cx="621792" cy="274321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8" name="Shape 46"/>
          <p:cNvSpPr/>
          <p:nvPr/>
        </p:nvSpPr>
        <p:spPr>
          <a:xfrm rot="16200000">
            <a:off x="9491472" y="2322574"/>
            <a:ext cx="658368" cy="274321"/>
          </a:xfrm>
          <a:prstGeom prst="rightArrow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11480" y="4736592"/>
            <a:ext cx="11365992" cy="841248"/>
          </a:xfrm>
          <a:prstGeom prst="roundRect">
            <a:avLst>
              <a:gd name="adj" fmla="val 5435"/>
            </a:avLst>
          </a:prstGeom>
          <a:solidFill>
            <a:srgbClr val="EDE3F0"/>
          </a:solidFill>
          <a:ln w="15875">
            <a:solidFill>
              <a:srgbClr val="4320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94360" y="48097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—  MassTransit Saga (DocumentSaga)</a:t>
            </a:r>
            <a:endParaRPr lang="en-US" sz="125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EF Core state machine: AwaitingOcr → AwaitingClassification → Persisted.  Retries, timeouts &amp; compensation in code; any failure routes to the Service Bus Dead-Letter Queue via DocumentFailedEvent. All inter-module messaging is event-driven over the bus.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11480" y="5687568"/>
            <a:ext cx="5623560" cy="676656"/>
          </a:xfrm>
          <a:prstGeom prst="roundRect">
            <a:avLst>
              <a:gd name="adj" fmla="val 675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566928" y="5687568"/>
            <a:ext cx="5349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services:  </a:t>
            </a: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 ·  Azure OpenAI GPT-5.1  ·  text-embedding-3-small  ·  Azure AI Search (hybrid RAG)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53912" y="5687568"/>
            <a:ext cx="5623560" cy="676656"/>
          </a:xfrm>
          <a:prstGeom prst="roundRect">
            <a:avLst>
              <a:gd name="adj" fmla="val 675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09360" y="5687568"/>
            <a:ext cx="5349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Cloud (wiring only):  </a:t>
            </a: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→ Service Bus  ·  Azurite → Blob  ·  GitHub Models → Azure OpenAI  ·  InMemory → AI Search  ·  Aspire → AKS + KEDA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46304" cy="1078992"/>
          </a:xfrm>
          <a:prstGeom prst="rect">
            <a:avLst/>
          </a:prstGeom>
          <a:solidFill>
            <a:srgbClr val="4320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Runs &amp; Results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40-document corpus from samples/SampleForms · baseline run 19 May 2026 · real Azure Document Intelligence OCR + production classifier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12191695" cy="411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51615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62895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481328"/>
            <a:ext cx="5623560" cy="1078992"/>
          </a:xfrm>
          <a:prstGeom prst="roundRect">
            <a:avLst>
              <a:gd name="adj" fmla="val 5085"/>
            </a:avLst>
          </a:prstGeom>
          <a:solidFill>
            <a:srgbClr val="E5F0DC"/>
          </a:solidFill>
          <a:ln w="15875">
            <a:solidFill>
              <a:srgbClr val="5381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2377440" y="1517904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 on classified documents</a:t>
            </a:r>
            <a:endParaRPr lang="en-US" sz="12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 classified  ·  0 mismatches  ·  multi-intent detected on 2</a:t>
            </a:r>
            <a:endParaRPr lang="en-US" sz="12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failures — all free-tier infra (rate cap, F0 size, 8k context), not classifier errors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Per-intent precision / recall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0088"/>
          <a:ext cx="5623560" cy="93268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drip_ocp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sell_stock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11480" y="411480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catalogue under test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4425696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21208" y="4507992"/>
            <a:ext cx="109728" cy="109728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22376" y="442569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DripOCP (optional cash purchase)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11480" y="4754880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521208" y="4837176"/>
            <a:ext cx="109728" cy="109728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22376" y="4754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(share sale)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11480" y="5084064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521208" y="5166360"/>
            <a:ext cx="109728" cy="109728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22376" y="508406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5413248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521208" y="5495544"/>
            <a:ext cx="109728" cy="109728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22376" y="54132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Replacement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1480" y="5742432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521208" y="5824728"/>
            <a:ext cx="109728" cy="109728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722376" y="57424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+ Sell (multi-intent)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263640" y="1417320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2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a Sell instruction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263640" y="1700784"/>
            <a:ext cx="5513832" cy="1298448"/>
          </a:xfrm>
          <a:prstGeom prst="roundRect">
            <a:avLst>
              <a:gd name="adj" fmla="val 3521"/>
            </a:avLst>
          </a:prstGeom>
          <a:solidFill>
            <a:srgbClr val="DEEBF7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391656" y="173736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OCR text (excerpt)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9944" y="1975104"/>
            <a:ext cx="52212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 Instruction Form (SI-2024)</a:t>
            </a:r>
            <a:endParaRPr lang="en-US" sz="9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Holder: Margaret O'Reilly — 7 Crescent View, Edinburgh EH3 9JL</a:t>
            </a:r>
            <a:endParaRPr lang="en-US" sz="9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Account: 9988776655   Company: Globex Industries PLC (GLBX)</a:t>
            </a:r>
            <a:endParaRPr lang="en-US" sz="9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Sell ALL shares   [X] Withdraw reinvested dividend balance</a:t>
            </a:r>
            <a:endParaRPr lang="en-US" sz="9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Medallion Guarantee: M-2026-1188   Date: 13 May 2026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 rot="5400000">
            <a:off x="8426196" y="3072384"/>
            <a:ext cx="502920" cy="237744"/>
          </a:xfrm>
          <a:prstGeom prst="rightArrow">
            <a:avLst/>
          </a:prstGeom>
          <a:solidFill>
            <a:srgbClr val="5381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974836" y="30723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classifies + extracts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263640" y="3383280"/>
            <a:ext cx="5513832" cy="2121408"/>
          </a:xfrm>
          <a:prstGeom prst="roundRect">
            <a:avLst>
              <a:gd name="adj" fmla="val 2155"/>
            </a:avLst>
          </a:prstGeom>
          <a:solidFill>
            <a:srgbClr val="1E1E1E"/>
          </a:solidFill>
          <a:ln w="12700">
            <a:solidFill>
              <a:srgbClr val="5381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391656" y="3419856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strict JSON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09944" y="3657600"/>
            <a:ext cx="5221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"intent": "sell_stock",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"pages": [1],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0.95,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"extracted_fields": {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"holder_name": "Margaret O'Reilly",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"account_number": "9988776655",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"company_code": "GLBX",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"sell_all": true,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"medallion_guarantee": "M-2026-1188"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63640" y="5614416"/>
            <a:ext cx="5513832" cy="749808"/>
          </a:xfrm>
          <a:prstGeom prst="roundRect">
            <a:avLst>
              <a:gd name="adj" fmla="val 6098"/>
            </a:avLst>
          </a:prstGeom>
          <a:solidFill>
            <a:srgbClr val="FBE6D5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6409944" y="5650992"/>
            <a:ext cx="5221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bands drive HITL routing:  </a:t>
            </a: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forms 33–63% (explicit cues) vs DripOCP 15–45% (implicit cheque cues) — so per-intent thresholds, not one global cut-off, decide auto vs human review.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CE02C7-5607-6A52-491D-6A521B2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287" y="0"/>
            <a:ext cx="7520713" cy="64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07C08186-09A9-EFD5-90A8-B987E244F533}"/>
              </a:ext>
            </a:extLst>
          </p:cNvPr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475470BE-F8DC-1C73-ED51-399094EBF0D7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DAD8DE75-DAC1-270D-1DFF-602995BDE38C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318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D5CB416-7BDF-4577-83D5-70AF8EA8E9C6}"/>
              </a:ext>
            </a:extLst>
          </p:cNvPr>
          <p:cNvSpPr/>
          <p:nvPr/>
        </p:nvSpPr>
        <p:spPr>
          <a:xfrm>
            <a:off x="320040" y="6492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1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9FA4092-192A-0ED1-A603-6453A55D9436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9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DF77771-7ED7-32F9-541A-98B4B2860C1B}"/>
              </a:ext>
            </a:extLst>
          </p:cNvPr>
          <p:cNvSpPr/>
          <p:nvPr/>
        </p:nvSpPr>
        <p:spPr>
          <a:xfrm>
            <a:off x="11551615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440BB44-F72D-6ED4-0D7F-FE7637F6322B}"/>
              </a:ext>
            </a:extLst>
          </p:cNvPr>
          <p:cNvSpPr/>
          <p:nvPr/>
        </p:nvSpPr>
        <p:spPr>
          <a:xfrm>
            <a:off x="502920" y="237744"/>
            <a:ext cx="3865880" cy="263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</a:t>
            </a:r>
          </a:p>
          <a:p>
            <a:pPr marL="0" indent="0" algn="l">
              <a:buNone/>
            </a:pPr>
            <a:endParaRPr lang="en-US" sz="2900" b="1" dirty="0">
              <a:solidFill>
                <a:srgbClr val="93186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2900" b="1" dirty="0">
              <a:solidFill>
                <a:srgbClr val="93186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931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Architecture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1A259-A56E-46DB-C815-53EB8B2AA041}"/>
              </a:ext>
            </a:extLst>
          </p:cNvPr>
          <p:cNvSpPr txBox="1"/>
          <p:nvPr/>
        </p:nvSpPr>
        <p:spPr>
          <a:xfrm>
            <a:off x="6481763" y="5919951"/>
            <a:ext cx="1669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EDC / Workflow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E07CFA-5461-4515-4F92-CBE23021ACC3}"/>
              </a:ext>
            </a:extLst>
          </p:cNvPr>
          <p:cNvSpPr txBox="1"/>
          <p:nvPr/>
        </p:nvSpPr>
        <p:spPr>
          <a:xfrm>
            <a:off x="9194007" y="5919951"/>
            <a:ext cx="1669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    Workflow</a:t>
            </a:r>
          </a:p>
        </p:txBody>
      </p:sp>
    </p:spTree>
    <p:extLst>
      <p:ext uri="{BB962C8B-B14F-4D97-AF65-F5344CB8AC3E}">
        <p14:creationId xmlns:p14="http://schemas.microsoft.com/office/powerpoint/2010/main" val="260730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7288</TotalTime>
  <Words>1073</Words>
  <Application>Microsoft Office PowerPoint</Application>
  <PresentationFormat>Widescreen</PresentationFormat>
  <Paragraphs>191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Backoffice Document Processing — Executive Summary</dc:title>
  <dc:subject>PptxGenJS Presentation</dc:subject>
  <dc:creator>Pankaj Singh</dc:creator>
  <cp:lastModifiedBy>Pankaj Singh</cp:lastModifiedBy>
  <cp:revision>5</cp:revision>
  <dcterms:created xsi:type="dcterms:W3CDTF">2026-05-28T22:28:20Z</dcterms:created>
  <dcterms:modified xsi:type="dcterms:W3CDTF">2026-06-03T16:01:54Z</dcterms:modified>
</cp:coreProperties>
</file>